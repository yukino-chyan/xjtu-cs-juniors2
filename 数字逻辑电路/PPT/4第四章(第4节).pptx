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4.xml" ContentType="application/vnd.openxmlformats-officedocument.presentationml.tags+xml"/>
  <Override PartName="/ppt/notesSlides/notesSlide33.xml" ContentType="application/vnd.openxmlformats-officedocument.presentationml.notesSlide+xml"/>
  <Override PartName="/ppt/ink/ink1.xml" ContentType="application/inkml+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 id="2147483757" r:id="rId10"/>
  </p:sldMasterIdLst>
  <p:notesMasterIdLst>
    <p:notesMasterId r:id="rId107"/>
  </p:notesMasterIdLst>
  <p:sldIdLst>
    <p:sldId id="528" r:id="rId11"/>
    <p:sldId id="529" r:id="rId12"/>
    <p:sldId id="585" r:id="rId13"/>
    <p:sldId id="586" r:id="rId14"/>
    <p:sldId id="530" r:id="rId15"/>
    <p:sldId id="531" r:id="rId16"/>
    <p:sldId id="587" r:id="rId17"/>
    <p:sldId id="588" r:id="rId18"/>
    <p:sldId id="532" r:id="rId19"/>
    <p:sldId id="551" r:id="rId20"/>
    <p:sldId id="533" r:id="rId21"/>
    <p:sldId id="555" r:id="rId22"/>
    <p:sldId id="589" r:id="rId23"/>
    <p:sldId id="556" r:id="rId24"/>
    <p:sldId id="557" r:id="rId25"/>
    <p:sldId id="559" r:id="rId26"/>
    <p:sldId id="592" r:id="rId27"/>
    <p:sldId id="593" r:id="rId28"/>
    <p:sldId id="590" r:id="rId29"/>
    <p:sldId id="591" r:id="rId30"/>
    <p:sldId id="558" r:id="rId31"/>
    <p:sldId id="560" r:id="rId32"/>
    <p:sldId id="561" r:id="rId33"/>
    <p:sldId id="534" r:id="rId34"/>
    <p:sldId id="562" r:id="rId35"/>
    <p:sldId id="535" r:id="rId36"/>
    <p:sldId id="563" r:id="rId37"/>
    <p:sldId id="564" r:id="rId38"/>
    <p:sldId id="581" r:id="rId39"/>
    <p:sldId id="582" r:id="rId40"/>
    <p:sldId id="565" r:id="rId41"/>
    <p:sldId id="566" r:id="rId42"/>
    <p:sldId id="567" r:id="rId43"/>
    <p:sldId id="568" r:id="rId44"/>
    <p:sldId id="537" r:id="rId45"/>
    <p:sldId id="553" r:id="rId46"/>
    <p:sldId id="569" r:id="rId47"/>
    <p:sldId id="570" r:id="rId48"/>
    <p:sldId id="603" r:id="rId49"/>
    <p:sldId id="604" r:id="rId50"/>
    <p:sldId id="605" r:id="rId51"/>
    <p:sldId id="606" r:id="rId52"/>
    <p:sldId id="571" r:id="rId53"/>
    <p:sldId id="607" r:id="rId54"/>
    <p:sldId id="572" r:id="rId55"/>
    <p:sldId id="538" r:id="rId56"/>
    <p:sldId id="573" r:id="rId57"/>
    <p:sldId id="574" r:id="rId58"/>
    <p:sldId id="576" r:id="rId59"/>
    <p:sldId id="797" r:id="rId60"/>
    <p:sldId id="798" r:id="rId61"/>
    <p:sldId id="575" r:id="rId62"/>
    <p:sldId id="753" r:id="rId63"/>
    <p:sldId id="754" r:id="rId64"/>
    <p:sldId id="755" r:id="rId65"/>
    <p:sldId id="756" r:id="rId66"/>
    <p:sldId id="757" r:id="rId67"/>
    <p:sldId id="539" r:id="rId68"/>
    <p:sldId id="577" r:id="rId69"/>
    <p:sldId id="578" r:id="rId70"/>
    <p:sldId id="579" r:id="rId71"/>
    <p:sldId id="580" r:id="rId72"/>
    <p:sldId id="390" r:id="rId73"/>
    <p:sldId id="391" r:id="rId74"/>
    <p:sldId id="608" r:id="rId75"/>
    <p:sldId id="610" r:id="rId76"/>
    <p:sldId id="594" r:id="rId77"/>
    <p:sldId id="595" r:id="rId78"/>
    <p:sldId id="596" r:id="rId79"/>
    <p:sldId id="598" r:id="rId80"/>
    <p:sldId id="599" r:id="rId81"/>
    <p:sldId id="600" r:id="rId82"/>
    <p:sldId id="601" r:id="rId83"/>
    <p:sldId id="611" r:id="rId84"/>
    <p:sldId id="612" r:id="rId85"/>
    <p:sldId id="613" r:id="rId86"/>
    <p:sldId id="614" r:id="rId87"/>
    <p:sldId id="615" r:id="rId88"/>
    <p:sldId id="616" r:id="rId89"/>
    <p:sldId id="624" r:id="rId90"/>
    <p:sldId id="625" r:id="rId91"/>
    <p:sldId id="626" r:id="rId92"/>
    <p:sldId id="627" r:id="rId93"/>
    <p:sldId id="628" r:id="rId94"/>
    <p:sldId id="630" r:id="rId95"/>
    <p:sldId id="631" r:id="rId96"/>
    <p:sldId id="677" r:id="rId97"/>
    <p:sldId id="673" r:id="rId98"/>
    <p:sldId id="674" r:id="rId99"/>
    <p:sldId id="675" r:id="rId100"/>
    <p:sldId id="676" r:id="rId101"/>
    <p:sldId id="679" r:id="rId102"/>
    <p:sldId id="680" r:id="rId103"/>
    <p:sldId id="681" r:id="rId104"/>
    <p:sldId id="750" r:id="rId105"/>
    <p:sldId id="752" r:id="rId106"/>
  </p:sldIdLst>
  <p:sldSz cx="9144000" cy="5143500" type="screen16x9"/>
  <p:notesSz cx="6858000" cy="9144000"/>
  <p:custDataLst>
    <p:tags r:id="rId108"/>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75" userDrawn="1">
          <p15:clr>
            <a:srgbClr val="A4A3A4"/>
          </p15:clr>
        </p15:guide>
        <p15:guide id="2" pos="291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00"/>
    <a:srgbClr val="996633"/>
    <a:srgbClr val="008000"/>
    <a:srgbClr val="339933"/>
    <a:srgbClr val="00CC00"/>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15" autoAdjust="0"/>
  </p:normalViewPr>
  <p:slideViewPr>
    <p:cSldViewPr showGuides="1">
      <p:cViewPr varScale="1">
        <p:scale>
          <a:sx n="99" d="100"/>
          <a:sy n="99" d="100"/>
        </p:scale>
        <p:origin x="555" y="45"/>
      </p:cViewPr>
      <p:guideLst>
        <p:guide orient="horz" pos="1575"/>
        <p:guide pos="29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12" Type="http://schemas.openxmlformats.org/officeDocument/2006/relationships/theme" Target="theme/theme1.xml"/><Relationship Id="rId16" Type="http://schemas.openxmlformats.org/officeDocument/2006/relationships/slide" Target="slides/slide6.xml"/><Relationship Id="rId107" Type="http://schemas.openxmlformats.org/officeDocument/2006/relationships/notesMaster" Target="notesMasters/notesMaster1.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slide" Target="slides/slide92.xml"/><Relationship Id="rId5" Type="http://schemas.openxmlformats.org/officeDocument/2006/relationships/slideMaster" Target="slideMasters/slideMaster5.xml"/><Relationship Id="rId90" Type="http://schemas.openxmlformats.org/officeDocument/2006/relationships/slide" Target="slides/slide80.xml"/><Relationship Id="rId95" Type="http://schemas.openxmlformats.org/officeDocument/2006/relationships/slide" Target="slides/slide85.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113" Type="http://schemas.openxmlformats.org/officeDocument/2006/relationships/tableStyles" Target="tableStyles.xml"/><Relationship Id="rId80" Type="http://schemas.openxmlformats.org/officeDocument/2006/relationships/slide" Target="slides/slide70.xml"/><Relationship Id="rId85" Type="http://schemas.openxmlformats.org/officeDocument/2006/relationships/slide" Target="slides/slide75.xml"/><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slide" Target="slides/slide93.xml"/><Relationship Id="rId108" Type="http://schemas.openxmlformats.org/officeDocument/2006/relationships/tags" Target="tags/tag1.xml"/><Relationship Id="rId54" Type="http://schemas.openxmlformats.org/officeDocument/2006/relationships/slide" Target="slides/slide44.xml"/><Relationship Id="rId70" Type="http://schemas.openxmlformats.org/officeDocument/2006/relationships/slide" Target="slides/slide60.xml"/><Relationship Id="rId75" Type="http://schemas.openxmlformats.org/officeDocument/2006/relationships/slide" Target="slides/slide65.xml"/><Relationship Id="rId91" Type="http://schemas.openxmlformats.org/officeDocument/2006/relationships/slide" Target="slides/slide81.xml"/><Relationship Id="rId96" Type="http://schemas.openxmlformats.org/officeDocument/2006/relationships/slide" Target="slides/slide8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6" Type="http://schemas.openxmlformats.org/officeDocument/2006/relationships/slide" Target="slides/slide96.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slide" Target="slides/slide9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commentAuthors" Target="commentAuthors.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slide" Target="slides/slide94.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110" Type="http://schemas.openxmlformats.org/officeDocument/2006/relationships/presProps" Target="presProps.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slide" Target="slides/slide90.xml"/><Relationship Id="rId105" Type="http://schemas.openxmlformats.org/officeDocument/2006/relationships/slide" Target="slides/slide95.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slide" Target="slides/slide88.xml"/><Relationship Id="rId3" Type="http://schemas.openxmlformats.org/officeDocument/2006/relationships/slideMaster" Target="slideMasters/slideMaster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62" Type="http://schemas.openxmlformats.org/officeDocument/2006/relationships/slide" Target="slides/slide52.xml"/><Relationship Id="rId83" Type="http://schemas.openxmlformats.org/officeDocument/2006/relationships/slide" Target="slides/slide73.xml"/><Relationship Id="rId88" Type="http://schemas.openxmlformats.org/officeDocument/2006/relationships/slide" Target="slides/slide78.xml"/><Relationship Id="rId11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280" units="cm"/>
          <inkml:channel name="Y" type="integer" max="1024" units="cm"/>
        </inkml:traceFormat>
        <inkml:channelProperties>
          <inkml:channelProperty channel="X" name="resolution" value="38" units="1/cm"/>
          <inkml:channelProperty channel="Y" name="resolution" value="37" units="1/cm"/>
        </inkml:channelProperties>
      </inkml:inkSource>
      <inkml:timestamp xml:id="ts0" timeString="2007-04-18T04:07:42"/>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49,'15'0,"-15"0,0 0,0 0,0 0,0 0,0 0,0 0,0 0,0 14,0-14,0 0,0 0,0 0,0 0,0 0,0 0,14 0,-14 0,15 0,-15 0,0 0,30 0,-30 0,15 0,0 0,0 0,0 0,-15 0,15 0,0 0,0 0,0 0,0 0,14 0,-14 0,30 0,-31 0,16 0,-15 0,0 0,0 0,-15 0,14 0,-14 0,0 0,15 0,-15 0,15 0,0 0,-15 0,15 0,-15 0,0 0,15 0,-15 0,15 0,0 0,-15 0,15 0,15 0,-15 0,14 0,-29 0,15 0,0 0,0 0,0 0,-15 0,15 0,-1 0,-14 0,30 0,-30 0,15 0,0 0,-15 0,0 0,0 0,15 0,-15 0,15 0,0 0,-15 0,15 0,0 0,-15 0,15 0,0 0,-15 0,15 0,14 0,-14 0,0 0,0 0,0 0,-15 0,15 0,-1 0,-14 0,15 0,0 0,-15 0,15 0,0 0,-15 0,15 0,-1 0,-14 0,15 0,0 0,-15 0,15 0,0 0,-15 0,15 0,0 0,-15 0,0 0,30 0,-30 0,15 0,0 0,-15 0,30 0,-30 0,14 0,1 0,-15 0,15 0,0 0,0 0,0 0,-1 0,16 0,-30 0,30 0,-30 0,15 0,1 0,-16 0,14 0,1 0,0 0,0 0,0 0,0 0,0 0,15 0,-15 0,0 0,-15 0,15 0,-1 0,-14 0,15 0,0 0,-15 0,30 0,-15 0,0 0,-1 0,16 0,-15 0,0 0,0 0,-1 0,16 0,-30 0,15 0,0 0,-15 0,30 0,-15 0,15 0,-30-14,30 14,-30 0,15 0,-1 0,-14 0,15 0,0 0,-15 0,15 0,0 0,-15 0,30 0,-16-15,1 15,0 0,0 0,0 0,-15 0,15 0,0 0,-15 0,15-15,0 15,15 0,-15 0,-1 0,1 0,-15 0,15 0,0 0,-15 0,30 0,-30 0,29 0,-14 0,0-15,0 15,-15 0,15 0,0 0,-15 0,29 0,-14 0,15 0,-15 0,0 0,0 0,-15 0,15 0,0 0,-15 0,15 0,-15 0,0 0,15 0,0 0,-1 15,1-15,0 0,0 0,-15 0,15 0,-15 0,0 0,15 0,-15 0,14 0,1 0,-15 0,0 0,15 0,-15 0,0 0,15 0,-15 0,15 0,0 0,-15 0,15 0,-15 0,0 0,-15 0,0 0,15 0,0 0,-15 0,0 0,15 0,-15 0,0 0,15 0,-14 0,-1 0,15 0,0 0,-15 0,0 0,15 0,-15 0,0 0,15 0,-14 0,-1 0,15 0,0 0,-15 0,0 0,15 0,0 0,-30 0,15 0,15 0,0 0,-15 0,0 0,15 0,-15 0,-15 0,30 0,-15 0,1 0,14 0,-15 0,15 0,-15 0,0 0,15 0,-15 0,0 0,15 0,-14 0,-1 0,15 0,-15 0,0 0,15 0,-15 0,0 0,15 0,-15 0,1 0,14 0,-15 0,0 0,15 0,-15 0,15 0,0 15,0-15,-15 0,15 0,-15 15,15-15,-15 14,15 15,-15-29,15 15,-15 0,15-15,-15 0,15 0,0 15,-15-15,15 0,0 15,0-15,-15 0,15 0,0 15,0-15,-14 14,14 1,0-15,-15 0,15 15,0 0,-15-15,15 15,0-1,-15-14,15 15,-15 0,15-15,0 15,-15-15,15 0,0 15,-15-15,15 0,0 15,-14-15,14 0,0 15,-15-15,15 0,0 14,0-14,-15 0,15 0,0 14,-15-14,15 15,0 0,-15-15,15 0,0 0,15 0,-15 0,15 0,-15-15,0 15,15 0,-15 0,15 0,14 0,-29 0,15 0,0 0,-15 0,30 0,-30 0,29 0,-14 0,0 0,0 0,0 0,0 0,-15 0,15 0,0 0,-15 0,15 0,0 0,-15 0,15 0,0 0,-15 0,14 0,1 0,-15 0,15 0,0 0,15 0,-30 0,29 0,-14 0,0 0,0 0,0 0,0 0,-15 0,14 0,1 0,-15 0,15 0,0 0,0 0,15 0,-15 0,15 0,-15 0,0 0,-15 0,-15 0,0 0,15-15,-15 15,15-14,-15 14,0-14,15-1,-15 15,0-15,15 15,0-15,-15 15,15-15,-15 15,0 0,15-15,-15 15,15-15,-14 15,-1 0,15-14,-15 14,15-15,-15 15,0 0,15-15,-15 15,15-15,-14 15,-1 0,15 0,0-15,-15 15,0 0,15-14,-15 14,0 0,15 0,0-15,-15 15,1 0,14-15,-15 15,15-15,-15 15,0 0,15-15,-15 15,15-15,-15 15,15-15,-15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1267"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A41F6EC-4F50-49B5-95DB-E3D05AE879E3}"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2025/9/9</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13668" name="幻灯片图像占位符 3"/>
          <p:cNvSpPr>
            <a:spLocks noGrp="1" noRot="1" noChangeAspect="1"/>
          </p:cNvSpPr>
          <p:nvPr>
            <p:ph type="sldImg" idx="2"/>
          </p:nvPr>
        </p:nvSpPr>
        <p:spPr>
          <a:xfrm>
            <a:off x="381000" y="685800"/>
            <a:ext cx="6096000" cy="3429000"/>
          </a:xfrm>
          <a:prstGeom prst="rect">
            <a:avLst/>
          </a:prstGeom>
          <a:noFill/>
          <a:ln w="9525">
            <a:noFill/>
          </a:ln>
        </p:spPr>
      </p:sp>
      <p:sp>
        <p:nvSpPr>
          <p:cNvPr id="11269"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1270"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1271"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AC6901-27E0-4ED8-A51A-06E2A65ED5A4}"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64520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pPr>
            <a:fld id="{9A0DB2DC-4C9A-4742-B13C-FB6460FD3503}" type="slidenum">
              <a:rPr lang="en-US" altLang="zh-CN">
                <a:latin typeface="Arial" panose="020B0604020202020204" pitchFamily="34" charset="0"/>
              </a:rPr>
              <a:t>4</a:t>
            </a:fld>
            <a:endParaRPr lang="en-US" altLang="zh-CN">
              <a:latin typeface="Arial" panose="020B0604020202020204" pitchFamily="34" charset="0"/>
            </a:endParaRPr>
          </a:p>
        </p:txBody>
      </p:sp>
      <p:sp>
        <p:nvSpPr>
          <p:cNvPr id="118787" name="Rectangle 2"/>
          <p:cNvSpPr>
            <a:spLocks noGrp="1" noRot="1" noChangeAspect="1" noTextEdit="1"/>
          </p:cNvSpPr>
          <p:nvPr>
            <p:ph type="sldImg"/>
          </p:nvPr>
        </p:nvSpPr>
        <p:spPr/>
      </p:sp>
      <p:sp>
        <p:nvSpPr>
          <p:cNvPr id="118788" name="Rectangle 3"/>
          <p:cNvSpPr>
            <a:spLocks noGrp="1"/>
          </p:cNvSpPr>
          <p:nvPr>
            <p:ph type="body" idx="1"/>
          </p:nvPr>
        </p:nvSpPr>
        <p:spPr/>
        <p:txBody>
          <a:bodyPr wrap="square" lIns="91440" tIns="45720" rIns="91440" bIns="45720" anchor="ctr"/>
          <a:lstStyle/>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p:txBody>
          <a:bodyPr wrap="square" lIns="91440" tIns="45720" rIns="91440" bIns="45720" anchor="ctr"/>
          <a:lstStyle/>
          <a:p>
            <a:pPr lvl="0"/>
            <a:endParaRPr lang="zh-CN" altLang="en-US" dirty="0"/>
          </a:p>
        </p:txBody>
      </p:sp>
      <p:sp>
        <p:nvSpPr>
          <p:cNvPr id="12083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5</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TextEdit="1"/>
          </p:cNvSpPr>
          <p:nvPr>
            <p:ph type="sldImg"/>
          </p:nvPr>
        </p:nvSpPr>
        <p:spPr/>
      </p:sp>
      <p:sp>
        <p:nvSpPr>
          <p:cNvPr id="123907" name="Rectangle 3"/>
          <p:cNvSpPr>
            <a:spLocks noGrp="1"/>
          </p:cNvSpPr>
          <p:nvPr>
            <p:ph type="body" idx="1"/>
          </p:nvPr>
        </p:nvSpPr>
        <p:spPr/>
        <p:txBody>
          <a:bodyPr wrap="square" lIns="91440" tIns="45720" rIns="91440" bIns="45720" anchor="ctr"/>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p:sp>
      <p:sp>
        <p:nvSpPr>
          <p:cNvPr id="125955" name="备注占位符 2"/>
          <p:cNvSpPr>
            <a:spLocks noGrp="1"/>
          </p:cNvSpPr>
          <p:nvPr>
            <p:ph type="body" idx="1"/>
          </p:nvPr>
        </p:nvSpPr>
        <p:spPr/>
        <p:txBody>
          <a:bodyPr wrap="square" lIns="91440" tIns="45720" rIns="91440" bIns="45720" anchor="ctr"/>
          <a:lstStyle/>
          <a:p>
            <a:pPr lvl="0"/>
            <a:endParaRPr lang="zh-CN" altLang="en-US" dirty="0"/>
          </a:p>
        </p:txBody>
      </p:sp>
      <p:sp>
        <p:nvSpPr>
          <p:cNvPr id="12595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8</a:t>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buFont typeface="Arial" panose="020B0604020202020204" pitchFamily="34" charset="0"/>
              <a:buNone/>
            </a:pPr>
            <a:endParaRPr lang="zh-CN" altLang="en-US" dirty="0">
              <a:solidFill>
                <a:srgbClr val="FF0000"/>
              </a:solidFill>
              <a:latin typeface="华文新魏" panose="02010800040101010101" pitchFamily="2" charset="-122"/>
              <a:ea typeface="华文新魏" panose="02010800040101010101" pitchFamily="2" charset="-122"/>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54725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99508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p:sp>
      <p:sp>
        <p:nvSpPr>
          <p:cNvPr id="145411" name="备注占位符 2"/>
          <p:cNvSpPr>
            <a:spLocks noGrp="1"/>
          </p:cNvSpPr>
          <p:nvPr>
            <p:ph type="body" idx="1"/>
          </p:nvPr>
        </p:nvSpPr>
        <p:spPr/>
        <p:txBody>
          <a:bodyPr wrap="square" lIns="91440" tIns="45720" rIns="91440" bIns="45720" anchor="ctr"/>
          <a:lstStyle/>
          <a:p>
            <a:pPr lvl="0"/>
            <a:endParaRPr lang="zh-CN" altLang="en-US" dirty="0"/>
          </a:p>
        </p:txBody>
      </p:sp>
      <p:sp>
        <p:nvSpPr>
          <p:cNvPr id="145412"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26</a:t>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p:sp>
      <p:sp>
        <p:nvSpPr>
          <p:cNvPr id="148483" name="备注占位符 2"/>
          <p:cNvSpPr>
            <a:spLocks noGrp="1"/>
          </p:cNvSpPr>
          <p:nvPr>
            <p:ph type="body" idx="1"/>
          </p:nvPr>
        </p:nvSpPr>
        <p:spPr/>
        <p:txBody>
          <a:bodyPr wrap="square" lIns="91440" tIns="45720" rIns="91440" bIns="45720" anchor="ctr"/>
          <a:lstStyle/>
          <a:p>
            <a:pPr lvl="0"/>
            <a:endParaRPr lang="zh-CN" altLang="en-US" dirty="0"/>
          </a:p>
        </p:txBody>
      </p:sp>
      <p:sp>
        <p:nvSpPr>
          <p:cNvPr id="148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28</a:t>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p:sp>
      <p:sp>
        <p:nvSpPr>
          <p:cNvPr id="156675" name="备注占位符 2"/>
          <p:cNvSpPr>
            <a:spLocks noGrp="1"/>
          </p:cNvSpPr>
          <p:nvPr>
            <p:ph type="body" idx="1"/>
          </p:nvPr>
        </p:nvSpPr>
        <p:spPr/>
        <p:txBody>
          <a:bodyPr wrap="square" lIns="91440" tIns="45720" rIns="91440" bIns="45720" anchor="ctr"/>
          <a:lstStyle/>
          <a:p>
            <a:pPr lvl="0"/>
            <a:endParaRPr lang="zh-CN" altLang="en-US" dirty="0"/>
          </a:p>
        </p:txBody>
      </p:sp>
      <p:sp>
        <p:nvSpPr>
          <p:cNvPr id="15667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35</a:t>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p:sp>
      <p:sp>
        <p:nvSpPr>
          <p:cNvPr id="178179" name="备注占位符 2"/>
          <p:cNvSpPr>
            <a:spLocks noGrp="1"/>
          </p:cNvSpPr>
          <p:nvPr>
            <p:ph type="body" idx="1"/>
          </p:nvPr>
        </p:nvSpPr>
        <p:spPr/>
        <p:txBody>
          <a:bodyPr wrap="square" lIns="91440" tIns="45720" rIns="91440" bIns="45720" anchor="ctr"/>
          <a:lstStyle/>
          <a:p>
            <a:pPr lvl="0"/>
            <a:endParaRPr lang="zh-CN" altLang="en-US" dirty="0"/>
          </a:p>
        </p:txBody>
      </p:sp>
      <p:sp>
        <p:nvSpPr>
          <p:cNvPr id="178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62</a:t>
            </a:fld>
            <a:endParaRPr lang="zh-CN" alt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36446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TextEdit="1"/>
          </p:cNvSpPr>
          <p:nvPr>
            <p:ph type="sldImg"/>
          </p:nvPr>
        </p:nvSpPr>
        <p:spPr/>
      </p:sp>
      <p:sp>
        <p:nvSpPr>
          <p:cNvPr id="185347" name="Rectangle 3"/>
          <p:cNvSpPr>
            <a:spLocks noGrp="1"/>
          </p:cNvSpPr>
          <p:nvPr>
            <p:ph type="body" idx="1"/>
          </p:nvPr>
        </p:nvSpPr>
        <p:spPr/>
        <p:txBody>
          <a:bodyPr wrap="square" lIns="91440" tIns="45720" rIns="91440" bIns="45720" anchor="ctr"/>
          <a:lstStyle/>
          <a:p>
            <a:pPr lvl="0"/>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03949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TextEdit="1"/>
          </p:cNvSpPr>
          <p:nvPr>
            <p:ph type="sldImg"/>
          </p:nvPr>
        </p:nvSpPr>
        <p:spPr/>
      </p:sp>
      <p:sp>
        <p:nvSpPr>
          <p:cNvPr id="198659" name="Rectangle 3"/>
          <p:cNvSpPr>
            <a:spLocks noGrp="1"/>
          </p:cNvSpPr>
          <p:nvPr>
            <p:ph type="body" idx="1"/>
          </p:nvPr>
        </p:nvSpPr>
        <p:spPr/>
        <p:txBody>
          <a:bodyPr wrap="square" lIns="91440" tIns="45720" rIns="91440" bIns="45720" anchor="ctr"/>
          <a:lstStyle/>
          <a:p>
            <a:pPr lvl="0"/>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幻灯片图像占位符 330753"/>
          <p:cNvSpPr>
            <a:spLocks noGrp="1" noRot="1" noChangeAspect="1" noTextEdit="1"/>
          </p:cNvSpPr>
          <p:nvPr>
            <p:ph type="sldImg"/>
          </p:nvPr>
        </p:nvSpPr>
        <p:spPr/>
      </p:sp>
      <p:sp>
        <p:nvSpPr>
          <p:cNvPr id="330755" name="文本占位符 330754"/>
          <p:cNvSpPr>
            <a:spLocks noGrp="1"/>
          </p:cNvSpPr>
          <p:nvPr>
            <p:ph type="body" idx="1"/>
          </p:nvPr>
        </p:nvSpPr>
        <p:spPr/>
        <p:txBody>
          <a:bodyPr/>
          <a:lstStyle/>
          <a:p>
            <a:pPr lvl="0"/>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TextEdit="1"/>
          </p:cNvSpPr>
          <p:nvPr>
            <p:ph type="sldImg"/>
          </p:nvPr>
        </p:nvSpPr>
        <p:spPr/>
      </p:sp>
      <p:sp>
        <p:nvSpPr>
          <p:cNvPr id="208899" name="Rectangle 3"/>
          <p:cNvSpPr>
            <a:spLocks noGrp="1"/>
          </p:cNvSpPr>
          <p:nvPr>
            <p:ph type="body" idx="1"/>
          </p:nvPr>
        </p:nvSpPr>
        <p:spPr/>
        <p:txBody>
          <a:bodyPr wrap="square" lIns="91440" tIns="45720" rIns="91440" bIns="45720" anchor="ctr"/>
          <a:lstStyle/>
          <a:p>
            <a:pPr lvl="0"/>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TextEdit="1"/>
          </p:cNvSpPr>
          <p:nvPr>
            <p:ph type="sldImg"/>
          </p:nvPr>
        </p:nvSpPr>
        <p:spPr/>
      </p:sp>
      <p:sp>
        <p:nvSpPr>
          <p:cNvPr id="210947" name="Rectangle 3"/>
          <p:cNvSpPr>
            <a:spLocks noGrp="1"/>
          </p:cNvSpPr>
          <p:nvPr>
            <p:ph type="body" idx="1"/>
          </p:nvPr>
        </p:nvSpPr>
        <p:spPr/>
        <p:txBody>
          <a:bodyPr wrap="square" lIns="91440" tIns="45720" rIns="91440" bIns="45720" anchor="ctr"/>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C057FBE-9B14-49FD-9A41-A796BD8D646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D5D4368-FA28-47D6-9137-F797E97D63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00FAE3-7980-43F1-92FC-1D792EA6E0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33D352D-BCE3-4309-8F98-FBC563A5EE0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149CDD-D182-4E74-ACBB-A179684109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79CEAF-82AB-42C5-A4B5-87B7F474F5B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49A6971-ABE3-432F-9F73-E03A99EE574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077681F-C764-49AC-8C32-DC284D0917A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AD5D6CE-2D17-40B1-8F91-8D57BAB0A9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7CC996-F055-477B-A6F7-387729716B3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81C98C9-196B-41A5-ABD0-9F20BBD8A8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F5D8E2A-AEE1-4CE4-8033-DCE6A5A973E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B605B9B-56AE-4178-90BC-8C48FA1B0E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3C431D-DD37-4D2D-857F-703901F53C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7ED8C1A-2B2C-45C9-AF9B-2C22C74D45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357D69-64CF-449E-B6F8-3BF6443660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0377D5-6763-4F53-BA47-98C4D994C9F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2AB9570-AC92-4EB5-A604-3E1CF890BD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EC9B9BF-F1B9-4774-98C8-9876FCA31F8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417EB8A-3E71-4D20-9B7D-9D9547D3EC9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AD26C9B-95B6-4ADE-BC69-09AB05E23B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E53693-0595-4E60-B68C-7509AFD48B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F33ACE-7CDE-4296-945B-647CE3DD43D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C4C40-A3A8-4F9F-8F57-4FC4DE117D7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1B2BFF-1DCA-4267-8EEA-12417126323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B58C39F-1506-4112-8EBD-95E415AA79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F34DEF-4D4A-4D29-803B-A920B0214DB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02609EF-002D-4567-9839-9823FC61FB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551DC8-2788-4807-9883-7D3C68EE8CC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19A598-CF01-4817-8F6E-3C4A81B8BA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5C2B30A-6EB2-4DC6-996B-FE54E096275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25BCC2-79F1-43FF-9336-5450705C2DC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16EE8AB-F8C6-4A34-BE10-85C733DAF0D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D3B1A67-C4EA-49E0-8C68-C758642920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16B9ECC-6788-466C-85A7-43EB37AFDC6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8320168-17EC-4E1C-829B-4CCC4E0BBA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52EF80B-2DE2-4E20-A224-A722881859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17B85DD-7D7E-4211-A0B4-EC731CE08EF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E6EC12E-EBEE-4126-9ADC-E1AE40794B5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16C235-B2FF-4D1B-BB48-A422412C7E6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922B0A-A149-46CC-84C8-02667099290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283901-D8FB-4792-85E4-DDE736B00B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685E0CF-6C75-4106-8FED-9359C0D8562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9FA738-F329-49D6-B610-84B341A4334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04E31E5-5D6D-4D43-854C-698551BD93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E85ADD-EBFF-4FED-AB7D-6CE223143C4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37C1736-7FEC-465E-B232-97CC16CD09F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EBD31E-14A3-4B2F-8083-9BDBEBFA62C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FCAC91-6811-4E54-B5C3-DCA240F6F0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451A03-BA55-4474-A458-A9A189AC69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5F6FFCB-8E9B-4F29-A48B-055382A9C92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397A043-3D72-4CFF-84FC-92BD486383A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FBB51C-4930-463B-8E7B-FF440AAC3B2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F7F956-358C-4CAF-81E2-DA66895330E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81061B5-ADF6-4E46-B1CF-4CAFD46D01F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3A53E9-726F-49D4-B9BE-E4DBB91D95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F5E8CB-08CC-4AD2-BFDC-45AF27CCC04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608DD7-642A-4662-97DA-0E3B6DDE23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98AA693-71BC-4E87-AEE8-78D9F936271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9217F4-3619-4E84-87D0-0BF810E783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13A222-799B-49D1-9E5F-6BEA5F960C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4C5938-F970-4949-B3A4-0F4CF0B65CA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05D360-3827-4AFE-8765-37F10CF396C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AA9662-AFCE-4193-8EB6-948364CB9B4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3108A11-E4B5-437E-8C46-89F80974B8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AA0FC1A-9AE0-4F08-8C60-330B3F0B1B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A4FB8DE-4AB8-4E71-B505-8B78DBA2C03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DC6FFCF-4390-4881-B203-355559A552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A6EA8F1-221A-45AC-8B9F-C1F251D236E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870528B-615B-4CC6-82F6-3BF4BF720B9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1CBC35-8891-4A4C-906E-233467ECE4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C8CDDC-8271-4304-8EAF-4046B802F1F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7B7AA37-BEBA-498B-B0A4-9DF383F6062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86340E7-31E5-4A48-A908-71F9EF976CE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AC0B73F-4A1E-4473-BE91-C34A6F7035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813ED21-5172-4E04-BEBC-1BADA051E24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86E422C-CF4E-4D7D-81CB-F82F73457C4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9F52FBD-851F-4EF8-B3E4-FE056105729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4B539AE-54A9-4312-8C12-0403E30DFD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369B00C-D2E9-4F07-A5D4-1A4EF4FBD3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4DFBD0-5E49-4704-8E04-D673309C4AF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C664A-FDA8-4091-850D-2B234A2F07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E2CCF10-BA65-48BA-91B9-A96355A0B9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1C1A77C-1477-4737-9CE9-7E85098440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E986BC-C5A2-4C02-8225-62F4FCC7495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F314934-F0FF-46B8-9A6E-D904FCCE80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0D4C168-6F58-4AA4-BD1E-27D2D849120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A7A284-9281-41CD-9C6A-7EE53BBA361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5EAAC6-DBAB-4003-BE85-B5B468EFAA4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D1E1F19-A9E0-4DAF-AC42-E61643F667D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8B74DC2-6A07-412C-AB6B-8341E82E772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9AAF68-E2F7-42CE-A7EA-3AA3C3422A7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AC0A001-1C1F-4A60-836A-4BB6D837AF3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36BF590-57CA-4791-AD90-49E1B2785FD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2752F59-128A-49BB-B087-471B3D68FFA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4DEC358-A7F3-4A8E-9EFC-B07026D0D1A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1537F4D-7927-4434-9DB8-A16791D5C1C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CF87EE2-5233-4932-B779-67BC1CD330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BB1A37D-D86B-45EE-99B5-EEA1A6A409B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8FB92B-494A-4B04-B4CB-D05452EFB6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AAC873C-4FF5-47D9-883F-379C602A508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F21018F-796E-4C73-B68C-D1350C00DA7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884C24-E4AF-4008-832A-E0BEDE8BFA1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48AD6B1-934C-4D9B-96E5-341ED762BC4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CA48BED-EC10-4FA9-8736-E60CC64D44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39691E-7E86-412F-8105-C93229C856E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8F2072-2EFA-429D-AC31-5FCBC961845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19DEFC6-CE2D-4EE4-80D1-C67C190393C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12FF823-5CD3-468F-A730-94124FC3B9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B693364-9860-4884-86AD-92FD583275E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5086DC3-814A-4E92-98D0-EC37E0FD19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15BB08-555E-45DE-B2B1-F67576D63A6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F4FD603-3429-4D58-92AC-3D2A916D42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B910C0E-98EE-4040-A7CD-549ACA31969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4873F1D-413E-4930-90AF-6F61DDB7F0E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9D3E1F1-78F9-44C5-B26A-5C29AA2808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26DEE8-3DE0-4E3A-B198-8498E566E37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F571EC8-7160-4605-852A-0AF300BF24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E7712F-DC36-42DC-863D-CA3E1593F34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88CB175-9D5C-4DFC-9B24-9721A224702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D1904C7-6EC9-4361-AB83-6D5371355A7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76E4776-D00D-429B-8192-9AE25D1C424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F1052E1-B1BC-4356-B22E-F1306BC4E21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E3C6977-0C59-4AE3-B5CD-3EF3BE2B045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C0AC87-8D04-4D7C-B678-ADCD0B3B5F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3EEDDE-DC74-4B92-913C-AA49760411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B5881BD-33A9-4266-A47C-4895F9B71D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8AC276D-8DCA-44EB-A6AC-05DBEB34D02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2E9B76-FFCF-4DE7-86DA-3CC5C1A2AC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F15F458-FEB4-4442-B01E-9AC12211D8F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2A0B83-A951-4039-805E-2B1B58B5C6A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211DF70-AE63-4178-8C3A-5F628BC40D4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8AD81C-F174-4D1E-AD86-66311050DD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3E8CFD-941F-491C-A31C-C577D7FDFEF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728A1F6-8A68-4479-90ED-00E58484CE0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5949A8-038E-4A0B-916E-9651448915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29438D7-B085-4013-8AF2-D2AC336674C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0E6799B-E8CC-4E02-B7B9-EBB95CAB1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0EA628-D3AD-40C1-B86F-88F2CFC224E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E86F0C8-EDC3-4723-A38C-62BA5FDF32B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A99AF9C-4132-4CB9-B25A-99CC8AA4DF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0B1A2C-DBBF-4EAD-BC4E-24894DD96E7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544DA7D-6A76-4FBF-89CE-C8202E01814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DD2022-BC78-4D4B-9326-28CA9ED456A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5A92CD-E33F-499A-8D9A-D231319223A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631DB50-0968-4AA8-BB50-836FF0004BA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733F771-4550-4552-90CB-58F24B834C1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0F5018-C175-4580-AE5C-8898366B276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93E24B0-DF29-46C7-ABD0-B839607577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C30DC-C94F-4568-AD57-81D729923F3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8D2AA3F-2681-4560-B301-5D4CD1778EF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6DF020-7247-4878-97C2-4751327218E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565C204-D727-4015-B6AD-A66E0EF9272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6EBC8F-B604-4523-BA50-E21FC02DA4B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8731C1-47AC-4132-BA30-72095A9B978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E2FBA6-D30D-4D3E-9C51-1079F3B563F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B276602-BDEB-4136-8FED-B449D78F6F7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6496B1-3578-40F4-9790-CC02DF3A47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83ECE1E-74B0-40CD-9414-75B62671545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52A053-00B2-4A6D-8BDA-05ED1516BAA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BA15015-C1F1-4355-9608-A8FBFB817FE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A49062-4D86-490A-B14A-03991C25EA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58790E-6BE1-44F7-8134-3764D7824F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C2D57F7-FEB7-40B8-AFE7-12E3F65FB28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5C7813E-5C40-4DBD-8D4E-ABF0F09D566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2B10D64-E902-47FA-81AA-A850C4BFF5F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6C44D7-1F00-43FA-AEB3-AD9056EDD2F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8F1B62-F9BB-4C4A-A134-9D89DB3D5A4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74831B-C40D-4D1B-9415-05265BD4CB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06A9887-D322-4D74-BCAC-3535A534C5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F24F8A-1B90-4D0D-960F-58782A6C8B3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68429B-B751-46A1-8A58-8A5928315DD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38D05A9-1AA7-4A25-8F18-32A53EAA37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D9E4F0C-537D-4C41-9712-CB025DC0D7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49682-1738-462D-8678-648DA5B78C3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047CE4-CBB0-40D4-879C-7A1CDC27999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表格占位符 2"/>
          <p:cNvSpPr>
            <a:spLocks noGrp="1"/>
          </p:cNvSpPr>
          <p:nvPr>
            <p:ph type="tbl" idx="1"/>
          </p:nvPr>
        </p:nvSpPr>
        <p:spPr>
          <a:xfrm>
            <a:off x="457200" y="1200151"/>
            <a:ext cx="8229600" cy="3394472"/>
          </a:xfrm>
        </p:spPr>
        <p:txBody>
          <a:bodyPr/>
          <a:lstStyle/>
          <a:p>
            <a:pPr marL="171450" marR="0" lvl="0" indent="-171450" algn="l" defTabSz="685800" rtl="0" eaLnBrk="0" fontAlgn="base" latinLnBrk="0" hangingPunct="0">
              <a:lnSpc>
                <a:spcPct val="90000"/>
              </a:lnSpc>
              <a:spcBef>
                <a:spcPts val="750"/>
              </a:spcBef>
              <a:spcAft>
                <a:spcPct val="0"/>
              </a:spcAft>
              <a:buClrTx/>
              <a:buSzTx/>
              <a:buFont typeface="Arial" panose="020B0604020202020204" pitchFamily="34" charset="0"/>
              <a:buChar char="•"/>
              <a:defRPr/>
            </a:pPr>
            <a:endParaRPr kumimoji="0" lang="zh-CN" altLang="en-US" sz="2100" b="0" i="0" u="none" strike="noStrike" kern="1200" cap="none" spc="0" normalizeH="0" baseline="0" noProof="0">
              <a:ln>
                <a:noFill/>
              </a:ln>
              <a:solidFill>
                <a:schemeClr val="tx1"/>
              </a:solidFill>
              <a:effectLst/>
              <a:uLnTx/>
              <a:uFillTx/>
              <a:latin typeface="+mn-lt"/>
              <a:ea typeface="+mn-ea"/>
              <a:cs typeface="+mn-cs"/>
            </a:endParaRPr>
          </a:p>
        </p:txBody>
      </p:sp>
      <p:sp>
        <p:nvSpPr>
          <p:cNvPr id="9" name="Rectangle 4"/>
          <p:cNvSpPr>
            <a:spLocks noGrp="1" noChangeArrowheads="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7410C35-724A-4205-BA82-9EF3D44AF66E}"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9110CE-393F-49B3-BFB3-5FD689AF9D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4DD0651-C69C-41F8-A716-8066DD9393E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EB64DE-0C77-4C56-9A38-9CCC57D8952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8E7AA9F-E5E4-4FD5-B8A1-8A7CFE1E874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3A374C-8D50-406A-ADF3-6B2798B8A95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737FF5B-E0F5-4A4E-8CD3-05FE7C33BC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8A852A-3B53-4301-8D9D-3EE68BBA70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AE806C-FC9F-4FD8-BB8F-DE34747AC5F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EAFCE45-DFD2-4192-AE25-59D368B7A9D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1D9BEB1-137E-4D7C-8467-3F005AD112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27365A0-9BE4-4CE6-ABCE-CC3322137C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3.pn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3.pn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theme" Target="../theme/theme9.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2.jpe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image" Target="../media/image1.png"/><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theme" Target="../theme/theme10.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3D7031C-2DA9-4F48-B736-7365F129BE7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5D7659F-EE98-4026-BBEF-DD7D2DC599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AE08F18-89B5-4FC8-A1BD-FDBBD43E23A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698C68-010D-4493-948E-53022962EE4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43D8A9B-6292-40D1-80A5-671FE0B7CD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392493-E8A4-4E23-97DA-C4347F2318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3989F3B-6D8F-465F-A5D7-1C9BD479FD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213A1B-DD81-4BBC-B3EB-128391D5EAD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5"/>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EFE163-216A-4749-AAC3-CC854FF977E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10243" name="组合 9"/>
          <p:cNvGrpSpPr/>
          <p:nvPr userDrawn="1"/>
        </p:nvGrpSpPr>
        <p:grpSpPr>
          <a:xfrm>
            <a:off x="539750" y="52388"/>
            <a:ext cx="1628775" cy="487362"/>
            <a:chOff x="0" y="0"/>
            <a:chExt cx="5804" cy="1740"/>
          </a:xfrm>
        </p:grpSpPr>
        <p:pic>
          <p:nvPicPr>
            <p:cNvPr id="1024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24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47"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3" Type="http://schemas.openxmlformats.org/officeDocument/2006/relationships/hyperlink" Target="file:///D:\program%20files\tencent\qq\users\267474812\filerecv\ppt_index.htm" TargetMode="External"/><Relationship Id="rId2" Type="http://schemas.openxmlformats.org/officeDocument/2006/relationships/notesSlide" Target="../notesSlides/notesSlide4.xml"/><Relationship Id="rId1" Type="http://schemas.openxmlformats.org/officeDocument/2006/relationships/slideLayout" Target="../slideLayouts/slideLayout10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9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9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5.xml"/></Relationships>
</file>

<file path=ppt/slides/_rels/slide2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0.xml"/><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1.xml"/><Relationship Id="rId1" Type="http://schemas.openxmlformats.org/officeDocument/2006/relationships/slideLayout" Target="../slideLayouts/slideLayout9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5.xm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9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5.xml"/></Relationships>
</file>

<file path=ppt/slides/_rels/slide3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4.xml"/><Relationship Id="rId1" Type="http://schemas.openxmlformats.org/officeDocument/2006/relationships/slideLayout" Target="../slideLayouts/slideLayout9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00.xml"/><Relationship Id="rId1" Type="http://schemas.openxmlformats.org/officeDocument/2006/relationships/tags" Target="../tags/tag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5.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5.xml"/></Relationships>
</file>

<file path=ppt/slides/_rels/slide4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1.xml"/><Relationship Id="rId1" Type="http://schemas.openxmlformats.org/officeDocument/2006/relationships/slideLayout" Target="../slideLayouts/slideLayout9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5.xml"/></Relationships>
</file>

<file path=ppt/slides/_rels/slide4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95.xml"/><Relationship Id="rId1" Type="http://schemas.openxmlformats.org/officeDocument/2006/relationships/tags" Target="../tags/tag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7.jpeg"/><Relationship Id="rId1" Type="http://schemas.openxmlformats.org/officeDocument/2006/relationships/slideLayout" Target="../slideLayouts/slideLayout90.xml"/><Relationship Id="rId4"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5.xml"/></Relationships>
</file>

<file path=ppt/slides/_rels/slide6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95.xml"/></Relationships>
</file>

<file path=ppt/slides/_rels/slide6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6.xml"/><Relationship Id="rId1" Type="http://schemas.openxmlformats.org/officeDocument/2006/relationships/slideLayout" Target="../slideLayouts/slideLayout9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5.xml"/></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9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5.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9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5.xml"/></Relationships>
</file>

<file path=ppt/slides/_rels/slide8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2.xml"/><Relationship Id="rId1" Type="http://schemas.openxmlformats.org/officeDocument/2006/relationships/slideLayout" Target="../slideLayouts/slideLayout90.xml"/></Relationships>
</file>

<file path=ppt/slides/_rels/slide8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0.xml"/></Relationships>
</file>

<file path=ppt/slides/_rels/slide8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8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3.xml"/><Relationship Id="rId1" Type="http://schemas.openxmlformats.org/officeDocument/2006/relationships/slideLayout" Target="../slideLayouts/slideLayout90.xml"/></Relationships>
</file>

<file path=ppt/slides/_rels/slide8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0.xml"/></Relationships>
</file>

<file path=ppt/slides/_rels/slide8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0.xml"/></Relationships>
</file>

<file path=ppt/slides/_rels/slide8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0.xml"/></Relationships>
</file>

<file path=ppt/slides/_rels/slide8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4.xml"/><Relationship Id="rId1" Type="http://schemas.openxmlformats.org/officeDocument/2006/relationships/slideLayout" Target="../slideLayouts/slideLayout90.xml"/></Relationships>
</file>

<file path=ppt/slides/_rels/slide8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5.xml"/><Relationship Id="rId1" Type="http://schemas.openxmlformats.org/officeDocument/2006/relationships/slideLayout" Target="../slideLayouts/slideLayout9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矩形 3"/>
          <p:cNvSpPr/>
          <p:nvPr/>
        </p:nvSpPr>
        <p:spPr>
          <a:xfrm>
            <a:off x="0" y="1708150"/>
            <a:ext cx="9156700" cy="1643063"/>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2" charset="-122"/>
              <a:ea typeface="黑体" panose="02010609060101010101" pitchFamily="2" charset="-122"/>
            </a:endParaRPr>
          </a:p>
        </p:txBody>
      </p:sp>
      <p:sp>
        <p:nvSpPr>
          <p:cNvPr id="114691" name="标题 1"/>
          <p:cNvSpPr>
            <a:spLocks noGrp="1"/>
          </p:cNvSpPr>
          <p:nvPr>
            <p:ph type="title"/>
          </p:nvPr>
        </p:nvSpPr>
        <p:spPr>
          <a:xfrm>
            <a:off x="2566988" y="2020888"/>
            <a:ext cx="3852862" cy="971550"/>
          </a:xfrm>
          <a:prstGeom prst="rect">
            <a:avLst/>
          </a:prstGeom>
          <a:noFill/>
          <a:ln w="9525">
            <a:noFill/>
          </a:ln>
        </p:spPr>
        <p:txBody>
          <a:bodyPr/>
          <a:lstStyle/>
          <a:p>
            <a:pPr eaLnBrk="1" hangingPunct="1"/>
            <a:r>
              <a:rPr lang="en-US" altLang="en-US" sz="3600" dirty="0">
                <a:latin typeface="黑体" panose="02010609060101010101" pitchFamily="2" charset="-122"/>
                <a:ea typeface="黑体" panose="02010609060101010101" pitchFamily="2" charset="-122"/>
              </a:rPr>
              <a:t>数 字 逻 辑 电 路</a:t>
            </a:r>
          </a:p>
        </p:txBody>
      </p:sp>
      <p:sp>
        <p:nvSpPr>
          <p:cNvPr id="114692" name="文本框 2"/>
          <p:cNvSpPr txBox="1"/>
          <p:nvPr/>
        </p:nvSpPr>
        <p:spPr>
          <a:xfrm>
            <a:off x="3703638" y="2646363"/>
            <a:ext cx="1073150" cy="396875"/>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2" charset="-122"/>
              </a:rPr>
              <a:t>朱正东</a:t>
            </a:r>
          </a:p>
        </p:txBody>
      </p:sp>
      <p:sp>
        <p:nvSpPr>
          <p:cNvPr id="114693" name="矩形 8"/>
          <p:cNvSpPr/>
          <p:nvPr/>
        </p:nvSpPr>
        <p:spPr>
          <a:xfrm>
            <a:off x="0" y="-19050"/>
            <a:ext cx="9166225" cy="5164138"/>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2" charset="-122"/>
              <a:ea typeface="黑体" panose="02010609060101010101" pitchFamily="2" charset="-122"/>
            </a:endParaRPr>
          </a:p>
        </p:txBody>
      </p:sp>
      <p:sp>
        <p:nvSpPr>
          <p:cNvPr id="114694" name="矩形 9"/>
          <p:cNvSpPr/>
          <p:nvPr/>
        </p:nvSpPr>
        <p:spPr>
          <a:xfrm>
            <a:off x="0" y="1563688"/>
            <a:ext cx="9169400" cy="1646237"/>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2" charset="-122"/>
              <a:ea typeface="黑体" panose="02010609060101010101" pitchFamily="2" charset="-122"/>
            </a:endParaRPr>
          </a:p>
        </p:txBody>
      </p:sp>
      <p:sp>
        <p:nvSpPr>
          <p:cNvPr id="114695" name="标题 1"/>
          <p:cNvSpPr/>
          <p:nvPr/>
        </p:nvSpPr>
        <p:spPr>
          <a:xfrm>
            <a:off x="2486025" y="1711325"/>
            <a:ext cx="6916738"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华文新魏" panose="02010800040101010101" pitchFamily="2" charset="-122"/>
                <a:ea typeface="华文新魏" panose="02010800040101010101" pitchFamily="2" charset="-122"/>
              </a:rPr>
              <a:t>数 字 逻 辑 电 路</a:t>
            </a:r>
          </a:p>
        </p:txBody>
      </p:sp>
      <p:grpSp>
        <p:nvGrpSpPr>
          <p:cNvPr id="114696" name="组合 12"/>
          <p:cNvGrpSpPr/>
          <p:nvPr/>
        </p:nvGrpSpPr>
        <p:grpSpPr>
          <a:xfrm>
            <a:off x="466725" y="268288"/>
            <a:ext cx="2322513" cy="696912"/>
            <a:chOff x="0" y="0"/>
            <a:chExt cx="5804" cy="1740"/>
          </a:xfrm>
        </p:grpSpPr>
        <p:pic>
          <p:nvPicPr>
            <p:cNvPr id="114697" name="图片 13" descr="交大矢量logo"/>
            <p:cNvPicPr>
              <a:picLocks noChangeAspect="1"/>
            </p:cNvPicPr>
            <p:nvPr/>
          </p:nvPicPr>
          <p:blipFill>
            <a:blip r:embed="rId2"/>
            <a:srcRect l="-1437" t="-9560" r="41219" b="-10179"/>
            <a:stretch>
              <a:fillRect/>
            </a:stretch>
          </p:blipFill>
          <p:spPr>
            <a:xfrm>
              <a:off x="0" y="0"/>
              <a:ext cx="5616" cy="1741"/>
            </a:xfrm>
            <a:prstGeom prst="rect">
              <a:avLst/>
            </a:prstGeom>
            <a:noFill/>
            <a:ln w="9525">
              <a:noFill/>
            </a:ln>
          </p:spPr>
        </p:pic>
        <p:sp>
          <p:nvSpPr>
            <p:cNvPr id="114698" name="矩形 14"/>
            <p:cNvSpPr/>
            <p:nvPr/>
          </p:nvSpPr>
          <p:spPr>
            <a:xfrm>
              <a:off x="5463" y="1161"/>
              <a:ext cx="341" cy="337"/>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2" charset="-122"/>
                <a:ea typeface="黑体" panose="02010609060101010101"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4"/>
          <p:cNvSpPr txBox="1"/>
          <p:nvPr/>
        </p:nvSpPr>
        <p:spPr>
          <a:xfrm>
            <a:off x="758825" y="1636713"/>
            <a:ext cx="7845425" cy="3108325"/>
          </a:xfrm>
          <a:prstGeom prst="rect">
            <a:avLst/>
          </a:prstGeom>
          <a:noFill/>
          <a:ln w="9525">
            <a:noFill/>
          </a:ln>
        </p:spPr>
        <p:txBody>
          <a:bodyPr/>
          <a:lstStyle/>
          <a:p>
            <a:pPr marL="342900" indent="-342900" eaLnBrk="1" hangingPunct="1">
              <a:lnSpc>
                <a:spcPct val="120000"/>
              </a:lnSpc>
              <a:spcBef>
                <a:spcPct val="2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学习要求：</a:t>
            </a:r>
          </a:p>
          <a:p>
            <a:pPr marL="342900" indent="-342900" eaLnBrk="1" hangingPunct="1">
              <a:lnSpc>
                <a:spcPct val="120000"/>
              </a:lnSpc>
              <a:buFont typeface="Arial" panose="020B0604020202020204" pitchFamily="34" charset="0"/>
              <a:buAutoNum type="arabicPeriod"/>
            </a:pPr>
            <a:r>
              <a:rPr lang="zh-CN" altLang="en-US" b="1" dirty="0">
                <a:solidFill>
                  <a:schemeClr val="tx1"/>
                </a:solidFill>
                <a:latin typeface="华文新魏" panose="02010800040101010101" pitchFamily="2" charset="-122"/>
                <a:ea typeface="华文新魏" panose="02010800040101010101" pitchFamily="2" charset="-122"/>
              </a:rPr>
              <a:t>了解可编程逻辑</a:t>
            </a:r>
            <a:r>
              <a:rPr lang="en-US" altLang="zh-CN" b="1">
                <a:solidFill>
                  <a:schemeClr val="tx1"/>
                </a:solidFill>
                <a:latin typeface="华文新魏" panose="02010800040101010101" pitchFamily="2" charset="-122"/>
                <a:ea typeface="华文新魏" panose="02010800040101010101" pitchFamily="2" charset="-122"/>
              </a:rPr>
              <a:t>PLD</a:t>
            </a:r>
            <a:r>
              <a:rPr lang="zh-CN" altLang="en-US" b="1" dirty="0">
                <a:solidFill>
                  <a:schemeClr val="tx1"/>
                </a:solidFill>
                <a:latin typeface="华文新魏" panose="02010800040101010101" pitchFamily="2" charset="-122"/>
                <a:ea typeface="华文新魏" panose="02010800040101010101" pitchFamily="2" charset="-122"/>
              </a:rPr>
              <a:t>的发展、结构分类、编程工艺、表示方法、设计过程</a:t>
            </a:r>
          </a:p>
          <a:p>
            <a:pPr marL="342900" indent="-342900" eaLnBrk="1" hangingPunct="1">
              <a:lnSpc>
                <a:spcPct val="120000"/>
              </a:lnSpc>
              <a:buFont typeface="Calibri Light" panose="020F0302020204030204" pitchFamily="34" charset="0"/>
              <a:buAutoNum type="arabicPeriod" startAt="2"/>
            </a:pPr>
            <a:r>
              <a:rPr lang="zh-CN" altLang="en-US" b="1" dirty="0">
                <a:solidFill>
                  <a:schemeClr val="tx1"/>
                </a:solidFill>
                <a:latin typeface="华文新魏" panose="02010800040101010101" pitchFamily="2" charset="-122"/>
                <a:ea typeface="华文新魏" panose="02010800040101010101" pitchFamily="2" charset="-122"/>
              </a:rPr>
              <a:t>熟悉</a:t>
            </a:r>
            <a:r>
              <a:rPr lang="en-US" altLang="zh-CN" b="1">
                <a:solidFill>
                  <a:schemeClr val="tx1"/>
                </a:solidFill>
                <a:latin typeface="华文新魏" panose="02010800040101010101" pitchFamily="2" charset="-122"/>
                <a:ea typeface="华文新魏" panose="02010800040101010101" pitchFamily="2" charset="-122"/>
              </a:rPr>
              <a:t>PROM</a:t>
            </a:r>
            <a:r>
              <a:rPr lang="zh-CN" altLang="en-US" b="1" dirty="0">
                <a:solidFill>
                  <a:schemeClr val="tx1"/>
                </a:solidFill>
                <a:latin typeface="华文新魏" panose="02010800040101010101" pitchFamily="2" charset="-122"/>
                <a:ea typeface="华文新魏" panose="02010800040101010101" pitchFamily="2" charset="-122"/>
              </a:rPr>
              <a:t>、可编程逻辑阵列</a:t>
            </a:r>
            <a:r>
              <a:rPr lang="en-US" altLang="zh-CN" b="1">
                <a:solidFill>
                  <a:schemeClr val="tx1"/>
                </a:solidFill>
                <a:latin typeface="华文新魏" panose="02010800040101010101" pitchFamily="2" charset="-122"/>
                <a:ea typeface="华文新魏" panose="02010800040101010101" pitchFamily="2" charset="-122"/>
              </a:rPr>
              <a:t>PLA</a:t>
            </a:r>
            <a:r>
              <a:rPr lang="zh-CN" altLang="en-US" b="1" dirty="0">
                <a:solidFill>
                  <a:schemeClr val="tx1"/>
                </a:solidFill>
                <a:latin typeface="华文新魏" panose="02010800040101010101" pitchFamily="2" charset="-122"/>
                <a:ea typeface="华文新魏" panose="02010800040101010101" pitchFamily="2" charset="-122"/>
              </a:rPr>
              <a:t>、可编程阵列逻辑</a:t>
            </a:r>
            <a:r>
              <a:rPr lang="en-US" altLang="zh-CN" b="1">
                <a:solidFill>
                  <a:schemeClr val="tx1"/>
                </a:solidFill>
                <a:latin typeface="华文新魏" panose="02010800040101010101" pitchFamily="2" charset="-122"/>
                <a:ea typeface="华文新魏" panose="02010800040101010101" pitchFamily="2" charset="-122"/>
              </a:rPr>
              <a:t>PAL</a:t>
            </a:r>
            <a:r>
              <a:rPr lang="zh-CN" altLang="en-US" b="1" dirty="0">
                <a:solidFill>
                  <a:schemeClr val="tx1"/>
                </a:solidFill>
                <a:latin typeface="华文新魏" panose="02010800040101010101" pitchFamily="2" charset="-122"/>
                <a:ea typeface="华文新魏" panose="02010800040101010101" pitchFamily="2" charset="-122"/>
              </a:rPr>
              <a:t>和通用逻辑阵列</a:t>
            </a:r>
            <a:r>
              <a:rPr lang="en-US" altLang="zh-CN" b="1">
                <a:solidFill>
                  <a:schemeClr val="tx1"/>
                </a:solidFill>
                <a:latin typeface="华文新魏" panose="02010800040101010101" pitchFamily="2" charset="-122"/>
                <a:ea typeface="华文新魏" panose="02010800040101010101" pitchFamily="2" charset="-122"/>
              </a:rPr>
              <a:t>GAL</a:t>
            </a:r>
          </a:p>
          <a:p>
            <a:pPr marL="342900" indent="-342900" eaLnBrk="1" hangingPunct="1">
              <a:lnSpc>
                <a:spcPct val="120000"/>
              </a:lnSpc>
              <a:buFont typeface="Calibri Light" panose="020F0302020204030204" pitchFamily="34" charset="0"/>
              <a:buAutoNum type="arabicPeriod" startAt="2"/>
            </a:pPr>
            <a:r>
              <a:rPr lang="zh-CN" altLang="en-US" b="1" dirty="0">
                <a:solidFill>
                  <a:schemeClr val="tx1"/>
                </a:solidFill>
                <a:latin typeface="华文新魏" panose="02010800040101010101" pitchFamily="2" charset="-122"/>
                <a:ea typeface="华文新魏" panose="02010800040101010101" pitchFamily="2" charset="-122"/>
              </a:rPr>
              <a:t>掌握现场可编程门阵列</a:t>
            </a:r>
            <a:r>
              <a:rPr lang="en-US" altLang="zh-CN" b="1">
                <a:solidFill>
                  <a:schemeClr val="tx1"/>
                </a:solidFill>
                <a:latin typeface="华文新魏" panose="02010800040101010101" pitchFamily="2" charset="-122"/>
                <a:ea typeface="华文新魏" panose="02010800040101010101" pitchFamily="2" charset="-122"/>
              </a:rPr>
              <a:t>FPGA</a:t>
            </a:r>
            <a:r>
              <a:rPr lang="zh-CN" altLang="en-US" b="1" dirty="0">
                <a:solidFill>
                  <a:schemeClr val="tx1"/>
                </a:solidFill>
                <a:latin typeface="华文新魏" panose="02010800040101010101" pitchFamily="2" charset="-122"/>
                <a:ea typeface="华文新魏" panose="02010800040101010101" pitchFamily="2" charset="-122"/>
              </a:rPr>
              <a:t>、在系统可编程</a:t>
            </a:r>
            <a:r>
              <a:rPr lang="en-US" altLang="zh-CN" b="1">
                <a:solidFill>
                  <a:schemeClr val="tx1"/>
                </a:solidFill>
                <a:latin typeface="华文新魏" panose="02010800040101010101" pitchFamily="2" charset="-122"/>
                <a:ea typeface="华文新魏" panose="02010800040101010101" pitchFamily="2" charset="-122"/>
              </a:rPr>
              <a:t>ISP</a:t>
            </a:r>
            <a:r>
              <a:rPr lang="zh-CN" altLang="en-US" b="1" dirty="0">
                <a:solidFill>
                  <a:schemeClr val="tx1"/>
                </a:solidFill>
                <a:latin typeface="华文新魏" panose="02010800040101010101" pitchFamily="2" charset="-122"/>
                <a:ea typeface="华文新魏" panose="02010800040101010101" pitchFamily="2" charset="-122"/>
              </a:rPr>
              <a:t>的结构与编程原理</a:t>
            </a:r>
          </a:p>
          <a:p>
            <a:pPr marL="342900" indent="-342900" eaLnBrk="1" hangingPunct="1">
              <a:lnSpc>
                <a:spcPct val="120000"/>
              </a:lnSpc>
              <a:buFont typeface="Calibri Light" panose="020F0302020204030204" pitchFamily="34" charset="0"/>
              <a:buAutoNum type="arabicPeriod" startAt="4"/>
            </a:pPr>
            <a:r>
              <a:rPr lang="zh-CN" altLang="en-US" b="1" dirty="0">
                <a:solidFill>
                  <a:srgbClr val="FF0066"/>
                </a:solidFill>
                <a:latin typeface="华文新魏" panose="02010800040101010101" pitchFamily="2" charset="-122"/>
                <a:ea typeface="华文新魏" panose="02010800040101010101" pitchFamily="2" charset="-122"/>
              </a:rPr>
              <a:t>熟悉并掌握硬件描述语言</a:t>
            </a:r>
            <a:r>
              <a:rPr lang="en-US" altLang="zh-CN" b="1">
                <a:solidFill>
                  <a:srgbClr val="FF0066"/>
                </a:solidFill>
                <a:latin typeface="华文新魏" panose="02010800040101010101" pitchFamily="2" charset="-122"/>
                <a:ea typeface="华文新魏" panose="02010800040101010101" pitchFamily="2" charset="-122"/>
              </a:rPr>
              <a:t>VHDL</a:t>
            </a:r>
          </a:p>
        </p:txBody>
      </p:sp>
      <p:sp>
        <p:nvSpPr>
          <p:cNvPr id="115715" name="Rectangle 3"/>
          <p:cNvSpPr>
            <a:spLocks noGrp="1"/>
          </p:cNvSpPr>
          <p:nvPr/>
        </p:nvSpPr>
        <p:spPr>
          <a:xfrm>
            <a:off x="785813" y="787400"/>
            <a:ext cx="6786562" cy="500063"/>
          </a:xfrm>
          <a:prstGeom prst="rect">
            <a:avLst/>
          </a:prstGeom>
          <a:noFill/>
          <a:ln w="9525">
            <a:noFill/>
          </a:ln>
        </p:spPr>
        <p:txBody>
          <a:bodyPr lIns="68580" tIns="34290" rIns="68580" bIns="34290"/>
          <a:lstStyle/>
          <a:p>
            <a:pPr defTabSz="685800" eaLnBrk="1" hangingPunct="1">
              <a:lnSpc>
                <a:spcPct val="90000"/>
              </a:lnSpc>
            </a:pPr>
            <a:r>
              <a:rPr lang="zh-CN" altLang="en-US" sz="2800" b="1" dirty="0">
                <a:solidFill>
                  <a:schemeClr val="tx1"/>
                </a:solidFill>
                <a:latin typeface="华文新魏" panose="02010800040101010101" pitchFamily="2" charset="-122"/>
                <a:ea typeface="华文新魏" panose="02010800040101010101" pitchFamily="2" charset="-122"/>
              </a:rPr>
              <a:t>第四章   可编程逻辑器件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13A196-4EFD-463D-985E-E55B551BCBC8}"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3</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6739" name="Rectangle 2"/>
          <p:cNvSpPr>
            <a:spLocks noGrp="1"/>
          </p:cNvSpPr>
          <p:nvPr>
            <p:ph type="title"/>
          </p:nvPr>
        </p:nvSpPr>
        <p:spPr>
          <a:xfrm>
            <a:off x="1657350" y="411163"/>
            <a:ext cx="5829300" cy="593725"/>
          </a:xfrm>
          <a:noFill/>
          <a:ln>
            <a:noFill/>
          </a:ln>
        </p:spPr>
        <p:txBody>
          <a:bodyPr/>
          <a:lstStyle/>
          <a:p>
            <a:pPr eaLnBrk="1" hangingPunct="1"/>
            <a:r>
              <a:rPr lang="zh-CN" altLang="en-US" dirty="0">
                <a:latin typeface="华文新魏" panose="02010800040101010101" pitchFamily="2" charset="-122"/>
                <a:ea typeface="华文新魏" panose="02010800040101010101" pitchFamily="2" charset="-122"/>
              </a:rPr>
              <a:t>数字电路设计技术的发展</a:t>
            </a:r>
          </a:p>
        </p:txBody>
      </p:sp>
      <p:sp>
        <p:nvSpPr>
          <p:cNvPr id="116740" name="Rectangle 3"/>
          <p:cNvSpPr>
            <a:spLocks noGrp="1"/>
          </p:cNvSpPr>
          <p:nvPr>
            <p:ph idx="1" hasCustomPrompt="1"/>
          </p:nvPr>
        </p:nvSpPr>
        <p:spPr>
          <a:xfrm>
            <a:off x="755650" y="1138238"/>
            <a:ext cx="7993063" cy="2154237"/>
          </a:xfrm>
          <a:noFill/>
          <a:ln>
            <a:noFill/>
          </a:ln>
        </p:spPr>
        <p:txBody>
          <a:bodyPr/>
          <a:lstStyle/>
          <a:p>
            <a:pPr eaLnBrk="1" hangingPunct="1"/>
            <a:r>
              <a:rPr lang="en-US" altLang="zh-CN" dirty="0">
                <a:latin typeface="华文新魏" panose="02010800040101010101" pitchFamily="2" charset="-122"/>
                <a:ea typeface="华文新魏" panose="02010800040101010101" pitchFamily="2" charset="-122"/>
              </a:rPr>
              <a:t>CAD</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Schematics</a:t>
            </a:r>
          </a:p>
          <a:p>
            <a:pPr eaLnBrk="1" hangingPunct="1"/>
            <a:r>
              <a:rPr lang="en-US" altLang="zh-CN" dirty="0">
                <a:latin typeface="华文新魏" panose="02010800040101010101" pitchFamily="2" charset="-122"/>
                <a:ea typeface="华文新魏" panose="02010800040101010101" pitchFamily="2" charset="-122"/>
              </a:rPr>
              <a:t>EDA</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HDL</a:t>
            </a:r>
          </a:p>
          <a:p>
            <a:pPr algn="just" eaLnBrk="1" hangingPunct="1"/>
            <a:r>
              <a:rPr lang="en-US" altLang="zh-CN" dirty="0">
                <a:latin typeface="华文新魏" panose="02010800040101010101" pitchFamily="2" charset="-122"/>
                <a:ea typeface="华文新魏" panose="02010800040101010101" pitchFamily="2" charset="-122"/>
              </a:rPr>
              <a:t>VHDL</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Verilog</a:t>
            </a:r>
            <a:r>
              <a:rPr lang="zh-CN" altLang="en-US" dirty="0">
                <a:latin typeface="华文新魏" panose="02010800040101010101" pitchFamily="2" charset="-122"/>
                <a:ea typeface="华文新魏" panose="02010800040101010101" pitchFamily="2" charset="-122"/>
              </a:rPr>
              <a:t>是影响最广的两种</a:t>
            </a:r>
            <a:r>
              <a:rPr lang="en-US" altLang="zh-CN" dirty="0">
                <a:latin typeface="华文新魏" panose="02010800040101010101" pitchFamily="2" charset="-122"/>
                <a:ea typeface="华文新魏" panose="02010800040101010101" pitchFamily="2" charset="-122"/>
              </a:rPr>
              <a:t>HDL</a:t>
            </a:r>
            <a:r>
              <a:rPr lang="zh-CN" altLang="en-US" dirty="0">
                <a:latin typeface="华文新魏" panose="02010800040101010101" pitchFamily="2" charset="-122"/>
                <a:ea typeface="华文新魏" panose="02010800040101010101" pitchFamily="2" charset="-122"/>
              </a:rPr>
              <a:t>。</a:t>
            </a:r>
          </a:p>
          <a:p>
            <a:pPr algn="just" eaLnBrk="1" hangingPunct="1"/>
            <a:r>
              <a:rPr lang="en-US" altLang="zh-CN" dirty="0">
                <a:latin typeface="华文新魏" panose="02010800040101010101" pitchFamily="2" charset="-122"/>
                <a:ea typeface="华文新魏" panose="02010800040101010101" pitchFamily="2" charset="-122"/>
              </a:rPr>
              <a:t>VHDL</a:t>
            </a:r>
            <a:r>
              <a:rPr lang="zh-CN" altLang="en-US" dirty="0">
                <a:latin typeface="华文新魏" panose="02010800040101010101" pitchFamily="2" charset="-122"/>
                <a:ea typeface="华文新魏" panose="02010800040101010101" pitchFamily="2" charset="-122"/>
              </a:rPr>
              <a:t>相对于</a:t>
            </a:r>
            <a:r>
              <a:rPr lang="en-US" altLang="zh-CN" dirty="0">
                <a:latin typeface="华文新魏" panose="02010800040101010101" pitchFamily="2" charset="-122"/>
                <a:ea typeface="华文新魏" panose="02010800040101010101" pitchFamily="2" charset="-122"/>
              </a:rPr>
              <a:t>Ver</a:t>
            </a:r>
            <a:r>
              <a:rPr lang="en-US" altLang="zh-CN" dirty="0">
                <a:latin typeface="华文新魏" panose="02010800040101010101" pitchFamily="2" charset="-122"/>
                <a:ea typeface="华文新魏" panose="02010800040101010101" pitchFamily="2" charset="-122"/>
                <a:sym typeface="+mn-ea"/>
              </a:rPr>
              <a:t>i</a:t>
            </a:r>
            <a:r>
              <a:rPr lang="en-US" altLang="zh-CN" dirty="0">
                <a:latin typeface="华文新魏" panose="02010800040101010101" pitchFamily="2" charset="-122"/>
                <a:ea typeface="华文新魏" panose="02010800040101010101" pitchFamily="2" charset="-122"/>
              </a:rPr>
              <a:t>log</a:t>
            </a:r>
            <a:r>
              <a:rPr lang="zh-CN" altLang="en-US" dirty="0">
                <a:latin typeface="华文新魏" panose="02010800040101010101" pitchFamily="2" charset="-122"/>
                <a:ea typeface="华文新魏" panose="02010800040101010101" pitchFamily="2" charset="-122"/>
              </a:rPr>
              <a:t>而言，它在语法上更严谨一些，虽然这样也使它失去了一些灵活性和多样性，但从文档纪录、综合以及器件和系统级的仿真上讲</a:t>
            </a:r>
            <a:r>
              <a:rPr lang="en-US" altLang="zh-CN" dirty="0">
                <a:latin typeface="华文新魏" panose="02010800040101010101" pitchFamily="2" charset="-122"/>
                <a:ea typeface="华文新魏" panose="02010800040101010101" pitchFamily="2" charset="-122"/>
              </a:rPr>
              <a:t>VHDL</a:t>
            </a:r>
            <a:r>
              <a:rPr lang="zh-CN" altLang="en-US" dirty="0">
                <a:latin typeface="华文新魏" panose="02010800040101010101" pitchFamily="2" charset="-122"/>
                <a:ea typeface="华文新魏" panose="02010800040101010101" pitchFamily="2" charset="-122"/>
              </a:rPr>
              <a:t>是一种更好的选择。</a:t>
            </a:r>
          </a:p>
          <a:p>
            <a:pPr eaLnBrk="1" hangingPunct="1"/>
            <a:endParaRPr lang="en-US" altLang="zh-CN" dirty="0">
              <a:latin typeface="华文新魏" panose="02010800040101010101" pitchFamily="2" charset="-122"/>
              <a:ea typeface="华文新魏" panose="02010800040101010101" pitchFamily="2" charset="-122"/>
            </a:endParaRPr>
          </a:p>
        </p:txBody>
      </p:sp>
      <p:sp>
        <p:nvSpPr>
          <p:cNvPr id="116741" name="Rectangle 4"/>
          <p:cNvSpPr/>
          <p:nvPr/>
        </p:nvSpPr>
        <p:spPr>
          <a:xfrm>
            <a:off x="827088" y="3484563"/>
            <a:ext cx="6980237" cy="1546225"/>
          </a:xfrm>
          <a:prstGeom prst="rect">
            <a:avLst/>
          </a:prstGeom>
          <a:noFill/>
          <a:ln w="9525">
            <a:noFill/>
          </a:ln>
        </p:spPr>
        <p:txBody>
          <a:bodyPr/>
          <a:lstStyle/>
          <a:p>
            <a:pPr marL="342900" indent="-342900" eaLnBrk="1" hangingPunct="1">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目前主流</a:t>
            </a:r>
            <a:r>
              <a:rPr lang="en-US" altLang="zh-CN" sz="2400" dirty="0">
                <a:solidFill>
                  <a:schemeClr val="tx1"/>
                </a:solidFill>
                <a:latin typeface="华文新魏" panose="02010800040101010101" pitchFamily="2" charset="-122"/>
                <a:ea typeface="华文新魏" panose="02010800040101010101" pitchFamily="2" charset="-122"/>
              </a:rPr>
              <a:t>PLD</a:t>
            </a:r>
            <a:r>
              <a:rPr lang="zh-CN" altLang="en-US" sz="2400" dirty="0">
                <a:solidFill>
                  <a:schemeClr val="tx1"/>
                </a:solidFill>
                <a:latin typeface="华文新魏" panose="02010800040101010101" pitchFamily="2" charset="-122"/>
                <a:ea typeface="华文新魏" panose="02010800040101010101" pitchFamily="2" charset="-122"/>
              </a:rPr>
              <a:t>厂家的</a:t>
            </a:r>
            <a:r>
              <a:rPr lang="en-US" altLang="zh-CN" sz="2400" dirty="0">
                <a:solidFill>
                  <a:schemeClr val="tx1"/>
                </a:solidFill>
                <a:latin typeface="华文新魏" panose="02010800040101010101" pitchFamily="2" charset="-122"/>
                <a:ea typeface="华文新魏" panose="02010800040101010101" pitchFamily="2" charset="-122"/>
              </a:rPr>
              <a:t>EDA</a:t>
            </a:r>
            <a:r>
              <a:rPr lang="zh-CN" altLang="en-US" sz="2400" dirty="0">
                <a:solidFill>
                  <a:schemeClr val="tx1"/>
                </a:solidFill>
                <a:latin typeface="华文新魏" panose="02010800040101010101" pitchFamily="2" charset="-122"/>
                <a:ea typeface="华文新魏" panose="02010800040101010101" pitchFamily="2" charset="-122"/>
              </a:rPr>
              <a:t>的软件工具有：  </a:t>
            </a:r>
          </a:p>
          <a:p>
            <a:pPr marL="342900" indent="-342900" eaLnBrk="1" hangingPunct="1">
              <a:spcBef>
                <a:spcPct val="20000"/>
              </a:spcBef>
            </a:pPr>
            <a:r>
              <a:rPr lang="en-US" altLang="zh-CN" sz="1800" dirty="0">
                <a:solidFill>
                  <a:schemeClr val="tx1"/>
                </a:solidFill>
                <a:latin typeface="华文新魏" panose="02010800040101010101" pitchFamily="2" charset="-122"/>
                <a:ea typeface="华文新魏" panose="02010800040101010101" pitchFamily="2" charset="-122"/>
              </a:rPr>
              <a:t>Alte</a:t>
            </a:r>
            <a:r>
              <a:rPr lang="en-US" altLang="zh-CN" sz="1800" dirty="0">
                <a:solidFill>
                  <a:schemeClr val="tx1"/>
                </a:solidFill>
                <a:latin typeface="华文新魏" panose="02010800040101010101" pitchFamily="2" charset="-122"/>
                <a:ea typeface="华文新魏" panose="02010800040101010101" pitchFamily="2" charset="-122"/>
                <a:sym typeface="+mn-ea"/>
              </a:rPr>
              <a:t>r</a:t>
            </a:r>
            <a:r>
              <a:rPr lang="en-US" altLang="zh-CN" sz="1800" dirty="0">
                <a:solidFill>
                  <a:schemeClr val="tx1"/>
                </a:solidFill>
                <a:latin typeface="华文新魏" panose="02010800040101010101" pitchFamily="2" charset="-122"/>
                <a:ea typeface="华文新魏" panose="02010800040101010101" pitchFamily="2" charset="-122"/>
              </a:rPr>
              <a:t>a </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err="1">
                <a:solidFill>
                  <a:schemeClr val="tx1"/>
                </a:solidFill>
                <a:latin typeface="华文新魏" panose="02010800040101010101" pitchFamily="2" charset="-122"/>
                <a:ea typeface="华文新魏" panose="02010800040101010101" pitchFamily="2" charset="-122"/>
              </a:rPr>
              <a:t>MAX+plusII</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err="1">
                <a:solidFill>
                  <a:srgbClr val="0000FF"/>
                </a:solidFill>
                <a:latin typeface="华文新魏" panose="02010800040101010101" pitchFamily="2" charset="-122"/>
                <a:ea typeface="华文新魏" panose="02010800040101010101" pitchFamily="2" charset="-122"/>
              </a:rPr>
              <a:t>QuartusII</a:t>
            </a:r>
            <a:endParaRPr lang="en-US" altLang="zh-CN" sz="1800" dirty="0">
              <a:solidFill>
                <a:srgbClr val="0000FF"/>
              </a:solidFill>
              <a:latin typeface="华文新魏" panose="02010800040101010101" pitchFamily="2" charset="-122"/>
              <a:ea typeface="华文新魏" panose="02010800040101010101" pitchFamily="2" charset="-122"/>
            </a:endParaRPr>
          </a:p>
          <a:p>
            <a:pPr marL="342900" indent="-342900" eaLnBrk="1" hangingPunct="1">
              <a:spcBef>
                <a:spcPct val="20000"/>
              </a:spcBef>
            </a:pPr>
            <a:r>
              <a:rPr lang="en-US" altLang="zh-CN" sz="1800" dirty="0">
                <a:solidFill>
                  <a:schemeClr val="tx1"/>
                </a:solidFill>
                <a:latin typeface="华文新魏" panose="02010800040101010101" pitchFamily="2" charset="-122"/>
                <a:ea typeface="华文新魏" panose="02010800040101010101" pitchFamily="2" charset="-122"/>
              </a:rPr>
              <a:t>Lattice</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err="1">
                <a:solidFill>
                  <a:srgbClr val="0000FF"/>
                </a:solidFill>
                <a:latin typeface="华文新魏" panose="02010800040101010101" pitchFamily="2" charset="-122"/>
                <a:ea typeface="华文新魏" panose="02010800040101010101" pitchFamily="2" charset="-122"/>
              </a:rPr>
              <a:t>ispEXPERT</a:t>
            </a:r>
            <a:endParaRPr lang="en-US" altLang="zh-CN" sz="1800" dirty="0">
              <a:solidFill>
                <a:schemeClr val="tx1"/>
              </a:solidFill>
              <a:latin typeface="华文新魏" panose="02010800040101010101" pitchFamily="2" charset="-122"/>
              <a:ea typeface="华文新魏" panose="02010800040101010101" pitchFamily="2" charset="-122"/>
            </a:endParaRPr>
          </a:p>
          <a:p>
            <a:pPr marL="342900" indent="-342900" eaLnBrk="1" hangingPunct="1">
              <a:spcBef>
                <a:spcPct val="20000"/>
              </a:spcBef>
            </a:pPr>
            <a:r>
              <a:rPr lang="en-US" altLang="zh-CN" sz="1800" dirty="0">
                <a:solidFill>
                  <a:srgbClr val="FF0000"/>
                </a:solidFill>
                <a:latin typeface="华文新魏" panose="02010800040101010101" pitchFamily="2" charset="-122"/>
                <a:ea typeface="华文新魏" panose="02010800040101010101" pitchFamily="2" charset="-122"/>
              </a:rPr>
              <a:t>Xilinx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dirty="0">
                <a:solidFill>
                  <a:srgbClr val="FF0000"/>
                </a:solidFill>
                <a:latin typeface="华文新魏" panose="02010800040101010101" pitchFamily="2" charset="-122"/>
                <a:ea typeface="华文新魏" panose="02010800040101010101" pitchFamily="2" charset="-122"/>
              </a:rPr>
              <a:t>ISE( Integrated  Software  Environment)</a:t>
            </a:r>
            <a:r>
              <a:rPr lang="zh-CN" altLang="en-US" sz="1800" dirty="0">
                <a:solidFill>
                  <a:srgbClr val="FF0000"/>
                </a:solidFill>
                <a:latin typeface="华文新魏" panose="02010800040101010101" pitchFamily="2" charset="-122"/>
                <a:ea typeface="华文新魏" panose="02010800040101010101" pitchFamily="2" charset="-122"/>
              </a:rPr>
              <a:t>，</a:t>
            </a:r>
            <a:r>
              <a:rPr lang="en-US" altLang="zh-CN" sz="1800" dirty="0" err="1">
                <a:solidFill>
                  <a:srgbClr val="FF0000"/>
                </a:solidFill>
                <a:latin typeface="华文新魏" panose="02010800040101010101" pitchFamily="2" charset="-122"/>
                <a:ea typeface="华文新魏" panose="02010800040101010101" pitchFamily="2" charset="-122"/>
              </a:rPr>
              <a:t>Vivado</a:t>
            </a:r>
            <a:endParaRPr lang="en-US" altLang="zh-CN" sz="1800" dirty="0">
              <a:solidFill>
                <a:srgbClr val="FF0000"/>
              </a:solidFill>
              <a:latin typeface="华文新魏" panose="02010800040101010101" pitchFamily="2" charset="-122"/>
              <a:ea typeface="华文新魏" panose="02010800040101010101" pitchFamily="2" charset="-122"/>
            </a:endParaRPr>
          </a:p>
        </p:txBody>
      </p:sp>
      <p:sp>
        <p:nvSpPr>
          <p:cNvPr id="116742" name="Rectangle 4"/>
          <p:cNvSpPr/>
          <p:nvPr/>
        </p:nvSpPr>
        <p:spPr>
          <a:xfrm>
            <a:off x="5508104" y="1054893"/>
            <a:ext cx="3528888" cy="1160463"/>
          </a:xfrm>
          <a:prstGeom prst="rect">
            <a:avLst/>
          </a:prstGeom>
          <a:noFill/>
          <a:ln w="9525">
            <a:noFill/>
          </a:ln>
        </p:spPr>
        <p:txBody>
          <a:bodyPr/>
          <a:lstStyle/>
          <a:p>
            <a:pPr marL="342900" indent="-342900" eaLnBrk="1" hangingPunct="1">
              <a:spcBef>
                <a:spcPct val="20000"/>
              </a:spcBef>
            </a:pPr>
            <a:r>
              <a:rPr lang="zh-CN" altLang="en-US" sz="1800" dirty="0">
                <a:solidFill>
                  <a:srgbClr val="FF0000"/>
                </a:solidFill>
                <a:latin typeface="华文新魏" panose="02010800040101010101" pitchFamily="2" charset="-122"/>
                <a:ea typeface="华文新魏" panose="02010800040101010101" pitchFamily="2" charset="-122"/>
              </a:rPr>
              <a:t>      描述逻辑电路功能的传统方法：真值表、卡诺图、时序图、布尔方程和逻辑图。</a:t>
            </a:r>
            <a:r>
              <a:rPr lang="en-US" altLang="zh-CN" sz="1800" dirty="0">
                <a:solidFill>
                  <a:srgbClr val="FF0000"/>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不适合描述大型、复杂电路！</a:t>
            </a:r>
            <a:endParaRPr lang="en-US" altLang="zh-CN" sz="1800"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6742"/>
                                        </p:tgtEl>
                                        <p:attrNameLst>
                                          <p:attrName>style.visibility</p:attrName>
                                        </p:attrNameLst>
                                      </p:cBhvr>
                                      <p:to>
                                        <p:strVal val="visible"/>
                                      </p:to>
                                    </p:set>
                                    <p:animEffect transition="in" filter="randombar(horizontal)">
                                      <p:cBhvr>
                                        <p:cTn id="7" dur="500"/>
                                        <p:tgtEl>
                                          <p:spTgt spid="116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AE19B9F-F976-43E6-917F-3FD79D62D3A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4</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7763" name="Rectangle 2"/>
          <p:cNvSpPr>
            <a:spLocks noGrp="1"/>
          </p:cNvSpPr>
          <p:nvPr>
            <p:ph type="title"/>
          </p:nvPr>
        </p:nvSpPr>
        <p:spPr>
          <a:xfrm>
            <a:off x="628650" y="627063"/>
            <a:ext cx="7886700" cy="641350"/>
          </a:xfrm>
          <a:noFill/>
          <a:ln>
            <a:noFill/>
          </a:ln>
        </p:spPr>
        <p:txBody>
          <a:bodyPr/>
          <a:lstStyle/>
          <a:p>
            <a:pPr eaLnBrk="1" hangingPunct="1"/>
            <a:r>
              <a:rPr lang="zh-CN" altLang="en-US" sz="3600" dirty="0">
                <a:latin typeface="华文新魏" panose="02010800040101010101" pitchFamily="2" charset="-122"/>
                <a:ea typeface="华文新魏" panose="02010800040101010101" pitchFamily="2" charset="-122"/>
              </a:rPr>
              <a:t>硬件描述语言（</a:t>
            </a:r>
            <a:r>
              <a:rPr lang="en-US" altLang="zh-CN" sz="3600">
                <a:latin typeface="华文新魏" panose="02010800040101010101" pitchFamily="2" charset="-122"/>
                <a:ea typeface="华文新魏" panose="02010800040101010101" pitchFamily="2" charset="-122"/>
              </a:rPr>
              <a:t>HDL</a:t>
            </a:r>
            <a:r>
              <a:rPr lang="zh-CN" altLang="en-US" sz="3600" dirty="0">
                <a:latin typeface="华文新魏" panose="02010800040101010101" pitchFamily="2" charset="-122"/>
                <a:ea typeface="华文新魏" panose="02010800040101010101" pitchFamily="2" charset="-122"/>
              </a:rPr>
              <a:t>）</a:t>
            </a:r>
          </a:p>
        </p:txBody>
      </p:sp>
      <p:sp>
        <p:nvSpPr>
          <p:cNvPr id="117764" name="Rectangle 3"/>
          <p:cNvSpPr>
            <a:spLocks noGrp="1"/>
          </p:cNvSpPr>
          <p:nvPr>
            <p:ph idx="1" hasCustomPrompt="1"/>
          </p:nvPr>
        </p:nvSpPr>
        <p:spPr>
          <a:xfrm>
            <a:off x="220345" y="1370330"/>
            <a:ext cx="8831580" cy="3261995"/>
          </a:xfrm>
          <a:noFill/>
          <a:ln>
            <a:noFill/>
          </a:ln>
        </p:spPr>
        <p:txBody>
          <a:bodyPr/>
          <a:lstStyle/>
          <a:p>
            <a:pPr eaLnBrk="1" hangingPunct="1"/>
            <a:r>
              <a:rPr lang="zh-CN" altLang="en-US" sz="2800" dirty="0">
                <a:latin typeface="华文新魏" panose="02010800040101010101" pitchFamily="2" charset="-122"/>
                <a:ea typeface="华文新魏" panose="02010800040101010101" pitchFamily="2" charset="-122"/>
              </a:rPr>
              <a:t>两大主流的传统硬件描述语言：</a:t>
            </a:r>
          </a:p>
          <a:p>
            <a:pPr eaLnBrk="1" hangingPunct="1"/>
            <a:endParaRPr lang="zh-CN" altLang="en-US" dirty="0">
              <a:latin typeface="华文新魏" panose="02010800040101010101" pitchFamily="2" charset="-122"/>
              <a:ea typeface="华文新魏" panose="02010800040101010101" pitchFamily="2" charset="-122"/>
            </a:endParaRPr>
          </a:p>
          <a:p>
            <a:pPr eaLnBrk="1" hangingPunct="1"/>
            <a:r>
              <a:rPr lang="en-US" altLang="zh-CN" sz="2400" dirty="0">
                <a:solidFill>
                  <a:srgbClr val="FF0000"/>
                </a:solidFill>
                <a:latin typeface="华文新魏" panose="02010800040101010101" pitchFamily="2" charset="-122"/>
                <a:ea typeface="华文新魏" panose="02010800040101010101" pitchFamily="2" charset="-122"/>
              </a:rPr>
              <a:t>VHDL</a:t>
            </a: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美国国防部</a:t>
            </a:r>
            <a:r>
              <a:rPr lang="en-US" altLang="zh-CN" sz="2400" dirty="0">
                <a:latin typeface="华文新魏" panose="02010800040101010101" pitchFamily="2" charset="-122"/>
                <a:ea typeface="华文新魏" panose="02010800040101010101" pitchFamily="2" charset="-122"/>
              </a:rPr>
              <a:t>1981</a:t>
            </a:r>
            <a:r>
              <a:rPr lang="zh-CN" altLang="en-US" sz="2400" dirty="0">
                <a:latin typeface="华文新魏" panose="02010800040101010101" pitchFamily="2" charset="-122"/>
                <a:ea typeface="华文新魏" panose="02010800040101010101" pitchFamily="2" charset="-122"/>
              </a:rPr>
              <a:t>年提出，</a:t>
            </a:r>
            <a:r>
              <a:rPr lang="en-US" altLang="zh-CN" sz="2400" dirty="0">
                <a:latin typeface="华文新魏" panose="02010800040101010101" pitchFamily="2" charset="-122"/>
                <a:ea typeface="华文新魏" panose="02010800040101010101" pitchFamily="2" charset="-122"/>
              </a:rPr>
              <a:t>1983</a:t>
            </a:r>
            <a:r>
              <a:rPr lang="zh-CN" altLang="en-US" sz="2400" dirty="0">
                <a:latin typeface="华文新魏" panose="02010800040101010101" pitchFamily="2" charset="-122"/>
                <a:ea typeface="华文新魏" panose="02010800040101010101" pitchFamily="2" charset="-122"/>
              </a:rPr>
              <a:t>年</a:t>
            </a:r>
            <a:r>
              <a:rPr lang="zh-CN" altLang="en-US" sz="2400" dirty="0">
                <a:latin typeface="华文新魏" panose="02010800040101010101" pitchFamily="2" charset="-122"/>
                <a:ea typeface="华文新魏" panose="02010800040101010101" pitchFamily="2" charset="-122"/>
                <a:sym typeface="+mn-ea"/>
              </a:rPr>
              <a:t>开发，</a:t>
            </a:r>
            <a:endParaRPr lang="zh-CN" altLang="en-US" sz="2400" dirty="0">
              <a:latin typeface="华文新魏" panose="02010800040101010101" pitchFamily="2" charset="-122"/>
              <a:ea typeface="华文新魏" panose="02010800040101010101" pitchFamily="2" charset="-122"/>
            </a:endParaRPr>
          </a:p>
          <a:p>
            <a:pPr eaLnBrk="1" hangingPunct="1">
              <a:buFontTx/>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1987</a:t>
            </a:r>
            <a:r>
              <a:rPr lang="zh-CN" altLang="en-US" sz="2400" dirty="0">
                <a:latin typeface="华文新魏" panose="02010800040101010101" pitchFamily="2" charset="-122"/>
                <a:ea typeface="华文新魏" panose="02010800040101010101" pitchFamily="2" charset="-122"/>
              </a:rPr>
              <a:t>年成为</a:t>
            </a:r>
            <a:r>
              <a:rPr lang="en-US" altLang="zh-CN" sz="2400" dirty="0">
                <a:latin typeface="华文新魏" panose="02010800040101010101" pitchFamily="2" charset="-122"/>
                <a:ea typeface="华文新魏" panose="02010800040101010101" pitchFamily="2" charset="-122"/>
              </a:rPr>
              <a:t>IEEE</a:t>
            </a:r>
            <a:r>
              <a:rPr lang="zh-CN" altLang="en-US" sz="2400" dirty="0">
                <a:latin typeface="华文新魏" panose="02010800040101010101" pitchFamily="2" charset="-122"/>
                <a:ea typeface="华文新魏" panose="02010800040101010101" pitchFamily="2" charset="-122"/>
              </a:rPr>
              <a:t>标准，</a:t>
            </a:r>
            <a:r>
              <a:rPr lang="en-US" altLang="zh-CN" sz="2400" dirty="0">
                <a:latin typeface="华文新魏" panose="02010800040101010101" pitchFamily="2" charset="-122"/>
                <a:ea typeface="华文新魏" panose="02010800040101010101" pitchFamily="2" charset="-122"/>
              </a:rPr>
              <a:t>1993</a:t>
            </a:r>
            <a:r>
              <a:rPr lang="zh-CN" altLang="en-US" sz="2400" dirty="0">
                <a:latin typeface="华文新魏" panose="02010800040101010101" pitchFamily="2" charset="-122"/>
                <a:ea typeface="华文新魏" panose="02010800040101010101" pitchFamily="2" charset="-122"/>
              </a:rPr>
              <a:t>进行了修改，。。。</a:t>
            </a:r>
            <a:endParaRPr lang="zh-CN" altLang="en-US" dirty="0">
              <a:latin typeface="华文新魏" panose="02010800040101010101" pitchFamily="2" charset="-122"/>
              <a:ea typeface="华文新魏" panose="02010800040101010101" pitchFamily="2" charset="-122"/>
            </a:endParaRPr>
          </a:p>
          <a:p>
            <a:pPr eaLnBrk="1" hangingPunct="1"/>
            <a:endParaRPr lang="zh-CN" altLang="en-US" dirty="0">
              <a:latin typeface="华文新魏" panose="02010800040101010101" pitchFamily="2" charset="-122"/>
              <a:ea typeface="华文新魏" panose="02010800040101010101" pitchFamily="2" charset="-122"/>
            </a:endParaRPr>
          </a:p>
          <a:p>
            <a:pPr eaLnBrk="1" hangingPunct="1"/>
            <a:r>
              <a:rPr lang="en-US" altLang="zh-CN" sz="2400" dirty="0">
                <a:solidFill>
                  <a:srgbClr val="FF0000"/>
                </a:solidFill>
                <a:latin typeface="华文新魏" panose="02010800040101010101" pitchFamily="2" charset="-122"/>
                <a:ea typeface="华文新魏" panose="02010800040101010101" pitchFamily="2" charset="-122"/>
              </a:rPr>
              <a:t>Verilog HDL</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Gateway Design Automation</a:t>
            </a:r>
            <a:r>
              <a:rPr lang="zh-CN" altLang="en-US" sz="2400" dirty="0">
                <a:latin typeface="华文新魏" panose="02010800040101010101" pitchFamily="2" charset="-122"/>
                <a:ea typeface="华文新魏" panose="02010800040101010101" pitchFamily="2" charset="-122"/>
              </a:rPr>
              <a:t>（</a:t>
            </a:r>
            <a:r>
              <a:rPr lang="en-US" altLang="zh-CN" sz="2400" dirty="0">
                <a:sym typeface="+mn-ea"/>
              </a:rPr>
              <a:t>Cadence</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          </a:t>
            </a:r>
          </a:p>
          <a:p>
            <a:pPr marL="0" indent="0" eaLnBrk="1" hangingPunct="1">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公司</a:t>
            </a:r>
            <a:r>
              <a:rPr lang="en-US" altLang="zh-CN" sz="2400" dirty="0">
                <a:latin typeface="华文新魏" panose="02010800040101010101" pitchFamily="2" charset="-122"/>
                <a:ea typeface="华文新魏" panose="02010800040101010101" pitchFamily="2" charset="-122"/>
              </a:rPr>
              <a:t>, 1983</a:t>
            </a:r>
            <a:r>
              <a:rPr lang="zh-CN" altLang="en-US" sz="2400" dirty="0">
                <a:latin typeface="华文新魏" panose="02010800040101010101" pitchFamily="2" charset="-122"/>
                <a:ea typeface="华文新魏" panose="02010800040101010101" pitchFamily="2" charset="-122"/>
              </a:rPr>
              <a:t>年开发</a:t>
            </a:r>
            <a:r>
              <a:rPr lang="en-US" altLang="zh-CN" sz="2400" dirty="0">
                <a:latin typeface="华文新魏" panose="02010800040101010101" pitchFamily="2" charset="-122"/>
                <a:ea typeface="华文新魏" panose="02010800040101010101" pitchFamily="2" charset="-122"/>
              </a:rPr>
              <a:t>, 1995</a:t>
            </a:r>
            <a:r>
              <a:rPr lang="zh-CN" altLang="en-US" sz="2400" dirty="0">
                <a:latin typeface="华文新魏" panose="02010800040101010101" pitchFamily="2" charset="-122"/>
                <a:ea typeface="华文新魏" panose="02010800040101010101" pitchFamily="2" charset="-122"/>
              </a:rPr>
              <a:t>年被</a:t>
            </a:r>
          </a:p>
          <a:p>
            <a:pPr marL="0" indent="0" eaLnBrk="1" hangingPunct="1">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认证为 </a:t>
            </a:r>
            <a:r>
              <a:rPr lang="en-US" altLang="zh-CN" sz="2400" dirty="0">
                <a:latin typeface="华文新魏" panose="02010800040101010101" pitchFamily="2" charset="-122"/>
                <a:ea typeface="华文新魏" panose="02010800040101010101" pitchFamily="2" charset="-122"/>
              </a:rPr>
              <a:t>IEEE </a:t>
            </a:r>
            <a:r>
              <a:rPr lang="zh-CN" altLang="en-US" sz="2400" dirty="0">
                <a:latin typeface="华文新魏" panose="02010800040101010101" pitchFamily="2" charset="-122"/>
                <a:ea typeface="华文新魏" panose="02010800040101010101" pitchFamily="2" charset="-122"/>
              </a:rPr>
              <a:t>标准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Group 2"/>
          <p:cNvGraphicFramePr>
            <a:graphicFrameLocks noGrp="1"/>
          </p:cNvGraphicFramePr>
          <p:nvPr/>
        </p:nvGraphicFramePr>
        <p:xfrm>
          <a:off x="5292725" y="2500313"/>
          <a:ext cx="3565525" cy="2202126"/>
        </p:xfrm>
        <a:graphic>
          <a:graphicData uri="http://schemas.openxmlformats.org/drawingml/2006/table">
            <a:tbl>
              <a:tblPr/>
              <a:tblGrid>
                <a:gridCol w="3294063">
                  <a:extLst>
                    <a:ext uri="{9D8B030D-6E8A-4147-A177-3AD203B41FA5}">
                      <a16:colId xmlns:a16="http://schemas.microsoft.com/office/drawing/2014/main" val="20000"/>
                    </a:ext>
                  </a:extLst>
                </a:gridCol>
                <a:gridCol w="271462">
                  <a:extLst>
                    <a:ext uri="{9D8B030D-6E8A-4147-A177-3AD203B41FA5}">
                      <a16:colId xmlns:a16="http://schemas.microsoft.com/office/drawing/2014/main" val="20001"/>
                    </a:ext>
                  </a:extLst>
                </a:gridCol>
              </a:tblGrid>
              <a:tr h="220186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0" fontAlgn="base" latinLnBrk="0" hangingPunct="0">
                        <a:lnSpc>
                          <a:spcPct val="120000"/>
                        </a:lnSpc>
                        <a:spcBef>
                          <a:spcPct val="0"/>
                        </a:spcBef>
                        <a:spcAft>
                          <a:spcPct val="0"/>
                        </a:spcAft>
                        <a:buClrTx/>
                        <a:buSzTx/>
                        <a:buFont typeface="Arial" panose="020B0604020202020204" pitchFamily="34" charset="0"/>
                        <a:buNone/>
                      </a:pPr>
                      <a:endParaRPr kumimoji="0" lang="zh-CN" altLang="en-US" sz="2000" b="0" i="0" u="none" strike="noStrike" cap="none" normalizeH="0" baseline="0" dirty="0">
                        <a:ln>
                          <a:noFill/>
                        </a:ln>
                        <a:solidFill>
                          <a:schemeClr val="tx1"/>
                        </a:solidFill>
                        <a:effectLst/>
                        <a:latin typeface="黑体" panose="02010609060101010101" pitchFamily="2" charset="-122"/>
                        <a:ea typeface="黑体" panose="02010609060101010101" pitchFamily="2" charset="-122"/>
                      </a:endParaRPr>
                    </a:p>
                    <a:p>
                      <a:pPr marL="0" marR="0" lvl="0" indent="0" algn="l" defTabSz="685800" rtl="0" eaLnBrk="1" fontAlgn="base" latinLnBrk="0" hangingPunct="1">
                        <a:lnSpc>
                          <a:spcPct val="12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 VHDL</a:t>
                      </a:r>
                      <a:r>
                        <a:rPr kumimoji="0" lang="zh-CN" altLang="en-US"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基础</a:t>
                      </a:r>
                      <a:endPar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p>
                      <a:pPr marL="0" marR="0" lvl="0" indent="0" algn="l" defTabSz="685800" rtl="0" eaLnBrk="1" fontAlgn="base" latinLnBrk="0" hangingPunct="1">
                        <a:lnSpc>
                          <a:spcPct val="12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2</a:t>
                      </a:r>
                      <a:r>
                        <a:rPr kumimoji="0" lang="zh-CN" altLang="en-US"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常用语句</a:t>
                      </a:r>
                      <a:endPar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p>
                      <a:pPr marL="0" marR="0" lvl="0" indent="0" algn="l" defTabSz="685800" rtl="0" eaLnBrk="1" fontAlgn="base" latinLnBrk="0" hangingPunct="1">
                        <a:lnSpc>
                          <a:spcPct val="12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3 </a:t>
                      </a:r>
                      <a:r>
                        <a:rPr kumimoji="0" lang="zh-CN" altLang="en-US"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设计实体</a:t>
                      </a:r>
                      <a:endPar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p>
                      <a:pPr marL="0" marR="0" lvl="0" indent="0" algn="l" defTabSz="685800" rtl="0" eaLnBrk="1" fontAlgn="base" latinLnBrk="0" hangingPunct="1">
                        <a:lnSpc>
                          <a:spcPct val="12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4</a:t>
                      </a:r>
                      <a:r>
                        <a:rPr kumimoji="0" lang="zh-CN" altLang="en-US"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层次结构设计</a:t>
                      </a:r>
                      <a:endParaRPr kumimoji="0" lang="en-US" altLang="zh-CN" sz="2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dirty="0">
                        <a:ln>
                          <a:noFill/>
                        </a:ln>
                        <a:solidFill>
                          <a:schemeClr val="tx1"/>
                        </a:solidFill>
                        <a:effectLst/>
                        <a:latin typeface="黑体" panose="02010609060101010101" pitchFamily="2" charset="-122"/>
                        <a:ea typeface="黑体" panose="02010609060101010101" pitchFamily="2" charset="-122"/>
                      </a:endParaRPr>
                    </a:p>
                  </a:txBody>
                  <a:tcPr marT="34263" marB="34263" anchor="ctr"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dirty="0">
                        <a:ln>
                          <a:noFill/>
                        </a:ln>
                        <a:solidFill>
                          <a:schemeClr val="tx1"/>
                        </a:solidFill>
                        <a:effectLst/>
                        <a:latin typeface="黑体" panose="02010609060101010101" pitchFamily="2" charset="-122"/>
                        <a:ea typeface="黑体" panose="02010609060101010101" pitchFamily="2" charset="-122"/>
                      </a:endParaRPr>
                    </a:p>
                  </a:txBody>
                  <a:tcPr marT="34263" marB="34263"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19813" name="矩形 13"/>
          <p:cNvSpPr/>
          <p:nvPr/>
        </p:nvSpPr>
        <p:spPr>
          <a:xfrm>
            <a:off x="501650" y="642938"/>
            <a:ext cx="2916238" cy="400050"/>
          </a:xfrm>
          <a:prstGeom prst="rect">
            <a:avLst/>
          </a:prstGeom>
          <a:noFill/>
          <a:ln w="9525">
            <a:noFill/>
          </a:ln>
        </p:spPr>
        <p:txBody>
          <a:bodyPr wrap="none">
            <a:spAutoFit/>
          </a:bodyPr>
          <a:lstStyle/>
          <a:p>
            <a:pPr eaLnBrk="1" hangingPunct="1">
              <a:buFont typeface="Arial" panose="020B0604020202020204" pitchFamily="34" charset="0"/>
            </a:pPr>
            <a:r>
              <a:rPr lang="zh-CN" altLang="en-US" dirty="0">
                <a:solidFill>
                  <a:srgbClr val="FF0000"/>
                </a:solidFill>
                <a:latin typeface="华文新魏" panose="02010800040101010101" pitchFamily="2" charset="-122"/>
                <a:ea typeface="华文新魏" panose="02010800040101010101" pitchFamily="2" charset="-122"/>
              </a:rPr>
              <a:t>四、硬件描述语言</a:t>
            </a:r>
            <a:r>
              <a:rPr lang="en-US" altLang="zh-CN">
                <a:solidFill>
                  <a:srgbClr val="FF0000"/>
                </a:solidFill>
                <a:latin typeface="华文新魏" panose="02010800040101010101" pitchFamily="2" charset="-122"/>
                <a:ea typeface="华文新魏" panose="02010800040101010101" pitchFamily="2" charset="-122"/>
              </a:rPr>
              <a:t>VHDL</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119814" name="Rectangle 8">
            <a:hlinkClick r:id="rId3" action="ppaction://hlinkfile"/>
          </p:cNvPr>
          <p:cNvSpPr/>
          <p:nvPr/>
        </p:nvSpPr>
        <p:spPr>
          <a:xfrm>
            <a:off x="8027988" y="58738"/>
            <a:ext cx="720725" cy="461962"/>
          </a:xfrm>
          <a:prstGeom prst="rect">
            <a:avLst/>
          </a:prstGeom>
          <a:noFill/>
          <a:ln w="9525">
            <a:noFill/>
          </a:ln>
        </p:spPr>
        <p:txBody>
          <a:bodyPr>
            <a:spAutoFit/>
          </a:bodyPr>
          <a:lstStyle/>
          <a:p>
            <a:pPr eaLnBrk="1" hangingPunct="1">
              <a:buFont typeface="Arial" panose="020B0604020202020204" pitchFamily="34" charset="0"/>
            </a:pP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119815" name="Rectangle 3"/>
          <p:cNvSpPr txBox="1"/>
          <p:nvPr/>
        </p:nvSpPr>
        <p:spPr>
          <a:xfrm>
            <a:off x="493713" y="2652713"/>
            <a:ext cx="7286625" cy="2049462"/>
          </a:xfrm>
          <a:prstGeom prst="rect">
            <a:avLst/>
          </a:prstGeom>
          <a:noFill/>
          <a:ln w="9525">
            <a:noFill/>
          </a:ln>
        </p:spPr>
        <p:txBody>
          <a:bodyPr/>
          <a:lstStyle/>
          <a:p>
            <a:pPr marL="171450" indent="-171450" defTabSz="685800" eaLnBrk="1" hangingPunct="1">
              <a:lnSpc>
                <a:spcPct val="120000"/>
              </a:lnSpc>
              <a:spcBef>
                <a:spcPts val="750"/>
              </a:spcBef>
              <a:buClr>
                <a:schemeClr val="tx2"/>
              </a:buClr>
            </a:pPr>
            <a:r>
              <a:rPr lang="zh-CN" altLang="en-US" sz="2100" b="1" dirty="0">
                <a:solidFill>
                  <a:srgbClr val="0000CC"/>
                </a:solidFill>
                <a:latin typeface="华文新魏" panose="02010800040101010101" pitchFamily="2" charset="-122"/>
                <a:ea typeface="华文新魏" panose="02010800040101010101" pitchFamily="2" charset="-122"/>
              </a:rPr>
              <a:t>一、</a:t>
            </a:r>
            <a:r>
              <a:rPr lang="en-US" altLang="zh-CN" sz="2100" b="1">
                <a:solidFill>
                  <a:srgbClr val="0000CC"/>
                </a:solidFill>
                <a:latin typeface="华文新魏" panose="02010800040101010101" pitchFamily="2" charset="-122"/>
                <a:ea typeface="华文新魏" panose="02010800040101010101" pitchFamily="2" charset="-122"/>
              </a:rPr>
              <a:t>VHDL </a:t>
            </a:r>
            <a:r>
              <a:rPr lang="zh-CN" altLang="en-US" sz="2100" b="1" dirty="0">
                <a:solidFill>
                  <a:srgbClr val="0000CC"/>
                </a:solidFill>
                <a:latin typeface="华文新魏" panose="02010800040101010101" pitchFamily="2" charset="-122"/>
                <a:ea typeface="华文新魏" panose="02010800040101010101" pitchFamily="2" charset="-122"/>
              </a:rPr>
              <a:t>程序结构</a:t>
            </a:r>
          </a:p>
          <a:p>
            <a:pPr marL="171450" indent="-171450" defTabSz="685800" eaLnBrk="1" hangingPunct="1">
              <a:lnSpc>
                <a:spcPct val="120000"/>
              </a:lnSpc>
              <a:spcBef>
                <a:spcPts val="750"/>
              </a:spcBef>
              <a:buClr>
                <a:schemeClr val="tx2"/>
              </a:buClr>
            </a:pPr>
            <a:r>
              <a:rPr lang="zh-CN" altLang="en-US" sz="2100" b="1" dirty="0">
                <a:solidFill>
                  <a:srgbClr val="0000CC"/>
                </a:solidFill>
                <a:latin typeface="华文新魏" panose="02010800040101010101" pitchFamily="2" charset="-122"/>
                <a:ea typeface="华文新魏" panose="02010800040101010101" pitchFamily="2" charset="-122"/>
              </a:rPr>
              <a:t>二、</a:t>
            </a:r>
            <a:r>
              <a:rPr lang="en-US" altLang="zh-CN" sz="2100" b="1">
                <a:solidFill>
                  <a:srgbClr val="0000CC"/>
                </a:solidFill>
                <a:latin typeface="华文新魏" panose="02010800040101010101" pitchFamily="2" charset="-122"/>
                <a:ea typeface="华文新魏" panose="02010800040101010101" pitchFamily="2" charset="-122"/>
              </a:rPr>
              <a:t>VHDL </a:t>
            </a:r>
            <a:r>
              <a:rPr lang="zh-CN" altLang="en-US" sz="2100" b="1" dirty="0">
                <a:solidFill>
                  <a:srgbClr val="0000CC"/>
                </a:solidFill>
                <a:latin typeface="华文新魏" panose="02010800040101010101" pitchFamily="2" charset="-122"/>
                <a:ea typeface="华文新魏" panose="02010800040101010101" pitchFamily="2" charset="-122"/>
              </a:rPr>
              <a:t>语言元素</a:t>
            </a:r>
          </a:p>
          <a:p>
            <a:pPr marL="171450" indent="-171450" defTabSz="685800" eaLnBrk="1" hangingPunct="1">
              <a:lnSpc>
                <a:spcPct val="120000"/>
              </a:lnSpc>
              <a:spcBef>
                <a:spcPts val="750"/>
              </a:spcBef>
              <a:buClr>
                <a:schemeClr val="tx2"/>
              </a:buClr>
            </a:pPr>
            <a:r>
              <a:rPr lang="zh-CN" altLang="en-US" sz="2100" b="1" dirty="0">
                <a:solidFill>
                  <a:srgbClr val="0000CC"/>
                </a:solidFill>
                <a:latin typeface="华文新魏" panose="02010800040101010101" pitchFamily="2" charset="-122"/>
                <a:ea typeface="华文新魏" panose="02010800040101010101" pitchFamily="2" charset="-122"/>
              </a:rPr>
              <a:t>三、</a:t>
            </a:r>
            <a:r>
              <a:rPr lang="en-US" altLang="zh-CN" sz="2100" b="1">
                <a:solidFill>
                  <a:srgbClr val="0000CC"/>
                </a:solidFill>
                <a:latin typeface="华文新魏" panose="02010800040101010101" pitchFamily="2" charset="-122"/>
                <a:ea typeface="华文新魏" panose="02010800040101010101" pitchFamily="2" charset="-122"/>
              </a:rPr>
              <a:t>VHDL </a:t>
            </a:r>
            <a:r>
              <a:rPr lang="zh-CN" altLang="en-US" sz="2100" b="1" dirty="0">
                <a:solidFill>
                  <a:srgbClr val="0000CC"/>
                </a:solidFill>
                <a:latin typeface="华文新魏" panose="02010800040101010101" pitchFamily="2" charset="-122"/>
                <a:ea typeface="华文新魏" panose="02010800040101010101" pitchFamily="2" charset="-122"/>
              </a:rPr>
              <a:t>基本描述语句</a:t>
            </a:r>
          </a:p>
          <a:p>
            <a:pPr marL="171450" indent="-171450" defTabSz="685800" eaLnBrk="1" hangingPunct="1">
              <a:lnSpc>
                <a:spcPct val="120000"/>
              </a:lnSpc>
              <a:spcBef>
                <a:spcPts val="750"/>
              </a:spcBef>
              <a:buClr>
                <a:schemeClr val="tx2"/>
              </a:buClr>
            </a:pPr>
            <a:r>
              <a:rPr lang="zh-CN" altLang="en-US" sz="2100" b="1" dirty="0">
                <a:solidFill>
                  <a:srgbClr val="0000CC"/>
                </a:solidFill>
                <a:latin typeface="华文新魏" panose="02010800040101010101" pitchFamily="2" charset="-122"/>
                <a:ea typeface="华文新魏" panose="02010800040101010101" pitchFamily="2" charset="-122"/>
              </a:rPr>
              <a:t>四、</a:t>
            </a:r>
            <a:r>
              <a:rPr lang="en-US" altLang="zh-CN" sz="2100" b="1">
                <a:solidFill>
                  <a:srgbClr val="0000CC"/>
                </a:solidFill>
                <a:latin typeface="华文新魏" panose="02010800040101010101" pitchFamily="2" charset="-122"/>
                <a:ea typeface="华文新魏" panose="02010800040101010101" pitchFamily="2" charset="-122"/>
              </a:rPr>
              <a:t>VHDL </a:t>
            </a:r>
            <a:r>
              <a:rPr lang="zh-CN" altLang="en-US" sz="2100" b="1" dirty="0">
                <a:solidFill>
                  <a:srgbClr val="0000CC"/>
                </a:solidFill>
                <a:latin typeface="华文新魏" panose="02010800040101010101" pitchFamily="2" charset="-122"/>
                <a:ea typeface="华文新魏" panose="02010800040101010101" pitchFamily="2" charset="-122"/>
              </a:rPr>
              <a:t>结构体的三种描述方法</a:t>
            </a:r>
          </a:p>
        </p:txBody>
      </p:sp>
      <p:sp>
        <p:nvSpPr>
          <p:cNvPr id="119816" name="Rectangle 10"/>
          <p:cNvSpPr/>
          <p:nvPr/>
        </p:nvSpPr>
        <p:spPr>
          <a:xfrm>
            <a:off x="323850" y="1035050"/>
            <a:ext cx="8256588" cy="1225550"/>
          </a:xfrm>
          <a:prstGeom prst="rect">
            <a:avLst/>
          </a:prstGeom>
          <a:noFill/>
          <a:ln w="9525">
            <a:noFill/>
          </a:ln>
        </p:spPr>
        <p:txBody>
          <a:bodyPr>
            <a:spAutoFit/>
          </a:bodyPr>
          <a:lstStyle/>
          <a:p>
            <a:pPr lvl="1" eaLnBrk="1" hangingPunct="1">
              <a:spcBef>
                <a:spcPct val="20000"/>
              </a:spcBef>
            </a:pPr>
            <a:r>
              <a:rPr lang="en-US" altLang="zh-CN" sz="1600">
                <a:solidFill>
                  <a:schemeClr val="tx1"/>
                </a:solidFill>
                <a:latin typeface="Times New Roman" panose="02020603050405020304" pitchFamily="18" charset="0"/>
                <a:ea typeface="华文新魏" panose="02010800040101010101" pitchFamily="2" charset="-122"/>
              </a:rPr>
              <a:t>《VHDL</a:t>
            </a:r>
            <a:r>
              <a:rPr lang="zh-CN" altLang="en-US" sz="1600" dirty="0">
                <a:solidFill>
                  <a:schemeClr val="tx1"/>
                </a:solidFill>
                <a:latin typeface="Times New Roman" panose="02020603050405020304" pitchFamily="18" charset="0"/>
                <a:ea typeface="华文新魏" panose="02010800040101010101" pitchFamily="2" charset="-122"/>
              </a:rPr>
              <a:t>硬件描述语言与数字逻辑电路设计 </a:t>
            </a:r>
            <a:r>
              <a:rPr lang="en-US" altLang="zh-CN" sz="1600">
                <a:solidFill>
                  <a:schemeClr val="tx1"/>
                </a:solidFill>
                <a:latin typeface="Times New Roman" panose="02020603050405020304" pitchFamily="18" charset="0"/>
                <a:ea typeface="华文新魏" panose="02010800040101010101" pitchFamily="2" charset="-122"/>
              </a:rPr>
              <a:t>》</a:t>
            </a:r>
            <a:r>
              <a:rPr lang="zh-CN" altLang="en-US" sz="1600" dirty="0">
                <a:solidFill>
                  <a:schemeClr val="tx1"/>
                </a:solidFill>
                <a:latin typeface="Times New Roman" panose="02020603050405020304" pitchFamily="18" charset="0"/>
                <a:ea typeface="华文新魏" panose="02010800040101010101" pitchFamily="2" charset="-122"/>
              </a:rPr>
              <a:t>侯伯亨 顾新 编著，西电出版社，</a:t>
            </a:r>
            <a:r>
              <a:rPr lang="en-US" altLang="zh-CN" sz="1600">
                <a:solidFill>
                  <a:schemeClr val="tx1"/>
                </a:solidFill>
                <a:latin typeface="Times New Roman" panose="02020603050405020304" pitchFamily="18" charset="0"/>
                <a:ea typeface="华文新魏" panose="02010800040101010101" pitchFamily="2" charset="-122"/>
              </a:rPr>
              <a:t>1998 </a:t>
            </a:r>
          </a:p>
          <a:p>
            <a:pPr lvl="1" eaLnBrk="1" hangingPunct="1">
              <a:spcBef>
                <a:spcPct val="20000"/>
              </a:spcBef>
            </a:pPr>
            <a:r>
              <a:rPr lang="en-US" altLang="zh-CN" sz="1600">
                <a:solidFill>
                  <a:schemeClr val="tx1"/>
                </a:solidFill>
                <a:latin typeface="华文新魏" panose="02010800040101010101" pitchFamily="2" charset="-122"/>
                <a:ea typeface="华文新魏" panose="02010800040101010101" pitchFamily="2" charset="-122"/>
              </a:rPr>
              <a:t>《</a:t>
            </a:r>
            <a:r>
              <a:rPr lang="zh-CN" altLang="en-US" sz="1600" dirty="0">
                <a:solidFill>
                  <a:schemeClr val="tx1"/>
                </a:solidFill>
                <a:latin typeface="华文新魏" panose="02010800040101010101" pitchFamily="2" charset="-122"/>
                <a:ea typeface="华文新魏" panose="02010800040101010101" pitchFamily="2" charset="-122"/>
              </a:rPr>
              <a:t>硬件描述语言</a:t>
            </a:r>
            <a:r>
              <a:rPr lang="en-US" altLang="zh-CN" sz="1600">
                <a:solidFill>
                  <a:schemeClr val="tx1"/>
                </a:solidFill>
                <a:latin typeface="华文新魏" panose="02010800040101010101" pitchFamily="2" charset="-122"/>
                <a:ea typeface="华文新魏" panose="02010800040101010101" pitchFamily="2" charset="-122"/>
              </a:rPr>
              <a:t>-VHDL</a:t>
            </a:r>
            <a:r>
              <a:rPr lang="zh-CN" altLang="en-US" sz="1600" dirty="0">
                <a:solidFill>
                  <a:schemeClr val="tx1"/>
                </a:solidFill>
                <a:latin typeface="华文新魏" panose="02010800040101010101" pitchFamily="2" charset="-122"/>
                <a:ea typeface="华文新魏" panose="02010800040101010101" pitchFamily="2" charset="-122"/>
              </a:rPr>
              <a:t>教程 </a:t>
            </a:r>
            <a:r>
              <a:rPr lang="en-US" altLang="zh-CN" sz="1600">
                <a:solidFill>
                  <a:schemeClr val="tx1"/>
                </a:solidFill>
                <a:latin typeface="华文新魏" panose="02010800040101010101" pitchFamily="2" charset="-122"/>
                <a:ea typeface="华文新魏" panose="02010800040101010101" pitchFamily="2" charset="-122"/>
              </a:rPr>
              <a:t>》</a:t>
            </a:r>
            <a:r>
              <a:rPr lang="zh-CN" altLang="en-US" sz="1600" dirty="0">
                <a:solidFill>
                  <a:schemeClr val="tx1"/>
                </a:solidFill>
                <a:latin typeface="华文新魏" panose="02010800040101010101" pitchFamily="2" charset="-122"/>
                <a:ea typeface="华文新魏" panose="02010800040101010101" pitchFamily="2" charset="-122"/>
              </a:rPr>
              <a:t>姜雪松等编著，西交大出版社，</a:t>
            </a:r>
            <a:r>
              <a:rPr lang="en-US" altLang="zh-CN" sz="1600">
                <a:solidFill>
                  <a:schemeClr val="tx1"/>
                </a:solidFill>
                <a:latin typeface="华文新魏" panose="02010800040101010101" pitchFamily="2" charset="-122"/>
                <a:ea typeface="华文新魏" panose="02010800040101010101" pitchFamily="2" charset="-122"/>
              </a:rPr>
              <a:t>2004</a:t>
            </a:r>
          </a:p>
          <a:p>
            <a:pPr lvl="1" eaLnBrk="1" hangingPunct="1">
              <a:spcBef>
                <a:spcPct val="20000"/>
              </a:spcBef>
            </a:pPr>
            <a:r>
              <a:rPr lang="zh-CN" altLang="zh-CN" sz="1600" dirty="0">
                <a:solidFill>
                  <a:schemeClr val="tx1"/>
                </a:solidFill>
                <a:latin typeface="华文新魏" panose="02010800040101010101" pitchFamily="2" charset="-122"/>
                <a:ea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rPr>
              <a:t>VHDL</a:t>
            </a:r>
            <a:r>
              <a:rPr lang="zh-CN" altLang="en-US" sz="1600" dirty="0">
                <a:solidFill>
                  <a:schemeClr val="tx1"/>
                </a:solidFill>
                <a:latin typeface="华文新魏" panose="02010800040101010101" pitchFamily="2" charset="-122"/>
                <a:ea typeface="华文新魏" panose="02010800040101010101" pitchFamily="2" charset="-122"/>
              </a:rPr>
              <a:t>与</a:t>
            </a:r>
            <a:r>
              <a:rPr lang="en-US" altLang="zh-CN" sz="1600">
                <a:solidFill>
                  <a:schemeClr val="tx1"/>
                </a:solidFill>
                <a:latin typeface="华文新魏" panose="02010800040101010101" pitchFamily="2" charset="-122"/>
                <a:ea typeface="华文新魏" panose="02010800040101010101" pitchFamily="2" charset="-122"/>
              </a:rPr>
              <a:t>FPGA</a:t>
            </a:r>
            <a:r>
              <a:rPr lang="zh-CN" altLang="en-US" sz="1600" dirty="0">
                <a:solidFill>
                  <a:schemeClr val="tx1"/>
                </a:solidFill>
                <a:latin typeface="华文新魏" panose="02010800040101010101" pitchFamily="2" charset="-122"/>
                <a:ea typeface="华文新魏" panose="02010800040101010101" pitchFamily="2" charset="-122"/>
              </a:rPr>
              <a:t>设计</a:t>
            </a:r>
            <a:r>
              <a:rPr lang="en-US" altLang="zh-CN" sz="1600">
                <a:solidFill>
                  <a:schemeClr val="tx1"/>
                </a:solidFill>
                <a:latin typeface="华文新魏" panose="02010800040101010101" pitchFamily="2" charset="-122"/>
                <a:ea typeface="华文新魏" panose="02010800040101010101" pitchFamily="2" charset="-122"/>
              </a:rPr>
              <a:t>》</a:t>
            </a:r>
            <a:r>
              <a:rPr lang="zh-CN" altLang="en-US" sz="1600" dirty="0">
                <a:solidFill>
                  <a:schemeClr val="tx1"/>
                </a:solidFill>
                <a:latin typeface="华文新魏" panose="02010800040101010101" pitchFamily="2" charset="-122"/>
                <a:ea typeface="华文新魏" panose="02010800040101010101" pitchFamily="2" charset="-122"/>
              </a:rPr>
              <a:t>胡正华编著，北京：中国铁道出版社，</a:t>
            </a:r>
            <a:r>
              <a:rPr lang="en-US" altLang="zh-CN" sz="1600">
                <a:solidFill>
                  <a:schemeClr val="tx1"/>
                </a:solidFill>
                <a:latin typeface="华文新魏" panose="02010800040101010101" pitchFamily="2" charset="-122"/>
                <a:ea typeface="华文新魏" panose="02010800040101010101" pitchFamily="2" charset="-122"/>
              </a:rPr>
              <a:t>2003 </a:t>
            </a:r>
          </a:p>
          <a:p>
            <a:pPr lvl="1" eaLnBrk="1" hangingPunct="1">
              <a:spcBef>
                <a:spcPct val="20000"/>
              </a:spcBef>
            </a:pPr>
            <a:r>
              <a:rPr lang="en-US" altLang="zh-CN" sz="1600">
                <a:solidFill>
                  <a:schemeClr val="tx1"/>
                </a:solidFill>
                <a:latin typeface="华文新魏" panose="02010800040101010101" pitchFamily="2" charset="-122"/>
                <a:ea typeface="华文新魏" panose="02010800040101010101" pitchFamily="2" charset="-122"/>
              </a:rPr>
              <a:t>《VHDL </a:t>
            </a:r>
            <a:r>
              <a:rPr lang="zh-CN" altLang="en-US" sz="1600" dirty="0">
                <a:solidFill>
                  <a:schemeClr val="tx1"/>
                </a:solidFill>
                <a:latin typeface="华文新魏" panose="02010800040101010101" pitchFamily="2" charset="-122"/>
                <a:ea typeface="华文新魏" panose="02010800040101010101" pitchFamily="2" charset="-122"/>
              </a:rPr>
              <a:t>芯片设计 </a:t>
            </a: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dirty="0">
                <a:solidFill>
                  <a:schemeClr val="tx1"/>
                </a:solidFill>
                <a:latin typeface="华文新魏" panose="02010800040101010101" pitchFamily="2" charset="-122"/>
                <a:ea typeface="华文新魏" panose="02010800040101010101" pitchFamily="2" charset="-122"/>
              </a:rPr>
              <a:t>刘绍汉等编著，北京：清华大学出版社，</a:t>
            </a:r>
            <a:r>
              <a:rPr lang="en-US" altLang="zh-CN" sz="1600">
                <a:solidFill>
                  <a:schemeClr val="tx1"/>
                </a:solidFill>
                <a:latin typeface="华文新魏" panose="02010800040101010101" pitchFamily="2" charset="-122"/>
                <a:ea typeface="华文新魏" panose="02010800040101010101" pitchFamily="2" charset="-122"/>
              </a:rPr>
              <a:t>2004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a:xfrm>
            <a:off x="458788" y="484188"/>
            <a:ext cx="3536950" cy="374650"/>
          </a:xfrm>
          <a:prstGeom prst="rect">
            <a:avLst/>
          </a:prstGeom>
          <a:noFill/>
          <a:ln w="9525">
            <a:noFill/>
          </a:ln>
        </p:spPr>
        <p:txBody>
          <a:bodyPr/>
          <a:lstStyle/>
          <a:p>
            <a:pPr eaLnBrk="1" hangingPunct="1"/>
            <a:r>
              <a:rPr lang="en-US" altLang="zh-CN" sz="2400">
                <a:latin typeface="华文新魏" panose="02010800040101010101" pitchFamily="2" charset="-122"/>
                <a:ea typeface="华文新魏" panose="02010800040101010101" pitchFamily="2" charset="-122"/>
              </a:rPr>
              <a:t>4.4.1  VHDL</a:t>
            </a:r>
            <a:r>
              <a:rPr lang="zh-CN" altLang="en-US" sz="2400" dirty="0">
                <a:latin typeface="华文新魏" panose="02010800040101010101" pitchFamily="2" charset="-122"/>
                <a:ea typeface="华文新魏" panose="02010800040101010101" pitchFamily="2" charset="-122"/>
              </a:rPr>
              <a:t>的基础</a:t>
            </a:r>
          </a:p>
        </p:txBody>
      </p:sp>
      <p:pic>
        <p:nvPicPr>
          <p:cNvPr id="121859" name="Picture 8"/>
          <p:cNvPicPr>
            <a:picLocks noChangeAspect="1"/>
          </p:cNvPicPr>
          <p:nvPr/>
        </p:nvPicPr>
        <p:blipFill>
          <a:blip r:embed="rId3"/>
          <a:stretch>
            <a:fillRect/>
          </a:stretch>
        </p:blipFill>
        <p:spPr>
          <a:xfrm>
            <a:off x="5148263" y="2138363"/>
            <a:ext cx="3816350" cy="2665412"/>
          </a:xfrm>
          <a:prstGeom prst="rect">
            <a:avLst/>
          </a:prstGeom>
          <a:noFill/>
          <a:ln w="9525">
            <a:noFill/>
          </a:ln>
        </p:spPr>
      </p:pic>
      <p:sp>
        <p:nvSpPr>
          <p:cNvPr id="121860" name="Rectangle 2"/>
          <p:cNvSpPr txBox="1"/>
          <p:nvPr/>
        </p:nvSpPr>
        <p:spPr>
          <a:xfrm>
            <a:off x="395288" y="915988"/>
            <a:ext cx="7337425" cy="482600"/>
          </a:xfrm>
          <a:prstGeom prst="rect">
            <a:avLst/>
          </a:prstGeom>
          <a:noFill/>
          <a:ln w="9525">
            <a:noFill/>
          </a:ln>
        </p:spPr>
        <p:txBody>
          <a:bodyPr anchor="ctr"/>
          <a:lstStyle/>
          <a:p>
            <a:pPr eaLnBrk="1" hangingPunct="1">
              <a:buFont typeface="Arial" panose="020B0604020202020204" pitchFamily="34" charset="0"/>
            </a:pP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1. VHDL</a:t>
            </a:r>
            <a:r>
              <a:rPr lang="zh-CN" altLang="en-US" sz="2400" dirty="0">
                <a:solidFill>
                  <a:schemeClr val="tx1"/>
                </a:solidFill>
                <a:latin typeface="华文新魏" panose="02010800040101010101" pitchFamily="2" charset="-122"/>
                <a:ea typeface="华文新魏" panose="02010800040101010101" pitchFamily="2" charset="-122"/>
              </a:rPr>
              <a:t>的基本知识点</a:t>
            </a:r>
          </a:p>
        </p:txBody>
      </p:sp>
      <p:sp>
        <p:nvSpPr>
          <p:cNvPr id="121861" name="文本框 1"/>
          <p:cNvSpPr txBox="1"/>
          <p:nvPr/>
        </p:nvSpPr>
        <p:spPr>
          <a:xfrm>
            <a:off x="539750" y="3787775"/>
            <a:ext cx="3600450" cy="1014730"/>
          </a:xfrm>
          <a:prstGeom prst="rect">
            <a:avLst/>
          </a:prstGeom>
          <a:noFill/>
          <a:ln w="9525">
            <a:noFill/>
          </a:ln>
        </p:spPr>
        <p:txBody>
          <a:bodyPr>
            <a:spAutoFit/>
          </a:bodyPr>
          <a:lstStyle/>
          <a:p>
            <a:r>
              <a:rPr lang="zh-CN" altLang="en-US" dirty="0">
                <a:solidFill>
                  <a:schemeClr val="tx1"/>
                </a:solidFill>
                <a:latin typeface="华文新魏" panose="02010800040101010101" pitchFamily="2" charset="-122"/>
                <a:ea typeface="华文新魏" panose="02010800040101010101" pitchFamily="2" charset="-122"/>
              </a:rPr>
              <a:t>利用</a:t>
            </a:r>
            <a:r>
              <a:rPr lang="en-US" altLang="zh-CN">
                <a:solidFill>
                  <a:schemeClr val="tx1"/>
                </a:solidFill>
                <a:latin typeface="华文新魏" panose="02010800040101010101" pitchFamily="2" charset="-122"/>
                <a:ea typeface="华文新魏" panose="02010800040101010101" pitchFamily="2" charset="-122"/>
              </a:rPr>
              <a:t>VHDL</a:t>
            </a:r>
            <a:r>
              <a:rPr lang="zh-CN" altLang="en-US" dirty="0">
                <a:solidFill>
                  <a:schemeClr val="tx1"/>
                </a:solidFill>
                <a:latin typeface="华文新魏" panose="02010800040101010101" pitchFamily="2" charset="-122"/>
                <a:ea typeface="华文新魏" panose="02010800040101010101" pitchFamily="2" charset="-122"/>
              </a:rPr>
              <a:t>做逻辑设计输入，是文本输入。一个</a:t>
            </a:r>
            <a:r>
              <a:rPr lang="en-US" altLang="zh-CN">
                <a:solidFill>
                  <a:schemeClr val="tx1"/>
                </a:solidFill>
                <a:latin typeface="华文新魏" panose="02010800040101010101" pitchFamily="2" charset="-122"/>
                <a:ea typeface="华文新魏" panose="02010800040101010101" pitchFamily="2" charset="-122"/>
              </a:rPr>
              <a:t>VHDL</a:t>
            </a:r>
            <a:r>
              <a:rPr lang="zh-CN" altLang="en-US" dirty="0">
                <a:solidFill>
                  <a:schemeClr val="tx1"/>
                </a:solidFill>
                <a:latin typeface="华文新魏" panose="02010800040101010101" pitchFamily="2" charset="-122"/>
                <a:ea typeface="华文新魏" panose="02010800040101010101" pitchFamily="2" charset="-122"/>
              </a:rPr>
              <a:t>语言程序基本结构如图</a:t>
            </a:r>
            <a:r>
              <a:rPr lang="en-US" altLang="zh-CN">
                <a:solidFill>
                  <a:schemeClr val="tx1"/>
                </a:solidFill>
                <a:latin typeface="华文新魏" panose="02010800040101010101" pitchFamily="2" charset="-122"/>
                <a:ea typeface="华文新魏" panose="02010800040101010101" pitchFamily="2" charset="-122"/>
              </a:rPr>
              <a:t>4.39</a:t>
            </a:r>
            <a:r>
              <a:rPr lang="zh-CN" altLang="en-US" dirty="0">
                <a:solidFill>
                  <a:schemeClr val="tx1"/>
                </a:solidFill>
                <a:latin typeface="华文新魏" panose="02010800040101010101" pitchFamily="2" charset="-122"/>
                <a:ea typeface="华文新魏" panose="02010800040101010101" pitchFamily="2" charset="-122"/>
              </a:rPr>
              <a:t>所示</a:t>
            </a:r>
          </a:p>
        </p:txBody>
      </p:sp>
      <p:sp>
        <p:nvSpPr>
          <p:cNvPr id="121862" name="矩形 1"/>
          <p:cNvSpPr/>
          <p:nvPr/>
        </p:nvSpPr>
        <p:spPr>
          <a:xfrm>
            <a:off x="5668963" y="4689475"/>
            <a:ext cx="3151187" cy="368300"/>
          </a:xfrm>
          <a:prstGeom prst="rect">
            <a:avLst/>
          </a:prstGeom>
          <a:noFill/>
          <a:ln w="9525">
            <a:noFill/>
          </a:ln>
        </p:spPr>
        <p:txBody>
          <a:bodyPr wrap="none">
            <a:spAutoFit/>
          </a:bodyPr>
          <a:lstStyle/>
          <a:p>
            <a:r>
              <a:rPr lang="zh-CN" altLang="en-US" sz="1800" dirty="0">
                <a:solidFill>
                  <a:schemeClr val="tx1"/>
                </a:solidFill>
                <a:latin typeface="华文新魏" panose="02010800040101010101" pitchFamily="2" charset="-122"/>
                <a:ea typeface="华文新魏" panose="02010800040101010101" pitchFamily="2" charset="-122"/>
              </a:rPr>
              <a:t>图</a:t>
            </a:r>
            <a:r>
              <a:rPr lang="en-US" altLang="zh-CN" sz="1800">
                <a:solidFill>
                  <a:schemeClr val="tx1"/>
                </a:solidFill>
                <a:latin typeface="华文新魏" panose="02010800040101010101" pitchFamily="2" charset="-122"/>
                <a:ea typeface="华文新魏" panose="02010800040101010101" pitchFamily="2" charset="-122"/>
              </a:rPr>
              <a:t>4.39     VHDL</a:t>
            </a:r>
            <a:r>
              <a:rPr lang="zh-CN" altLang="en-US" sz="1800" dirty="0">
                <a:solidFill>
                  <a:schemeClr val="tx1"/>
                </a:solidFill>
                <a:latin typeface="华文新魏" panose="02010800040101010101" pitchFamily="2" charset="-122"/>
                <a:ea typeface="华文新魏" panose="02010800040101010101" pitchFamily="2" charset="-122"/>
              </a:rPr>
              <a:t>程序基本结构</a:t>
            </a:r>
            <a:endParaRPr lang="zh-CN" altLang="en-US" sz="1800" dirty="0">
              <a:latin typeface="Calibri" panose="020F0502020204030204" pitchFamily="34" charset="0"/>
            </a:endParaRPr>
          </a:p>
        </p:txBody>
      </p:sp>
      <p:sp>
        <p:nvSpPr>
          <p:cNvPr id="121863" name="Rectangle 2"/>
          <p:cNvSpPr txBox="1"/>
          <p:nvPr/>
        </p:nvSpPr>
        <p:spPr>
          <a:xfrm>
            <a:off x="395288" y="3097213"/>
            <a:ext cx="3889375" cy="482600"/>
          </a:xfrm>
          <a:prstGeom prst="rect">
            <a:avLst/>
          </a:prstGeom>
          <a:noFill/>
          <a:ln w="9525">
            <a:noFill/>
          </a:ln>
        </p:spPr>
        <p:txBody>
          <a:bodyPr anchor="ctr"/>
          <a:lstStyle/>
          <a:p>
            <a:pPr eaLnBrk="1" hangingPunct="1">
              <a:buFont typeface="Arial" panose="020B0604020202020204" pitchFamily="34" charset="0"/>
            </a:pP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2. VHDL</a:t>
            </a:r>
            <a:r>
              <a:rPr lang="zh-CN" altLang="en-US" sz="2400" dirty="0">
                <a:solidFill>
                  <a:schemeClr val="tx1"/>
                </a:solidFill>
                <a:latin typeface="华文新魏" panose="02010800040101010101" pitchFamily="2" charset="-122"/>
                <a:ea typeface="华文新魏" panose="02010800040101010101" pitchFamily="2" charset="-122"/>
              </a:rPr>
              <a:t>程序基本结构</a:t>
            </a:r>
          </a:p>
        </p:txBody>
      </p:sp>
      <p:sp>
        <p:nvSpPr>
          <p:cNvPr id="121864" name="Rectangle 2"/>
          <p:cNvSpPr txBox="1"/>
          <p:nvPr/>
        </p:nvSpPr>
        <p:spPr>
          <a:xfrm>
            <a:off x="539750" y="1812608"/>
            <a:ext cx="8280400" cy="1120775"/>
          </a:xfrm>
          <a:prstGeom prst="rect">
            <a:avLst/>
          </a:prstGeom>
          <a:noFill/>
          <a:ln w="9525">
            <a:noFill/>
          </a:ln>
        </p:spPr>
        <p:txBody>
          <a:bodyPr anchor="ctr"/>
          <a:lstStyle/>
          <a:p>
            <a:pPr eaLnBrk="1" hangingPunct="1">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信号含义和两种基本数据类型：</a:t>
            </a: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err="1">
                <a:solidFill>
                  <a:schemeClr val="tx1"/>
                </a:solidFill>
                <a:latin typeface="华文新魏" panose="02010800040101010101" pitchFamily="2" charset="-122"/>
                <a:ea typeface="华文新魏" panose="02010800040101010101" pitchFamily="2" charset="-122"/>
              </a:rPr>
              <a:t>std_logic</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err="1">
                <a:solidFill>
                  <a:schemeClr val="tx1"/>
                </a:solidFill>
                <a:latin typeface="华文新魏" panose="02010800040101010101" pitchFamily="2" charset="-122"/>
                <a:ea typeface="华文新魏" panose="02010800040101010101" pitchFamily="2" charset="-122"/>
              </a:rPr>
              <a:t>std_logic_vector</a:t>
            </a:r>
            <a:endParaRPr lang="en-US" altLang="zh-CN" sz="180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2</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a:solidFill>
                  <a:schemeClr val="tx1"/>
                </a:solidFill>
                <a:latin typeface="华文新魏" panose="02010800040101010101" pitchFamily="2" charset="-122"/>
                <a:ea typeface="华文新魏" panose="02010800040101010101" pitchFamily="2" charset="-122"/>
              </a:rPr>
              <a:t>5</a:t>
            </a:r>
            <a:r>
              <a:rPr lang="zh-CN" altLang="en-US" sz="1800" dirty="0">
                <a:solidFill>
                  <a:schemeClr val="tx1"/>
                </a:solidFill>
                <a:latin typeface="华文新魏" panose="02010800040101010101" pitchFamily="2" charset="-122"/>
                <a:ea typeface="华文新魏" panose="02010800040101010101" pitchFamily="2" charset="-122"/>
              </a:rPr>
              <a:t>种常用语句：说明、赋值、</a:t>
            </a:r>
            <a:r>
              <a:rPr lang="en-US" altLang="zh-CN" sz="1800">
                <a:solidFill>
                  <a:schemeClr val="tx1"/>
                </a:solidFill>
                <a:latin typeface="华文新魏" panose="02010800040101010101" pitchFamily="2" charset="-122"/>
                <a:ea typeface="华文新魏" panose="02010800040101010101" pitchFamily="2" charset="-122"/>
              </a:rPr>
              <a:t>if</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a:solidFill>
                  <a:schemeClr val="tx1"/>
                </a:solidFill>
                <a:latin typeface="华文新魏" panose="02010800040101010101" pitchFamily="2" charset="-122"/>
                <a:ea typeface="华文新魏" panose="02010800040101010101" pitchFamily="2" charset="-122"/>
              </a:rPr>
              <a:t>case</a:t>
            </a:r>
            <a:r>
              <a:rPr lang="zh-CN" altLang="en-US" sz="1800" dirty="0">
                <a:solidFill>
                  <a:schemeClr val="tx1"/>
                </a:solidFill>
                <a:latin typeface="华文新魏" panose="02010800040101010101" pitchFamily="2" charset="-122"/>
                <a:ea typeface="华文新魏" panose="02010800040101010101" pitchFamily="2" charset="-122"/>
              </a:rPr>
              <a:t>和</a:t>
            </a:r>
            <a:r>
              <a:rPr lang="en-US" altLang="zh-CN" sz="1800">
                <a:solidFill>
                  <a:schemeClr val="tx1"/>
                </a:solidFill>
                <a:latin typeface="华文新魏" panose="02010800040101010101" pitchFamily="2" charset="-122"/>
                <a:ea typeface="华文新魏" panose="02010800040101010101" pitchFamily="2" charset="-122"/>
              </a:rPr>
              <a:t>process</a:t>
            </a:r>
            <a:r>
              <a:rPr lang="zh-CN" altLang="en-US" sz="1800" dirty="0">
                <a:solidFill>
                  <a:schemeClr val="tx1"/>
                </a:solidFill>
                <a:latin typeface="华文新魏" panose="02010800040101010101" pitchFamily="2" charset="-122"/>
                <a:ea typeface="华文新魏" panose="02010800040101010101" pitchFamily="2" charset="-122"/>
              </a:rPr>
              <a:t>语句</a:t>
            </a:r>
            <a:endParaRPr lang="en-US" altLang="zh-CN" sz="180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3</a:t>
            </a:r>
            <a:r>
              <a:rPr lang="zh-CN" altLang="en-US" sz="1800" dirty="0">
                <a:solidFill>
                  <a:schemeClr val="tx1"/>
                </a:solidFill>
                <a:latin typeface="华文新魏" panose="02010800040101010101" pitchFamily="2" charset="-122"/>
                <a:ea typeface="华文新魏" panose="02010800040101010101" pitchFamily="2" charset="-122"/>
              </a:rPr>
              <a:t>）实体（</a:t>
            </a:r>
            <a:r>
              <a:rPr lang="en-US" altLang="zh-CN" sz="1800">
                <a:solidFill>
                  <a:schemeClr val="tx1"/>
                </a:solidFill>
                <a:latin typeface="华文新魏" panose="02010800040101010101" pitchFamily="2" charset="-122"/>
                <a:ea typeface="华文新魏" panose="02010800040101010101" pitchFamily="2" charset="-122"/>
              </a:rPr>
              <a:t>entity)</a:t>
            </a:r>
            <a:r>
              <a:rPr lang="zh-CN" altLang="en-US" sz="1800" dirty="0">
                <a:solidFill>
                  <a:schemeClr val="tx1"/>
                </a:solidFill>
                <a:latin typeface="华文新魏" panose="02010800040101010101" pitchFamily="2" charset="-122"/>
                <a:ea typeface="华文新魏" panose="02010800040101010101" pitchFamily="2" charset="-122"/>
              </a:rPr>
              <a:t> 、结构体（</a:t>
            </a:r>
            <a:r>
              <a:rPr lang="en-US" altLang="zh-CN" sz="1800">
                <a:solidFill>
                  <a:schemeClr val="tx1"/>
                </a:solidFill>
                <a:latin typeface="华文新魏" panose="02010800040101010101" pitchFamily="2" charset="-122"/>
                <a:ea typeface="华文新魏" panose="02010800040101010101" pitchFamily="2" charset="-122"/>
              </a:rPr>
              <a:t>architecture</a:t>
            </a:r>
            <a:r>
              <a:rPr lang="zh-CN" altLang="en-US" sz="1800" dirty="0">
                <a:solidFill>
                  <a:schemeClr val="tx1"/>
                </a:solidFill>
                <a:latin typeface="华文新魏" panose="02010800040101010101" pitchFamily="2" charset="-122"/>
                <a:ea typeface="华文新魏" panose="02010800040101010101" pitchFamily="2" charset="-122"/>
              </a:rPr>
              <a:t>）</a:t>
            </a:r>
            <a:endParaRPr lang="en-US" altLang="zh-CN" sz="180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4</a:t>
            </a:r>
            <a:r>
              <a:rPr lang="zh-CN" altLang="en-US" sz="1800" dirty="0">
                <a:solidFill>
                  <a:schemeClr val="tx1"/>
                </a:solidFill>
                <a:latin typeface="华文新魏" panose="02010800040101010101" pitchFamily="2" charset="-122"/>
                <a:ea typeface="华文新魏" panose="02010800040101010101" pitchFamily="2" charset="-122"/>
              </a:rPr>
              <a:t>）库（</a:t>
            </a:r>
            <a:r>
              <a:rPr lang="en-US" altLang="zh-CN" sz="1800">
                <a:solidFill>
                  <a:schemeClr val="tx1"/>
                </a:solidFill>
                <a:latin typeface="华文新魏" panose="02010800040101010101" pitchFamily="2" charset="-122"/>
                <a:ea typeface="华文新魏" panose="02010800040101010101" pitchFamily="2" charset="-122"/>
              </a:rPr>
              <a:t>library</a:t>
            </a:r>
            <a:r>
              <a:rPr lang="zh-CN" altLang="en-US" sz="1800" dirty="0">
                <a:solidFill>
                  <a:schemeClr val="tx1"/>
                </a:solidFill>
                <a:latin typeface="华文新魏" panose="02010800040101010101" pitchFamily="2" charset="-122"/>
                <a:ea typeface="华文新魏" panose="02010800040101010101" pitchFamily="2" charset="-122"/>
              </a:rPr>
              <a:t>）和包（</a:t>
            </a:r>
            <a:r>
              <a:rPr lang="en-US" altLang="zh-CN" sz="1800">
                <a:solidFill>
                  <a:schemeClr val="tx1"/>
                </a:solidFill>
                <a:latin typeface="华文新魏" panose="02010800040101010101" pitchFamily="2" charset="-122"/>
                <a:ea typeface="华文新魏" panose="02010800040101010101" pitchFamily="2" charset="-122"/>
              </a:rPr>
              <a:t>package</a:t>
            </a:r>
            <a:r>
              <a:rPr lang="zh-CN" altLang="en-US" sz="1800" dirty="0">
                <a:solidFill>
                  <a:schemeClr val="tx1"/>
                </a:solidFill>
                <a:latin typeface="华文新魏" panose="02010800040101010101" pitchFamily="2" charset="-122"/>
                <a:ea typeface="华文新魏" panose="02010800040101010101" pitchFamily="2" charset="-122"/>
              </a:rPr>
              <a:t>）</a:t>
            </a:r>
            <a:endParaRPr lang="en-US" altLang="zh-CN" sz="180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5</a:t>
            </a:r>
            <a:r>
              <a:rPr lang="zh-CN" altLang="en-US" sz="1800" dirty="0">
                <a:solidFill>
                  <a:schemeClr val="tx1"/>
                </a:solidFill>
                <a:latin typeface="华文新魏" panose="02010800040101010101" pitchFamily="2" charset="-122"/>
                <a:ea typeface="华文新魏" panose="02010800040101010101" pitchFamily="2" charset="-122"/>
              </a:rPr>
              <a:t>）层次结构设计：元件及端口映射</a:t>
            </a:r>
            <a:endParaRPr lang="en-US" altLang="zh-CN" sz="180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endParaRPr lang="en-US" altLang="zh-CN" sz="180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9CE49AB-FF4C-41A6-B67F-EA80C7C4DE9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22883" name="Group 11"/>
          <p:cNvGrpSpPr/>
          <p:nvPr/>
        </p:nvGrpSpPr>
        <p:grpSpPr>
          <a:xfrm>
            <a:off x="1187450" y="655638"/>
            <a:ext cx="7089775" cy="3683154"/>
            <a:chOff x="238" y="1185"/>
            <a:chExt cx="5317" cy="2689"/>
          </a:xfrm>
        </p:grpSpPr>
        <p:sp>
          <p:nvSpPr>
            <p:cNvPr id="122884" name="Text Box 5"/>
            <p:cNvSpPr txBox="1"/>
            <p:nvPr/>
          </p:nvSpPr>
          <p:spPr>
            <a:xfrm>
              <a:off x="238" y="1185"/>
              <a:ext cx="5317" cy="2689"/>
            </a:xfrm>
            <a:prstGeom prst="rect">
              <a:avLst/>
            </a:prstGeom>
            <a:noFill/>
            <a:ln w="9525">
              <a:noFill/>
            </a:ln>
          </p:spPr>
          <p:txBody>
            <a:bodyPr>
              <a:spAutoFit/>
            </a:bodyPr>
            <a:lstStyle/>
            <a:p>
              <a:pPr eaLnBrk="1" hangingPunct="1">
                <a:lnSpc>
                  <a:spcPct val="90000"/>
                </a:lnSpc>
                <a:spcBef>
                  <a:spcPct val="20000"/>
                </a:spcBef>
                <a:buClr>
                  <a:srgbClr val="FF9900"/>
                </a:buClr>
                <a:buSzPct val="80000"/>
                <a:buFont typeface="Wingdings" panose="05000000000000000000" pitchFamily="2" charset="2"/>
              </a:pPr>
              <a:r>
                <a:rPr lang="zh-CN" altLang="en-US" sz="1800" dirty="0">
                  <a:solidFill>
                    <a:schemeClr val="tx2"/>
                  </a:solidFill>
                  <a:latin typeface="华文新魏" panose="02010800040101010101" pitchFamily="2" charset="-122"/>
                  <a:ea typeface="华文新魏" panose="02010800040101010101" pitchFamily="2" charset="-122"/>
                </a:rPr>
                <a:t>例</a:t>
              </a:r>
              <a:r>
                <a:rPr lang="en-US" altLang="zh-CN" sz="1800" dirty="0">
                  <a:solidFill>
                    <a:schemeClr val="tx2"/>
                  </a:solidFill>
                  <a:latin typeface="华文新魏" panose="02010800040101010101" pitchFamily="2" charset="-122"/>
                  <a:ea typeface="华文新魏" panose="02010800040101010101" pitchFamily="2" charset="-122"/>
                </a:rPr>
                <a:t>1   </a:t>
              </a:r>
              <a:r>
                <a:rPr lang="zh-CN" altLang="en-US" sz="1800" dirty="0">
                  <a:solidFill>
                    <a:schemeClr val="tx2"/>
                  </a:solidFill>
                  <a:latin typeface="华文新魏" panose="02010800040101010101" pitchFamily="2" charset="-122"/>
                  <a:ea typeface="华文新魏" panose="02010800040101010101" pitchFamily="2" charset="-122"/>
                </a:rPr>
                <a:t>一个</a:t>
              </a:r>
              <a:r>
                <a:rPr lang="en-US" altLang="zh-CN" sz="1800" dirty="0">
                  <a:solidFill>
                    <a:schemeClr val="tx2"/>
                  </a:solidFill>
                  <a:latin typeface="华文新魏" panose="02010800040101010101" pitchFamily="2" charset="-122"/>
                  <a:ea typeface="华文新魏" panose="02010800040101010101" pitchFamily="2" charset="-122"/>
                </a:rPr>
                <a:t>2</a:t>
              </a:r>
              <a:r>
                <a:rPr lang="zh-CN" altLang="en-US" sz="1800" dirty="0">
                  <a:solidFill>
                    <a:schemeClr val="tx2"/>
                  </a:solidFill>
                  <a:latin typeface="华文新魏" panose="02010800040101010101" pitchFamily="2" charset="-122"/>
                  <a:ea typeface="华文新魏" panose="02010800040101010101" pitchFamily="2" charset="-122"/>
                </a:rPr>
                <a:t>输入的与门的逻辑描述</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chemeClr val="tx1"/>
                  </a:solidFill>
                  <a:latin typeface="Times New Roman" panose="02020603050405020304" pitchFamily="18" charset="0"/>
                </a:rPr>
                <a:t>--***********</a:t>
              </a:r>
              <a:r>
                <a:rPr lang="en-US" altLang="zh-CN" sz="1800" dirty="0">
                  <a:solidFill>
                    <a:srgbClr val="FF0000"/>
                  </a:solidFill>
                  <a:latin typeface="Times New Roman" panose="02020603050405020304" pitchFamily="18" charset="0"/>
                </a:rPr>
                <a:t>and2</a:t>
              </a:r>
              <a:r>
                <a:rPr lang="en-US" altLang="zh-CN" sz="1800" dirty="0">
                  <a:solidFill>
                    <a:schemeClr val="tx1"/>
                  </a:solidFill>
                  <a:latin typeface="Times New Roman" panose="02020603050405020304" pitchFamily="18" charset="0"/>
                </a:rPr>
                <a:t>***********</a:t>
              </a:r>
              <a:r>
                <a:rPr lang="en-US" altLang="zh-CN" sz="1800" dirty="0">
                  <a:solidFill>
                    <a:srgbClr val="0000CC"/>
                  </a:solidFill>
                  <a:latin typeface="Times New Roman" panose="02020603050405020304" pitchFamily="18" charset="0"/>
                </a:rPr>
                <a:t>                 </a:t>
              </a:r>
              <a:r>
                <a:rPr lang="en-US" altLang="zh-CN" sz="1800" dirty="0">
                  <a:solidFill>
                    <a:srgbClr val="00CC00"/>
                  </a:solidFill>
                  <a:latin typeface="Times New Roman" panose="02020603050405020304" pitchFamily="18" charset="0"/>
                </a:rPr>
                <a:t>--comment</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LIBRARY</a:t>
              </a:r>
              <a:r>
                <a:rPr lang="en-US" altLang="zh-CN" sz="1800" dirty="0">
                  <a:solidFill>
                    <a:schemeClr val="tx1"/>
                  </a:solidFill>
                  <a:latin typeface="Times New Roman" panose="02020603050405020304" pitchFamily="18" charset="0"/>
                </a:rPr>
                <a:t> </a:t>
              </a:r>
              <a:r>
                <a:rPr lang="en-US" altLang="zh-CN" sz="1800" dirty="0" err="1">
                  <a:solidFill>
                    <a:schemeClr val="tx1"/>
                  </a:solidFill>
                  <a:latin typeface="Times New Roman" panose="02020603050405020304" pitchFamily="18" charset="0"/>
                </a:rPr>
                <a:t>ieee</a:t>
              </a:r>
              <a:r>
                <a:rPr lang="en-US" altLang="zh-CN" sz="1800" dirty="0">
                  <a:solidFill>
                    <a:schemeClr val="tx1"/>
                  </a:solidFill>
                  <a:latin typeface="Times New Roman" panose="02020603050405020304" pitchFamily="18" charset="0"/>
                </a:rPr>
                <a:t>;            		        </a:t>
              </a:r>
              <a:r>
                <a:rPr lang="en-US" altLang="zh-CN" sz="1800" dirty="0">
                  <a:solidFill>
                    <a:srgbClr val="66FF33"/>
                  </a:solidFill>
                  <a:latin typeface="Times New Roman" panose="02020603050405020304" pitchFamily="18" charset="0"/>
                </a:rPr>
                <a:t>--</a:t>
              </a:r>
              <a:r>
                <a:rPr lang="zh-CN" altLang="en-US" sz="1500" dirty="0">
                  <a:solidFill>
                    <a:srgbClr val="66FF33"/>
                  </a:solidFill>
                  <a:latin typeface="Times New Roman" panose="02020603050405020304" pitchFamily="18" charset="0"/>
                </a:rPr>
                <a:t>库说明语句</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USE</a:t>
              </a:r>
              <a:r>
                <a:rPr lang="en-US" altLang="zh-CN" sz="1800" dirty="0">
                  <a:solidFill>
                    <a:schemeClr val="tx1"/>
                  </a:solidFill>
                  <a:latin typeface="Times New Roman" panose="02020603050405020304" pitchFamily="18" charset="0"/>
                </a:rPr>
                <a:t> ieee.std_logic_1164.</a:t>
              </a:r>
              <a:r>
                <a:rPr lang="en-US" altLang="zh-CN" sz="1800" dirty="0">
                  <a:solidFill>
                    <a:srgbClr val="0000CC"/>
                  </a:solidFill>
                  <a:latin typeface="Times New Roman" panose="02020603050405020304" pitchFamily="18" charset="0"/>
                </a:rPr>
                <a:t>ALL</a:t>
              </a:r>
              <a:r>
                <a:rPr lang="en-US" altLang="zh-CN" sz="1800" dirty="0">
                  <a:solidFill>
                    <a:schemeClr val="tx1"/>
                  </a:solidFill>
                  <a:latin typeface="Times New Roman" panose="02020603050405020304" pitchFamily="18" charset="0"/>
                </a:rPr>
                <a:t>;                     </a:t>
              </a:r>
              <a:r>
                <a:rPr lang="en-US" altLang="zh-CN" sz="1800" dirty="0">
                  <a:solidFill>
                    <a:srgbClr val="66FF33"/>
                  </a:solidFill>
                  <a:latin typeface="Times New Roman" panose="02020603050405020304" pitchFamily="18" charset="0"/>
                </a:rPr>
                <a:t>--</a:t>
              </a:r>
              <a:r>
                <a:rPr lang="zh-CN" altLang="en-US" sz="1500" dirty="0">
                  <a:solidFill>
                    <a:srgbClr val="66FF33"/>
                  </a:solidFill>
                  <a:latin typeface="Times New Roman" panose="02020603050405020304" pitchFamily="18" charset="0"/>
                </a:rPr>
                <a:t>程序包说明语句</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ENTITY</a:t>
              </a:r>
              <a:r>
                <a:rPr lang="en-US" altLang="zh-CN" sz="1800" dirty="0">
                  <a:solidFill>
                    <a:schemeClr val="tx1"/>
                  </a:solidFill>
                  <a:latin typeface="Times New Roman" panose="02020603050405020304" pitchFamily="18" charset="0"/>
                </a:rPr>
                <a:t> and2</a:t>
              </a:r>
              <a:r>
                <a:rPr lang="en-US" altLang="zh-CN" sz="1800" dirty="0">
                  <a:solidFill>
                    <a:srgbClr val="0000CC"/>
                  </a:solidFill>
                  <a:latin typeface="Times New Roman" panose="02020603050405020304" pitchFamily="18" charset="0"/>
                </a:rPr>
                <a:t> IS</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chemeClr val="tx1"/>
                  </a:solidFill>
                  <a:latin typeface="Times New Roman" panose="02020603050405020304" pitchFamily="18" charset="0"/>
                </a:rPr>
                <a:t>	</a:t>
              </a:r>
              <a:r>
                <a:rPr lang="en-US" altLang="zh-CN" sz="1800" dirty="0">
                  <a:solidFill>
                    <a:srgbClr val="0000CC"/>
                  </a:solidFill>
                  <a:latin typeface="Times New Roman" panose="02020603050405020304" pitchFamily="18" charset="0"/>
                </a:rPr>
                <a:t>PORT</a:t>
              </a:r>
              <a:r>
                <a:rPr lang="en-US" altLang="zh-CN" sz="1800" dirty="0">
                  <a:solidFill>
                    <a:schemeClr val="tx1"/>
                  </a:solidFill>
                  <a:latin typeface="Times New Roman" panose="02020603050405020304" pitchFamily="18" charset="0"/>
                </a:rPr>
                <a:t>(</a:t>
              </a:r>
              <a:r>
                <a:rPr lang="en-US" altLang="zh-CN" sz="1800" dirty="0" err="1">
                  <a:solidFill>
                    <a:schemeClr val="tx1"/>
                  </a:solidFill>
                  <a:latin typeface="Times New Roman" panose="02020603050405020304" pitchFamily="18" charset="0"/>
                </a:rPr>
                <a:t>a,b</a:t>
              </a:r>
              <a:r>
                <a:rPr lang="en-US" altLang="zh-CN" sz="1800" dirty="0">
                  <a:solidFill>
                    <a:schemeClr val="tx1"/>
                  </a:solidFill>
                  <a:latin typeface="Times New Roman" panose="02020603050405020304" pitchFamily="18" charset="0"/>
                </a:rPr>
                <a:t>   :</a:t>
              </a:r>
              <a:r>
                <a:rPr lang="en-US" altLang="zh-CN" sz="1800" dirty="0">
                  <a:solidFill>
                    <a:srgbClr val="0000CC"/>
                  </a:solidFill>
                  <a:latin typeface="Times New Roman" panose="02020603050405020304" pitchFamily="18" charset="0"/>
                </a:rPr>
                <a:t> IN</a:t>
              </a:r>
              <a:r>
                <a:rPr lang="en-US" altLang="zh-CN" sz="1800" dirty="0">
                  <a:solidFill>
                    <a:schemeClr val="tx1"/>
                  </a:solidFill>
                  <a:latin typeface="Times New Roman" panose="02020603050405020304" pitchFamily="18" charset="0"/>
                </a:rPr>
                <a:t>  STD_LOGIC;</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chemeClr val="tx1"/>
                  </a:solidFill>
                  <a:latin typeface="Times New Roman" panose="02020603050405020304" pitchFamily="18" charset="0"/>
                </a:rPr>
                <a:t>	                y : </a:t>
              </a:r>
              <a:r>
                <a:rPr lang="en-US" altLang="zh-CN" sz="1800" dirty="0">
                  <a:solidFill>
                    <a:srgbClr val="0000CC"/>
                  </a:solidFill>
                  <a:latin typeface="Times New Roman" panose="02020603050405020304" pitchFamily="18" charset="0"/>
                </a:rPr>
                <a:t>OUT</a:t>
              </a:r>
              <a:r>
                <a:rPr lang="en-US" altLang="zh-CN" sz="1800" dirty="0">
                  <a:solidFill>
                    <a:schemeClr val="tx1"/>
                  </a:solidFill>
                  <a:latin typeface="Times New Roman" panose="02020603050405020304" pitchFamily="18" charset="0"/>
                </a:rPr>
                <a:t>  STD_LOGIC);</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END </a:t>
              </a:r>
              <a:r>
                <a:rPr lang="en-US" altLang="zh-CN" sz="1800" dirty="0">
                  <a:solidFill>
                    <a:schemeClr val="tx1"/>
                  </a:solidFill>
                  <a:latin typeface="Times New Roman" panose="02020603050405020304" pitchFamily="18" charset="0"/>
                </a:rPr>
                <a:t>and2;</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ARCHITECTURE</a:t>
              </a:r>
              <a:r>
                <a:rPr lang="en-US" altLang="zh-CN" sz="1800" dirty="0">
                  <a:solidFill>
                    <a:schemeClr val="tx1"/>
                  </a:solidFill>
                  <a:latin typeface="Times New Roman" panose="02020603050405020304" pitchFamily="18" charset="0"/>
                </a:rPr>
                <a:t> and2x</a:t>
              </a:r>
              <a:r>
                <a:rPr lang="en-US" altLang="zh-CN" sz="1800" dirty="0">
                  <a:solidFill>
                    <a:srgbClr val="0000CC"/>
                  </a:solidFill>
                  <a:latin typeface="Times New Roman" panose="02020603050405020304" pitchFamily="18" charset="0"/>
                </a:rPr>
                <a:t>  OF  </a:t>
              </a:r>
              <a:r>
                <a:rPr lang="en-US" altLang="zh-CN" sz="1800" dirty="0">
                  <a:solidFill>
                    <a:schemeClr val="tx1"/>
                  </a:solidFill>
                  <a:latin typeface="Times New Roman" panose="02020603050405020304" pitchFamily="18" charset="0"/>
                </a:rPr>
                <a:t>and2  </a:t>
              </a:r>
              <a:r>
                <a:rPr lang="en-US" altLang="zh-CN" sz="1800" dirty="0">
                  <a:solidFill>
                    <a:srgbClr val="0000CC"/>
                  </a:solidFill>
                  <a:latin typeface="Times New Roman" panose="02020603050405020304" pitchFamily="18" charset="0"/>
                </a:rPr>
                <a:t>IS</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BEGIN</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chemeClr val="tx1"/>
                  </a:solidFill>
                  <a:latin typeface="Times New Roman" panose="02020603050405020304" pitchFamily="18" charset="0"/>
                </a:rPr>
                <a:t>	y &lt;= a </a:t>
              </a:r>
              <a:r>
                <a:rPr lang="en-US" altLang="zh-CN" sz="1800" dirty="0">
                  <a:solidFill>
                    <a:srgbClr val="0000CC"/>
                  </a:solidFill>
                  <a:latin typeface="Times New Roman" panose="02020603050405020304" pitchFamily="18" charset="0"/>
                </a:rPr>
                <a:t>AND </a:t>
              </a:r>
              <a:r>
                <a:rPr lang="en-US" altLang="zh-CN" sz="1800" dirty="0">
                  <a:solidFill>
                    <a:schemeClr val="tx1"/>
                  </a:solidFill>
                  <a:latin typeface="Times New Roman" panose="02020603050405020304" pitchFamily="18" charset="0"/>
                </a:rPr>
                <a:t>b;</a:t>
              </a:r>
            </a:p>
            <a:p>
              <a:pPr eaLnBrk="1" hangingPunct="1">
                <a:lnSpc>
                  <a:spcPct val="90000"/>
                </a:lnSpc>
                <a:spcBef>
                  <a:spcPct val="20000"/>
                </a:spcBef>
                <a:buClr>
                  <a:srgbClr val="FF9900"/>
                </a:buClr>
                <a:buSzPct val="80000"/>
                <a:buFont typeface="Wingdings" panose="05000000000000000000" pitchFamily="2" charset="2"/>
              </a:pPr>
              <a:r>
                <a:rPr lang="en-US" altLang="zh-CN" sz="1800" dirty="0">
                  <a:solidFill>
                    <a:srgbClr val="0000CC"/>
                  </a:solidFill>
                  <a:latin typeface="Times New Roman" panose="02020603050405020304" pitchFamily="18" charset="0"/>
                </a:rPr>
                <a:t>END</a:t>
              </a:r>
              <a:r>
                <a:rPr lang="en-US" altLang="zh-CN" sz="1800" dirty="0">
                  <a:solidFill>
                    <a:schemeClr val="tx1"/>
                  </a:solidFill>
                  <a:latin typeface="Times New Roman" panose="02020603050405020304" pitchFamily="18" charset="0"/>
                </a:rPr>
                <a:t> and2x;</a:t>
              </a:r>
            </a:p>
          </p:txBody>
        </p:sp>
        <p:sp>
          <p:nvSpPr>
            <p:cNvPr id="122885" name="AutoShape 6"/>
            <p:cNvSpPr/>
            <p:nvPr/>
          </p:nvSpPr>
          <p:spPr>
            <a:xfrm>
              <a:off x="3822" y="2111"/>
              <a:ext cx="105" cy="768"/>
            </a:xfrm>
            <a:prstGeom prst="rightBrace">
              <a:avLst>
                <a:gd name="adj1" fmla="val 60952"/>
                <a:gd name="adj2" fmla="val 50000"/>
              </a:avLst>
            </a:prstGeom>
            <a:noFill/>
            <a:ln w="19050"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22886" name="AutoShape 7"/>
            <p:cNvSpPr/>
            <p:nvPr/>
          </p:nvSpPr>
          <p:spPr>
            <a:xfrm>
              <a:off x="3818" y="3057"/>
              <a:ext cx="105" cy="768"/>
            </a:xfrm>
            <a:prstGeom prst="rightBrace">
              <a:avLst>
                <a:gd name="adj1" fmla="val 60952"/>
                <a:gd name="adj2" fmla="val 50000"/>
              </a:avLst>
            </a:prstGeom>
            <a:noFill/>
            <a:ln w="19050" cap="flat" cmpd="sng">
              <a:solidFill>
                <a:srgbClr val="FF0000"/>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22887" name="Text Box 8"/>
            <p:cNvSpPr txBox="1"/>
            <p:nvPr/>
          </p:nvSpPr>
          <p:spPr>
            <a:xfrm>
              <a:off x="4000" y="2567"/>
              <a:ext cx="922" cy="271"/>
            </a:xfrm>
            <a:prstGeom prst="rect">
              <a:avLst/>
            </a:prstGeom>
            <a:noFill/>
            <a:ln w="9525">
              <a:noFill/>
            </a:ln>
          </p:spPr>
          <p:txBody>
            <a:bodyPr>
              <a:spAutoFit/>
            </a:bodyPr>
            <a:lstStyle/>
            <a:p>
              <a:pPr eaLnBrk="1" hangingPunct="1">
                <a:spcBef>
                  <a:spcPct val="50000"/>
                </a:spcBef>
              </a:pPr>
              <a:r>
                <a:rPr lang="zh-CN" altLang="en-US" sz="1500" dirty="0">
                  <a:solidFill>
                    <a:srgbClr val="66FF33"/>
                  </a:solidFill>
                  <a:latin typeface="Times New Roman" panose="02020603050405020304" pitchFamily="18" charset="0"/>
                </a:rPr>
                <a:t>实体部分</a:t>
              </a:r>
            </a:p>
          </p:txBody>
        </p:sp>
        <p:sp>
          <p:nvSpPr>
            <p:cNvPr id="122888" name="Text Box 9"/>
            <p:cNvSpPr txBox="1"/>
            <p:nvPr/>
          </p:nvSpPr>
          <p:spPr>
            <a:xfrm>
              <a:off x="4009" y="3336"/>
              <a:ext cx="1158" cy="271"/>
            </a:xfrm>
            <a:prstGeom prst="rect">
              <a:avLst/>
            </a:prstGeom>
            <a:noFill/>
            <a:ln w="9525">
              <a:noFill/>
            </a:ln>
          </p:spPr>
          <p:txBody>
            <a:bodyPr>
              <a:spAutoFit/>
            </a:bodyPr>
            <a:lstStyle/>
            <a:p>
              <a:pPr eaLnBrk="1" hangingPunct="1">
                <a:spcBef>
                  <a:spcPct val="50000"/>
                </a:spcBef>
              </a:pPr>
              <a:r>
                <a:rPr lang="zh-CN" altLang="en-US" sz="1500" dirty="0">
                  <a:solidFill>
                    <a:srgbClr val="66FF33"/>
                  </a:solidFill>
                  <a:latin typeface="Times New Roman" panose="02020603050405020304" pitchFamily="18" charset="0"/>
                </a:rPr>
                <a:t>结构体部分</a:t>
              </a:r>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CFE8C9-1B93-42D9-9C22-8C627D94757B}"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24931" name="Group 19"/>
          <p:cNvGrpSpPr/>
          <p:nvPr/>
        </p:nvGrpSpPr>
        <p:grpSpPr>
          <a:xfrm>
            <a:off x="4621213" y="1058863"/>
            <a:ext cx="2719387" cy="979487"/>
            <a:chOff x="2738" y="771"/>
            <a:chExt cx="2284" cy="822"/>
          </a:xfrm>
        </p:grpSpPr>
        <p:sp>
          <p:nvSpPr>
            <p:cNvPr id="124948" name="AutoShape 2"/>
            <p:cNvSpPr/>
            <p:nvPr/>
          </p:nvSpPr>
          <p:spPr>
            <a:xfrm>
              <a:off x="2738" y="771"/>
              <a:ext cx="198" cy="822"/>
            </a:xfrm>
            <a:prstGeom prst="rightBrace">
              <a:avLst>
                <a:gd name="adj1" fmla="val 34595"/>
                <a:gd name="adj2" fmla="val 52042"/>
              </a:avLst>
            </a:prstGeom>
            <a:noFill/>
            <a:ln w="28575" cap="flat" cmpd="sng">
              <a:solidFill>
                <a:srgbClr val="FF0000"/>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24949" name="Text Box 3"/>
            <p:cNvSpPr txBox="1"/>
            <p:nvPr/>
          </p:nvSpPr>
          <p:spPr>
            <a:xfrm>
              <a:off x="3050" y="941"/>
              <a:ext cx="1972" cy="589"/>
            </a:xfrm>
            <a:prstGeom prst="rect">
              <a:avLst/>
            </a:prstGeom>
            <a:noFill/>
            <a:ln w="9525">
              <a:noFill/>
            </a:ln>
          </p:spPr>
          <p:txBody>
            <a:bodyPr>
              <a:spAutoFit/>
            </a:bodyPr>
            <a:lstStyle/>
            <a:p>
              <a:pPr eaLnBrk="1" hangingPunct="1">
                <a:spcBef>
                  <a:spcPct val="50000"/>
                </a:spcBef>
              </a:pPr>
              <a:r>
                <a:rPr lang="en-US" altLang="zh-CN" sz="1800">
                  <a:solidFill>
                    <a:srgbClr val="FF0000"/>
                  </a:solidFill>
                  <a:latin typeface="Times New Roman" panose="02020603050405020304" pitchFamily="18" charset="0"/>
                </a:rPr>
                <a:t>VHDL</a:t>
              </a:r>
              <a:r>
                <a:rPr lang="zh-CN" altLang="en-US" sz="1800" dirty="0">
                  <a:solidFill>
                    <a:srgbClr val="FF0000"/>
                  </a:solidFill>
                  <a:latin typeface="Times New Roman" panose="02020603050405020304" pitchFamily="18" charset="0"/>
                </a:rPr>
                <a:t>设计文件的</a:t>
              </a:r>
            </a:p>
            <a:p>
              <a:pPr eaLnBrk="1" hangingPunct="1">
                <a:lnSpc>
                  <a:spcPct val="70000"/>
                </a:lnSpc>
                <a:spcBef>
                  <a:spcPct val="50000"/>
                </a:spcBef>
              </a:pPr>
              <a:r>
                <a:rPr lang="zh-CN" altLang="en-US" sz="1800" dirty="0">
                  <a:solidFill>
                    <a:srgbClr val="FF0000"/>
                  </a:solidFill>
                  <a:latin typeface="Times New Roman" panose="02020603050405020304" pitchFamily="18" charset="0"/>
                </a:rPr>
                <a:t>两个基本组成部分</a:t>
              </a:r>
            </a:p>
          </p:txBody>
        </p:sp>
      </p:grpSp>
      <p:grpSp>
        <p:nvGrpSpPr>
          <p:cNvPr id="124932" name="Group 18"/>
          <p:cNvGrpSpPr/>
          <p:nvPr/>
        </p:nvGrpSpPr>
        <p:grpSpPr>
          <a:xfrm>
            <a:off x="1398588" y="817563"/>
            <a:ext cx="3348037" cy="3324225"/>
            <a:chOff x="-12" y="601"/>
            <a:chExt cx="2811" cy="2793"/>
          </a:xfrm>
        </p:grpSpPr>
        <p:grpSp>
          <p:nvGrpSpPr>
            <p:cNvPr id="124939" name="Group 17"/>
            <p:cNvGrpSpPr/>
            <p:nvPr/>
          </p:nvGrpSpPr>
          <p:grpSpPr>
            <a:xfrm>
              <a:off x="1151" y="601"/>
              <a:ext cx="1648" cy="2793"/>
              <a:chOff x="810" y="601"/>
              <a:chExt cx="1648" cy="2793"/>
            </a:xfrm>
          </p:grpSpPr>
          <p:grpSp>
            <p:nvGrpSpPr>
              <p:cNvPr id="124941" name="Group 14"/>
              <p:cNvGrpSpPr/>
              <p:nvPr/>
            </p:nvGrpSpPr>
            <p:grpSpPr>
              <a:xfrm>
                <a:off x="810" y="601"/>
                <a:ext cx="1648" cy="2793"/>
                <a:chOff x="467" y="261"/>
                <a:chExt cx="1648" cy="2793"/>
              </a:xfrm>
            </p:grpSpPr>
            <p:sp>
              <p:nvSpPr>
                <p:cNvPr id="124943" name="Text Box 9"/>
                <p:cNvSpPr txBox="1"/>
                <p:nvPr/>
              </p:nvSpPr>
              <p:spPr>
                <a:xfrm>
                  <a:off x="468" y="261"/>
                  <a:ext cx="1647" cy="516"/>
                </a:xfrm>
                <a:prstGeom prst="rect">
                  <a:avLst/>
                </a:prstGeom>
                <a:noFill/>
                <a:ln w="9525">
                  <a:noFill/>
                </a:ln>
              </p:spPr>
              <p:txBody>
                <a:bodyPr>
                  <a:spAutoFit/>
                </a:bodyPr>
                <a:lstStyle/>
                <a:p>
                  <a:pPr algn="ctr" eaLnBrk="1" hangingPunct="1">
                    <a:lnSpc>
                      <a:spcPct val="90000"/>
                    </a:lnSpc>
                    <a:spcBef>
                      <a:spcPct val="50000"/>
                    </a:spcBef>
                  </a:pPr>
                  <a:r>
                    <a:rPr lang="zh-CN" altLang="en-US" sz="2100" dirty="0">
                      <a:solidFill>
                        <a:srgbClr val="0000CC"/>
                      </a:solidFill>
                      <a:latin typeface="Times New Roman" panose="02020603050405020304" pitchFamily="18" charset="0"/>
                      <a:ea typeface="楷体_GB2312" pitchFamily="49" charset="-122"/>
                    </a:rPr>
                    <a:t>实体</a:t>
                  </a:r>
                </a:p>
                <a:p>
                  <a:pPr algn="ctr" eaLnBrk="1" hangingPunct="1">
                    <a:lnSpc>
                      <a:spcPct val="50000"/>
                    </a:lnSpc>
                    <a:spcBef>
                      <a:spcPct val="50000"/>
                    </a:spcBef>
                  </a:pPr>
                  <a:r>
                    <a:rPr lang="zh-CN" altLang="en-US" sz="1500" dirty="0">
                      <a:solidFill>
                        <a:srgbClr val="0000CC"/>
                      </a:solidFill>
                      <a:latin typeface="Times New Roman" panose="02020603050405020304" pitchFamily="18" charset="0"/>
                    </a:rPr>
                    <a:t>（</a:t>
                  </a:r>
                  <a:r>
                    <a:rPr lang="en-US" altLang="zh-CN" sz="1500">
                      <a:solidFill>
                        <a:srgbClr val="0000CC"/>
                      </a:solidFill>
                      <a:latin typeface="Times New Roman" panose="02020603050405020304" pitchFamily="18" charset="0"/>
                    </a:rPr>
                    <a:t>Entity</a:t>
                  </a:r>
                  <a:r>
                    <a:rPr lang="zh-CN" altLang="en-US" sz="1500" dirty="0">
                      <a:solidFill>
                        <a:srgbClr val="0000CC"/>
                      </a:solidFill>
                      <a:latin typeface="Times New Roman" panose="02020603050405020304" pitchFamily="18" charset="0"/>
                    </a:rPr>
                    <a:t>）</a:t>
                  </a:r>
                </a:p>
              </p:txBody>
            </p:sp>
            <p:sp>
              <p:nvSpPr>
                <p:cNvPr id="124944" name="Text Box 10"/>
                <p:cNvSpPr txBox="1"/>
                <p:nvPr/>
              </p:nvSpPr>
              <p:spPr>
                <a:xfrm>
                  <a:off x="471" y="884"/>
                  <a:ext cx="1644" cy="469"/>
                </a:xfrm>
                <a:prstGeom prst="rect">
                  <a:avLst/>
                </a:prstGeom>
                <a:noFill/>
                <a:ln w="9525">
                  <a:noFill/>
                </a:ln>
              </p:spPr>
              <p:txBody>
                <a:bodyPr>
                  <a:spAutoFit/>
                </a:bodyPr>
                <a:lstStyle/>
                <a:p>
                  <a:pPr algn="ctr" eaLnBrk="1" hangingPunct="1">
                    <a:lnSpc>
                      <a:spcPct val="80000"/>
                    </a:lnSpc>
                    <a:spcBef>
                      <a:spcPct val="50000"/>
                    </a:spcBef>
                  </a:pPr>
                  <a:r>
                    <a:rPr lang="zh-CN" altLang="en-US" sz="2100" dirty="0">
                      <a:solidFill>
                        <a:srgbClr val="0000CC"/>
                      </a:solidFill>
                      <a:latin typeface="Times New Roman" panose="02020603050405020304" pitchFamily="18" charset="0"/>
                      <a:ea typeface="楷体_GB2312" pitchFamily="49" charset="-122"/>
                    </a:rPr>
                    <a:t>结构体</a:t>
                  </a:r>
                </a:p>
                <a:p>
                  <a:pPr algn="ctr" eaLnBrk="1" hangingPunct="1">
                    <a:lnSpc>
                      <a:spcPct val="40000"/>
                    </a:lnSpc>
                    <a:spcBef>
                      <a:spcPct val="50000"/>
                    </a:spcBef>
                  </a:pPr>
                  <a:r>
                    <a:rPr lang="zh-CN" altLang="en-US" sz="1500" dirty="0">
                      <a:solidFill>
                        <a:srgbClr val="0000CC"/>
                      </a:solidFill>
                      <a:latin typeface="Times New Roman" panose="02020603050405020304" pitchFamily="18" charset="0"/>
                    </a:rPr>
                    <a:t>（</a:t>
                  </a:r>
                  <a:r>
                    <a:rPr lang="en-US" altLang="zh-CN" sz="1500">
                      <a:solidFill>
                        <a:srgbClr val="0000CC"/>
                      </a:solidFill>
                      <a:latin typeface="Times New Roman" panose="02020603050405020304" pitchFamily="18" charset="0"/>
                    </a:rPr>
                    <a:t>Architecture</a:t>
                  </a:r>
                  <a:r>
                    <a:rPr lang="zh-CN" altLang="en-US" sz="1500" dirty="0">
                      <a:solidFill>
                        <a:srgbClr val="0000CC"/>
                      </a:solidFill>
                      <a:latin typeface="Times New Roman" panose="02020603050405020304" pitchFamily="18" charset="0"/>
                    </a:rPr>
                    <a:t>）</a:t>
                  </a:r>
                </a:p>
              </p:txBody>
            </p:sp>
            <p:sp>
              <p:nvSpPr>
                <p:cNvPr id="124945" name="Text Box 11"/>
                <p:cNvSpPr txBox="1"/>
                <p:nvPr/>
              </p:nvSpPr>
              <p:spPr>
                <a:xfrm>
                  <a:off x="467" y="1424"/>
                  <a:ext cx="1647" cy="516"/>
                </a:xfrm>
                <a:prstGeom prst="rect">
                  <a:avLst/>
                </a:prstGeom>
                <a:noFill/>
                <a:ln w="9525">
                  <a:noFill/>
                </a:ln>
              </p:spPr>
              <p:txBody>
                <a:bodyPr>
                  <a:spAutoFit/>
                </a:bodyPr>
                <a:lstStyle/>
                <a:p>
                  <a:pPr algn="ctr" eaLnBrk="1" hangingPunct="1">
                    <a:lnSpc>
                      <a:spcPct val="90000"/>
                    </a:lnSpc>
                    <a:spcBef>
                      <a:spcPct val="50000"/>
                    </a:spcBef>
                  </a:pPr>
                  <a:r>
                    <a:rPr lang="zh-CN" altLang="en-US" sz="2100" dirty="0">
                      <a:solidFill>
                        <a:srgbClr val="0000CC"/>
                      </a:solidFill>
                      <a:latin typeface="Times New Roman" panose="02020603050405020304" pitchFamily="18" charset="0"/>
                      <a:ea typeface="楷体_GB2312" pitchFamily="49" charset="-122"/>
                    </a:rPr>
                    <a:t>配置</a:t>
                  </a:r>
                </a:p>
                <a:p>
                  <a:pPr algn="ctr" eaLnBrk="1" hangingPunct="1">
                    <a:lnSpc>
                      <a:spcPct val="50000"/>
                    </a:lnSpc>
                    <a:spcBef>
                      <a:spcPct val="50000"/>
                    </a:spcBef>
                  </a:pPr>
                  <a:r>
                    <a:rPr lang="zh-CN" altLang="en-US" sz="1500" dirty="0">
                      <a:solidFill>
                        <a:srgbClr val="0000CC"/>
                      </a:solidFill>
                      <a:latin typeface="Times New Roman" panose="02020603050405020304" pitchFamily="18" charset="0"/>
                    </a:rPr>
                    <a:t>（</a:t>
                  </a:r>
                  <a:r>
                    <a:rPr lang="en-US" altLang="zh-CN" sz="1500">
                      <a:solidFill>
                        <a:srgbClr val="0000CC"/>
                      </a:solidFill>
                      <a:latin typeface="Times New Roman" panose="02020603050405020304" pitchFamily="18" charset="0"/>
                    </a:rPr>
                    <a:t>Configuration</a:t>
                  </a:r>
                  <a:r>
                    <a:rPr lang="zh-CN" altLang="en-US" sz="1500" dirty="0">
                      <a:solidFill>
                        <a:srgbClr val="0000CC"/>
                      </a:solidFill>
                      <a:latin typeface="Times New Roman" panose="02020603050405020304" pitchFamily="18" charset="0"/>
                    </a:rPr>
                    <a:t>）</a:t>
                  </a:r>
                </a:p>
              </p:txBody>
            </p:sp>
            <p:sp>
              <p:nvSpPr>
                <p:cNvPr id="124946" name="Text Box 12"/>
                <p:cNvSpPr txBox="1"/>
                <p:nvPr/>
              </p:nvSpPr>
              <p:spPr>
                <a:xfrm>
                  <a:off x="470" y="2047"/>
                  <a:ext cx="1644" cy="469"/>
                </a:xfrm>
                <a:prstGeom prst="rect">
                  <a:avLst/>
                </a:prstGeom>
                <a:noFill/>
                <a:ln w="9525">
                  <a:noFill/>
                </a:ln>
              </p:spPr>
              <p:txBody>
                <a:bodyPr>
                  <a:spAutoFit/>
                </a:bodyPr>
                <a:lstStyle/>
                <a:p>
                  <a:pPr algn="ctr" eaLnBrk="1" hangingPunct="1">
                    <a:lnSpc>
                      <a:spcPct val="80000"/>
                    </a:lnSpc>
                    <a:spcBef>
                      <a:spcPct val="50000"/>
                    </a:spcBef>
                  </a:pPr>
                  <a:r>
                    <a:rPr lang="zh-CN" altLang="en-US" sz="2100" dirty="0">
                      <a:solidFill>
                        <a:srgbClr val="0000CC"/>
                      </a:solidFill>
                      <a:latin typeface="Times New Roman" panose="02020603050405020304" pitchFamily="18" charset="0"/>
                      <a:ea typeface="楷体_GB2312" pitchFamily="49" charset="-122"/>
                    </a:rPr>
                    <a:t>包集合</a:t>
                  </a:r>
                </a:p>
                <a:p>
                  <a:pPr algn="ctr" eaLnBrk="1" hangingPunct="1">
                    <a:lnSpc>
                      <a:spcPct val="40000"/>
                    </a:lnSpc>
                    <a:spcBef>
                      <a:spcPct val="50000"/>
                    </a:spcBef>
                  </a:pPr>
                  <a:r>
                    <a:rPr lang="zh-CN" altLang="en-US" sz="1500" dirty="0">
                      <a:solidFill>
                        <a:srgbClr val="0000CC"/>
                      </a:solidFill>
                      <a:latin typeface="Times New Roman" panose="02020603050405020304" pitchFamily="18" charset="0"/>
                    </a:rPr>
                    <a:t>（</a:t>
                  </a:r>
                  <a:r>
                    <a:rPr lang="en-US" altLang="zh-CN" sz="1500">
                      <a:solidFill>
                        <a:srgbClr val="0000CC"/>
                      </a:solidFill>
                      <a:latin typeface="Times New Roman" panose="02020603050405020304" pitchFamily="18" charset="0"/>
                    </a:rPr>
                    <a:t>Package</a:t>
                  </a:r>
                  <a:r>
                    <a:rPr lang="zh-CN" altLang="en-US" sz="1500" dirty="0">
                      <a:solidFill>
                        <a:srgbClr val="0000CC"/>
                      </a:solidFill>
                      <a:latin typeface="Times New Roman" panose="02020603050405020304" pitchFamily="18" charset="0"/>
                    </a:rPr>
                    <a:t>）</a:t>
                  </a:r>
                </a:p>
              </p:txBody>
            </p:sp>
            <p:sp>
              <p:nvSpPr>
                <p:cNvPr id="124947" name="Text Box 13"/>
                <p:cNvSpPr txBox="1"/>
                <p:nvPr/>
              </p:nvSpPr>
              <p:spPr>
                <a:xfrm>
                  <a:off x="470" y="2585"/>
                  <a:ext cx="1644" cy="469"/>
                </a:xfrm>
                <a:prstGeom prst="rect">
                  <a:avLst/>
                </a:prstGeom>
                <a:noFill/>
                <a:ln w="9525">
                  <a:noFill/>
                </a:ln>
              </p:spPr>
              <p:txBody>
                <a:bodyPr>
                  <a:spAutoFit/>
                </a:bodyPr>
                <a:lstStyle/>
                <a:p>
                  <a:pPr algn="ctr" eaLnBrk="1" hangingPunct="1">
                    <a:lnSpc>
                      <a:spcPct val="80000"/>
                    </a:lnSpc>
                    <a:spcBef>
                      <a:spcPct val="50000"/>
                    </a:spcBef>
                  </a:pPr>
                  <a:r>
                    <a:rPr lang="zh-CN" altLang="en-US" sz="2100" dirty="0">
                      <a:solidFill>
                        <a:srgbClr val="0000CC"/>
                      </a:solidFill>
                      <a:latin typeface="Times New Roman" panose="02020603050405020304" pitchFamily="18" charset="0"/>
                      <a:ea typeface="楷体_GB2312" pitchFamily="49" charset="-122"/>
                    </a:rPr>
                    <a:t>库</a:t>
                  </a:r>
                </a:p>
                <a:p>
                  <a:pPr algn="ctr" eaLnBrk="1" hangingPunct="1">
                    <a:lnSpc>
                      <a:spcPct val="40000"/>
                    </a:lnSpc>
                    <a:spcBef>
                      <a:spcPct val="50000"/>
                    </a:spcBef>
                  </a:pPr>
                  <a:r>
                    <a:rPr lang="zh-CN" altLang="en-US" sz="1500" dirty="0">
                      <a:solidFill>
                        <a:srgbClr val="0000CC"/>
                      </a:solidFill>
                      <a:latin typeface="Times New Roman" panose="02020603050405020304" pitchFamily="18" charset="0"/>
                    </a:rPr>
                    <a:t>（</a:t>
                  </a:r>
                  <a:r>
                    <a:rPr lang="en-US" altLang="zh-CN" sz="1500">
                      <a:solidFill>
                        <a:srgbClr val="0000CC"/>
                      </a:solidFill>
                      <a:latin typeface="Times New Roman" panose="02020603050405020304" pitchFamily="18" charset="0"/>
                    </a:rPr>
                    <a:t>Library</a:t>
                  </a:r>
                  <a:r>
                    <a:rPr lang="zh-CN" altLang="en-US" sz="1500" dirty="0">
                      <a:solidFill>
                        <a:srgbClr val="0000CC"/>
                      </a:solidFill>
                      <a:latin typeface="Times New Roman" panose="02020603050405020304" pitchFamily="18" charset="0"/>
                    </a:rPr>
                    <a:t>）</a:t>
                  </a:r>
                </a:p>
              </p:txBody>
            </p:sp>
          </p:grpSp>
          <p:sp>
            <p:nvSpPr>
              <p:cNvPr id="8207" name="AutoShape 15"/>
              <p:cNvSpPr/>
              <p:nvPr/>
            </p:nvSpPr>
            <p:spPr bwMode="auto">
              <a:xfrm>
                <a:off x="813" y="714"/>
                <a:ext cx="312" cy="2580"/>
              </a:xfrm>
              <a:prstGeom prst="leftBrace">
                <a:avLst>
                  <a:gd name="adj1" fmla="val 68910"/>
                  <a:gd name="adj2" fmla="val 50000"/>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35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grpSp>
        <p:sp>
          <p:nvSpPr>
            <p:cNvPr id="124940" name="Text Box 16"/>
            <p:cNvSpPr txBox="1"/>
            <p:nvPr/>
          </p:nvSpPr>
          <p:spPr>
            <a:xfrm>
              <a:off x="-12" y="1669"/>
              <a:ext cx="1332" cy="659"/>
            </a:xfrm>
            <a:prstGeom prst="rect">
              <a:avLst/>
            </a:prstGeom>
            <a:noFill/>
            <a:ln w="9525">
              <a:noFill/>
            </a:ln>
          </p:spPr>
          <p:txBody>
            <a:bodyPr>
              <a:spAutoFit/>
            </a:bodyPr>
            <a:lstStyle/>
            <a:p>
              <a:pPr eaLnBrk="1" hangingPunct="1">
                <a:spcBef>
                  <a:spcPct val="50000"/>
                </a:spcBef>
              </a:pPr>
              <a:r>
                <a:rPr lang="zh-CN" altLang="en-US" sz="1800" dirty="0">
                  <a:solidFill>
                    <a:srgbClr val="0000CC"/>
                  </a:solidFill>
                  <a:latin typeface="Times New Roman" panose="02020603050405020304" pitchFamily="18" charset="0"/>
                  <a:ea typeface="楷体_GB2312" pitchFamily="49" charset="-122"/>
                </a:rPr>
                <a:t>一个完整的</a:t>
              </a:r>
            </a:p>
            <a:p>
              <a:pPr eaLnBrk="1" hangingPunct="1">
                <a:spcBef>
                  <a:spcPct val="50000"/>
                </a:spcBef>
              </a:pPr>
              <a:r>
                <a:rPr lang="en-US" altLang="zh-CN" sz="1800">
                  <a:solidFill>
                    <a:srgbClr val="0000CC"/>
                  </a:solidFill>
                  <a:latin typeface="Times New Roman" panose="02020603050405020304" pitchFamily="18" charset="0"/>
                  <a:ea typeface="楷体_GB2312" pitchFamily="49" charset="-122"/>
                </a:rPr>
                <a:t>VHDL</a:t>
              </a:r>
              <a:r>
                <a:rPr lang="zh-CN" altLang="en-US" sz="1800" dirty="0">
                  <a:solidFill>
                    <a:srgbClr val="0000CC"/>
                  </a:solidFill>
                  <a:latin typeface="Times New Roman" panose="02020603050405020304" pitchFamily="18" charset="0"/>
                  <a:ea typeface="楷体_GB2312" pitchFamily="49" charset="-122"/>
                </a:rPr>
                <a:t>程序</a:t>
              </a:r>
            </a:p>
          </p:txBody>
        </p:sp>
      </p:grpSp>
      <p:sp>
        <p:nvSpPr>
          <p:cNvPr id="45080" name="AutoShape 24"/>
          <p:cNvSpPr/>
          <p:nvPr/>
        </p:nvSpPr>
        <p:spPr>
          <a:xfrm>
            <a:off x="2451100" y="4265613"/>
            <a:ext cx="2508250" cy="877887"/>
          </a:xfrm>
          <a:prstGeom prst="wedgeEllipseCallout">
            <a:avLst>
              <a:gd name="adj1" fmla="val 3014"/>
              <a:gd name="adj2" fmla="val -67097"/>
            </a:avLst>
          </a:prstGeom>
          <a:solidFill>
            <a:schemeClr val="accent1"/>
          </a:solidFill>
          <a:ln w="28575" cap="flat" cmpd="sng">
            <a:solidFill>
              <a:schemeClr val="tx1"/>
            </a:solidFill>
            <a:prstDash val="solid"/>
            <a:miter/>
            <a:headEnd type="none" w="med" len="med"/>
            <a:tailEnd type="none" w="med" len="med"/>
          </a:ln>
        </p:spPr>
        <p:txBody>
          <a:bodyPr lIns="0" tIns="0" rIns="0" bIns="0"/>
          <a:lstStyle/>
          <a:p>
            <a:pPr algn="ctr" eaLnBrk="1" hangingPunct="1"/>
            <a:r>
              <a:rPr lang="zh-CN" altLang="en-US" sz="1500" i="1" u="sng" dirty="0">
                <a:solidFill>
                  <a:srgbClr val="FF9900"/>
                </a:solidFill>
                <a:latin typeface="Times New Roman" panose="02020603050405020304" pitchFamily="18" charset="0"/>
              </a:rPr>
              <a:t>库 ：</a:t>
            </a:r>
            <a:r>
              <a:rPr lang="zh-CN" altLang="en-US" sz="1500" dirty="0">
                <a:solidFill>
                  <a:schemeClr val="tx1"/>
                </a:solidFill>
                <a:latin typeface="Times New Roman" panose="02020603050405020304" pitchFamily="18" charset="0"/>
                <a:ea typeface="华文新魏" panose="02010800040101010101" pitchFamily="2" charset="-122"/>
              </a:rPr>
              <a:t>用于存放已编译好的实体、结构体、包集合和配置</a:t>
            </a:r>
          </a:p>
        </p:txBody>
      </p:sp>
      <p:sp>
        <p:nvSpPr>
          <p:cNvPr id="45076" name="AutoShape 20"/>
          <p:cNvSpPr/>
          <p:nvPr/>
        </p:nvSpPr>
        <p:spPr>
          <a:xfrm>
            <a:off x="4670425" y="0"/>
            <a:ext cx="3330575" cy="1457325"/>
          </a:xfrm>
          <a:prstGeom prst="wedgeEllipseCallout">
            <a:avLst>
              <a:gd name="adj1" fmla="val -67519"/>
              <a:gd name="adj2" fmla="val 17810"/>
            </a:avLst>
          </a:prstGeom>
          <a:solidFill>
            <a:schemeClr val="accent1"/>
          </a:solidFill>
          <a:ln w="28575" cap="flat" cmpd="sng">
            <a:solidFill>
              <a:schemeClr val="tx1"/>
            </a:solidFill>
            <a:prstDash val="solid"/>
            <a:miter/>
            <a:headEnd type="none" w="med" len="med"/>
            <a:tailEnd type="none" w="med" len="med"/>
          </a:ln>
        </p:spPr>
        <p:txBody>
          <a:bodyPr/>
          <a:lstStyle/>
          <a:p>
            <a:pPr algn="ctr" eaLnBrk="1" hangingPunct="1"/>
            <a:r>
              <a:rPr lang="zh-CN" altLang="en-US" sz="1800" i="1" u="sng" dirty="0">
                <a:solidFill>
                  <a:srgbClr val="FF9900"/>
                </a:solidFill>
                <a:latin typeface="Times New Roman" panose="02020603050405020304" pitchFamily="18" charset="0"/>
              </a:rPr>
              <a:t>实体部分：</a:t>
            </a:r>
            <a:r>
              <a:rPr lang="zh-CN" altLang="en-US" sz="1800" dirty="0">
                <a:solidFill>
                  <a:schemeClr val="tx1"/>
                </a:solidFill>
                <a:latin typeface="华文新魏" panose="02010800040101010101" pitchFamily="2" charset="-122"/>
                <a:ea typeface="华文新魏" panose="02010800040101010101" pitchFamily="2" charset="-122"/>
              </a:rPr>
              <a:t>描述设计系统的外部接口信号（即输入</a:t>
            </a:r>
            <a:r>
              <a:rPr lang="en-US" altLang="zh-CN" sz="180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输出信号）</a:t>
            </a:r>
          </a:p>
        </p:txBody>
      </p:sp>
      <p:sp>
        <p:nvSpPr>
          <p:cNvPr id="45077" name="AutoShape 21"/>
          <p:cNvSpPr/>
          <p:nvPr/>
        </p:nvSpPr>
        <p:spPr>
          <a:xfrm>
            <a:off x="4670425" y="1189038"/>
            <a:ext cx="3330575" cy="1181100"/>
          </a:xfrm>
          <a:prstGeom prst="wedgeEllipseCallout">
            <a:avLst>
              <a:gd name="adj1" fmla="val -65269"/>
              <a:gd name="adj2" fmla="val -4838"/>
            </a:avLst>
          </a:prstGeom>
          <a:solidFill>
            <a:schemeClr val="accent1"/>
          </a:solidFill>
          <a:ln w="28575" cap="flat" cmpd="sng">
            <a:solidFill>
              <a:schemeClr val="tx1"/>
            </a:solidFill>
            <a:prstDash val="solid"/>
            <a:miter/>
            <a:headEnd type="none" w="med" len="med"/>
            <a:tailEnd type="none" w="med" len="med"/>
          </a:ln>
        </p:spPr>
        <p:txBody>
          <a:bodyPr/>
          <a:lstStyle/>
          <a:p>
            <a:pPr algn="ctr" eaLnBrk="1" hangingPunct="1"/>
            <a:r>
              <a:rPr lang="zh-CN" altLang="en-US" sz="1800" i="1" u="sng" dirty="0">
                <a:solidFill>
                  <a:srgbClr val="FF9900"/>
                </a:solidFill>
                <a:latin typeface="Times New Roman" panose="02020603050405020304" pitchFamily="18" charset="0"/>
              </a:rPr>
              <a:t>结构体：</a:t>
            </a:r>
            <a:r>
              <a:rPr lang="zh-CN" altLang="en-US" sz="1800" dirty="0">
                <a:solidFill>
                  <a:schemeClr val="tx1"/>
                </a:solidFill>
                <a:latin typeface="Times New Roman" panose="02020603050405020304" pitchFamily="18" charset="0"/>
                <a:ea typeface="华文新魏" panose="02010800040101010101" pitchFamily="2" charset="-122"/>
              </a:rPr>
              <a:t>用于描述</a:t>
            </a:r>
          </a:p>
          <a:p>
            <a:pPr algn="ctr" eaLnBrk="1" hangingPunct="1"/>
            <a:r>
              <a:rPr lang="zh-CN" altLang="en-US" sz="1800" dirty="0">
                <a:solidFill>
                  <a:schemeClr val="tx1"/>
                </a:solidFill>
                <a:latin typeface="Times New Roman" panose="02020603050405020304" pitchFamily="18" charset="0"/>
                <a:ea typeface="华文新魏" panose="02010800040101010101" pitchFamily="2" charset="-122"/>
              </a:rPr>
              <a:t>系统的内部电路</a:t>
            </a:r>
          </a:p>
        </p:txBody>
      </p:sp>
      <p:sp>
        <p:nvSpPr>
          <p:cNvPr id="45078" name="AutoShape 22"/>
          <p:cNvSpPr/>
          <p:nvPr/>
        </p:nvSpPr>
        <p:spPr>
          <a:xfrm>
            <a:off x="4841875" y="2132013"/>
            <a:ext cx="3159125" cy="1216025"/>
          </a:xfrm>
          <a:prstGeom prst="wedgeEllipseCallout">
            <a:avLst>
              <a:gd name="adj1" fmla="val -73296"/>
              <a:gd name="adj2" fmla="val -25417"/>
            </a:avLst>
          </a:prstGeom>
          <a:solidFill>
            <a:schemeClr val="accent1"/>
          </a:solidFill>
          <a:ln w="28575" cap="flat" cmpd="sng">
            <a:solidFill>
              <a:schemeClr val="tx1"/>
            </a:solidFill>
            <a:prstDash val="solid"/>
            <a:miter/>
            <a:headEnd type="none" w="med" len="med"/>
            <a:tailEnd type="none" w="med" len="med"/>
          </a:ln>
        </p:spPr>
        <p:txBody>
          <a:bodyPr/>
          <a:lstStyle/>
          <a:p>
            <a:pPr eaLnBrk="1" hangingPunct="1"/>
            <a:r>
              <a:rPr lang="zh-CN" altLang="en-US" sz="1800" i="1" u="sng" dirty="0">
                <a:solidFill>
                  <a:srgbClr val="FF9900"/>
                </a:solidFill>
                <a:latin typeface="Times New Roman" panose="02020603050405020304" pitchFamily="18" charset="0"/>
              </a:rPr>
              <a:t>配置：</a:t>
            </a:r>
            <a:r>
              <a:rPr lang="zh-CN" altLang="en-US" sz="1800" dirty="0">
                <a:solidFill>
                  <a:schemeClr val="tx1"/>
                </a:solidFill>
                <a:latin typeface="Times New Roman" panose="02020603050405020304" pitchFamily="18" charset="0"/>
                <a:ea typeface="华文新魏" panose="02010800040101010101" pitchFamily="2" charset="-122"/>
              </a:rPr>
              <a:t>用于从库中选取所需元件安装到设计单元的实体中</a:t>
            </a:r>
          </a:p>
        </p:txBody>
      </p:sp>
      <p:sp>
        <p:nvSpPr>
          <p:cNvPr id="45079" name="AutoShape 23"/>
          <p:cNvSpPr/>
          <p:nvPr/>
        </p:nvSpPr>
        <p:spPr>
          <a:xfrm>
            <a:off x="4841875" y="3213100"/>
            <a:ext cx="3159125" cy="1778000"/>
          </a:xfrm>
          <a:prstGeom prst="wedgeEllipseCallout">
            <a:avLst>
              <a:gd name="adj1" fmla="val -70167"/>
              <a:gd name="adj2" fmla="val -52477"/>
            </a:avLst>
          </a:prstGeom>
          <a:solidFill>
            <a:schemeClr val="accent1"/>
          </a:solidFill>
          <a:ln w="28575" cap="flat" cmpd="sng">
            <a:solidFill>
              <a:schemeClr val="tx1"/>
            </a:solidFill>
            <a:prstDash val="solid"/>
            <a:miter/>
            <a:headEnd type="none" w="med" len="med"/>
            <a:tailEnd type="none" w="med" len="med"/>
          </a:ln>
        </p:spPr>
        <p:txBody>
          <a:bodyPr/>
          <a:lstStyle/>
          <a:p>
            <a:pPr eaLnBrk="1" hangingPunct="1"/>
            <a:r>
              <a:rPr lang="zh-CN" altLang="en-US" sz="1800" i="1" u="sng" dirty="0">
                <a:solidFill>
                  <a:srgbClr val="FF9900"/>
                </a:solidFill>
                <a:latin typeface="Times New Roman" panose="02020603050405020304" pitchFamily="18" charset="0"/>
              </a:rPr>
              <a:t>包集合：</a:t>
            </a:r>
            <a:r>
              <a:rPr lang="zh-CN" altLang="en-US" sz="1800" dirty="0">
                <a:solidFill>
                  <a:schemeClr val="tx1"/>
                </a:solidFill>
                <a:latin typeface="Times New Roman" panose="02020603050405020304" pitchFamily="18" charset="0"/>
                <a:ea typeface="华文新魏" panose="02010800040101010101" pitchFamily="2" charset="-122"/>
              </a:rPr>
              <a:t>存放各设计模块：能共享的数据类型、常数、子程序等</a:t>
            </a:r>
          </a:p>
        </p:txBody>
      </p:sp>
      <p:sp>
        <p:nvSpPr>
          <p:cNvPr id="45082" name="AutoShape 26"/>
          <p:cNvSpPr/>
          <p:nvPr/>
        </p:nvSpPr>
        <p:spPr>
          <a:xfrm>
            <a:off x="1503363" y="3292475"/>
            <a:ext cx="1343025" cy="877888"/>
          </a:xfrm>
          <a:prstGeom prst="wedgeEllipseCallout">
            <a:avLst>
              <a:gd name="adj1" fmla="val 44949"/>
              <a:gd name="adj2" fmla="val -67097"/>
            </a:avLst>
          </a:prstGeom>
          <a:solidFill>
            <a:schemeClr val="accent1"/>
          </a:solidFill>
          <a:ln w="28575" cap="flat" cmpd="sng">
            <a:solidFill>
              <a:schemeClr val="tx1"/>
            </a:solidFill>
            <a:prstDash val="solid"/>
            <a:miter/>
            <a:headEnd type="none" w="med" len="med"/>
            <a:tailEnd type="none" w="med" len="med"/>
          </a:ln>
        </p:spPr>
        <p:txBody>
          <a:bodyPr lIns="0" tIns="0" rIns="0" bIns="0"/>
          <a:lstStyle/>
          <a:p>
            <a:pPr algn="ctr" eaLnBrk="1" hangingPunct="1"/>
            <a:r>
              <a:rPr lang="zh-CN" altLang="en-US" sz="1500" i="1" u="sng" dirty="0">
                <a:solidFill>
                  <a:srgbClr val="FF9900"/>
                </a:solidFill>
                <a:latin typeface="Times New Roman" panose="02020603050405020304" pitchFamily="18" charset="0"/>
              </a:rPr>
              <a:t>注释</a:t>
            </a:r>
            <a:r>
              <a:rPr lang="zh-CN" altLang="en-US" sz="1500" i="1" dirty="0">
                <a:solidFill>
                  <a:srgbClr val="FF9900"/>
                </a:solidFill>
                <a:latin typeface="Times New Roman" panose="02020603050405020304" pitchFamily="18" charset="0"/>
              </a:rPr>
              <a:t>：</a:t>
            </a:r>
            <a:r>
              <a:rPr lang="en-US" altLang="zh-CN" sz="1500" i="1">
                <a:solidFill>
                  <a:srgbClr val="FF9900"/>
                </a:solidFill>
                <a:latin typeface="Times New Roman" panose="02020603050405020304" pitchFamily="18" charset="0"/>
              </a:rPr>
              <a:t>--</a:t>
            </a:r>
            <a:endParaRPr lang="en-US" altLang="zh-CN" sz="1500">
              <a:solidFill>
                <a:schemeClr val="tx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5076"/>
                                        </p:tgtEl>
                                        <p:attrNameLst>
                                          <p:attrName>style.visibility</p:attrName>
                                        </p:attrNameLst>
                                      </p:cBhvr>
                                      <p:to>
                                        <p:strVal val="visible"/>
                                      </p:to>
                                    </p:set>
                                    <p:anim calcmode="lin" valueType="num">
                                      <p:cBhvr additive="base">
                                        <p:cTn id="7" dur="500" fill="hold"/>
                                        <p:tgtEl>
                                          <p:spTgt spid="45076"/>
                                        </p:tgtEl>
                                        <p:attrNameLst>
                                          <p:attrName>ppt_x</p:attrName>
                                        </p:attrNameLst>
                                      </p:cBhvr>
                                      <p:tavLst>
                                        <p:tav tm="0">
                                          <p:val>
                                            <p:strVal val="1+#ppt_w/2"/>
                                          </p:val>
                                        </p:tav>
                                        <p:tav tm="100000">
                                          <p:val>
                                            <p:strVal val="#ppt_x"/>
                                          </p:val>
                                        </p:tav>
                                      </p:tavLst>
                                    </p:anim>
                                    <p:anim calcmode="lin" valueType="num">
                                      <p:cBhvr additive="base">
                                        <p:cTn id="8" dur="500" fill="hold"/>
                                        <p:tgtEl>
                                          <p:spTgt spid="4507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5077"/>
                                        </p:tgtEl>
                                        <p:attrNameLst>
                                          <p:attrName>style.visibility</p:attrName>
                                        </p:attrNameLst>
                                      </p:cBhvr>
                                      <p:to>
                                        <p:strVal val="visible"/>
                                      </p:to>
                                    </p:set>
                                    <p:anim calcmode="lin" valueType="num">
                                      <p:cBhvr additive="base">
                                        <p:cTn id="13" dur="500" fill="hold"/>
                                        <p:tgtEl>
                                          <p:spTgt spid="45077"/>
                                        </p:tgtEl>
                                        <p:attrNameLst>
                                          <p:attrName>ppt_x</p:attrName>
                                        </p:attrNameLst>
                                      </p:cBhvr>
                                      <p:tavLst>
                                        <p:tav tm="0">
                                          <p:val>
                                            <p:strVal val="1+#ppt_w/2"/>
                                          </p:val>
                                        </p:tav>
                                        <p:tav tm="100000">
                                          <p:val>
                                            <p:strVal val="#ppt_x"/>
                                          </p:val>
                                        </p:tav>
                                      </p:tavLst>
                                    </p:anim>
                                    <p:anim calcmode="lin" valueType="num">
                                      <p:cBhvr additive="base">
                                        <p:cTn id="14" dur="500" fill="hold"/>
                                        <p:tgtEl>
                                          <p:spTgt spid="450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5078"/>
                                        </p:tgtEl>
                                        <p:attrNameLst>
                                          <p:attrName>style.visibility</p:attrName>
                                        </p:attrNameLst>
                                      </p:cBhvr>
                                      <p:to>
                                        <p:strVal val="visible"/>
                                      </p:to>
                                    </p:set>
                                    <p:anim calcmode="lin" valueType="num">
                                      <p:cBhvr additive="base">
                                        <p:cTn id="19" dur="500" fill="hold"/>
                                        <p:tgtEl>
                                          <p:spTgt spid="45078"/>
                                        </p:tgtEl>
                                        <p:attrNameLst>
                                          <p:attrName>ppt_x</p:attrName>
                                        </p:attrNameLst>
                                      </p:cBhvr>
                                      <p:tavLst>
                                        <p:tav tm="0">
                                          <p:val>
                                            <p:strVal val="1+#ppt_w/2"/>
                                          </p:val>
                                        </p:tav>
                                        <p:tav tm="100000">
                                          <p:val>
                                            <p:strVal val="#ppt_x"/>
                                          </p:val>
                                        </p:tav>
                                      </p:tavLst>
                                    </p:anim>
                                    <p:anim calcmode="lin" valueType="num">
                                      <p:cBhvr additive="base">
                                        <p:cTn id="20" dur="500" fill="hold"/>
                                        <p:tgtEl>
                                          <p:spTgt spid="4507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5079"/>
                                        </p:tgtEl>
                                        <p:attrNameLst>
                                          <p:attrName>style.visibility</p:attrName>
                                        </p:attrNameLst>
                                      </p:cBhvr>
                                      <p:to>
                                        <p:strVal val="visible"/>
                                      </p:to>
                                    </p:set>
                                    <p:anim calcmode="lin" valueType="num">
                                      <p:cBhvr additive="base">
                                        <p:cTn id="25" dur="500" fill="hold"/>
                                        <p:tgtEl>
                                          <p:spTgt spid="45079"/>
                                        </p:tgtEl>
                                        <p:attrNameLst>
                                          <p:attrName>ppt_x</p:attrName>
                                        </p:attrNameLst>
                                      </p:cBhvr>
                                      <p:tavLst>
                                        <p:tav tm="0">
                                          <p:val>
                                            <p:strVal val="1+#ppt_w/2"/>
                                          </p:val>
                                        </p:tav>
                                        <p:tav tm="100000">
                                          <p:val>
                                            <p:strVal val="#ppt_x"/>
                                          </p:val>
                                        </p:tav>
                                      </p:tavLst>
                                    </p:anim>
                                    <p:anim calcmode="lin" valueType="num">
                                      <p:cBhvr additive="base">
                                        <p:cTn id="26" dur="500" fill="hold"/>
                                        <p:tgtEl>
                                          <p:spTgt spid="4507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080"/>
                                        </p:tgtEl>
                                        <p:attrNameLst>
                                          <p:attrName>style.visibility</p:attrName>
                                        </p:attrNameLst>
                                      </p:cBhvr>
                                      <p:to>
                                        <p:strVal val="visible"/>
                                      </p:to>
                                    </p:set>
                                    <p:anim calcmode="lin" valueType="num">
                                      <p:cBhvr additive="base">
                                        <p:cTn id="31" dur="500" fill="hold"/>
                                        <p:tgtEl>
                                          <p:spTgt spid="45080"/>
                                        </p:tgtEl>
                                        <p:attrNameLst>
                                          <p:attrName>ppt_x</p:attrName>
                                        </p:attrNameLst>
                                      </p:cBhvr>
                                      <p:tavLst>
                                        <p:tav tm="0">
                                          <p:val>
                                            <p:strVal val="#ppt_x"/>
                                          </p:val>
                                        </p:tav>
                                        <p:tav tm="100000">
                                          <p:val>
                                            <p:strVal val="#ppt_x"/>
                                          </p:val>
                                        </p:tav>
                                      </p:tavLst>
                                    </p:anim>
                                    <p:anim calcmode="lin" valueType="num">
                                      <p:cBhvr additive="base">
                                        <p:cTn id="32" dur="500" fill="hold"/>
                                        <p:tgtEl>
                                          <p:spTgt spid="4508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5082"/>
                                        </p:tgtEl>
                                        <p:attrNameLst>
                                          <p:attrName>style.visibility</p:attrName>
                                        </p:attrNameLst>
                                      </p:cBhvr>
                                      <p:to>
                                        <p:strVal val="visible"/>
                                      </p:to>
                                    </p:set>
                                    <p:anim calcmode="lin" valueType="num">
                                      <p:cBhvr additive="base">
                                        <p:cTn id="37" dur="500" fill="hold"/>
                                        <p:tgtEl>
                                          <p:spTgt spid="45082"/>
                                        </p:tgtEl>
                                        <p:attrNameLst>
                                          <p:attrName>ppt_x</p:attrName>
                                        </p:attrNameLst>
                                      </p:cBhvr>
                                      <p:tavLst>
                                        <p:tav tm="0">
                                          <p:val>
                                            <p:strVal val="#ppt_x"/>
                                          </p:val>
                                        </p:tav>
                                        <p:tav tm="100000">
                                          <p:val>
                                            <p:strVal val="#ppt_x"/>
                                          </p:val>
                                        </p:tav>
                                      </p:tavLst>
                                    </p:anim>
                                    <p:anim calcmode="lin" valueType="num">
                                      <p:cBhvr additive="base">
                                        <p:cTn id="38" dur="500" fill="hold"/>
                                        <p:tgtEl>
                                          <p:spTgt spid="450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80" grpId="0" animBg="1"/>
      <p:bldP spid="45076" grpId="0" animBg="1"/>
      <p:bldP spid="45077" grpId="0" animBg="1"/>
      <p:bldP spid="45078" grpId="0" animBg="1"/>
      <p:bldP spid="45079" grpId="0" animBg="1"/>
      <p:bldP spid="4508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文本框 1"/>
          <p:cNvSpPr txBox="1"/>
          <p:nvPr/>
        </p:nvSpPr>
        <p:spPr>
          <a:xfrm>
            <a:off x="1187450" y="987425"/>
            <a:ext cx="6697663" cy="2911475"/>
          </a:xfrm>
          <a:prstGeom prst="rect">
            <a:avLst/>
          </a:prstGeom>
          <a:noFill/>
          <a:ln w="9525">
            <a:noFill/>
          </a:ln>
        </p:spPr>
        <p:txBody>
          <a:bodyPr>
            <a:spAutoFit/>
          </a:bodyPr>
          <a:lstStyle/>
          <a:p>
            <a:pPr>
              <a:lnSpc>
                <a:spcPct val="150000"/>
              </a:lnSpc>
            </a:pPr>
            <a:r>
              <a:rPr lang="zh-CN" altLang="en-US" sz="2400" b="1" dirty="0">
                <a:solidFill>
                  <a:schemeClr val="tx1"/>
                </a:solidFill>
                <a:latin typeface="华文新魏" panose="02010800040101010101" pitchFamily="2" charset="-122"/>
                <a:ea typeface="华文新魏" panose="02010800040101010101" pitchFamily="2" charset="-122"/>
              </a:rPr>
              <a:t>程序基本结构包含五个部分：</a:t>
            </a:r>
            <a:endParaRPr lang="en-US" altLang="zh-CN" sz="2400" b="1">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实体（</a:t>
            </a:r>
            <a:r>
              <a:rPr lang="en-US" altLang="zh-CN">
                <a:solidFill>
                  <a:srgbClr val="FF0000"/>
                </a:solidFill>
                <a:latin typeface="华文新魏" panose="02010800040101010101" pitchFamily="2" charset="-122"/>
                <a:ea typeface="华文新魏" panose="02010800040101010101" pitchFamily="2" charset="-122"/>
              </a:rPr>
              <a:t>Entity</a:t>
            </a:r>
            <a:r>
              <a:rPr lang="zh-CN" altLang="en-US" dirty="0">
                <a:solidFill>
                  <a:srgbClr val="FF0000"/>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：描述所设计的系统的外部接口信号。</a:t>
            </a:r>
            <a:endParaRPr lang="en-US" altLang="zh-CN">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结构体（</a:t>
            </a:r>
            <a:r>
              <a:rPr lang="en-US" altLang="zh-CN">
                <a:solidFill>
                  <a:srgbClr val="FF0000"/>
                </a:solidFill>
                <a:latin typeface="华文新魏" panose="02010800040101010101" pitchFamily="2" charset="-122"/>
                <a:ea typeface="华文新魏" panose="02010800040101010101" pitchFamily="2" charset="-122"/>
              </a:rPr>
              <a:t>Architecture</a:t>
            </a:r>
            <a:r>
              <a:rPr lang="zh-CN" altLang="en-US" dirty="0">
                <a:solidFill>
                  <a:srgbClr val="FF0000"/>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：描述系统内部的结构和行为</a:t>
            </a:r>
            <a:endParaRPr lang="en-US" altLang="zh-CN">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包集合（</a:t>
            </a:r>
            <a:r>
              <a:rPr lang="en-US" altLang="zh-CN">
                <a:solidFill>
                  <a:srgbClr val="FF0000"/>
                </a:solidFill>
                <a:latin typeface="华文新魏" panose="02010800040101010101" pitchFamily="2" charset="-122"/>
                <a:ea typeface="华文新魏" panose="02010800040101010101" pitchFamily="2" charset="-122"/>
              </a:rPr>
              <a:t>Package</a:t>
            </a:r>
            <a:r>
              <a:rPr lang="zh-CN" altLang="en-US" dirty="0">
                <a:solidFill>
                  <a:srgbClr val="FF0000"/>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：存放各种设计模块能共享的数据类型</a:t>
            </a:r>
            <a:endParaRPr lang="en-US" altLang="zh-CN">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配置（</a:t>
            </a:r>
            <a:r>
              <a:rPr lang="en-US" altLang="zh-CN">
                <a:solidFill>
                  <a:srgbClr val="FF0000"/>
                </a:solidFill>
                <a:latin typeface="华文新魏" panose="02010800040101010101" pitchFamily="2" charset="-122"/>
                <a:ea typeface="华文新魏" panose="02010800040101010101" pitchFamily="2" charset="-122"/>
              </a:rPr>
              <a:t>Configuration</a:t>
            </a:r>
            <a:r>
              <a:rPr lang="zh-CN" altLang="en-US" dirty="0">
                <a:solidFill>
                  <a:srgbClr val="FF0000"/>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：从库中选取单元来组成新系统。</a:t>
            </a:r>
            <a:endParaRPr lang="en-US" altLang="zh-CN">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库（</a:t>
            </a:r>
            <a:r>
              <a:rPr lang="en-US" altLang="zh-CN">
                <a:solidFill>
                  <a:srgbClr val="FF0000"/>
                </a:solidFill>
                <a:latin typeface="华文新魏" panose="02010800040101010101" pitchFamily="2" charset="-122"/>
                <a:ea typeface="华文新魏" panose="02010800040101010101" pitchFamily="2" charset="-122"/>
              </a:rPr>
              <a:t>Library</a:t>
            </a:r>
            <a:r>
              <a:rPr lang="zh-CN" altLang="en-US" dirty="0">
                <a:solidFill>
                  <a:srgbClr val="FF0000"/>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：存放已编译过的模块单元。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文本框 1"/>
          <p:cNvSpPr txBox="1"/>
          <p:nvPr/>
        </p:nvSpPr>
        <p:spPr>
          <a:xfrm>
            <a:off x="250825" y="627063"/>
            <a:ext cx="2449513" cy="400050"/>
          </a:xfrm>
          <a:prstGeom prst="rect">
            <a:avLst/>
          </a:prstGeom>
          <a:noFill/>
          <a:ln w="9525">
            <a:noFill/>
          </a:ln>
        </p:spPr>
        <p:txBody>
          <a:bodyPr>
            <a:spAutoFit/>
          </a:bodyPr>
          <a:lstStyle/>
          <a:p>
            <a:r>
              <a:rPr lang="en-US" altLang="zh-CN">
                <a:solidFill>
                  <a:srgbClr val="FF0000"/>
                </a:solidFill>
                <a:latin typeface="华文新魏" panose="02010800040101010101" pitchFamily="2" charset="-122"/>
                <a:ea typeface="华文新魏" panose="02010800040101010101" pitchFamily="2" charset="-122"/>
              </a:rPr>
              <a:t>3.VHDL</a:t>
            </a:r>
            <a:r>
              <a:rPr lang="zh-CN" altLang="en-US" dirty="0">
                <a:solidFill>
                  <a:srgbClr val="FF0000"/>
                </a:solidFill>
                <a:latin typeface="华文新魏" panose="02010800040101010101" pitchFamily="2" charset="-122"/>
                <a:ea typeface="华文新魏" panose="02010800040101010101" pitchFamily="2" charset="-122"/>
              </a:rPr>
              <a:t>所用保留字</a:t>
            </a:r>
          </a:p>
        </p:txBody>
      </p:sp>
      <p:pic>
        <p:nvPicPr>
          <p:cNvPr id="128003" name="图片 3"/>
          <p:cNvPicPr>
            <a:picLocks noChangeAspect="1"/>
          </p:cNvPicPr>
          <p:nvPr/>
        </p:nvPicPr>
        <p:blipFill>
          <a:blip r:embed="rId3"/>
          <a:stretch>
            <a:fillRect/>
          </a:stretch>
        </p:blipFill>
        <p:spPr>
          <a:xfrm>
            <a:off x="755650" y="2211388"/>
            <a:ext cx="6985000" cy="2874962"/>
          </a:xfrm>
          <a:prstGeom prst="rect">
            <a:avLst/>
          </a:prstGeom>
          <a:noFill/>
          <a:ln w="9525">
            <a:noFill/>
          </a:ln>
        </p:spPr>
      </p:pic>
      <p:sp>
        <p:nvSpPr>
          <p:cNvPr id="128004" name="文本框 2"/>
          <p:cNvSpPr txBox="1"/>
          <p:nvPr/>
        </p:nvSpPr>
        <p:spPr>
          <a:xfrm>
            <a:off x="468313" y="1203325"/>
            <a:ext cx="8207375" cy="1014730"/>
          </a:xfrm>
          <a:prstGeom prst="rect">
            <a:avLst/>
          </a:prstGeom>
          <a:noFill/>
          <a:ln w="9525">
            <a:noFill/>
          </a:ln>
        </p:spPr>
        <p:txBody>
          <a:bodyPr>
            <a:spAutoFit/>
          </a:bodyPr>
          <a:lstStyle/>
          <a:p>
            <a:r>
              <a:rPr lang="zh-CN" altLang="en-US" dirty="0">
                <a:solidFill>
                  <a:schemeClr val="tx1"/>
                </a:solidFill>
                <a:latin typeface="华文新魏" panose="02010800040101010101" pitchFamily="2" charset="-122"/>
                <a:ea typeface="华文新魏" panose="02010800040101010101" pitchFamily="2" charset="-122"/>
              </a:rPr>
              <a:t>保留字共</a:t>
            </a:r>
            <a:r>
              <a:rPr lang="en-US" altLang="zh-CN">
                <a:solidFill>
                  <a:schemeClr val="tx1"/>
                </a:solidFill>
                <a:latin typeface="华文新魏" panose="02010800040101010101" pitchFamily="2" charset="-122"/>
                <a:ea typeface="华文新魏" panose="02010800040101010101" pitchFamily="2" charset="-122"/>
              </a:rPr>
              <a:t>75</a:t>
            </a:r>
            <a:r>
              <a:rPr lang="zh-CN" altLang="en-US" dirty="0">
                <a:solidFill>
                  <a:schemeClr val="tx1"/>
                </a:solidFill>
                <a:latin typeface="华文新魏" panose="02010800040101010101" pitchFamily="2" charset="-122"/>
                <a:ea typeface="华文新魏" panose="02010800040101010101" pitchFamily="2" charset="-122"/>
              </a:rPr>
              <a:t>个（随版本变化），其中，最常用的描述基本逻辑门电路的逻辑操作符有</a:t>
            </a:r>
            <a:r>
              <a:rPr lang="en-US" altLang="zh-CN">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个关键词：</a:t>
            </a:r>
            <a:r>
              <a:rPr lang="en-US" altLang="zh-CN">
                <a:solidFill>
                  <a:srgbClr val="FF0000"/>
                </a:solidFill>
                <a:latin typeface="华文新魏" panose="02010800040101010101" pitchFamily="2" charset="-122"/>
                <a:ea typeface="华文新魏" panose="02010800040101010101" pitchFamily="2" charset="-122"/>
              </a:rPr>
              <a:t>AND</a:t>
            </a:r>
            <a:r>
              <a:rPr lang="zh-CN" altLang="en-US" dirty="0">
                <a:solidFill>
                  <a:srgbClr val="FF0000"/>
                </a:solidFill>
                <a:latin typeface="华文新魏" panose="02010800040101010101" pitchFamily="2" charset="-122"/>
                <a:ea typeface="华文新魏" panose="02010800040101010101" pitchFamily="2" charset="-122"/>
              </a:rPr>
              <a:t>（与），</a:t>
            </a:r>
            <a:r>
              <a:rPr lang="en-US" altLang="zh-CN">
                <a:solidFill>
                  <a:srgbClr val="FF0000"/>
                </a:solidFill>
                <a:latin typeface="华文新魏" panose="02010800040101010101" pitchFamily="2" charset="-122"/>
                <a:ea typeface="华文新魏" panose="02010800040101010101" pitchFamily="2" charset="-122"/>
              </a:rPr>
              <a:t>OR</a:t>
            </a:r>
            <a:r>
              <a:rPr lang="zh-CN" altLang="en-US" dirty="0">
                <a:solidFill>
                  <a:srgbClr val="FF0000"/>
                </a:solidFill>
                <a:latin typeface="华文新魏" panose="02010800040101010101" pitchFamily="2" charset="-122"/>
                <a:ea typeface="华文新魏" panose="02010800040101010101" pitchFamily="2" charset="-122"/>
              </a:rPr>
              <a:t>（或），</a:t>
            </a:r>
            <a:r>
              <a:rPr lang="en-US" altLang="zh-CN">
                <a:solidFill>
                  <a:srgbClr val="FF0000"/>
                </a:solidFill>
                <a:latin typeface="华文新魏" panose="02010800040101010101" pitchFamily="2" charset="-122"/>
                <a:ea typeface="华文新魏" panose="02010800040101010101" pitchFamily="2" charset="-122"/>
              </a:rPr>
              <a:t>NOT</a:t>
            </a:r>
            <a:r>
              <a:rPr lang="zh-CN" altLang="en-US" dirty="0">
                <a:solidFill>
                  <a:srgbClr val="FF0000"/>
                </a:solidFill>
                <a:latin typeface="华文新魏" panose="02010800040101010101" pitchFamily="2" charset="-122"/>
                <a:ea typeface="华文新魏" panose="02010800040101010101" pitchFamily="2" charset="-122"/>
              </a:rPr>
              <a:t>（非），</a:t>
            </a:r>
            <a:r>
              <a:rPr lang="en-US" altLang="zh-CN">
                <a:solidFill>
                  <a:srgbClr val="FF0000"/>
                </a:solidFill>
                <a:latin typeface="华文新魏" panose="02010800040101010101" pitchFamily="2" charset="-122"/>
                <a:ea typeface="华文新魏" panose="02010800040101010101" pitchFamily="2" charset="-122"/>
              </a:rPr>
              <a:t>NAND</a:t>
            </a:r>
            <a:r>
              <a:rPr lang="zh-CN" altLang="en-US" dirty="0">
                <a:solidFill>
                  <a:srgbClr val="FF0000"/>
                </a:solidFill>
                <a:latin typeface="华文新魏" panose="02010800040101010101" pitchFamily="2" charset="-122"/>
                <a:ea typeface="华文新魏" panose="02010800040101010101" pitchFamily="2" charset="-122"/>
              </a:rPr>
              <a:t>（与非），</a:t>
            </a:r>
            <a:r>
              <a:rPr lang="en-US" altLang="zh-CN">
                <a:solidFill>
                  <a:srgbClr val="FF0000"/>
                </a:solidFill>
                <a:latin typeface="华文新魏" panose="02010800040101010101" pitchFamily="2" charset="-122"/>
                <a:ea typeface="华文新魏" panose="02010800040101010101" pitchFamily="2" charset="-122"/>
              </a:rPr>
              <a:t>NOR</a:t>
            </a:r>
            <a:r>
              <a:rPr lang="zh-CN" altLang="en-US" dirty="0">
                <a:solidFill>
                  <a:srgbClr val="FF0000"/>
                </a:solidFill>
                <a:latin typeface="华文新魏" panose="02010800040101010101" pitchFamily="2" charset="-122"/>
                <a:ea typeface="华文新魏" panose="02010800040101010101" pitchFamily="2" charset="-122"/>
              </a:rPr>
              <a:t>（或非），</a:t>
            </a:r>
            <a:r>
              <a:rPr lang="en-US" altLang="zh-CN" u="sng">
                <a:solidFill>
                  <a:srgbClr val="FF0000"/>
                </a:solidFill>
                <a:latin typeface="华文新魏" panose="02010800040101010101" pitchFamily="2" charset="-122"/>
                <a:ea typeface="华文新魏" panose="02010800040101010101" pitchFamily="2" charset="-122"/>
              </a:rPr>
              <a:t>XOR</a:t>
            </a:r>
            <a:r>
              <a:rPr lang="zh-CN" altLang="en-US" u="sng" dirty="0">
                <a:solidFill>
                  <a:srgbClr val="FF0000"/>
                </a:solidFill>
                <a:latin typeface="华文新魏" panose="02010800040101010101" pitchFamily="2" charset="-122"/>
                <a:ea typeface="华文新魏" panose="02010800040101010101" pitchFamily="2" charset="-122"/>
              </a:rPr>
              <a:t>（异或），</a:t>
            </a:r>
            <a:r>
              <a:rPr lang="en-US" altLang="zh-CN" u="sng">
                <a:solidFill>
                  <a:srgbClr val="FF0000"/>
                </a:solidFill>
                <a:latin typeface="华文新魏" panose="02010800040101010101" pitchFamily="2" charset="-122"/>
                <a:ea typeface="华文新魏" panose="02010800040101010101" pitchFamily="2" charset="-122"/>
              </a:rPr>
              <a:t>XNOR</a:t>
            </a:r>
            <a:r>
              <a:rPr lang="zh-CN" altLang="en-US" u="sng" dirty="0">
                <a:solidFill>
                  <a:srgbClr val="FF0000"/>
                </a:solidFill>
                <a:latin typeface="华文新魏" panose="02010800040101010101" pitchFamily="2" charset="-122"/>
                <a:ea typeface="华文新魏" panose="02010800040101010101" pitchFamily="2" charset="-122"/>
              </a:rPr>
              <a:t>（同或）</a:t>
            </a:r>
            <a:r>
              <a:rPr lang="zh-CN" altLang="en-US" dirty="0">
                <a:solidFill>
                  <a:srgbClr val="FF0000"/>
                </a:solidFill>
                <a:latin typeface="华文新魏" panose="02010800040101010101" pitchFamily="2" charset="-122"/>
                <a:ea typeface="华文新魏" panose="02010800040101010101" pitchFamily="2"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图片 1"/>
          <p:cNvPicPr>
            <a:picLocks noChangeAspect="1"/>
          </p:cNvPicPr>
          <p:nvPr/>
        </p:nvPicPr>
        <p:blipFill>
          <a:blip r:embed="rId2"/>
          <a:stretch>
            <a:fillRect/>
          </a:stretch>
        </p:blipFill>
        <p:spPr>
          <a:xfrm>
            <a:off x="0" y="1058863"/>
            <a:ext cx="9144000" cy="329565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文本框 1"/>
          <p:cNvSpPr txBox="1"/>
          <p:nvPr/>
        </p:nvSpPr>
        <p:spPr>
          <a:xfrm>
            <a:off x="539750" y="803275"/>
            <a:ext cx="3960813" cy="400050"/>
          </a:xfrm>
          <a:prstGeom prst="rect">
            <a:avLst/>
          </a:prstGeom>
          <a:noFill/>
          <a:ln w="9525">
            <a:noFill/>
          </a:ln>
        </p:spPr>
        <p:txBody>
          <a:bodyPr>
            <a:spAutoFit/>
          </a:bodyPr>
          <a:lstStyle/>
          <a:p>
            <a:r>
              <a:rPr lang="en-US" altLang="zh-CN">
                <a:solidFill>
                  <a:srgbClr val="FF0000"/>
                </a:solidFill>
                <a:latin typeface="华文新魏" panose="02010800040101010101" pitchFamily="2" charset="-122"/>
                <a:ea typeface="华文新魏" panose="02010800040101010101" pitchFamily="2" charset="-122"/>
              </a:rPr>
              <a:t>4. VHDL</a:t>
            </a:r>
            <a:r>
              <a:rPr lang="zh-CN" altLang="en-US" dirty="0">
                <a:solidFill>
                  <a:srgbClr val="FF0000"/>
                </a:solidFill>
                <a:latin typeface="华文新魏" panose="02010800040101010101" pitchFamily="2" charset="-122"/>
                <a:ea typeface="华文新魏" panose="02010800040101010101" pitchFamily="2" charset="-122"/>
              </a:rPr>
              <a:t>中标识符命名规则和注释</a:t>
            </a:r>
          </a:p>
        </p:txBody>
      </p:sp>
      <p:sp>
        <p:nvSpPr>
          <p:cNvPr id="130051" name="文本框 2"/>
          <p:cNvSpPr txBox="1"/>
          <p:nvPr/>
        </p:nvSpPr>
        <p:spPr>
          <a:xfrm>
            <a:off x="468313" y="1203325"/>
            <a:ext cx="8280400" cy="2861310"/>
          </a:xfrm>
          <a:prstGeom prst="rect">
            <a:avLst/>
          </a:prstGeom>
          <a:noFill/>
          <a:ln w="9525">
            <a:noFill/>
          </a:ln>
        </p:spPr>
        <p:txBody>
          <a:bodyPr>
            <a:spAutoFit/>
          </a:bodyPr>
          <a:lstStyle/>
          <a:p>
            <a:pPr>
              <a:lnSpc>
                <a:spcPct val="150000"/>
              </a:lnSpc>
            </a:pPr>
            <a:r>
              <a:rPr lang="zh-CN" altLang="en-US" dirty="0">
                <a:solidFill>
                  <a:schemeClr val="tx1"/>
                </a:solidFill>
                <a:latin typeface="华文新魏" panose="02010800040101010101" pitchFamily="2" charset="-122"/>
                <a:ea typeface="华文新魏" panose="02010800040101010101" pitchFamily="2" charset="-122"/>
              </a:rPr>
              <a:t>标识符又称为名字，是用户自己定义的。它的命名规则如下：</a:t>
            </a:r>
          </a:p>
          <a:p>
            <a:pPr>
              <a:lnSpc>
                <a:spcPct val="150000"/>
              </a:lnSpc>
              <a:buFont typeface="Calibri Light" panose="020F0302020204030204" pitchFamily="34" charset="0"/>
              <a:buAutoNum type="alphaLcParenR"/>
            </a:pPr>
            <a:r>
              <a:rPr lang="zh-CN" altLang="en-US" u="sng" dirty="0">
                <a:solidFill>
                  <a:srgbClr val="FF0000"/>
                </a:solidFill>
                <a:latin typeface="华文新魏" panose="02010800040101010101" pitchFamily="2" charset="-122"/>
                <a:ea typeface="华文新魏" panose="02010800040101010101" pitchFamily="2" charset="-122"/>
              </a:rPr>
              <a:t>标识符只能用英文字母、数字和下划线“</a:t>
            </a:r>
            <a:r>
              <a:rPr lang="en-US" altLang="zh-CN" u="sng" dirty="0">
                <a:solidFill>
                  <a:srgbClr val="FF0000"/>
                </a:solidFill>
                <a:latin typeface="华文新魏" panose="02010800040101010101" pitchFamily="2" charset="-122"/>
                <a:ea typeface="华文新魏" panose="02010800040101010101" pitchFamily="2" charset="-122"/>
              </a:rPr>
              <a:t>_”</a:t>
            </a:r>
            <a:r>
              <a:rPr lang="zh-CN" altLang="en-US" dirty="0">
                <a:solidFill>
                  <a:schemeClr val="tx1"/>
                </a:solidFill>
                <a:latin typeface="华文新魏" panose="02010800040101010101" pitchFamily="2" charset="-122"/>
                <a:ea typeface="华文新魏" panose="02010800040101010101" pitchFamily="2" charset="-122"/>
              </a:rPr>
              <a:t>，最前面应使用英文字母，不能连续使用</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个下划线“</a:t>
            </a:r>
            <a:r>
              <a:rPr lang="en-US" altLang="zh-CN" dirty="0">
                <a:solidFill>
                  <a:schemeClr val="tx1"/>
                </a:solidFill>
                <a:latin typeface="华文新魏" panose="02010800040101010101" pitchFamily="2" charset="-122"/>
                <a:ea typeface="华文新魏" panose="02010800040101010101" pitchFamily="2" charset="-122"/>
              </a:rPr>
              <a:t>_”</a:t>
            </a:r>
            <a:r>
              <a:rPr lang="zh-CN" altLang="en-US" dirty="0">
                <a:solidFill>
                  <a:schemeClr val="tx1"/>
                </a:solidFill>
                <a:latin typeface="华文新魏" panose="02010800040101010101" pitchFamily="2" charset="-122"/>
                <a:ea typeface="华文新魏" panose="02010800040101010101" pitchFamily="2" charset="-122"/>
              </a:rPr>
              <a:t>，最后一个字符不能用下划线“</a:t>
            </a:r>
            <a:r>
              <a:rPr lang="en-US" altLang="zh-CN" dirty="0">
                <a:solidFill>
                  <a:schemeClr val="tx1"/>
                </a:solidFill>
                <a:latin typeface="华文新魏" panose="02010800040101010101" pitchFamily="2" charset="-122"/>
                <a:ea typeface="华文新魏" panose="02010800040101010101" pitchFamily="2" charset="-122"/>
              </a:rPr>
              <a:t>_”</a:t>
            </a:r>
            <a:r>
              <a:rPr lang="zh-CN" altLang="en-US" dirty="0">
                <a:solidFill>
                  <a:schemeClr val="tx1"/>
                </a:solidFill>
                <a:latin typeface="华文新魏" panose="02010800040101010101" pitchFamily="2" charset="-122"/>
                <a:ea typeface="华文新魏" panose="02010800040101010101" pitchFamily="2" charset="-122"/>
              </a:rPr>
              <a:t>。</a:t>
            </a:r>
          </a:p>
          <a:p>
            <a:pPr>
              <a:lnSpc>
                <a:spcPct val="150000"/>
              </a:lnSpc>
              <a:buFont typeface="Calibri Light" panose="020F0302020204030204" pitchFamily="34" charset="0"/>
              <a:buAutoNum type="alphaLcParenR"/>
            </a:pPr>
            <a:r>
              <a:rPr lang="zh-CN" altLang="en-US" dirty="0">
                <a:solidFill>
                  <a:schemeClr val="tx1"/>
                </a:solidFill>
                <a:latin typeface="华文新魏" panose="02010800040101010101" pitchFamily="2" charset="-122"/>
                <a:ea typeface="华文新魏" panose="02010800040101010101" pitchFamily="2" charset="-122"/>
              </a:rPr>
              <a:t>标识符不应与</a:t>
            </a:r>
            <a:r>
              <a:rPr lang="en-US" altLang="zh-CN" dirty="0">
                <a:solidFill>
                  <a:schemeClr val="tx1"/>
                </a:solidFill>
                <a:latin typeface="华文新魏" panose="02010800040101010101" pitchFamily="2" charset="-122"/>
                <a:ea typeface="华文新魏" panose="02010800040101010101" pitchFamily="2" charset="-122"/>
              </a:rPr>
              <a:t>VHDL</a:t>
            </a:r>
            <a:r>
              <a:rPr lang="zh-CN" altLang="en-US" dirty="0">
                <a:solidFill>
                  <a:schemeClr val="tx1"/>
                </a:solidFill>
                <a:latin typeface="华文新魏" panose="02010800040101010101" pitchFamily="2" charset="-122"/>
                <a:ea typeface="华文新魏" panose="02010800040101010101" pitchFamily="2" charset="-122"/>
              </a:rPr>
              <a:t>中的保留字相同，名字不区分大小写，但代表高阻态的</a:t>
            </a:r>
            <a:r>
              <a:rPr lang="en-US" altLang="zh-CN" dirty="0">
                <a:solidFill>
                  <a:schemeClr val="tx1"/>
                </a:solidFill>
                <a:latin typeface="华文新魏" panose="02010800040101010101" pitchFamily="2" charset="-122"/>
                <a:ea typeface="华文新魏" panose="02010800040101010101" pitchFamily="2" charset="-122"/>
              </a:rPr>
              <a:t>Z</a:t>
            </a:r>
            <a:r>
              <a:rPr lang="zh-CN" altLang="en-US" dirty="0">
                <a:solidFill>
                  <a:schemeClr val="tx1"/>
                </a:solidFill>
                <a:latin typeface="华文新魏" panose="02010800040101010101" pitchFamily="2" charset="-122"/>
                <a:ea typeface="华文新魏" panose="02010800040101010101" pitchFamily="2" charset="-122"/>
              </a:rPr>
              <a:t>必须大写。</a:t>
            </a:r>
          </a:p>
          <a:p>
            <a:pPr>
              <a:lnSpc>
                <a:spcPct val="150000"/>
              </a:lnSpc>
              <a:buFont typeface="Calibri Light" panose="020F0302020204030204" pitchFamily="34" charset="0"/>
              <a:buAutoNum type="alphaLcParenR"/>
            </a:pPr>
            <a:r>
              <a:rPr lang="zh-CN" altLang="en-US" dirty="0">
                <a:solidFill>
                  <a:schemeClr val="tx1"/>
                </a:solidFill>
                <a:latin typeface="华文新魏" panose="02010800040101010101" pitchFamily="2" charset="-122"/>
                <a:ea typeface="华文新魏" panose="02010800040101010101" pitchFamily="2" charset="-122"/>
              </a:rPr>
              <a:t>注释符是两个短杆</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，注释从</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开始到该行末尾结束。</a:t>
            </a:r>
          </a:p>
        </p:txBody>
      </p:sp>
      <p:sp>
        <p:nvSpPr>
          <p:cNvPr id="4" name="Text Box 5"/>
          <p:cNvSpPr txBox="1"/>
          <p:nvPr/>
        </p:nvSpPr>
        <p:spPr>
          <a:xfrm>
            <a:off x="1214438" y="4548188"/>
            <a:ext cx="7102475" cy="400050"/>
          </a:xfrm>
          <a:prstGeom prst="rect">
            <a:avLst/>
          </a:prstGeom>
          <a:solidFill>
            <a:schemeClr val="bg1"/>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zh-CN">
                <a:solidFill>
                  <a:srgbClr val="FF0000"/>
                </a:solidFill>
                <a:latin typeface="华文新魏" panose="02010800040101010101" pitchFamily="2" charset="-122"/>
                <a:ea typeface="华文新魏" panose="02010800040101010101" pitchFamily="2" charset="-122"/>
              </a:rPr>
              <a:t>VHDL</a:t>
            </a:r>
            <a:r>
              <a:rPr lang="zh-CN" altLang="en-US" dirty="0">
                <a:solidFill>
                  <a:srgbClr val="FF0000"/>
                </a:solidFill>
                <a:latin typeface="华文新魏" panose="02010800040101010101" pitchFamily="2" charset="-122"/>
                <a:ea typeface="华文新魏" panose="02010800040101010101" pitchFamily="2" charset="-122"/>
              </a:rPr>
              <a:t>语言对“标识符”的大小写不敏感！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eaLnBrk="0" hangingPunct="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eaLnBrk="0" hangingPunct="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68CFE2B-E7DD-4B61-8D29-D1C7E570A86F}" type="slidenum">
              <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13</a:t>
            </a:fld>
            <a:endPar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65539" name="Text Box 2"/>
          <p:cNvSpPr txBox="1">
            <a:spLocks noChangeArrowheads="1"/>
          </p:cNvSpPr>
          <p:nvPr/>
        </p:nvSpPr>
        <p:spPr bwMode="auto">
          <a:xfrm>
            <a:off x="1568450" y="2328863"/>
            <a:ext cx="3306763" cy="276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3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如下标识符是非法的：</a:t>
            </a:r>
          </a:p>
          <a:p>
            <a:pPr marL="0" marR="0" lvl="0" indent="0" algn="just" defTabSz="914400" rtl="0" eaLnBrk="1" fontAlgn="base" latinLnBrk="0" hangingPunct="1">
              <a:lnSpc>
                <a:spcPct val="130000"/>
              </a:lnSpc>
              <a:spcBef>
                <a:spcPct val="0"/>
              </a:spcBef>
              <a:spcAft>
                <a:spcPct val="0"/>
              </a:spcAft>
              <a:buClrTx/>
              <a:buSzTx/>
              <a:buFontTx/>
              <a:buNone/>
              <a:defRPr/>
            </a:pPr>
            <a:endParaRPr kumimoji="0" lang="zh-CN" altLang="en-US" sz="75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1" fontAlgn="base" latinLnBrk="0" hangingPunct="1">
              <a:lnSpc>
                <a:spcPct val="13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_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tx_clk</a:t>
            </a:r>
            <a:endPar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1" fontAlgn="base" latinLnBrk="0" hangingPunct="1">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8B10B</a:t>
            </a:r>
          </a:p>
          <a:p>
            <a:pPr marL="0" marR="0" lvl="0" indent="0" algn="just" defTabSz="914400" rtl="0" eaLnBrk="1" fontAlgn="base" latinLnBrk="0" hangingPunct="1">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large#number</a:t>
            </a:r>
            <a:endPar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1" fontAlgn="base" latinLnBrk="0" hangingPunct="1">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link__bar</a:t>
            </a:r>
            <a:endPar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1" fontAlgn="base" latinLnBrk="0" hangingPunct="1">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select</a:t>
            </a:r>
          </a:p>
          <a:p>
            <a:pPr marL="0" marR="0" lvl="0" indent="0" algn="just" defTabSz="914400" rtl="0" eaLnBrk="1" fontAlgn="base" latinLnBrk="0" hangingPunct="1">
              <a:lnSpc>
                <a:spcPct val="13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rx_clk</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_</a:t>
            </a:r>
          </a:p>
        </p:txBody>
      </p:sp>
      <p:sp>
        <p:nvSpPr>
          <p:cNvPr id="131076" name="Text Box 3"/>
          <p:cNvSpPr txBox="1"/>
          <p:nvPr/>
        </p:nvSpPr>
        <p:spPr>
          <a:xfrm>
            <a:off x="1466850" y="396875"/>
            <a:ext cx="6380163" cy="2030413"/>
          </a:xfrm>
          <a:prstGeom prst="rect">
            <a:avLst/>
          </a:prstGeom>
          <a:noFill/>
          <a:ln w="9525">
            <a:noFill/>
          </a:ln>
        </p:spPr>
        <p:txBody>
          <a:bodyPr>
            <a:spAutoFit/>
          </a:bodyPr>
          <a:lstStyle/>
          <a:p>
            <a:pPr algn="just" eaLnBrk="1" hangingPunct="1"/>
            <a:r>
              <a:rPr lang="zh-CN" altLang="en-US" sz="1800" dirty="0">
                <a:solidFill>
                  <a:srgbClr val="0000FF"/>
                </a:solidFill>
                <a:latin typeface="华文新魏" panose="02010800040101010101" pitchFamily="2" charset="-122"/>
                <a:ea typeface="华文新魏" panose="02010800040101010101" pitchFamily="2" charset="-122"/>
              </a:rPr>
              <a:t>例如：如下标识符是合法的：</a:t>
            </a:r>
          </a:p>
          <a:p>
            <a:pPr algn="just" eaLnBrk="1" hangingPunct="1"/>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err="1">
                <a:solidFill>
                  <a:schemeClr val="tx1"/>
                </a:solidFill>
                <a:latin typeface="华文新魏" panose="02010800040101010101" pitchFamily="2" charset="-122"/>
                <a:ea typeface="华文新魏" panose="02010800040101010101" pitchFamily="2" charset="-122"/>
              </a:rPr>
              <a:t>tx_clk</a:t>
            </a:r>
            <a:endParaRPr lang="en-US" altLang="zh-CN" sz="1800">
              <a:solidFill>
                <a:schemeClr val="tx1"/>
              </a:solidFill>
              <a:latin typeface="华文新魏" panose="02010800040101010101" pitchFamily="2" charset="-122"/>
              <a:ea typeface="华文新魏" panose="02010800040101010101" pitchFamily="2" charset="-122"/>
            </a:endParaRPr>
          </a:p>
          <a:p>
            <a:pPr algn="just" eaLnBrk="1" hangingPunct="1"/>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err="1">
                <a:solidFill>
                  <a:schemeClr val="tx1"/>
                </a:solidFill>
                <a:latin typeface="华文新魏" panose="02010800040101010101" pitchFamily="2" charset="-122"/>
                <a:ea typeface="华文新魏" panose="02010800040101010101" pitchFamily="2" charset="-122"/>
              </a:rPr>
              <a:t>Three_state_Enable</a:t>
            </a:r>
            <a:endParaRPr lang="en-US" altLang="zh-CN" sz="1800">
              <a:solidFill>
                <a:schemeClr val="tx1"/>
              </a:solidFill>
              <a:latin typeface="华文新魏" panose="02010800040101010101" pitchFamily="2" charset="-122"/>
              <a:ea typeface="华文新魏" panose="02010800040101010101" pitchFamily="2" charset="-122"/>
            </a:endParaRPr>
          </a:p>
          <a:p>
            <a:pPr algn="just" eaLnBrk="1" hangingPunct="1"/>
            <a:r>
              <a:rPr lang="en-US" altLang="zh-CN" sz="1800">
                <a:solidFill>
                  <a:schemeClr val="tx1"/>
                </a:solidFill>
                <a:latin typeface="华文新魏" panose="02010800040101010101" pitchFamily="2" charset="-122"/>
                <a:ea typeface="华文新魏" panose="02010800040101010101" pitchFamily="2" charset="-122"/>
              </a:rPr>
              <a:t>      	sel7D</a:t>
            </a:r>
          </a:p>
          <a:p>
            <a:pPr algn="just" eaLnBrk="1" hangingPunct="1"/>
            <a:r>
              <a:rPr lang="en-US" altLang="zh-CN" sz="1800">
                <a:solidFill>
                  <a:schemeClr val="tx1"/>
                </a:solidFill>
                <a:latin typeface="华文新魏" panose="02010800040101010101" pitchFamily="2" charset="-122"/>
                <a:ea typeface="华文新魏" panose="02010800040101010101" pitchFamily="2" charset="-122"/>
              </a:rPr>
              <a:t>      	HIT_1124</a:t>
            </a:r>
          </a:p>
          <a:p>
            <a:pPr algn="just" eaLnBrk="1" hangingPunct="1"/>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err="1">
                <a:solidFill>
                  <a:schemeClr val="tx1"/>
                </a:solidFill>
                <a:latin typeface="华文新魏" panose="02010800040101010101" pitchFamily="2" charset="-122"/>
                <a:ea typeface="华文新魏" panose="02010800040101010101" pitchFamily="2" charset="-122"/>
              </a:rPr>
              <a:t>RAM_Data</a:t>
            </a:r>
            <a:endParaRPr lang="en-US" altLang="zh-CN" sz="1800">
              <a:solidFill>
                <a:schemeClr val="tx1"/>
              </a:solidFill>
              <a:latin typeface="华文新魏" panose="02010800040101010101" pitchFamily="2" charset="-122"/>
              <a:ea typeface="华文新魏" panose="02010800040101010101" pitchFamily="2" charset="-122"/>
            </a:endParaRPr>
          </a:p>
          <a:p>
            <a:pPr algn="just" eaLnBrk="1" hangingPunct="1"/>
            <a:r>
              <a:rPr lang="en-US" altLang="zh-CN" sz="1800">
                <a:solidFill>
                  <a:schemeClr val="tx1"/>
                </a:solidFill>
                <a:latin typeface="华文新魏" panose="02010800040101010101" pitchFamily="2" charset="-122"/>
                <a:ea typeface="华文新魏" panose="02010800040101010101" pitchFamily="2" charset="-122"/>
              </a:rPr>
              <a:t>                TEMP</a:t>
            </a:r>
          </a:p>
        </p:txBody>
      </p:sp>
      <p:sp>
        <p:nvSpPr>
          <p:cNvPr id="53252" name="Text Box 4"/>
          <p:cNvSpPr txBox="1"/>
          <p:nvPr/>
        </p:nvSpPr>
        <p:spPr>
          <a:xfrm>
            <a:off x="3762375" y="2989263"/>
            <a:ext cx="2671763" cy="368300"/>
          </a:xfrm>
          <a:prstGeom prst="rect">
            <a:avLst/>
          </a:prstGeom>
          <a:noFill/>
          <a:ln w="9525">
            <a:noFill/>
          </a:ln>
        </p:spPr>
        <p:txBody>
          <a:bodyPr>
            <a:spAutoFit/>
          </a:bodyPr>
          <a:lstStyle/>
          <a:p>
            <a:pPr eaLnBrk="1" hangingPunct="1">
              <a:spcBef>
                <a:spcPct val="50000"/>
              </a:spcBef>
            </a:pPr>
            <a:r>
              <a:rPr lang="en-US" altLang="zh-CN" sz="180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标识符必须起始于字母</a:t>
            </a:r>
          </a:p>
        </p:txBody>
      </p:sp>
      <p:sp>
        <p:nvSpPr>
          <p:cNvPr id="53253" name="Text Box 5"/>
          <p:cNvSpPr txBox="1"/>
          <p:nvPr/>
        </p:nvSpPr>
        <p:spPr>
          <a:xfrm>
            <a:off x="3762375" y="3522663"/>
            <a:ext cx="4051300" cy="368300"/>
          </a:xfrm>
          <a:prstGeom prst="rect">
            <a:avLst/>
          </a:prstGeom>
          <a:noFill/>
          <a:ln w="9525">
            <a:noFill/>
          </a:ln>
        </p:spPr>
        <p:txBody>
          <a:bodyPr>
            <a:spAutoFit/>
          </a:bodyPr>
          <a:lstStyle/>
          <a:p>
            <a:pPr eaLnBrk="1" hangingPunct="1">
              <a:spcBef>
                <a:spcPct val="50000"/>
              </a:spcBef>
            </a:pPr>
            <a:r>
              <a:rPr lang="en-US" altLang="zh-CN" sz="180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只能是字母、数字、下划线</a:t>
            </a:r>
          </a:p>
        </p:txBody>
      </p:sp>
      <p:sp>
        <p:nvSpPr>
          <p:cNvPr id="53254" name="Text Box 6"/>
          <p:cNvSpPr txBox="1"/>
          <p:nvPr/>
        </p:nvSpPr>
        <p:spPr>
          <a:xfrm>
            <a:off x="3762375" y="3897313"/>
            <a:ext cx="4051300" cy="369887"/>
          </a:xfrm>
          <a:prstGeom prst="rect">
            <a:avLst/>
          </a:prstGeom>
          <a:noFill/>
          <a:ln w="9525">
            <a:noFill/>
          </a:ln>
        </p:spPr>
        <p:txBody>
          <a:bodyPr>
            <a:spAutoFit/>
          </a:bodyPr>
          <a:lstStyle/>
          <a:p>
            <a:pPr eaLnBrk="1" hangingPunct="1">
              <a:spcBef>
                <a:spcPct val="50000"/>
              </a:spcBef>
            </a:pPr>
            <a:r>
              <a:rPr lang="en-US" altLang="zh-CN" sz="180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不能有连续两个下划线</a:t>
            </a:r>
          </a:p>
        </p:txBody>
      </p:sp>
      <p:sp>
        <p:nvSpPr>
          <p:cNvPr id="53255" name="Text Box 7"/>
          <p:cNvSpPr txBox="1"/>
          <p:nvPr/>
        </p:nvSpPr>
        <p:spPr>
          <a:xfrm>
            <a:off x="3762375" y="4237038"/>
            <a:ext cx="4056063" cy="368300"/>
          </a:xfrm>
          <a:prstGeom prst="rect">
            <a:avLst/>
          </a:prstGeom>
          <a:noFill/>
          <a:ln w="9525">
            <a:noFill/>
          </a:ln>
        </p:spPr>
        <p:txBody>
          <a:bodyPr>
            <a:spAutoFit/>
          </a:bodyPr>
          <a:lstStyle/>
          <a:p>
            <a:pPr eaLnBrk="1" hangingPunct="1">
              <a:spcBef>
                <a:spcPct val="50000"/>
              </a:spcBef>
            </a:pPr>
            <a:r>
              <a:rPr lang="en-US" altLang="zh-CN" sz="180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关键字（保留字）不能用于标识符</a:t>
            </a:r>
          </a:p>
        </p:txBody>
      </p:sp>
      <p:sp>
        <p:nvSpPr>
          <p:cNvPr id="53256" name="Text Box 8"/>
          <p:cNvSpPr txBox="1"/>
          <p:nvPr/>
        </p:nvSpPr>
        <p:spPr>
          <a:xfrm>
            <a:off x="3762375" y="4608513"/>
            <a:ext cx="4016375" cy="368300"/>
          </a:xfrm>
          <a:prstGeom prst="rect">
            <a:avLst/>
          </a:prstGeom>
          <a:noFill/>
          <a:ln w="9525">
            <a:noFill/>
          </a:ln>
        </p:spPr>
        <p:txBody>
          <a:bodyPr>
            <a:spAutoFit/>
          </a:bodyPr>
          <a:lstStyle/>
          <a:p>
            <a:pPr eaLnBrk="1" hangingPunct="1">
              <a:spcBef>
                <a:spcPct val="50000"/>
              </a:spcBef>
            </a:pPr>
            <a:r>
              <a:rPr lang="en-US" altLang="zh-CN" sz="180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最后字符不能是下划线</a:t>
            </a:r>
          </a:p>
        </p:txBody>
      </p:sp>
      <p:sp>
        <p:nvSpPr>
          <p:cNvPr id="131082" name="AutoShape 9"/>
          <p:cNvSpPr/>
          <p:nvPr/>
        </p:nvSpPr>
        <p:spPr>
          <a:xfrm>
            <a:off x="3078163" y="2928938"/>
            <a:ext cx="168275" cy="490537"/>
          </a:xfrm>
          <a:prstGeom prst="rightBrace">
            <a:avLst>
              <a:gd name="adj1" fmla="val 24292"/>
              <a:gd name="adj2" fmla="val 50000"/>
            </a:avLst>
          </a:prstGeom>
          <a:no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anim calcmode="lin" valueType="num">
                                      <p:cBhvr additive="base">
                                        <p:cTn id="7" dur="500" fill="hold"/>
                                        <p:tgtEl>
                                          <p:spTgt spid="53252"/>
                                        </p:tgtEl>
                                        <p:attrNameLst>
                                          <p:attrName>ppt_x</p:attrName>
                                        </p:attrNameLst>
                                      </p:cBhvr>
                                      <p:tavLst>
                                        <p:tav tm="0">
                                          <p:val>
                                            <p:strVal val="#ppt_x"/>
                                          </p:val>
                                        </p:tav>
                                        <p:tav tm="100000">
                                          <p:val>
                                            <p:strVal val="#ppt_x"/>
                                          </p:val>
                                        </p:tav>
                                      </p:tavLst>
                                    </p:anim>
                                    <p:anim calcmode="lin" valueType="num">
                                      <p:cBhvr additive="base">
                                        <p:cTn id="8" dur="500" fill="hold"/>
                                        <p:tgtEl>
                                          <p:spTgt spid="532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3253"/>
                                        </p:tgtEl>
                                        <p:attrNameLst>
                                          <p:attrName>style.visibility</p:attrName>
                                        </p:attrNameLst>
                                      </p:cBhvr>
                                      <p:to>
                                        <p:strVal val="visible"/>
                                      </p:to>
                                    </p:set>
                                    <p:animEffect transition="in" filter="box(in)">
                                      <p:cBhvr>
                                        <p:cTn id="13" dur="500"/>
                                        <p:tgtEl>
                                          <p:spTgt spid="53253"/>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53254"/>
                                        </p:tgtEl>
                                        <p:attrNameLst>
                                          <p:attrName>style.visibility</p:attrName>
                                        </p:attrNameLst>
                                      </p:cBhvr>
                                      <p:to>
                                        <p:strVal val="visible"/>
                                      </p:to>
                                    </p:set>
                                    <p:animEffect transition="in" filter="diamond(in)">
                                      <p:cBhvr>
                                        <p:cTn id="18" dur="2000"/>
                                        <p:tgtEl>
                                          <p:spTgt spid="5325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3255"/>
                                        </p:tgtEl>
                                        <p:attrNameLst>
                                          <p:attrName>style.visibility</p:attrName>
                                        </p:attrNameLst>
                                      </p:cBhvr>
                                      <p:to>
                                        <p:strVal val="visible"/>
                                      </p:to>
                                    </p:set>
                                    <p:anim calcmode="lin" valueType="num">
                                      <p:cBhvr additive="base">
                                        <p:cTn id="23" dur="500" fill="hold"/>
                                        <p:tgtEl>
                                          <p:spTgt spid="53255"/>
                                        </p:tgtEl>
                                        <p:attrNameLst>
                                          <p:attrName>ppt_x</p:attrName>
                                        </p:attrNameLst>
                                      </p:cBhvr>
                                      <p:tavLst>
                                        <p:tav tm="0">
                                          <p:val>
                                            <p:strVal val="#ppt_x"/>
                                          </p:val>
                                        </p:tav>
                                        <p:tav tm="100000">
                                          <p:val>
                                            <p:strVal val="#ppt_x"/>
                                          </p:val>
                                        </p:tav>
                                      </p:tavLst>
                                    </p:anim>
                                    <p:anim calcmode="lin" valueType="num">
                                      <p:cBhvr additive="base">
                                        <p:cTn id="24" dur="500" fill="hold"/>
                                        <p:tgtEl>
                                          <p:spTgt spid="5325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3256"/>
                                        </p:tgtEl>
                                        <p:attrNameLst>
                                          <p:attrName>style.visibility</p:attrName>
                                        </p:attrNameLst>
                                      </p:cBhvr>
                                      <p:to>
                                        <p:strVal val="visible"/>
                                      </p:to>
                                    </p:set>
                                    <p:anim calcmode="lin" valueType="num">
                                      <p:cBhvr additive="base">
                                        <p:cTn id="29" dur="500" fill="hold"/>
                                        <p:tgtEl>
                                          <p:spTgt spid="53256"/>
                                        </p:tgtEl>
                                        <p:attrNameLst>
                                          <p:attrName>ppt_x</p:attrName>
                                        </p:attrNameLst>
                                      </p:cBhvr>
                                      <p:tavLst>
                                        <p:tav tm="0">
                                          <p:val>
                                            <p:strVal val="#ppt_x"/>
                                          </p:val>
                                        </p:tav>
                                        <p:tav tm="100000">
                                          <p:val>
                                            <p:strVal val="#ppt_x"/>
                                          </p:val>
                                        </p:tav>
                                      </p:tavLst>
                                    </p:anim>
                                    <p:anim calcmode="lin" valueType="num">
                                      <p:cBhvr additive="base">
                                        <p:cTn id="30" dur="500" fill="hold"/>
                                        <p:tgtEl>
                                          <p:spTgt spid="53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P spid="53253" grpId="0"/>
      <p:bldP spid="53254" grpId="0"/>
      <p:bldP spid="53255" grpId="0"/>
      <p:bldP spid="5325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文本框 1"/>
          <p:cNvSpPr txBox="1"/>
          <p:nvPr/>
        </p:nvSpPr>
        <p:spPr>
          <a:xfrm>
            <a:off x="395288" y="700088"/>
            <a:ext cx="2449512" cy="460375"/>
          </a:xfrm>
          <a:prstGeom prst="rect">
            <a:avLst/>
          </a:prstGeom>
          <a:noFill/>
          <a:ln w="9525">
            <a:noFill/>
          </a:ln>
        </p:spPr>
        <p:txBody>
          <a:bodyPr>
            <a:spAutoFit/>
          </a:bodyPr>
          <a:lstStyle/>
          <a:p>
            <a:r>
              <a:rPr lang="en-US" altLang="zh-CN" sz="2400">
                <a:solidFill>
                  <a:srgbClr val="FF0000"/>
                </a:solidFill>
                <a:latin typeface="华文新魏" panose="02010800040101010101" pitchFamily="2" charset="-122"/>
                <a:ea typeface="华文新魏" panose="02010800040101010101" pitchFamily="2" charset="-122"/>
              </a:rPr>
              <a:t>5.  </a:t>
            </a:r>
            <a:r>
              <a:rPr lang="zh-CN" altLang="en-US" sz="2400" dirty="0">
                <a:solidFill>
                  <a:srgbClr val="FF0000"/>
                </a:solidFill>
                <a:latin typeface="华文新魏" panose="02010800040101010101" pitchFamily="2" charset="-122"/>
                <a:ea typeface="华文新魏" panose="02010800040101010101" pitchFamily="2" charset="-122"/>
              </a:rPr>
              <a:t>标准数据类型</a:t>
            </a:r>
          </a:p>
        </p:txBody>
      </p:sp>
      <p:sp>
        <p:nvSpPr>
          <p:cNvPr id="132099" name="文本框 2"/>
          <p:cNvSpPr txBox="1"/>
          <p:nvPr/>
        </p:nvSpPr>
        <p:spPr>
          <a:xfrm>
            <a:off x="323850" y="1348105"/>
            <a:ext cx="8679815" cy="3046095"/>
          </a:xfrm>
          <a:prstGeom prst="rect">
            <a:avLst/>
          </a:prstGeom>
          <a:noFill/>
          <a:ln w="9525">
            <a:noFill/>
          </a:ln>
        </p:spPr>
        <p:txBody>
          <a:bodyPr wrap="square">
            <a:spAutoFit/>
          </a:bodyPr>
          <a:lstStyle/>
          <a:p>
            <a:r>
              <a:rPr lang="en-US" altLang="zh-CN" sz="2400" dirty="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中有</a:t>
            </a:r>
            <a:r>
              <a:rPr lang="en-US" altLang="zh-CN" sz="2400" dirty="0">
                <a:solidFill>
                  <a:schemeClr val="tx1"/>
                </a:solidFill>
                <a:latin typeface="华文新魏" panose="02010800040101010101" pitchFamily="2" charset="-122"/>
                <a:ea typeface="华文新魏" panose="02010800040101010101" pitchFamily="2" charset="-122"/>
              </a:rPr>
              <a:t>10</a:t>
            </a:r>
            <a:r>
              <a:rPr lang="zh-CN" altLang="en-US" sz="2400" dirty="0">
                <a:solidFill>
                  <a:schemeClr val="tx1"/>
                </a:solidFill>
                <a:latin typeface="华文新魏" panose="02010800040101010101" pitchFamily="2" charset="-122"/>
                <a:ea typeface="华文新魏" panose="02010800040101010101" pitchFamily="2" charset="-122"/>
              </a:rPr>
              <a:t>种标准数据类型，用户可以不加显式说明而直接使用。其中常用的</a:t>
            </a:r>
            <a:r>
              <a:rPr lang="en-US" altLang="zh-CN" sz="2400" dirty="0">
                <a:solidFill>
                  <a:schemeClr val="tx1"/>
                </a:solidFill>
                <a:latin typeface="华文新魏" panose="02010800040101010101" pitchFamily="2" charset="-122"/>
                <a:ea typeface="华文新魏" panose="02010800040101010101" pitchFamily="2" charset="-122"/>
              </a:rPr>
              <a:t>6</a:t>
            </a:r>
            <a:r>
              <a:rPr lang="zh-CN" altLang="en-US" sz="2400" dirty="0">
                <a:solidFill>
                  <a:schemeClr val="tx1"/>
                </a:solidFill>
                <a:latin typeface="华文新魏" panose="02010800040101010101" pitchFamily="2" charset="-122"/>
                <a:ea typeface="华文新魏" panose="02010800040101010101" pitchFamily="2" charset="-122"/>
              </a:rPr>
              <a:t>种是：</a:t>
            </a:r>
            <a:r>
              <a:rPr lang="en-US" altLang="zh-CN" sz="2400" dirty="0">
                <a:solidFill>
                  <a:srgbClr val="FF0000"/>
                </a:solidFill>
                <a:latin typeface="华文新魏" panose="02010800040101010101" pitchFamily="2" charset="-122"/>
                <a:ea typeface="华文新魏" panose="02010800040101010101" pitchFamily="2" charset="-122"/>
              </a:rPr>
              <a:t>integer</a:t>
            </a:r>
            <a:r>
              <a:rPr lang="zh-CN" altLang="en-US" sz="2400" dirty="0">
                <a:solidFill>
                  <a:srgbClr val="FF0000"/>
                </a:solidFill>
                <a:latin typeface="华文新魏" panose="02010800040101010101" pitchFamily="2" charset="-122"/>
                <a:ea typeface="华文新魏" panose="02010800040101010101" pitchFamily="2" charset="-122"/>
              </a:rPr>
              <a:t>（整数） 、</a:t>
            </a:r>
            <a:r>
              <a:rPr lang="en-US" altLang="zh-CN" sz="2400" dirty="0">
                <a:solidFill>
                  <a:srgbClr val="FF0000"/>
                </a:solidFill>
                <a:latin typeface="华文新魏" panose="02010800040101010101" pitchFamily="2" charset="-122"/>
                <a:ea typeface="华文新魏" panose="02010800040101010101" pitchFamily="2" charset="-122"/>
              </a:rPr>
              <a:t>character</a:t>
            </a:r>
            <a:r>
              <a:rPr lang="zh-CN" altLang="en-US" sz="2400" dirty="0">
                <a:solidFill>
                  <a:srgbClr val="FF0000"/>
                </a:solidFill>
                <a:latin typeface="华文新魏" panose="02010800040101010101" pitchFamily="2" charset="-122"/>
                <a:ea typeface="华文新魏" panose="02010800040101010101" pitchFamily="2" charset="-122"/>
              </a:rPr>
              <a:t>（字符）、</a:t>
            </a:r>
            <a:r>
              <a:rPr lang="en-US" altLang="zh-CN" sz="2400" dirty="0">
                <a:solidFill>
                  <a:srgbClr val="FF0000"/>
                </a:solidFill>
                <a:latin typeface="华文新魏" panose="02010800040101010101" pitchFamily="2" charset="-122"/>
                <a:ea typeface="华文新魏" panose="02010800040101010101" pitchFamily="2" charset="-122"/>
              </a:rPr>
              <a:t>string</a:t>
            </a:r>
            <a:r>
              <a:rPr lang="zh-CN" altLang="en-US" sz="2400" dirty="0">
                <a:solidFill>
                  <a:srgbClr val="FF0000"/>
                </a:solidFill>
                <a:latin typeface="华文新魏" panose="02010800040101010101" pitchFamily="2" charset="-122"/>
                <a:ea typeface="华文新魏" panose="02010800040101010101" pitchFamily="2" charset="-122"/>
              </a:rPr>
              <a:t>（字符串）、</a:t>
            </a:r>
            <a:r>
              <a:rPr lang="en-US" altLang="zh-CN" sz="2400" dirty="0">
                <a:solidFill>
                  <a:srgbClr val="FF0000"/>
                </a:solidFill>
                <a:latin typeface="华文新魏" panose="02010800040101010101" pitchFamily="2" charset="-122"/>
                <a:ea typeface="华文新魏" panose="02010800040101010101" pitchFamily="2" charset="-122"/>
              </a:rPr>
              <a:t>bit</a:t>
            </a:r>
            <a:r>
              <a:rPr lang="zh-CN" altLang="en-US" sz="2400" dirty="0">
                <a:solidFill>
                  <a:srgbClr val="FF0000"/>
                </a:solidFill>
                <a:latin typeface="华文新魏" panose="02010800040101010101" pitchFamily="2" charset="-122"/>
                <a:ea typeface="华文新魏" panose="02010800040101010101" pitchFamily="2" charset="-122"/>
              </a:rPr>
              <a:t>（位）、</a:t>
            </a:r>
            <a:r>
              <a:rPr lang="en-US" altLang="zh-CN" sz="2400" dirty="0" err="1">
                <a:solidFill>
                  <a:srgbClr val="FF0000"/>
                </a:solidFill>
                <a:latin typeface="华文新魏" panose="02010800040101010101" pitchFamily="2" charset="-122"/>
                <a:ea typeface="华文新魏" panose="02010800040101010101" pitchFamily="2" charset="-122"/>
              </a:rPr>
              <a:t>bit_vector</a:t>
            </a:r>
            <a:r>
              <a:rPr lang="zh-CN" altLang="en-US" sz="2400" dirty="0">
                <a:solidFill>
                  <a:srgbClr val="FF0000"/>
                </a:solidFill>
                <a:latin typeface="华文新魏" panose="02010800040101010101" pitchFamily="2" charset="-122"/>
                <a:ea typeface="华文新魏" panose="02010800040101010101" pitchFamily="2" charset="-122"/>
              </a:rPr>
              <a:t>（位矢量）、</a:t>
            </a:r>
            <a:r>
              <a:rPr lang="en-US" altLang="zh-CN" sz="2400" dirty="0" err="1">
                <a:solidFill>
                  <a:srgbClr val="FF0000"/>
                </a:solidFill>
                <a:latin typeface="华文新魏" panose="02010800040101010101" pitchFamily="2" charset="-122"/>
                <a:ea typeface="华文新魏" panose="02010800040101010101" pitchFamily="2" charset="-122"/>
              </a:rPr>
              <a:t>boolean</a:t>
            </a:r>
            <a:r>
              <a:rPr lang="zh-CN" altLang="en-US" sz="2400" dirty="0">
                <a:solidFill>
                  <a:srgbClr val="FF0000"/>
                </a:solidFill>
                <a:latin typeface="华文新魏" panose="02010800040101010101" pitchFamily="2" charset="-122"/>
                <a:ea typeface="华文新魏" panose="02010800040101010101" pitchFamily="2" charset="-122"/>
              </a:rPr>
              <a:t>（布尔）</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dirty="0">
              <a:solidFill>
                <a:schemeClr val="tx1"/>
              </a:solidFill>
              <a:latin typeface="华文新魏" panose="02010800040101010101" pitchFamily="2" charset="-122"/>
              <a:ea typeface="华文新魏" panose="02010800040101010101" pitchFamily="2" charset="-122"/>
            </a:endParaRPr>
          </a:p>
          <a:p>
            <a:endParaRPr lang="en-US" altLang="zh-CN" sz="2400" dirty="0">
              <a:solidFill>
                <a:schemeClr val="tx1"/>
              </a:solidFill>
              <a:latin typeface="华文新魏" panose="02010800040101010101" pitchFamily="2" charset="-122"/>
              <a:ea typeface="华文新魏" panose="02010800040101010101" pitchFamily="2" charset="-122"/>
            </a:endParaRPr>
          </a:p>
          <a:p>
            <a:r>
              <a:rPr lang="zh-CN" altLang="zh-CN" sz="2400" dirty="0">
                <a:solidFill>
                  <a:schemeClr val="tx1"/>
                </a:solidFill>
                <a:latin typeface="华文新魏" panose="02010800040101010101" pitchFamily="2" charset="-122"/>
                <a:ea typeface="华文新魏" panose="02010800040101010101" pitchFamily="2" charset="-122"/>
              </a:rPr>
              <a:t>除了</a:t>
            </a:r>
            <a:r>
              <a:rPr lang="en-US" altLang="zh-CN" sz="2400" dirty="0">
                <a:solidFill>
                  <a:schemeClr val="tx1"/>
                </a:solidFill>
                <a:latin typeface="华文新魏" panose="02010800040101010101" pitchFamily="2" charset="-122"/>
                <a:ea typeface="华文新魏" panose="02010800040101010101" pitchFamily="2" charset="-122"/>
              </a:rPr>
              <a:t>10</a:t>
            </a:r>
            <a:r>
              <a:rPr lang="zh-CN" altLang="zh-CN" sz="2400" dirty="0">
                <a:solidFill>
                  <a:schemeClr val="tx1"/>
                </a:solidFill>
                <a:latin typeface="华文新魏" panose="02010800040101010101" pitchFamily="2" charset="-122"/>
                <a:ea typeface="华文新魏" panose="02010800040101010101" pitchFamily="2" charset="-122"/>
              </a:rPr>
              <a:t>种标准数据类型外，</a:t>
            </a:r>
            <a:r>
              <a:rPr lang="en-US" altLang="zh-CN" sz="2400" dirty="0">
                <a:solidFill>
                  <a:schemeClr val="tx1"/>
                </a:solidFill>
                <a:latin typeface="华文新魏" panose="02010800040101010101" pitchFamily="2" charset="-122"/>
                <a:ea typeface="华文新魏" panose="02010800040101010101" pitchFamily="2" charset="-122"/>
              </a:rPr>
              <a:t>VHDL</a:t>
            </a:r>
            <a:r>
              <a:rPr lang="zh-CN" altLang="zh-CN" sz="2400" dirty="0">
                <a:solidFill>
                  <a:schemeClr val="tx1"/>
                </a:solidFill>
                <a:latin typeface="华文新魏" panose="02010800040101010101" pitchFamily="2" charset="-122"/>
                <a:ea typeface="华文新魏" panose="02010800040101010101" pitchFamily="2" charset="-122"/>
              </a:rPr>
              <a:t>中还有</a:t>
            </a:r>
            <a:r>
              <a:rPr lang="en-US" altLang="zh-CN" sz="2400" dirty="0">
                <a:solidFill>
                  <a:schemeClr val="tx1"/>
                </a:solidFill>
                <a:latin typeface="华文新魏" panose="02010800040101010101" pitchFamily="2" charset="-122"/>
                <a:ea typeface="华文新魏" panose="02010800040101010101" pitchFamily="2" charset="-122"/>
              </a:rPr>
              <a:t>2</a:t>
            </a:r>
            <a:r>
              <a:rPr lang="zh-CN" altLang="zh-CN" sz="2400" dirty="0">
                <a:solidFill>
                  <a:schemeClr val="tx1"/>
                </a:solidFill>
                <a:latin typeface="华文新魏" panose="02010800040101010101" pitchFamily="2" charset="-122"/>
                <a:ea typeface="华文新魏" panose="02010800040101010101" pitchFamily="2" charset="-122"/>
              </a:rPr>
              <a:t>个在</a:t>
            </a:r>
            <a:r>
              <a:rPr lang="en-US" altLang="zh-CN" sz="2400" dirty="0" err="1">
                <a:solidFill>
                  <a:schemeClr val="tx1"/>
                </a:solidFill>
                <a:latin typeface="华文新魏" panose="02010800040101010101" pitchFamily="2" charset="-122"/>
                <a:ea typeface="华文新魏" panose="02010800040101010101" pitchFamily="2" charset="-122"/>
              </a:rPr>
              <a:t>ieee</a:t>
            </a:r>
            <a:r>
              <a:rPr lang="zh-CN" altLang="zh-CN" sz="2400" dirty="0">
                <a:solidFill>
                  <a:schemeClr val="tx1"/>
                </a:solidFill>
                <a:latin typeface="华文新魏" panose="02010800040101010101" pitchFamily="2" charset="-122"/>
                <a:ea typeface="华文新魏" panose="02010800040101010101" pitchFamily="2" charset="-122"/>
              </a:rPr>
              <a:t>库中已经定义好了的标准数据类型</a:t>
            </a:r>
            <a:r>
              <a:rPr lang="en-US" altLang="zh-CN" sz="2400" dirty="0" err="1">
                <a:solidFill>
                  <a:srgbClr val="FF0000"/>
                </a:solidFill>
                <a:latin typeface="华文新魏" panose="02010800040101010101" pitchFamily="2" charset="-122"/>
                <a:ea typeface="华文新魏" panose="02010800040101010101" pitchFamily="2" charset="-122"/>
              </a:rPr>
              <a:t>std_logic</a:t>
            </a:r>
            <a:r>
              <a:rPr lang="zh-CN" altLang="zh-CN" sz="2400" dirty="0">
                <a:solidFill>
                  <a:schemeClr val="tx1"/>
                </a:solidFill>
                <a:latin typeface="华文新魏" panose="02010800040101010101" pitchFamily="2" charset="-122"/>
                <a:ea typeface="华文新魏" panose="02010800040101010101" pitchFamily="2" charset="-122"/>
              </a:rPr>
              <a:t>和</a:t>
            </a:r>
            <a:r>
              <a:rPr lang="en-US" altLang="zh-CN" sz="2400" dirty="0" err="1">
                <a:solidFill>
                  <a:srgbClr val="FF0000"/>
                </a:solidFill>
                <a:latin typeface="华文新魏" panose="02010800040101010101" pitchFamily="2" charset="-122"/>
                <a:ea typeface="华文新魏" panose="02010800040101010101" pitchFamily="2" charset="-122"/>
              </a:rPr>
              <a:t>std_logic_vector</a:t>
            </a:r>
            <a:r>
              <a:rPr lang="zh-CN" altLang="zh-CN" sz="2400" dirty="0">
                <a:solidFill>
                  <a:schemeClr val="tx1"/>
                </a:solidFill>
                <a:latin typeface="华文新魏" panose="02010800040101010101" pitchFamily="2" charset="-122"/>
                <a:ea typeface="华文新魏" panose="02010800040101010101" pitchFamily="2" charset="-122"/>
              </a:rPr>
              <a:t>数据类型，它们放在</a:t>
            </a:r>
            <a:r>
              <a:rPr lang="en-US" altLang="zh-CN" sz="2400" dirty="0">
                <a:solidFill>
                  <a:schemeClr val="tx1"/>
                </a:solidFill>
                <a:latin typeface="华文新魏" panose="02010800040101010101" pitchFamily="2" charset="-122"/>
                <a:ea typeface="华文新魏" panose="02010800040101010101" pitchFamily="2" charset="-122"/>
              </a:rPr>
              <a:t>ieee.std_logic_1164</a:t>
            </a:r>
            <a:r>
              <a:rPr lang="zh-CN" altLang="zh-CN" sz="2400" dirty="0">
                <a:solidFill>
                  <a:schemeClr val="tx1"/>
                </a:solidFill>
                <a:latin typeface="华文新魏" panose="02010800040101010101" pitchFamily="2" charset="-122"/>
                <a:ea typeface="华文新魏" panose="02010800040101010101" pitchFamily="2" charset="-122"/>
              </a:rPr>
              <a:t>程序包中。</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 calcmode="lin" valueType="num">
                                      <p:cBhvr additive="base">
                                        <p:cTn id="7" dur="500" fill="hold"/>
                                        <p:tgtEl>
                                          <p:spTgt spid="132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2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2099">
                                            <p:txEl>
                                              <p:pRg st="2" end="2"/>
                                            </p:txEl>
                                          </p:spTgt>
                                        </p:tgtEl>
                                        <p:attrNameLst>
                                          <p:attrName>style.visibility</p:attrName>
                                        </p:attrNameLst>
                                      </p:cBhvr>
                                      <p:to>
                                        <p:strVal val="visible"/>
                                      </p:to>
                                    </p:set>
                                    <p:anim calcmode="lin" valueType="num">
                                      <p:cBhvr additive="base">
                                        <p:cTn id="13" dur="500" fill="hold"/>
                                        <p:tgtEl>
                                          <p:spTgt spid="1320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20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文本框 1"/>
          <p:cNvSpPr txBox="1"/>
          <p:nvPr/>
        </p:nvSpPr>
        <p:spPr>
          <a:xfrm>
            <a:off x="253365" y="445135"/>
            <a:ext cx="5392420" cy="521970"/>
          </a:xfrm>
          <a:prstGeom prst="rect">
            <a:avLst/>
          </a:prstGeom>
          <a:noFill/>
          <a:ln w="9525">
            <a:noFill/>
          </a:ln>
        </p:spPr>
        <p:txBody>
          <a:bodyPr wrap="square">
            <a:spAutoFit/>
          </a:bodyPr>
          <a:lstStyle/>
          <a:p>
            <a:r>
              <a:rPr lang="en-US" altLang="zh-CN" sz="2800">
                <a:solidFill>
                  <a:srgbClr val="FF0000"/>
                </a:solidFill>
                <a:latin typeface="华文新魏" panose="02010800040101010101" pitchFamily="2" charset="-122"/>
                <a:ea typeface="华文新魏" panose="02010800040101010101" pitchFamily="2" charset="-122"/>
              </a:rPr>
              <a:t>5.</a:t>
            </a:r>
            <a:r>
              <a:rPr lang="zh-CN" altLang="en-US" sz="2800" dirty="0">
                <a:solidFill>
                  <a:srgbClr val="FF0000"/>
                </a:solidFill>
                <a:latin typeface="华文新魏" panose="02010800040101010101" pitchFamily="2" charset="-122"/>
                <a:ea typeface="华文新魏" panose="02010800040101010101" pitchFamily="2" charset="-122"/>
              </a:rPr>
              <a:t>标准数据类型  （续</a:t>
            </a:r>
            <a:r>
              <a:rPr lang="en-US" altLang="zh-CN" sz="2800">
                <a:solidFill>
                  <a:srgbClr val="FF0000"/>
                </a:solidFill>
                <a:latin typeface="华文新魏" panose="02010800040101010101" pitchFamily="2" charset="-122"/>
                <a:ea typeface="华文新魏" panose="02010800040101010101" pitchFamily="2" charset="-122"/>
              </a:rPr>
              <a:t>1</a:t>
            </a:r>
            <a:r>
              <a:rPr lang="zh-CN" altLang="en-US" sz="2800" dirty="0">
                <a:solidFill>
                  <a:srgbClr val="FF0000"/>
                </a:solidFill>
                <a:latin typeface="华文新魏" panose="02010800040101010101" pitchFamily="2" charset="-122"/>
                <a:ea typeface="华文新魏" panose="02010800040101010101" pitchFamily="2" charset="-122"/>
              </a:rPr>
              <a:t>）</a:t>
            </a:r>
          </a:p>
        </p:txBody>
      </p:sp>
      <p:sp>
        <p:nvSpPr>
          <p:cNvPr id="133123" name="文本框 2"/>
          <p:cNvSpPr txBox="1"/>
          <p:nvPr/>
        </p:nvSpPr>
        <p:spPr>
          <a:xfrm>
            <a:off x="198120" y="1132840"/>
            <a:ext cx="8870315" cy="3507740"/>
          </a:xfrm>
          <a:prstGeom prst="rect">
            <a:avLst/>
          </a:prstGeom>
          <a:noFill/>
          <a:ln w="9525">
            <a:noFill/>
          </a:ln>
        </p:spPr>
        <p:txBody>
          <a:bodyPr wrap="square">
            <a:spAutoFit/>
          </a:bodyPr>
          <a:lstStyle/>
          <a:p>
            <a:pPr marL="457200" indent="-457200">
              <a:spcBef>
                <a:spcPts val="600"/>
              </a:spcBef>
              <a:spcAft>
                <a:spcPts val="600"/>
              </a:spcAft>
              <a:buFont typeface="宋体" panose="02010600030101010101" pitchFamily="2" charset="-122"/>
              <a:buAutoNum type="circleNumDbPlain"/>
            </a:pPr>
            <a:r>
              <a:rPr lang="zh-CN" altLang="en-US" sz="2400" dirty="0">
                <a:solidFill>
                  <a:srgbClr val="FF0000"/>
                </a:solidFill>
                <a:latin typeface="华文新魏" panose="02010800040101010101" pitchFamily="2" charset="-122"/>
                <a:ea typeface="华文新魏" panose="02010800040101010101" pitchFamily="2" charset="-122"/>
              </a:rPr>
              <a:t>整数</a:t>
            </a:r>
            <a:r>
              <a:rPr lang="zh-CN" altLang="en-US" sz="2400" dirty="0">
                <a:solidFill>
                  <a:schemeClr val="tx1"/>
                </a:solidFill>
                <a:latin typeface="华文新魏" panose="02010800040101010101" pitchFamily="2" charset="-122"/>
                <a:ea typeface="华文新魏" panose="02010800040101010101" pitchFamily="2" charset="-122"/>
              </a:rPr>
              <a:t>：整数的表示范围从</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2</a:t>
            </a:r>
            <a:r>
              <a:rPr lang="en-US" altLang="zh-CN" sz="2400" baseline="30000" dirty="0">
                <a:solidFill>
                  <a:schemeClr val="tx1"/>
                </a:solidFill>
                <a:latin typeface="华文新魏" panose="02010800040101010101" pitchFamily="2" charset="-122"/>
                <a:ea typeface="华文新魏" panose="02010800040101010101" pitchFamily="2" charset="-122"/>
              </a:rPr>
              <a:t>31</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）到（</a:t>
            </a:r>
            <a:r>
              <a:rPr lang="en-US" altLang="zh-CN" sz="2400" dirty="0">
                <a:solidFill>
                  <a:schemeClr val="tx1"/>
                </a:solidFill>
                <a:latin typeface="华文新魏" panose="02010800040101010101" pitchFamily="2" charset="-122"/>
                <a:ea typeface="华文新魏" panose="02010800040101010101" pitchFamily="2" charset="-122"/>
              </a:rPr>
              <a:t>2</a:t>
            </a:r>
            <a:r>
              <a:rPr lang="en-US" altLang="zh-CN" sz="2400" baseline="30000" dirty="0">
                <a:solidFill>
                  <a:schemeClr val="tx1"/>
                </a:solidFill>
                <a:latin typeface="华文新魏" panose="02010800040101010101" pitchFamily="2" charset="-122"/>
                <a:ea typeface="华文新魏" panose="02010800040101010101" pitchFamily="2" charset="-122"/>
              </a:rPr>
              <a:t>31</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），例如</a:t>
            </a:r>
            <a:r>
              <a:rPr lang="en-US" altLang="zh-CN" sz="2400" dirty="0">
                <a:solidFill>
                  <a:schemeClr val="tx1"/>
                </a:solidFill>
                <a:latin typeface="华文新魏" panose="02010800040101010101" pitchFamily="2" charset="-122"/>
                <a:ea typeface="华文新魏" panose="02010800040101010101" pitchFamily="2" charset="-122"/>
              </a:rPr>
              <a:t>+12345</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+123</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-987</a:t>
            </a:r>
            <a:r>
              <a:rPr lang="zh-CN" altLang="en-US" sz="2400" dirty="0">
                <a:solidFill>
                  <a:schemeClr val="tx1"/>
                </a:solidFill>
                <a:latin typeface="华文新魏" panose="02010800040101010101" pitchFamily="2" charset="-122"/>
                <a:ea typeface="华文新魏" panose="02010800040101010101" pitchFamily="2" charset="-122"/>
              </a:rPr>
              <a:t>。</a:t>
            </a:r>
          </a:p>
          <a:p>
            <a:pPr marL="457200" indent="-457200">
              <a:spcBef>
                <a:spcPts val="600"/>
              </a:spcBef>
              <a:spcAft>
                <a:spcPts val="600"/>
              </a:spcAft>
              <a:buFont typeface="宋体" panose="02010600030101010101" pitchFamily="2" charset="-122"/>
              <a:buAutoNum type="circleNumDbPlain"/>
            </a:pPr>
            <a:r>
              <a:rPr lang="zh-CN" altLang="en-US" sz="2400" dirty="0">
                <a:solidFill>
                  <a:srgbClr val="FF0000"/>
                </a:solidFill>
                <a:latin typeface="华文新魏" panose="02010800040101010101" pitchFamily="2" charset="-122"/>
                <a:ea typeface="华文新魏" panose="02010800040101010101" pitchFamily="2" charset="-122"/>
              </a:rPr>
              <a:t>字符</a:t>
            </a:r>
            <a:r>
              <a:rPr lang="zh-CN" altLang="en-US" sz="2400" dirty="0">
                <a:solidFill>
                  <a:schemeClr val="tx1"/>
                </a:solidFill>
                <a:latin typeface="华文新魏" panose="02010800040101010101" pitchFamily="2" charset="-122"/>
                <a:ea typeface="华文新魏" panose="02010800040101010101" pitchFamily="2" charset="-122"/>
              </a:rPr>
              <a:t>：字符用</a:t>
            </a:r>
            <a:r>
              <a:rPr lang="zh-CN" altLang="en-US" sz="2400" dirty="0">
                <a:solidFill>
                  <a:srgbClr val="0000FF"/>
                </a:solidFill>
                <a:latin typeface="华文新魏" panose="02010800040101010101" pitchFamily="2" charset="-122"/>
                <a:ea typeface="华文新魏" panose="02010800040101010101" pitchFamily="2" charset="-122"/>
              </a:rPr>
              <a:t>单引号</a:t>
            </a:r>
            <a:r>
              <a:rPr lang="zh-CN" altLang="en-US" sz="2400" dirty="0">
                <a:solidFill>
                  <a:schemeClr val="tx1"/>
                </a:solidFill>
                <a:latin typeface="华文新魏" panose="02010800040101010101" pitchFamily="2" charset="-122"/>
                <a:ea typeface="华文新魏" panose="02010800040101010101" pitchFamily="2" charset="-122"/>
              </a:rPr>
              <a:t>括起来，常用字符是‘</a:t>
            </a:r>
            <a:r>
              <a:rPr lang="en-US" altLang="zh-CN" sz="2400" dirty="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dirty="0">
                <a:solidFill>
                  <a:schemeClr val="tx1"/>
                </a:solidFill>
                <a:latin typeface="华文新魏" panose="02010800040101010101" pitchFamily="2" charset="-122"/>
                <a:ea typeface="华文新魏" panose="02010800040101010101" pitchFamily="2" charset="-122"/>
              </a:rPr>
              <a:t>Z’</a:t>
            </a:r>
            <a:r>
              <a:rPr lang="zh-CN" altLang="en-US" sz="2400" dirty="0">
                <a:solidFill>
                  <a:schemeClr val="tx1"/>
                </a:solidFill>
                <a:latin typeface="华文新魏" panose="02010800040101010101" pitchFamily="2" charset="-122"/>
                <a:ea typeface="华文新魏" panose="02010800040101010101" pitchFamily="2" charset="-122"/>
              </a:rPr>
              <a:t>，它们分别代表低电平、高电平和高阻态。</a:t>
            </a:r>
          </a:p>
          <a:p>
            <a:pPr marL="457200" indent="-457200">
              <a:spcBef>
                <a:spcPts val="600"/>
              </a:spcBef>
              <a:spcAft>
                <a:spcPts val="600"/>
              </a:spcAft>
              <a:buFont typeface="宋体" panose="02010600030101010101" pitchFamily="2" charset="-122"/>
              <a:buAutoNum type="circleNumDbPlain"/>
            </a:pPr>
            <a:r>
              <a:rPr lang="zh-CN" altLang="en-US" sz="2400" dirty="0">
                <a:solidFill>
                  <a:srgbClr val="FF0000"/>
                </a:solidFill>
                <a:latin typeface="华文新魏" panose="02010800040101010101" pitchFamily="2" charset="-122"/>
                <a:ea typeface="华文新魏" panose="02010800040101010101" pitchFamily="2" charset="-122"/>
              </a:rPr>
              <a:t>字符串</a:t>
            </a:r>
            <a:r>
              <a:rPr lang="zh-CN" altLang="en-US" sz="2400" dirty="0">
                <a:solidFill>
                  <a:schemeClr val="tx1"/>
                </a:solidFill>
                <a:latin typeface="华文新魏" panose="02010800040101010101" pitchFamily="2" charset="-122"/>
                <a:ea typeface="华文新魏" panose="02010800040101010101" pitchFamily="2" charset="-122"/>
              </a:rPr>
              <a:t>：</a:t>
            </a:r>
            <a:r>
              <a:rPr lang="zh-CN" altLang="en-US" sz="2400" dirty="0">
                <a:solidFill>
                  <a:srgbClr val="0000FF"/>
                </a:solidFill>
                <a:latin typeface="华文新魏" panose="02010800040101010101" pitchFamily="2" charset="-122"/>
                <a:ea typeface="华文新魏" panose="02010800040101010101" pitchFamily="2" charset="-122"/>
              </a:rPr>
              <a:t>双引号</a:t>
            </a:r>
            <a:r>
              <a:rPr lang="zh-CN" altLang="en-US" sz="2400" dirty="0">
                <a:solidFill>
                  <a:schemeClr val="tx1"/>
                </a:solidFill>
                <a:latin typeface="华文新魏" panose="02010800040101010101" pitchFamily="2" charset="-122"/>
                <a:ea typeface="华文新魏" panose="02010800040101010101" pitchFamily="2" charset="-122"/>
              </a:rPr>
              <a:t>括起来的一个字符序列，例如“</a:t>
            </a:r>
            <a:r>
              <a:rPr lang="en-US" altLang="zh-CN" sz="2400" dirty="0">
                <a:solidFill>
                  <a:schemeClr val="tx1"/>
                </a:solidFill>
                <a:latin typeface="华文新魏" panose="02010800040101010101" pitchFamily="2" charset="-122"/>
                <a:ea typeface="华文新魏" panose="02010800040101010101" pitchFamily="2" charset="-122"/>
              </a:rPr>
              <a:t>right”</a:t>
            </a:r>
            <a:r>
              <a:rPr lang="zh-CN" altLang="en-US" sz="2400" dirty="0">
                <a:solidFill>
                  <a:schemeClr val="tx1"/>
                </a:solidFill>
                <a:latin typeface="华文新魏" panose="02010800040101010101" pitchFamily="2" charset="-122"/>
                <a:ea typeface="华文新魏" panose="02010800040101010101" pitchFamily="2" charset="-122"/>
              </a:rPr>
              <a:t>等。</a:t>
            </a:r>
          </a:p>
          <a:p>
            <a:pPr marL="457200" indent="-457200">
              <a:spcBef>
                <a:spcPts val="600"/>
              </a:spcBef>
              <a:spcAft>
                <a:spcPts val="600"/>
              </a:spcAft>
              <a:buFont typeface="宋体" panose="02010600030101010101" pitchFamily="2" charset="-122"/>
              <a:buAutoNum type="circleNumDbPlain"/>
            </a:pPr>
            <a:r>
              <a:rPr lang="zh-CN" altLang="en-US" sz="2400" dirty="0">
                <a:solidFill>
                  <a:srgbClr val="FF0000"/>
                </a:solidFill>
                <a:latin typeface="华文新魏" panose="02010800040101010101" pitchFamily="2" charset="-122"/>
                <a:ea typeface="华文新魏" panose="02010800040101010101" pitchFamily="2" charset="-122"/>
              </a:rPr>
              <a:t>位</a:t>
            </a:r>
            <a:r>
              <a:rPr lang="zh-CN" altLang="en-US" sz="2400" dirty="0">
                <a:solidFill>
                  <a:schemeClr val="tx1"/>
                </a:solidFill>
                <a:latin typeface="华文新魏" panose="02010800040101010101" pitchFamily="2" charset="-122"/>
                <a:ea typeface="华文新魏" panose="02010800040101010101" pitchFamily="2" charset="-122"/>
              </a:rPr>
              <a:t>：单个信号通常用位来表示其取值情况（状态）。位值用字符‘</a:t>
            </a:r>
            <a:r>
              <a:rPr lang="en-US" altLang="zh-CN" sz="2400" dirty="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或者‘</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表示。位与整数中的</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dirty="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不同，‘</a:t>
            </a:r>
            <a:r>
              <a:rPr lang="en-US" altLang="zh-CN" sz="2400" dirty="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仅表示位的两种取值。位不能用来描述三态信号。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 calcmode="lin" valueType="num">
                                      <p:cBhvr additive="base">
                                        <p:cTn id="7" dur="500" fill="hold"/>
                                        <p:tgtEl>
                                          <p:spTgt spid="133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23">
                                            <p:txEl>
                                              <p:pRg st="1" end="1"/>
                                            </p:txEl>
                                          </p:spTgt>
                                        </p:tgtEl>
                                        <p:attrNameLst>
                                          <p:attrName>style.visibility</p:attrName>
                                        </p:attrNameLst>
                                      </p:cBhvr>
                                      <p:to>
                                        <p:strVal val="visible"/>
                                      </p:to>
                                    </p:set>
                                    <p:anim calcmode="lin" valueType="num">
                                      <p:cBhvr additive="base">
                                        <p:cTn id="13" dur="500" fill="hold"/>
                                        <p:tgtEl>
                                          <p:spTgt spid="1331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23">
                                            <p:txEl>
                                              <p:pRg st="2" end="2"/>
                                            </p:txEl>
                                          </p:spTgt>
                                        </p:tgtEl>
                                        <p:attrNameLst>
                                          <p:attrName>style.visibility</p:attrName>
                                        </p:attrNameLst>
                                      </p:cBhvr>
                                      <p:to>
                                        <p:strVal val="visible"/>
                                      </p:to>
                                    </p:set>
                                    <p:anim calcmode="lin" valueType="num">
                                      <p:cBhvr additive="base">
                                        <p:cTn id="19" dur="500" fill="hold"/>
                                        <p:tgtEl>
                                          <p:spTgt spid="1331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3123">
                                            <p:txEl>
                                              <p:pRg st="3" end="3"/>
                                            </p:txEl>
                                          </p:spTgt>
                                        </p:tgtEl>
                                        <p:attrNameLst>
                                          <p:attrName>style.visibility</p:attrName>
                                        </p:attrNameLst>
                                      </p:cBhvr>
                                      <p:to>
                                        <p:strVal val="visible"/>
                                      </p:to>
                                    </p:set>
                                    <p:anim calcmode="lin" valueType="num">
                                      <p:cBhvr additive="base">
                                        <p:cTn id="25" dur="500" fill="hold"/>
                                        <p:tgtEl>
                                          <p:spTgt spid="1331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文本框 2"/>
          <p:cNvSpPr txBox="1"/>
          <p:nvPr/>
        </p:nvSpPr>
        <p:spPr>
          <a:xfrm>
            <a:off x="98425" y="1276350"/>
            <a:ext cx="8622665" cy="3646170"/>
          </a:xfrm>
          <a:prstGeom prst="rect">
            <a:avLst/>
          </a:prstGeom>
          <a:noFill/>
          <a:ln w="9525">
            <a:noFill/>
          </a:ln>
        </p:spPr>
        <p:txBody>
          <a:bodyPr wrap="square">
            <a:spAutoFit/>
          </a:bodyPr>
          <a:lstStyle/>
          <a:p>
            <a:pPr marL="457200" indent="-457200">
              <a:spcBef>
                <a:spcPts val="600"/>
              </a:spcBef>
              <a:buFont typeface="宋体" panose="02010600030101010101" pitchFamily="2" charset="-122"/>
              <a:buAutoNum type="circleNumDbPlain" startAt="5"/>
            </a:pPr>
            <a:r>
              <a:rPr lang="zh-CN" altLang="en-US" sz="2400" dirty="0">
                <a:solidFill>
                  <a:srgbClr val="FF0000"/>
                </a:solidFill>
                <a:latin typeface="华文新魏" panose="02010800040101010101" pitchFamily="2" charset="-122"/>
                <a:ea typeface="华文新魏" panose="02010800040101010101" pitchFamily="2" charset="-122"/>
              </a:rPr>
              <a:t>位矢量（</a:t>
            </a:r>
            <a:r>
              <a:rPr lang="en-US" altLang="zh-CN" sz="2400" err="1">
                <a:solidFill>
                  <a:srgbClr val="FF0000"/>
                </a:solidFill>
                <a:latin typeface="华文新魏" panose="02010800040101010101" pitchFamily="2" charset="-122"/>
                <a:ea typeface="华文新魏" panose="02010800040101010101" pitchFamily="2" charset="-122"/>
              </a:rPr>
              <a:t>bit_vector</a:t>
            </a:r>
            <a:r>
              <a:rPr lang="zh-CN" altLang="en-US"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：位矢量是用双引号括起来的一组位数据。例如，“</a:t>
            </a:r>
            <a:r>
              <a:rPr lang="en-US" altLang="zh-CN" sz="2400">
                <a:solidFill>
                  <a:schemeClr val="tx1"/>
                </a:solidFill>
                <a:latin typeface="华文新魏" panose="02010800040101010101" pitchFamily="2" charset="-122"/>
                <a:ea typeface="华文新魏" panose="02010800040101010101" pitchFamily="2" charset="-122"/>
              </a:rPr>
              <a:t>00110”</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X“00AB”</a:t>
            </a:r>
            <a:r>
              <a:rPr lang="zh-CN" altLang="en-US" sz="2400" dirty="0">
                <a:solidFill>
                  <a:schemeClr val="tx1"/>
                </a:solidFill>
                <a:latin typeface="华文新魏" panose="02010800040101010101" pitchFamily="2" charset="-122"/>
                <a:ea typeface="华文新魏" panose="02010800040101010101" pitchFamily="2" charset="-122"/>
              </a:rPr>
              <a:t>。这里位矢量最前面的</a:t>
            </a:r>
            <a:r>
              <a:rPr lang="en-US" altLang="zh-CN" sz="2400">
                <a:solidFill>
                  <a:schemeClr val="tx1"/>
                </a:solidFill>
                <a:latin typeface="华文新魏" panose="02010800040101010101" pitchFamily="2" charset="-122"/>
                <a:ea typeface="华文新魏" panose="02010800040101010101" pitchFamily="2" charset="-122"/>
              </a:rPr>
              <a:t>X</a:t>
            </a:r>
            <a:r>
              <a:rPr lang="zh-CN" altLang="en-US" sz="2400" dirty="0">
                <a:solidFill>
                  <a:schemeClr val="tx1"/>
                </a:solidFill>
                <a:latin typeface="华文新魏" panose="02010800040101010101" pitchFamily="2" charset="-122"/>
                <a:ea typeface="华文新魏" panose="02010800040101010101" pitchFamily="2" charset="-122"/>
              </a:rPr>
              <a:t>表示十六进制。常用位矢量数据表示总线状态。</a:t>
            </a:r>
          </a:p>
          <a:p>
            <a:pPr marL="457200" indent="-457200">
              <a:spcBef>
                <a:spcPts val="600"/>
              </a:spcBef>
              <a:buFont typeface="宋体" panose="02010600030101010101" pitchFamily="2" charset="-122"/>
              <a:buAutoNum type="circleNumDbPlain" startAt="5"/>
            </a:pPr>
            <a:r>
              <a:rPr lang="zh-CN" altLang="en-US" sz="2400" dirty="0">
                <a:solidFill>
                  <a:srgbClr val="FF0000"/>
                </a:solidFill>
                <a:latin typeface="华文新魏" panose="02010800040101010101" pitchFamily="2" charset="-122"/>
                <a:ea typeface="华文新魏" panose="02010800040101010101" pitchFamily="2" charset="-122"/>
              </a:rPr>
              <a:t>布尔量（</a:t>
            </a:r>
            <a:r>
              <a:rPr lang="en-US" altLang="zh-CN" sz="2400" err="1">
                <a:solidFill>
                  <a:srgbClr val="FF0000"/>
                </a:solidFill>
                <a:latin typeface="华文新魏" panose="02010800040101010101" pitchFamily="2" charset="-122"/>
                <a:ea typeface="华文新魏" panose="02010800040101010101" pitchFamily="2" charset="-122"/>
              </a:rPr>
              <a:t>boolean</a:t>
            </a:r>
            <a:r>
              <a:rPr lang="zh-CN" altLang="en-US"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：具有两种状态：“真”或者“假”。</a:t>
            </a:r>
          </a:p>
          <a:p>
            <a:pPr marL="457200" indent="-457200">
              <a:spcBef>
                <a:spcPts val="600"/>
              </a:spcBef>
              <a:buFont typeface="宋体" panose="02010600030101010101" pitchFamily="2" charset="-122"/>
              <a:buAutoNum type="circleNumDbPlain" startAt="5"/>
            </a:pPr>
            <a:r>
              <a:rPr lang="en-US" altLang="zh-CN" sz="2400" err="1">
                <a:solidFill>
                  <a:srgbClr val="FF0000"/>
                </a:solidFill>
                <a:latin typeface="华文新魏" panose="02010800040101010101" pitchFamily="2" charset="-122"/>
                <a:ea typeface="华文新魏" panose="02010800040101010101" pitchFamily="2" charset="-122"/>
              </a:rPr>
              <a:t>std_logic</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err="1">
                <a:solidFill>
                  <a:schemeClr val="tx1"/>
                </a:solidFill>
                <a:latin typeface="华文新魏" panose="02010800040101010101" pitchFamily="2" charset="-122"/>
                <a:ea typeface="华文新魏" panose="02010800040101010101" pitchFamily="2" charset="-122"/>
              </a:rPr>
              <a:t>std_logic</a:t>
            </a:r>
            <a:r>
              <a:rPr lang="zh-CN" altLang="en-US" sz="2400" dirty="0">
                <a:solidFill>
                  <a:schemeClr val="tx1"/>
                </a:solidFill>
                <a:latin typeface="华文新魏" panose="02010800040101010101" pitchFamily="2" charset="-122"/>
                <a:ea typeface="华文新魏" panose="02010800040101010101" pitchFamily="2" charset="-122"/>
              </a:rPr>
              <a:t>有</a:t>
            </a:r>
            <a:r>
              <a:rPr lang="en-US" altLang="zh-CN" sz="2400">
                <a:solidFill>
                  <a:srgbClr val="FF0000"/>
                </a:solidFill>
                <a:latin typeface="华文新魏" panose="02010800040101010101" pitchFamily="2" charset="-122"/>
                <a:ea typeface="华文新魏" panose="02010800040101010101" pitchFamily="2" charset="-122"/>
              </a:rPr>
              <a:t>9</a:t>
            </a:r>
            <a:r>
              <a:rPr lang="zh-CN" altLang="en-US" sz="2400" dirty="0">
                <a:solidFill>
                  <a:srgbClr val="FF0000"/>
                </a:solidFill>
                <a:latin typeface="华文新魏" panose="02010800040101010101" pitchFamily="2" charset="-122"/>
                <a:ea typeface="华文新魏" panose="02010800040101010101" pitchFamily="2" charset="-122"/>
              </a:rPr>
              <a:t>个</a:t>
            </a:r>
            <a:r>
              <a:rPr lang="zh-CN" altLang="en-US" sz="2400" dirty="0">
                <a:solidFill>
                  <a:schemeClr val="tx1"/>
                </a:solidFill>
                <a:latin typeface="华文新魏" panose="02010800040101010101" pitchFamily="2" charset="-122"/>
                <a:ea typeface="华文新魏" panose="02010800040101010101" pitchFamily="2" charset="-122"/>
              </a:rPr>
              <a:t>值，</a:t>
            </a:r>
            <a:r>
              <a:rPr lang="zh-CN" altLang="en-US" sz="2400" dirty="0">
                <a:solidFill>
                  <a:srgbClr val="0000FF"/>
                </a:solidFill>
                <a:latin typeface="华文新魏" panose="02010800040101010101" pitchFamily="2" charset="-122"/>
                <a:ea typeface="华文新魏" panose="02010800040101010101" pitchFamily="2" charset="-122"/>
              </a:rPr>
              <a:t>属多值逻辑</a:t>
            </a:r>
            <a:r>
              <a:rPr lang="zh-CN" altLang="en-US" sz="2400" dirty="0">
                <a:solidFill>
                  <a:schemeClr val="tx1"/>
                </a:solidFill>
                <a:latin typeface="华文新魏" panose="02010800040101010101" pitchFamily="2" charset="-122"/>
                <a:ea typeface="华文新魏" panose="02010800040101010101" pitchFamily="2" charset="-122"/>
              </a:rPr>
              <a:t>。其中最常用的是</a:t>
            </a:r>
            <a:r>
              <a:rPr lang="en-US" altLang="zh-CN" sz="2400">
                <a:solidFill>
                  <a:schemeClr val="tx1"/>
                </a:solidFill>
                <a:latin typeface="华文新魏" panose="02010800040101010101" pitchFamily="2" charset="-122"/>
                <a:ea typeface="华文新魏" panose="02010800040101010101" pitchFamily="2" charset="-122"/>
              </a:rPr>
              <a:t>3</a:t>
            </a:r>
            <a:r>
              <a:rPr lang="zh-CN" altLang="en-US" sz="2400" dirty="0">
                <a:solidFill>
                  <a:schemeClr val="tx1"/>
                </a:solidFill>
                <a:latin typeface="华文新魏" panose="02010800040101010101" pitchFamily="2" charset="-122"/>
                <a:ea typeface="华文新魏" panose="02010800040101010101" pitchFamily="2" charset="-122"/>
              </a:rPr>
              <a:t>种：代表高电平的‘</a:t>
            </a:r>
            <a:r>
              <a:rPr lang="en-US" altLang="zh-CN" sz="240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、代表低电平的‘</a:t>
            </a:r>
            <a:r>
              <a:rPr lang="en-US" altLang="zh-CN" sz="240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和代表高阻态的‘</a:t>
            </a:r>
            <a:r>
              <a:rPr lang="en-US" altLang="zh-CN" sz="2400">
                <a:solidFill>
                  <a:schemeClr val="tx1"/>
                </a:solidFill>
                <a:latin typeface="华文新魏" panose="02010800040101010101" pitchFamily="2" charset="-122"/>
                <a:ea typeface="华文新魏" panose="02010800040101010101" pitchFamily="2" charset="-122"/>
              </a:rPr>
              <a:t>Z’</a:t>
            </a:r>
            <a:r>
              <a:rPr lang="zh-CN" altLang="en-US"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sym typeface="+mn-ea"/>
              </a:rPr>
              <a:t>‘</a:t>
            </a:r>
            <a:r>
              <a:rPr lang="en-US" altLang="zh-CN" sz="2400">
                <a:solidFill>
                  <a:schemeClr val="tx1"/>
                </a:solidFill>
                <a:latin typeface="华文新魏" panose="02010800040101010101" pitchFamily="2" charset="-122"/>
                <a:ea typeface="华文新魏" panose="02010800040101010101" pitchFamily="2" charset="-122"/>
                <a:sym typeface="+mn-ea"/>
              </a:rPr>
              <a:t>Z’</a:t>
            </a:r>
            <a:r>
              <a:rPr lang="zh-CN" altLang="en-US" sz="2400" dirty="0">
                <a:solidFill>
                  <a:schemeClr val="tx1"/>
                </a:solidFill>
                <a:latin typeface="华文新魏" panose="02010800040101010101" pitchFamily="2" charset="-122"/>
                <a:ea typeface="华文新魏" panose="02010800040101010101" pitchFamily="2" charset="-122"/>
              </a:rPr>
              <a:t>主要用于双向总线的描述。</a:t>
            </a:r>
          </a:p>
          <a:p>
            <a:pPr marL="457200" indent="-457200">
              <a:spcBef>
                <a:spcPts val="600"/>
              </a:spcBef>
              <a:buFont typeface="宋体" panose="02010600030101010101" pitchFamily="2" charset="-122"/>
              <a:buAutoNum type="circleNumDbPlain" startAt="5"/>
            </a:pPr>
            <a:r>
              <a:rPr lang="en-US" altLang="zh-CN" sz="2400" err="1">
                <a:solidFill>
                  <a:srgbClr val="FF0000"/>
                </a:solidFill>
                <a:latin typeface="华文新魏" panose="02010800040101010101" pitchFamily="2" charset="-122"/>
                <a:ea typeface="华文新魏" panose="02010800040101010101" pitchFamily="2" charset="-122"/>
              </a:rPr>
              <a:t>std_log_vector</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err="1">
                <a:solidFill>
                  <a:schemeClr val="tx1"/>
                </a:solidFill>
                <a:latin typeface="华文新魏" panose="02010800040101010101" pitchFamily="2" charset="-122"/>
                <a:ea typeface="华文新魏" panose="02010800040101010101" pitchFamily="2" charset="-122"/>
              </a:rPr>
              <a:t>std_log_vector</a:t>
            </a:r>
            <a:r>
              <a:rPr lang="zh-CN" altLang="en-US" sz="2400" dirty="0">
                <a:solidFill>
                  <a:schemeClr val="tx1"/>
                </a:solidFill>
                <a:latin typeface="华文新魏" panose="02010800040101010101" pitchFamily="2" charset="-122"/>
                <a:ea typeface="华文新魏" panose="02010800040101010101" pitchFamily="2" charset="-122"/>
              </a:rPr>
              <a:t>是由多位</a:t>
            </a:r>
            <a:r>
              <a:rPr lang="en-US" altLang="zh-CN" sz="2400" err="1">
                <a:solidFill>
                  <a:schemeClr val="tx1"/>
                </a:solidFill>
                <a:latin typeface="华文新魏" panose="02010800040101010101" pitchFamily="2" charset="-122"/>
                <a:ea typeface="华文新魏" panose="02010800040101010101" pitchFamily="2" charset="-122"/>
              </a:rPr>
              <a:t>std_logic</a:t>
            </a:r>
            <a:r>
              <a:rPr lang="zh-CN" altLang="en-US" sz="2400" dirty="0">
                <a:solidFill>
                  <a:schemeClr val="tx1"/>
                </a:solidFill>
                <a:latin typeface="华文新魏" panose="02010800040101010101" pitchFamily="2" charset="-122"/>
                <a:ea typeface="华文新魏" panose="02010800040101010101" pitchFamily="2" charset="-122"/>
              </a:rPr>
              <a:t>构成的矢量，用于描述一组相关的数据，常用于描述总线。</a:t>
            </a:r>
          </a:p>
        </p:txBody>
      </p:sp>
      <p:sp>
        <p:nvSpPr>
          <p:cNvPr id="134147" name="文本框 1"/>
          <p:cNvSpPr txBox="1"/>
          <p:nvPr/>
        </p:nvSpPr>
        <p:spPr>
          <a:xfrm>
            <a:off x="181610" y="588645"/>
            <a:ext cx="4138930" cy="460375"/>
          </a:xfrm>
          <a:prstGeom prst="rect">
            <a:avLst/>
          </a:prstGeom>
          <a:noFill/>
          <a:ln w="9525">
            <a:noFill/>
          </a:ln>
        </p:spPr>
        <p:txBody>
          <a:bodyPr wrap="square">
            <a:spAutoFit/>
          </a:bodyPr>
          <a:lstStyle/>
          <a:p>
            <a:r>
              <a:rPr lang="en-US" altLang="zh-CN" sz="2400">
                <a:solidFill>
                  <a:srgbClr val="FF0000"/>
                </a:solidFill>
                <a:latin typeface="华文新魏" panose="02010800040101010101" pitchFamily="2" charset="-122"/>
                <a:ea typeface="华文新魏" panose="02010800040101010101" pitchFamily="2" charset="-122"/>
              </a:rPr>
              <a:t>5.</a:t>
            </a:r>
            <a:r>
              <a:rPr lang="zh-CN" altLang="en-US" sz="2400" dirty="0">
                <a:solidFill>
                  <a:srgbClr val="FF0000"/>
                </a:solidFill>
                <a:latin typeface="华文新魏" panose="02010800040101010101" pitchFamily="2" charset="-122"/>
                <a:ea typeface="华文新魏" panose="02010800040101010101" pitchFamily="2" charset="-122"/>
              </a:rPr>
              <a:t>标准数据类型  （续</a:t>
            </a:r>
            <a:r>
              <a:rPr lang="en-US" altLang="zh-CN" sz="2400">
                <a:solidFill>
                  <a:srgbClr val="FF0000"/>
                </a:solidFill>
                <a:latin typeface="华文新魏" panose="02010800040101010101" pitchFamily="2" charset="-122"/>
                <a:ea typeface="华文新魏" panose="02010800040101010101" pitchFamily="2" charset="-122"/>
              </a:rPr>
              <a:t>2</a:t>
            </a:r>
            <a:r>
              <a:rPr lang="zh-CN" altLang="en-US" sz="2400" dirty="0">
                <a:solidFill>
                  <a:srgbClr val="FF0000"/>
                </a:solidFill>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4146">
                                            <p:txEl>
                                              <p:pRg st="0" end="0"/>
                                            </p:txEl>
                                          </p:spTgt>
                                        </p:tgtEl>
                                        <p:attrNameLst>
                                          <p:attrName>style.visibility</p:attrName>
                                        </p:attrNameLst>
                                      </p:cBhvr>
                                      <p:to>
                                        <p:strVal val="visible"/>
                                      </p:to>
                                    </p:set>
                                    <p:anim calcmode="lin" valueType="num">
                                      <p:cBhvr additive="base">
                                        <p:cTn id="7" dur="500" fill="hold"/>
                                        <p:tgtEl>
                                          <p:spTgt spid="1341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1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4146">
                                            <p:txEl>
                                              <p:pRg st="1" end="1"/>
                                            </p:txEl>
                                          </p:spTgt>
                                        </p:tgtEl>
                                        <p:attrNameLst>
                                          <p:attrName>style.visibility</p:attrName>
                                        </p:attrNameLst>
                                      </p:cBhvr>
                                      <p:to>
                                        <p:strVal val="visible"/>
                                      </p:to>
                                    </p:set>
                                    <p:anim calcmode="lin" valueType="num">
                                      <p:cBhvr additive="base">
                                        <p:cTn id="13" dur="500" fill="hold"/>
                                        <p:tgtEl>
                                          <p:spTgt spid="13414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41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4146">
                                            <p:txEl>
                                              <p:pRg st="2" end="2"/>
                                            </p:txEl>
                                          </p:spTgt>
                                        </p:tgtEl>
                                        <p:attrNameLst>
                                          <p:attrName>style.visibility</p:attrName>
                                        </p:attrNameLst>
                                      </p:cBhvr>
                                      <p:to>
                                        <p:strVal val="visible"/>
                                      </p:to>
                                    </p:set>
                                    <p:anim calcmode="lin" valueType="num">
                                      <p:cBhvr additive="base">
                                        <p:cTn id="19" dur="500" fill="hold"/>
                                        <p:tgtEl>
                                          <p:spTgt spid="13414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41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4146">
                                            <p:txEl>
                                              <p:pRg st="3" end="3"/>
                                            </p:txEl>
                                          </p:spTgt>
                                        </p:tgtEl>
                                        <p:attrNameLst>
                                          <p:attrName>style.visibility</p:attrName>
                                        </p:attrNameLst>
                                      </p:cBhvr>
                                      <p:to>
                                        <p:strVal val="visible"/>
                                      </p:to>
                                    </p:set>
                                    <p:anim calcmode="lin" valueType="num">
                                      <p:cBhvr additive="base">
                                        <p:cTn id="25" dur="500" fill="hold"/>
                                        <p:tgtEl>
                                          <p:spTgt spid="13414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414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eaLnBrk="0" hangingPunct="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eaLnBrk="0" hangingPunct="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56A3A55-891A-494B-8F33-F98D9E009C12}" type="slidenum">
              <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17</a:t>
            </a:fld>
            <a:endPar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graphicFrame>
        <p:nvGraphicFramePr>
          <p:cNvPr id="100395" name="Group 43"/>
          <p:cNvGraphicFramePr>
            <a:graphicFrameLocks noGrp="1"/>
          </p:cNvGraphicFramePr>
          <p:nvPr>
            <p:custDataLst>
              <p:tags r:id="rId1"/>
            </p:custDataLst>
          </p:nvPr>
        </p:nvGraphicFramePr>
        <p:xfrm>
          <a:off x="2504758" y="457518"/>
          <a:ext cx="6211887" cy="4652121"/>
        </p:xfrm>
        <a:graphic>
          <a:graphicData uri="http://schemas.openxmlformats.org/drawingml/2006/table">
            <a:tbl>
              <a:tblPr/>
              <a:tblGrid>
                <a:gridCol w="1653884">
                  <a:extLst>
                    <a:ext uri="{9D8B030D-6E8A-4147-A177-3AD203B41FA5}">
                      <a16:colId xmlns:a16="http://schemas.microsoft.com/office/drawing/2014/main" val="20000"/>
                    </a:ext>
                  </a:extLst>
                </a:gridCol>
                <a:gridCol w="4558003">
                  <a:extLst>
                    <a:ext uri="{9D8B030D-6E8A-4147-A177-3AD203B41FA5}">
                      <a16:colId xmlns:a16="http://schemas.microsoft.com/office/drawing/2014/main" val="20001"/>
                    </a:ext>
                  </a:extLst>
                </a:gridCol>
              </a:tblGrid>
              <a:tr h="40009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数据类型</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含      义</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3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整数</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整数</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32</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位， 取值范围：－</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(2</a:t>
                      </a:r>
                      <a:r>
                        <a:rPr kumimoji="0" lang="en-US" altLang="zh-CN" sz="1800" b="1" i="0" baseline="30000">
                          <a:ln>
                            <a:noFill/>
                          </a:ln>
                          <a:solidFill>
                            <a:schemeClr val="tx1"/>
                          </a:solidFill>
                          <a:effectLst/>
                          <a:uFillTx/>
                          <a:latin typeface="华文新魏" panose="02010800040101010101" pitchFamily="2" charset="-122"/>
                          <a:ea typeface="华文新魏" panose="02010800040101010101" pitchFamily="2" charset="-122"/>
                        </a:rPr>
                        <a:t>31</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1) </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 </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(2</a:t>
                      </a:r>
                      <a:r>
                        <a:rPr kumimoji="0" lang="en-US" altLang="zh-CN" sz="1800" b="1" i="0" baseline="30000">
                          <a:ln>
                            <a:noFill/>
                          </a:ln>
                          <a:solidFill>
                            <a:schemeClr val="tx1"/>
                          </a:solidFill>
                          <a:effectLst/>
                          <a:uFillTx/>
                          <a:latin typeface="华文新魏" panose="02010800040101010101" pitchFamily="2" charset="-122"/>
                          <a:ea typeface="华文新魏" panose="02010800040101010101" pitchFamily="2" charset="-122"/>
                        </a:rPr>
                        <a:t>31</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1)</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3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实数</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浮点数，取值范围： </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-1.0e+38 </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 </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1.0e+38</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768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位</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逻辑</a:t>
                      </a:r>
                      <a:r>
                        <a:rPr kumimoji="0" lang="zh-CN" altLang="en-US" sz="1800" b="1" i="0" baseline="0">
                          <a:ln>
                            <a:noFill/>
                          </a:ln>
                          <a:solidFill>
                            <a:schemeClr val="tx1"/>
                          </a:solidFill>
                          <a:effectLst/>
                          <a:uFillTx/>
                          <a:latin typeface="Arial" panose="020B0604020202020204"/>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0</a:t>
                      </a:r>
                      <a:r>
                        <a:rPr kumimoji="0" lang="en-US" altLang="zh-CN" sz="1800" b="1" i="0" baseline="0">
                          <a:ln>
                            <a:noFill/>
                          </a:ln>
                          <a:solidFill>
                            <a:schemeClr val="tx1"/>
                          </a:solidFill>
                          <a:effectLst/>
                          <a:uFillTx/>
                          <a:latin typeface="Arial" panose="020B0604020202020204"/>
                          <a:ea typeface="华文新魏" panose="02010800040101010101" pitchFamily="2" charset="-122"/>
                        </a:rPr>
                        <a:t>’</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或</a:t>
                      </a:r>
                      <a:r>
                        <a:rPr kumimoji="0" lang="zh-CN" altLang="en-US" sz="1800" b="1" i="0" baseline="0">
                          <a:ln>
                            <a:noFill/>
                          </a:ln>
                          <a:solidFill>
                            <a:schemeClr val="tx1"/>
                          </a:solidFill>
                          <a:effectLst/>
                          <a:uFillTx/>
                          <a:latin typeface="Arial" panose="020B0604020202020204"/>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1</a:t>
                      </a:r>
                      <a:r>
                        <a:rPr kumimoji="0" lang="en-US" altLang="zh-CN" sz="1800" b="1" i="0" baseline="0">
                          <a:ln>
                            <a:noFill/>
                          </a:ln>
                          <a:solidFill>
                            <a:schemeClr val="tx1"/>
                          </a:solidFill>
                          <a:effectLst/>
                          <a:uFillTx/>
                          <a:latin typeface="Arial" panose="020B0604020202020204"/>
                          <a:ea typeface="华文新魏" panose="02010800040101010101" pitchFamily="2" charset="-122"/>
                        </a:rPr>
                        <a:t>’</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22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位矢量</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位矢量，用括号括起来的一组数据</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3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布尔量</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逻辑</a:t>
                      </a:r>
                      <a:r>
                        <a:rPr kumimoji="0" lang="zh-CN" altLang="en-US" sz="1800" b="1" i="0" baseline="0">
                          <a:ln>
                            <a:noFill/>
                          </a:ln>
                          <a:solidFill>
                            <a:schemeClr val="tx1"/>
                          </a:solidFill>
                          <a:effectLst/>
                          <a:uFillTx/>
                          <a:latin typeface="Arial" panose="020B0604020202020204"/>
                          <a:ea typeface="华文新魏" panose="02010800040101010101" pitchFamily="2" charset="-122"/>
                        </a:rPr>
                        <a:t>“</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真</a:t>
                      </a:r>
                      <a:r>
                        <a:rPr kumimoji="0" lang="zh-CN" altLang="en-US" sz="1800" b="1" i="0" baseline="0">
                          <a:ln>
                            <a:noFill/>
                          </a:ln>
                          <a:solidFill>
                            <a:schemeClr val="tx1"/>
                          </a:solidFill>
                          <a:effectLst/>
                          <a:uFillTx/>
                          <a:latin typeface="Arial" panose="020B0604020202020204"/>
                          <a:ea typeface="华文新魏" panose="02010800040101010101" pitchFamily="2" charset="-122"/>
                        </a:rPr>
                        <a:t>”</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 或</a:t>
                      </a:r>
                      <a:r>
                        <a:rPr kumimoji="0" lang="zh-CN" altLang="en-US" sz="1800" b="1" i="0" baseline="0">
                          <a:ln>
                            <a:noFill/>
                          </a:ln>
                          <a:solidFill>
                            <a:schemeClr val="tx1"/>
                          </a:solidFill>
                          <a:effectLst/>
                          <a:uFillTx/>
                          <a:latin typeface="Arial" panose="020B0604020202020204"/>
                          <a:ea typeface="华文新魏" panose="02010800040101010101" pitchFamily="2" charset="-122"/>
                        </a:rPr>
                        <a:t>“</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假</a:t>
                      </a:r>
                      <a:r>
                        <a:rPr kumimoji="0" lang="zh-CN" altLang="en-US" sz="1800" b="1" i="0" baseline="0">
                          <a:ln>
                            <a:noFill/>
                          </a:ln>
                          <a:solidFill>
                            <a:schemeClr val="tx1"/>
                          </a:solidFill>
                          <a:effectLst/>
                          <a:uFillTx/>
                          <a:latin typeface="Arial" panose="020B0604020202020204"/>
                          <a:ea typeface="华文新魏" panose="02010800040101010101" pitchFamily="2" charset="-122"/>
                        </a:rPr>
                        <a:t>”</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，用</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TRUE</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和</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FALSE</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标记</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768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字符</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ASCII</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字符，利用单引号标识</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22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字符串</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字符矢量，利用双引号标识</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768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rgbClr val="0000FF"/>
                          </a:solidFill>
                          <a:effectLst/>
                          <a:uFillTx/>
                          <a:latin typeface="华文新魏" panose="02010800040101010101" pitchFamily="2" charset="-122"/>
                          <a:ea typeface="华文新魏" panose="02010800040101010101" pitchFamily="2" charset="-122"/>
                        </a:rPr>
                        <a:t>时间</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时间单位</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fs</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ps</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ns</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μs</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ms</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sec</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min</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hr</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2631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自然数、正整数</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整数的子集：自然数取值范围为</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0 </a:t>
                      </a:r>
                      <a:r>
                        <a:rPr kumimoji="0" lang="en-US"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2</a:t>
                      </a:r>
                      <a:r>
                        <a:rPr kumimoji="0" lang="en-US" altLang="zh-CN" sz="1800" b="1" i="0" baseline="30000">
                          <a:ln>
                            <a:noFill/>
                          </a:ln>
                          <a:solidFill>
                            <a:schemeClr val="tx1"/>
                          </a:solidFill>
                          <a:effectLst/>
                          <a:uFillTx/>
                          <a:latin typeface="华文新魏" panose="02010800040101010101" pitchFamily="2" charset="-122"/>
                          <a:ea typeface="华文新魏" panose="02010800040101010101" pitchFamily="2" charset="-122"/>
                        </a:rPr>
                        <a:t>31</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1</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）；正整数是大于</a:t>
                      </a:r>
                      <a:r>
                        <a:rPr kumimoji="0" lang="en-US" altLang="zh-CN" sz="1800" b="1" i="0" baseline="0">
                          <a:ln>
                            <a:noFill/>
                          </a:ln>
                          <a:solidFill>
                            <a:schemeClr val="tx1"/>
                          </a:solidFill>
                          <a:effectLst/>
                          <a:uFillTx/>
                          <a:latin typeface="华文新魏" panose="02010800040101010101" pitchFamily="2" charset="-122"/>
                          <a:ea typeface="华文新魏" panose="02010800040101010101" pitchFamily="2" charset="-122"/>
                        </a:rPr>
                        <a:t>0</a:t>
                      </a:r>
                      <a:r>
                        <a:rPr kumimoji="0" lang="zh-CN" altLang="en-US" sz="1800" b="1" i="0" baseline="0">
                          <a:ln>
                            <a:noFill/>
                          </a:ln>
                          <a:solidFill>
                            <a:schemeClr val="tx1"/>
                          </a:solidFill>
                          <a:effectLst/>
                          <a:uFillTx/>
                          <a:latin typeface="华文新魏" panose="02010800040101010101" pitchFamily="2" charset="-122"/>
                          <a:ea typeface="华文新魏" panose="02010800040101010101" pitchFamily="2" charset="-122"/>
                        </a:rPr>
                        <a:t>的整数</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22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baseline="0">
                          <a:ln>
                            <a:noFill/>
                          </a:ln>
                          <a:solidFill>
                            <a:srgbClr val="0000FF"/>
                          </a:solidFill>
                          <a:effectLst/>
                          <a:uFillTx/>
                          <a:latin typeface="华文新魏" panose="02010800040101010101" pitchFamily="2" charset="-122"/>
                          <a:ea typeface="华文新魏" panose="02010800040101010101" pitchFamily="2" charset="-122"/>
                        </a:rPr>
                        <a:t>错误等级</a:t>
                      </a:r>
                    </a:p>
                  </a:txBody>
                  <a:tcPr marL="68584" marR="68584"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baseline="0" dirty="0">
                          <a:ln>
                            <a:noFill/>
                          </a:ln>
                          <a:solidFill>
                            <a:schemeClr val="tx1"/>
                          </a:solidFill>
                          <a:effectLst/>
                          <a:uFillTx/>
                          <a:latin typeface="华文新魏" panose="02010800040101010101" pitchFamily="2" charset="-122"/>
                          <a:ea typeface="华文新魏" panose="02010800040101010101" pitchFamily="2" charset="-122"/>
                        </a:rPr>
                        <a:t>Note</a:t>
                      </a:r>
                      <a:r>
                        <a:rPr kumimoji="0" lang="zh-CN" altLang="en-US" sz="1800" b="1" i="0" baseline="0" dirty="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dirty="0">
                          <a:ln>
                            <a:noFill/>
                          </a:ln>
                          <a:solidFill>
                            <a:schemeClr val="tx1"/>
                          </a:solidFill>
                          <a:effectLst/>
                          <a:uFillTx/>
                          <a:latin typeface="华文新魏" panose="02010800040101010101" pitchFamily="2" charset="-122"/>
                          <a:ea typeface="华文新魏" panose="02010800040101010101" pitchFamily="2" charset="-122"/>
                        </a:rPr>
                        <a:t>warning</a:t>
                      </a:r>
                      <a:r>
                        <a:rPr kumimoji="0" lang="zh-CN" altLang="en-US" sz="1800" b="1" i="0" baseline="0" dirty="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dirty="0">
                          <a:ln>
                            <a:noFill/>
                          </a:ln>
                          <a:solidFill>
                            <a:schemeClr val="tx1"/>
                          </a:solidFill>
                          <a:effectLst/>
                          <a:uFillTx/>
                          <a:latin typeface="华文新魏" panose="02010800040101010101" pitchFamily="2" charset="-122"/>
                          <a:ea typeface="华文新魏" panose="02010800040101010101" pitchFamily="2" charset="-122"/>
                        </a:rPr>
                        <a:t>error</a:t>
                      </a:r>
                      <a:r>
                        <a:rPr kumimoji="0" lang="zh-CN" altLang="en-US" sz="1800" b="1" i="0" baseline="0" dirty="0">
                          <a:ln>
                            <a:noFill/>
                          </a:ln>
                          <a:solidFill>
                            <a:schemeClr val="tx1"/>
                          </a:solidFill>
                          <a:effectLst/>
                          <a:uFillTx/>
                          <a:latin typeface="华文新魏" panose="02010800040101010101" pitchFamily="2" charset="-122"/>
                          <a:ea typeface="华文新魏" panose="02010800040101010101" pitchFamily="2" charset="-122"/>
                        </a:rPr>
                        <a:t>，</a:t>
                      </a:r>
                      <a:r>
                        <a:rPr kumimoji="0" lang="en-US" altLang="zh-CN" sz="1800" b="1" i="0" baseline="0" dirty="0">
                          <a:ln>
                            <a:noFill/>
                          </a:ln>
                          <a:solidFill>
                            <a:schemeClr val="tx1"/>
                          </a:solidFill>
                          <a:effectLst/>
                          <a:uFillTx/>
                          <a:latin typeface="华文新魏" panose="02010800040101010101" pitchFamily="2" charset="-122"/>
                          <a:ea typeface="华文新魏" panose="02010800040101010101" pitchFamily="2" charset="-122"/>
                        </a:rPr>
                        <a:t>failure</a:t>
                      </a:r>
                    </a:p>
                  </a:txBody>
                  <a:tcPr marL="68584" marR="68584"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35209" name="Rectangle 40"/>
          <p:cNvSpPr/>
          <p:nvPr/>
        </p:nvSpPr>
        <p:spPr>
          <a:xfrm>
            <a:off x="-108520" y="411510"/>
            <a:ext cx="2656205" cy="460375"/>
          </a:xfrm>
          <a:prstGeom prst="rect">
            <a:avLst/>
          </a:prstGeom>
          <a:noFill/>
          <a:ln w="9525">
            <a:noFill/>
          </a:ln>
        </p:spPr>
        <p:txBody>
          <a:bodyPr wrap="square">
            <a:spAutoFit/>
          </a:bodyPr>
          <a:lstStyle/>
          <a:p>
            <a:pPr algn="ctr" eaLnBrk="1" hangingPunct="1"/>
            <a:r>
              <a:rPr lang="en-US" altLang="zh-CN" sz="2400" dirty="0">
                <a:solidFill>
                  <a:srgbClr val="FF0000"/>
                </a:solidFill>
                <a:latin typeface="华文新魏" panose="02010800040101010101" pitchFamily="2" charset="-122"/>
                <a:ea typeface="华文新魏" panose="02010800040101010101" pitchFamily="2" charset="-122"/>
              </a:rPr>
              <a:t>10</a:t>
            </a:r>
            <a:r>
              <a:rPr lang="zh-CN" altLang="en-US" sz="2400" dirty="0">
                <a:solidFill>
                  <a:srgbClr val="FF0000"/>
                </a:solidFill>
                <a:latin typeface="华文新魏" panose="02010800040101010101" pitchFamily="2" charset="-122"/>
                <a:ea typeface="华文新魏" panose="02010800040101010101" pitchFamily="2" charset="-122"/>
              </a:rPr>
              <a:t>种标准数据类型</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4"/>
          <p:cNvPicPr>
            <a:picLocks noChangeAspect="1"/>
          </p:cNvPicPr>
          <p:nvPr/>
        </p:nvPicPr>
        <p:blipFill>
          <a:blip r:embed="rId3"/>
          <a:stretch>
            <a:fillRect/>
          </a:stretch>
        </p:blipFill>
        <p:spPr>
          <a:xfrm>
            <a:off x="1137285" y="0"/>
            <a:ext cx="8032115" cy="5132070"/>
          </a:xfrm>
          <a:prstGeom prst="rect">
            <a:avLst/>
          </a:prstGeom>
          <a:noFill/>
          <a:ln w="9525">
            <a:noFill/>
          </a:ln>
        </p:spPr>
      </p:pic>
      <p:sp>
        <p:nvSpPr>
          <p:cNvPr id="136195" name="Text Box 5"/>
          <p:cNvSpPr txBox="1"/>
          <p:nvPr/>
        </p:nvSpPr>
        <p:spPr>
          <a:xfrm>
            <a:off x="107950" y="627063"/>
            <a:ext cx="3067050" cy="460375"/>
          </a:xfrm>
          <a:prstGeom prst="rect">
            <a:avLst/>
          </a:prstGeom>
          <a:noFill/>
          <a:ln w="9525">
            <a:noFill/>
          </a:ln>
        </p:spPr>
        <p:txBody>
          <a:bodyPr>
            <a:spAutoFit/>
          </a:bodyPr>
          <a:lstStyle/>
          <a:p>
            <a:pPr algn="ctr" eaLnBrk="1" hangingPunct="1">
              <a:spcBef>
                <a:spcPct val="50000"/>
              </a:spcBef>
            </a:pPr>
            <a:r>
              <a:rPr lang="en-US" altLang="zh-CN" sz="2400">
                <a:solidFill>
                  <a:srgbClr val="FF0000"/>
                </a:solidFill>
                <a:latin typeface="Times New Roman" panose="02020603050405020304" pitchFamily="18" charset="0"/>
                <a:ea typeface="华文新魏" panose="02010800040101010101" pitchFamily="2" charset="-122"/>
              </a:rPr>
              <a:t>5  </a:t>
            </a:r>
            <a:r>
              <a:rPr lang="zh-CN" altLang="en-US" sz="2400" dirty="0">
                <a:solidFill>
                  <a:srgbClr val="FF0000"/>
                </a:solidFill>
                <a:latin typeface="Times New Roman" panose="02020603050405020304" pitchFamily="18" charset="0"/>
                <a:ea typeface="华文新魏" panose="02010800040101010101" pitchFamily="2" charset="-122"/>
              </a:rPr>
              <a:t>数据类型汇总图</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txBox="1">
            <a:spLocks noGrp="1"/>
          </p:cNvSpPr>
          <p:nvPr>
            <p:ph type="sldNum" sz="quarter" idx="12"/>
          </p:nvPr>
        </p:nvSpPr>
        <p:spPr bwMode="auto">
          <a:xfrm>
            <a:off x="6457950" y="4767263"/>
            <a:ext cx="2154238" cy="27463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eaLnBrk="0" hangingPunct="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eaLnBrk="0" hangingPunct="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C5EF5E1-BE7F-4667-9F88-66AD2E3F7A98}" type="slidenum">
              <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19</a:t>
            </a:fld>
            <a:endPar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137219" name="Text Box 2"/>
          <p:cNvSpPr txBox="1"/>
          <p:nvPr/>
        </p:nvSpPr>
        <p:spPr>
          <a:xfrm>
            <a:off x="476250" y="358140"/>
            <a:ext cx="8169275" cy="4862485"/>
          </a:xfrm>
          <a:prstGeom prst="rect">
            <a:avLst/>
          </a:prstGeom>
          <a:noFill/>
          <a:ln w="9525">
            <a:noFill/>
          </a:ln>
        </p:spPr>
        <p:txBody>
          <a:bodyPr wrap="square">
            <a:spAutoFit/>
          </a:bodyPr>
          <a:lstStyle/>
          <a:p>
            <a:pPr eaLnBrk="1" hangingPunct="1">
              <a:lnSpc>
                <a:spcPct val="130000"/>
              </a:lnSpc>
              <a:buClr>
                <a:schemeClr val="tx2"/>
              </a:buClr>
              <a:buFont typeface="Wingdings" panose="05000000000000000000" pitchFamily="2" charset="2"/>
              <a:buChar char="u"/>
            </a:pPr>
            <a:r>
              <a:rPr lang="en-US" altLang="zh-CN" dirty="0">
                <a:solidFill>
                  <a:schemeClr val="tx1"/>
                </a:solidFill>
                <a:latin typeface="华文新魏" panose="02010800040101010101" pitchFamily="2" charset="-122"/>
                <a:ea typeface="华文新魏" panose="02010800040101010101" pitchFamily="2" charset="-122"/>
              </a:rPr>
              <a:t>  IEEE</a:t>
            </a:r>
            <a:r>
              <a:rPr lang="zh-CN" altLang="en-US" dirty="0">
                <a:solidFill>
                  <a:schemeClr val="tx1"/>
                </a:solidFill>
                <a:latin typeface="华文新魏" panose="02010800040101010101" pitchFamily="2" charset="-122"/>
                <a:ea typeface="华文新魏" panose="02010800040101010101" pitchFamily="2" charset="-122"/>
              </a:rPr>
              <a:t>库</a:t>
            </a:r>
            <a:r>
              <a:rPr lang="en-US" altLang="zh-CN" dirty="0">
                <a:solidFill>
                  <a:schemeClr val="tx1"/>
                </a:solidFill>
                <a:latin typeface="华文新魏" panose="02010800040101010101" pitchFamily="2" charset="-122"/>
                <a:ea typeface="华文新魏" panose="02010800040101010101" pitchFamily="2" charset="-122"/>
              </a:rPr>
              <a:t>STD_LOGIC_1164</a:t>
            </a:r>
            <a:r>
              <a:rPr lang="zh-CN" altLang="en-US" dirty="0">
                <a:solidFill>
                  <a:schemeClr val="tx1"/>
                </a:solidFill>
                <a:latin typeface="华文新魏" panose="02010800040101010101" pitchFamily="2" charset="-122"/>
                <a:ea typeface="华文新魏" panose="02010800040101010101" pitchFamily="2" charset="-122"/>
              </a:rPr>
              <a:t>程序包中定义的</a:t>
            </a:r>
            <a:r>
              <a:rPr lang="en-US" altLang="zh-CN" dirty="0">
                <a:solidFill>
                  <a:schemeClr val="tx1"/>
                </a:solidFill>
                <a:latin typeface="华文新魏" panose="02010800040101010101" pitchFamily="2" charset="-122"/>
                <a:ea typeface="华文新魏" panose="02010800040101010101" pitchFamily="2" charset="-122"/>
              </a:rPr>
              <a:t>STD_LOGIC</a:t>
            </a:r>
            <a:r>
              <a:rPr lang="zh-CN" altLang="en-US" dirty="0">
                <a:solidFill>
                  <a:schemeClr val="tx1"/>
                </a:solidFill>
                <a:latin typeface="华文新魏" panose="02010800040101010101" pitchFamily="2" charset="-122"/>
                <a:ea typeface="华文新魏" panose="02010800040101010101" pitchFamily="2" charset="-122"/>
              </a:rPr>
              <a:t>类型和</a:t>
            </a:r>
            <a:r>
              <a:rPr lang="en-US" altLang="zh-CN" dirty="0">
                <a:solidFill>
                  <a:schemeClr val="tx1"/>
                </a:solidFill>
                <a:latin typeface="华文新魏" panose="02010800040101010101" pitchFamily="2" charset="-122"/>
                <a:ea typeface="华文新魏" panose="02010800040101010101" pitchFamily="2" charset="-122"/>
              </a:rPr>
              <a:t>STD_LOGIC_VECTOR</a:t>
            </a:r>
            <a:r>
              <a:rPr lang="zh-CN" altLang="en-US" dirty="0">
                <a:solidFill>
                  <a:schemeClr val="tx1"/>
                </a:solidFill>
                <a:latin typeface="华文新魏" panose="02010800040101010101" pitchFamily="2" charset="-122"/>
                <a:ea typeface="华文新魏" panose="02010800040101010101" pitchFamily="2" charset="-122"/>
              </a:rPr>
              <a:t>类型。</a:t>
            </a:r>
          </a:p>
          <a:p>
            <a:pPr eaLnBrk="1" hangingPunct="1">
              <a:lnSpc>
                <a:spcPct val="130000"/>
              </a:lnSpc>
            </a:pPr>
            <a:r>
              <a:rPr lang="en-US" altLang="zh-CN" i="1" dirty="0">
                <a:solidFill>
                  <a:srgbClr val="FF0000"/>
                </a:solidFill>
                <a:latin typeface="华文新魏" panose="02010800040101010101" pitchFamily="2" charset="-122"/>
                <a:ea typeface="华文新魏" panose="02010800040101010101" pitchFamily="2" charset="-122"/>
              </a:rPr>
              <a:t>STD_ULOGIC</a:t>
            </a:r>
            <a:r>
              <a:rPr lang="zh-CN" altLang="en-US" i="1" dirty="0">
                <a:solidFill>
                  <a:srgbClr val="FF0000"/>
                </a:solidFill>
                <a:latin typeface="华文新魏" panose="02010800040101010101" pitchFamily="2" charset="-122"/>
                <a:ea typeface="华文新魏" panose="02010800040101010101" pitchFamily="2" charset="-122"/>
              </a:rPr>
              <a:t>类型的数据可以具有九种取值，其含义如下</a:t>
            </a:r>
            <a:r>
              <a:rPr lang="zh-CN" altLang="en-US" dirty="0">
                <a:solidFill>
                  <a:srgbClr val="FF0000"/>
                </a:solidFill>
                <a:latin typeface="华文新魏" panose="02010800040101010101" pitchFamily="2" charset="-122"/>
                <a:ea typeface="华文新魏" panose="02010800040101010101" pitchFamily="2" charset="-122"/>
              </a:rPr>
              <a:t>：</a:t>
            </a:r>
          </a:p>
          <a:p>
            <a:pPr eaLnBrk="1" hangingPunct="1">
              <a:lnSpc>
                <a:spcPct val="130000"/>
              </a:lnSpc>
            </a:pPr>
            <a:r>
              <a:rPr lang="zh-CN" altLang="en-US" dirty="0">
                <a:solidFill>
                  <a:srgbClr val="FF3300"/>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U</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未设定</a:t>
            </a:r>
            <a:r>
              <a:rPr lang="en-US" altLang="zh-CN" dirty="0">
                <a:solidFill>
                  <a:schemeClr val="tx1"/>
                </a:solidFill>
                <a:latin typeface="华文新魏" panose="02010800040101010101" pitchFamily="2" charset="-122"/>
                <a:ea typeface="华文新魏" panose="02010800040101010101" pitchFamily="2" charset="-122"/>
              </a:rPr>
              <a:t>(uninitialized,</a:t>
            </a:r>
            <a:r>
              <a:rPr lang="zh-CN" altLang="en-US" dirty="0">
                <a:solidFill>
                  <a:schemeClr val="tx1"/>
                </a:solidFill>
                <a:latin typeface="华文新魏" panose="02010800040101010101" pitchFamily="2" charset="-122"/>
                <a:ea typeface="华文新魏" panose="02010800040101010101" pitchFamily="2" charset="-122"/>
              </a:rPr>
              <a:t>未初始化</a:t>
            </a:r>
            <a:r>
              <a:rPr lang="en-US" altLang="zh-CN" dirty="0">
                <a:solidFill>
                  <a:schemeClr val="tx1"/>
                </a:solidFill>
                <a:latin typeface="华文新魏" panose="02010800040101010101" pitchFamily="2" charset="-122"/>
                <a:ea typeface="华文新魏" panose="02010800040101010101" pitchFamily="2" charset="-122"/>
              </a:rPr>
              <a:t>)</a:t>
            </a:r>
          </a:p>
          <a:p>
            <a:pPr eaLnBrk="1" hangingPunct="1">
              <a:lnSpc>
                <a:spcPct val="130000"/>
              </a:lnSpc>
            </a:pP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X</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不定态、浮接不定</a:t>
            </a:r>
            <a:r>
              <a:rPr lang="en-US" altLang="zh-CN" dirty="0">
                <a:solidFill>
                  <a:schemeClr val="tx1"/>
                </a:solidFill>
                <a:latin typeface="华文新魏" panose="02010800040101010101" pitchFamily="2" charset="-122"/>
                <a:ea typeface="华文新魏" panose="02010800040101010101" pitchFamily="2" charset="-122"/>
              </a:rPr>
              <a:t>(Forcing Unknown</a:t>
            </a:r>
            <a:r>
              <a:rPr lang="zh-CN" altLang="en-US" dirty="0">
                <a:solidFill>
                  <a:schemeClr val="tx1"/>
                </a:solidFill>
                <a:latin typeface="华文新魏" panose="02010800040101010101" pitchFamily="2" charset="-122"/>
                <a:ea typeface="华文新魏" panose="02010800040101010101" pitchFamily="2" charset="-122"/>
              </a:rPr>
              <a:t>，强未知</a:t>
            </a:r>
            <a:r>
              <a:rPr lang="en-US" altLang="zh-CN" dirty="0">
                <a:solidFill>
                  <a:schemeClr val="tx1"/>
                </a:solidFill>
                <a:latin typeface="华文新魏" panose="02010800040101010101" pitchFamily="2" charset="-122"/>
                <a:ea typeface="华文新魏" panose="02010800040101010101" pitchFamily="2" charset="-122"/>
              </a:rPr>
              <a:t>)</a:t>
            </a:r>
          </a:p>
          <a:p>
            <a:pPr eaLnBrk="1" hangingPunct="1">
              <a:lnSpc>
                <a:spcPct val="130000"/>
              </a:lnSpc>
            </a:pPr>
            <a:r>
              <a:rPr lang="en-US" altLang="zh-CN" dirty="0">
                <a:solidFill>
                  <a:srgbClr val="FF3300"/>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0</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强制</a:t>
            </a:r>
            <a:r>
              <a:rPr lang="en-US" altLang="zh-CN" dirty="0">
                <a:solidFill>
                  <a:schemeClr val="tx1"/>
                </a:solidFill>
                <a:latin typeface="华文新魏" panose="02010800040101010101" pitchFamily="2" charset="-122"/>
                <a:ea typeface="华文新魏" panose="02010800040101010101" pitchFamily="2" charset="-122"/>
              </a:rPr>
              <a:t>0</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1</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强制</a:t>
            </a:r>
            <a:r>
              <a:rPr lang="en-US" altLang="zh-CN" dirty="0">
                <a:solidFill>
                  <a:schemeClr val="tx1"/>
                </a:solidFill>
                <a:latin typeface="华文新魏" panose="02010800040101010101" pitchFamily="2" charset="-122"/>
                <a:ea typeface="华文新魏" panose="02010800040101010101" pitchFamily="2" charset="-122"/>
              </a:rPr>
              <a:t>1</a:t>
            </a:r>
          </a:p>
          <a:p>
            <a:pPr eaLnBrk="1" hangingPunct="1">
              <a:lnSpc>
                <a:spcPct val="130000"/>
              </a:lnSpc>
            </a:pPr>
            <a:r>
              <a:rPr lang="en-US" altLang="zh-CN" dirty="0">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Z</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高阻态</a:t>
            </a:r>
          </a:p>
          <a:p>
            <a:pPr eaLnBrk="1" hangingPunct="1">
              <a:lnSpc>
                <a:spcPct val="130000"/>
              </a:lnSpc>
            </a:pPr>
            <a:r>
              <a:rPr lang="zh-CN" altLang="en-US" dirty="0">
                <a:solidFill>
                  <a:srgbClr val="FF3300"/>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W</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弱信号不定态</a:t>
            </a:r>
          </a:p>
          <a:p>
            <a:pPr eaLnBrk="1" hangingPunct="1">
              <a:lnSpc>
                <a:spcPct val="130000"/>
              </a:lnSpc>
            </a:pPr>
            <a:r>
              <a:rPr lang="zh-CN" altLang="en-US" dirty="0">
                <a:solidFill>
                  <a:srgbClr val="0000FF"/>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L</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弱信号</a:t>
            </a:r>
            <a:r>
              <a:rPr lang="en-US" altLang="zh-CN" dirty="0">
                <a:solidFill>
                  <a:schemeClr val="tx1"/>
                </a:solidFill>
                <a:latin typeface="华文新魏" panose="02010800040101010101" pitchFamily="2" charset="-122"/>
                <a:ea typeface="华文新魏" panose="02010800040101010101" pitchFamily="2" charset="-122"/>
              </a:rPr>
              <a:t>0</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rgbClr val="FF3300"/>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H</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弱信号</a:t>
            </a:r>
            <a:r>
              <a:rPr lang="en-US" altLang="zh-CN" dirty="0">
                <a:solidFill>
                  <a:schemeClr val="tx1"/>
                </a:solidFill>
                <a:latin typeface="华文新魏" panose="02010800040101010101" pitchFamily="2" charset="-122"/>
                <a:ea typeface="华文新魏" panose="02010800040101010101" pitchFamily="2" charset="-122"/>
              </a:rPr>
              <a:t>1</a:t>
            </a:r>
          </a:p>
          <a:p>
            <a:pPr eaLnBrk="1" hangingPunct="1">
              <a:lnSpc>
                <a:spcPct val="130000"/>
              </a:lnSpc>
            </a:pPr>
            <a:r>
              <a:rPr lang="en-US" altLang="zh-CN" dirty="0">
                <a:solidFill>
                  <a:srgbClr val="FF3300"/>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_</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不可能情况（可忽略值，</a:t>
            </a:r>
            <a:r>
              <a:rPr lang="zh-CN" altLang="en-US" dirty="0">
                <a:solidFill>
                  <a:srgbClr val="FF0000"/>
                </a:solidFill>
                <a:latin typeface="华文新魏" panose="02010800040101010101" pitchFamily="2" charset="-122"/>
                <a:ea typeface="华文新魏" panose="02010800040101010101" pitchFamily="2" charset="-122"/>
              </a:rPr>
              <a:t>无关项！</a:t>
            </a:r>
            <a:r>
              <a:rPr lang="zh-CN" altLang="en-US" dirty="0">
                <a:solidFill>
                  <a:schemeClr val="tx1"/>
                </a:solidFill>
                <a:latin typeface="华文新魏" panose="02010800040101010101" pitchFamily="2" charset="-122"/>
                <a:ea typeface="华文新魏" panose="02010800040101010101" pitchFamily="2" charset="-122"/>
              </a:rPr>
              <a:t>）</a:t>
            </a:r>
            <a:r>
              <a:rPr lang="zh-CN" altLang="en-US" dirty="0">
                <a:solidFill>
                  <a:srgbClr val="FF3300"/>
                </a:solidFill>
                <a:latin typeface="华文新魏" panose="02010800040101010101" pitchFamily="2" charset="-122"/>
                <a:ea typeface="华文新魏" panose="02010800040101010101" pitchFamily="2" charset="-122"/>
              </a:rPr>
              <a:t>		</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其中，</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X</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方便了系统模拟，</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Z</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方便了双向总线的描述。</a:t>
            </a:r>
          </a:p>
          <a:p>
            <a:pPr eaLnBrk="1" hangingPunct="1">
              <a:lnSpc>
                <a:spcPct val="130000"/>
              </a:lnSpc>
            </a:pPr>
            <a:r>
              <a:rPr lang="zh-CN" altLang="en-US" dirty="0">
                <a:solidFill>
                  <a:schemeClr val="tx1"/>
                </a:solidFill>
                <a:latin typeface="Times New Roman" panose="02020603050405020304" pitchFamily="18" charset="0"/>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U</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X</a:t>
            </a:r>
            <a:r>
              <a:rPr lang="en-US" altLang="zh-CN" dirty="0">
                <a:solidFill>
                  <a:schemeClr val="tx1"/>
                </a:solidFill>
                <a:latin typeface="Times New Roman" panose="02020603050405020304" pitchFamily="18" charset="0"/>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主要用于模拟，</a:t>
            </a:r>
            <a:r>
              <a:rPr lang="zh-CN" altLang="en-US" dirty="0">
                <a:solidFill>
                  <a:schemeClr val="tx1"/>
                </a:solidFill>
                <a:latin typeface="Times New Roman" panose="02020603050405020304" pitchFamily="18" charset="0"/>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Times New Roman" panose="02020603050405020304" pitchFamily="18" charset="0"/>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主要用于电路化简！</a:t>
            </a:r>
          </a:p>
        </p:txBody>
      </p:sp>
      <p:sp>
        <p:nvSpPr>
          <p:cNvPr id="2" name="文本框 1"/>
          <p:cNvSpPr txBox="1"/>
          <p:nvPr/>
        </p:nvSpPr>
        <p:spPr>
          <a:xfrm>
            <a:off x="6516216" y="2715766"/>
            <a:ext cx="2242185" cy="922020"/>
          </a:xfrm>
          <a:prstGeom prst="rect">
            <a:avLst/>
          </a:prstGeom>
          <a:noFill/>
        </p:spPr>
        <p:txBody>
          <a:bodyPr wrap="square" rtlCol="0">
            <a:spAutoFit/>
          </a:bodyPr>
          <a:lstStyle/>
          <a:p>
            <a:r>
              <a:rPr lang="en-US" altLang="zh-CN" sz="1800" dirty="0">
                <a:solidFill>
                  <a:srgbClr val="0000FF"/>
                </a:solidFill>
                <a:latin typeface="华文新魏" panose="02010800040101010101" pitchFamily="2" charset="-122"/>
                <a:ea typeface="华文新魏" panose="02010800040101010101" pitchFamily="2" charset="-122"/>
              </a:rPr>
              <a:t>STD_LOGIC</a:t>
            </a:r>
            <a:r>
              <a:rPr lang="zh-CN" altLang="en-US" sz="1800" dirty="0">
                <a:solidFill>
                  <a:srgbClr val="0000FF"/>
                </a:solidFill>
                <a:latin typeface="华文新魏" panose="02010800040101010101" pitchFamily="2" charset="-122"/>
                <a:ea typeface="华文新魏" panose="02010800040101010101" pitchFamily="2" charset="-122"/>
              </a:rPr>
              <a:t>是</a:t>
            </a:r>
            <a:r>
              <a:rPr lang="en-US" altLang="zh-CN" sz="1800" dirty="0">
                <a:solidFill>
                  <a:srgbClr val="0000FF"/>
                </a:solidFill>
                <a:latin typeface="华文新魏" panose="02010800040101010101" pitchFamily="2" charset="-122"/>
                <a:ea typeface="华文新魏" panose="02010800040101010101" pitchFamily="2" charset="-122"/>
                <a:sym typeface="+mn-ea"/>
              </a:rPr>
              <a:t>STD_ULOGIC</a:t>
            </a:r>
            <a:r>
              <a:rPr lang="zh-CN" altLang="en-US" sz="1800" dirty="0">
                <a:solidFill>
                  <a:srgbClr val="0000FF"/>
                </a:solidFill>
                <a:latin typeface="华文新魏" panose="02010800040101010101" pitchFamily="2" charset="-122"/>
                <a:ea typeface="华文新魏" panose="02010800040101010101" pitchFamily="2" charset="-122"/>
                <a:sym typeface="+mn-ea"/>
              </a:rPr>
              <a:t>的决断子类型</a:t>
            </a:r>
          </a:p>
        </p:txBody>
      </p:sp>
      <p:sp>
        <p:nvSpPr>
          <p:cNvPr id="4" name="矩形标注 3"/>
          <p:cNvSpPr/>
          <p:nvPr/>
        </p:nvSpPr>
        <p:spPr>
          <a:xfrm>
            <a:off x="107315" y="1995805"/>
            <a:ext cx="1153795" cy="774700"/>
          </a:xfrm>
          <a:prstGeom prst="wedgeRectCallout">
            <a:avLst>
              <a:gd name="adj1" fmla="val 64529"/>
              <a:gd name="adj2" fmla="val 73278"/>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600" dirty="0">
                <a:solidFill>
                  <a:srgbClr val="FFFF00"/>
                </a:solidFill>
                <a:latin typeface="华文新魏" panose="02010800040101010101" pitchFamily="2" charset="-122"/>
                <a:ea typeface="华文新魏" panose="02010800040101010101" pitchFamily="2" charset="-122"/>
                <a:sym typeface="+mn-ea"/>
              </a:rPr>
              <a:t>VHDL</a:t>
            </a:r>
            <a:r>
              <a:rPr lang="zh-CN" altLang="en-US" sz="1600" dirty="0">
                <a:solidFill>
                  <a:srgbClr val="FFFF00"/>
                </a:solidFill>
                <a:latin typeface="华文新魏" panose="02010800040101010101" pitchFamily="2" charset="-122"/>
                <a:ea typeface="华文新魏" panose="02010800040101010101" pitchFamily="2" charset="-122"/>
                <a:sym typeface="+mn-ea"/>
              </a:rPr>
              <a:t>对</a:t>
            </a:r>
            <a:r>
              <a:rPr lang="zh-CN" altLang="en-US" sz="1600" dirty="0">
                <a:solidFill>
                  <a:srgbClr val="FF0000"/>
                </a:solidFill>
                <a:latin typeface="华文新魏" panose="02010800040101010101" pitchFamily="2" charset="-122"/>
                <a:ea typeface="华文新魏" panose="02010800040101010101" pitchFamily="2" charset="-122"/>
                <a:sym typeface="+mn-ea"/>
              </a:rPr>
              <a:t>字符</a:t>
            </a:r>
            <a:r>
              <a:rPr lang="zh-CN" altLang="en-US" sz="1600" dirty="0">
                <a:solidFill>
                  <a:srgbClr val="FFFF00"/>
                </a:solidFill>
                <a:latin typeface="华文新魏" panose="02010800040101010101" pitchFamily="2" charset="-122"/>
                <a:ea typeface="华文新魏" panose="02010800040101010101" pitchFamily="2" charset="-122"/>
                <a:sym typeface="+mn-ea"/>
              </a:rPr>
              <a:t>的大小写敏感</a:t>
            </a:r>
            <a:endPar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219"/>
                                        </p:tgtEl>
                                        <p:attrNameLst>
                                          <p:attrName>style.visibility</p:attrName>
                                        </p:attrNameLst>
                                      </p:cBhvr>
                                      <p:to>
                                        <p:strVal val="visible"/>
                                      </p:to>
                                    </p:set>
                                    <p:anim calcmode="lin" valueType="num">
                                      <p:cBhvr additive="base">
                                        <p:cTn id="7" dur="500" fill="hold"/>
                                        <p:tgtEl>
                                          <p:spTgt spid="137219"/>
                                        </p:tgtEl>
                                        <p:attrNameLst>
                                          <p:attrName>ppt_x</p:attrName>
                                        </p:attrNameLst>
                                      </p:cBhvr>
                                      <p:tavLst>
                                        <p:tav tm="0">
                                          <p:val>
                                            <p:strVal val="#ppt_x"/>
                                          </p:val>
                                        </p:tav>
                                        <p:tav tm="100000">
                                          <p:val>
                                            <p:strVal val="#ppt_x"/>
                                          </p:val>
                                        </p:tav>
                                      </p:tavLst>
                                    </p:anim>
                                    <p:anim calcmode="lin" valueType="num">
                                      <p:cBhvr additive="base">
                                        <p:cTn id="8" dur="500" fill="hold"/>
                                        <p:tgtEl>
                                          <p:spTgt spid="1372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p:bldP spid="137219" grpId="1"/>
      <p:bldP spid="2" grpId="0"/>
      <p:bldP spid="2" grpId="1"/>
      <p:bldP spid="4" grpId="0" animBg="1"/>
      <p:bldP spid="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77F296-2548-44B8-A5A8-5FD4DE95BFE8}"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38243" name="Picture 3"/>
          <p:cNvPicPr>
            <a:picLocks noGrp="1" noChangeAspect="1"/>
          </p:cNvPicPr>
          <p:nvPr>
            <p:ph idx="1" hasCustomPrompt="1"/>
          </p:nvPr>
        </p:nvPicPr>
        <p:blipFill>
          <a:blip r:embed="rId3"/>
          <a:stretch>
            <a:fillRect/>
          </a:stretch>
        </p:blipFill>
        <p:spPr>
          <a:xfrm>
            <a:off x="1384300" y="511175"/>
            <a:ext cx="6219825" cy="4508500"/>
          </a:xfr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文本框 1"/>
          <p:cNvSpPr txBox="1"/>
          <p:nvPr/>
        </p:nvSpPr>
        <p:spPr>
          <a:xfrm>
            <a:off x="755650" y="577850"/>
            <a:ext cx="5113338" cy="400050"/>
          </a:xfrm>
          <a:prstGeom prst="rect">
            <a:avLst/>
          </a:prstGeom>
          <a:noFill/>
          <a:ln w="9525">
            <a:noFill/>
          </a:ln>
        </p:spPr>
        <p:txBody>
          <a:bodyPr>
            <a:spAutoFit/>
          </a:bodyPr>
          <a:lstStyle/>
          <a:p>
            <a:r>
              <a:rPr lang="en-US" altLang="zh-CN">
                <a:solidFill>
                  <a:srgbClr val="FF0066"/>
                </a:solidFill>
                <a:latin typeface="华文新魏" panose="02010800040101010101" pitchFamily="2" charset="-122"/>
                <a:ea typeface="华文新魏" panose="02010800040101010101" pitchFamily="2" charset="-122"/>
              </a:rPr>
              <a:t>6.  </a:t>
            </a:r>
            <a:r>
              <a:rPr lang="zh-CN" altLang="en-US" dirty="0">
                <a:solidFill>
                  <a:srgbClr val="FF0066"/>
                </a:solidFill>
                <a:latin typeface="华文新魏" panose="02010800040101010101" pitchFamily="2" charset="-122"/>
                <a:ea typeface="华文新魏" panose="02010800040101010101" pitchFamily="2" charset="-122"/>
              </a:rPr>
              <a:t>数据对象：常量、变量、信号和文件</a:t>
            </a:r>
          </a:p>
        </p:txBody>
      </p:sp>
      <p:sp>
        <p:nvSpPr>
          <p:cNvPr id="139267" name="文本框 2"/>
          <p:cNvSpPr txBox="1"/>
          <p:nvPr/>
        </p:nvSpPr>
        <p:spPr>
          <a:xfrm>
            <a:off x="755650" y="1654175"/>
            <a:ext cx="7920038" cy="701675"/>
          </a:xfrm>
          <a:prstGeom prst="rect">
            <a:avLst/>
          </a:prstGeom>
          <a:noFill/>
          <a:ln w="9525">
            <a:noFill/>
          </a:ln>
        </p:spPr>
        <p:txBody>
          <a:bodyPr>
            <a:spAutoFit/>
          </a:bodyPr>
          <a:lstStyle/>
          <a:p>
            <a:r>
              <a:rPr lang="zh-CN" altLang="en-US" dirty="0">
                <a:solidFill>
                  <a:schemeClr val="tx1"/>
                </a:solidFill>
                <a:latin typeface="华文新魏" panose="02010800040101010101" pitchFamily="2" charset="-122"/>
                <a:ea typeface="华文新魏" panose="02010800040101010101" pitchFamily="2" charset="-122"/>
              </a:rPr>
              <a:t>在</a:t>
            </a:r>
            <a:r>
              <a:rPr lang="en-US" altLang="zh-CN">
                <a:solidFill>
                  <a:schemeClr val="tx1"/>
                </a:solidFill>
                <a:latin typeface="华文新魏" panose="02010800040101010101" pitchFamily="2" charset="-122"/>
                <a:ea typeface="华文新魏" panose="02010800040101010101" pitchFamily="2" charset="-122"/>
              </a:rPr>
              <a:t>VHDL</a:t>
            </a:r>
            <a:r>
              <a:rPr lang="zh-CN" altLang="en-US" dirty="0">
                <a:solidFill>
                  <a:schemeClr val="tx1"/>
                </a:solidFill>
                <a:latin typeface="华文新魏" panose="02010800040101010101" pitchFamily="2" charset="-122"/>
                <a:ea typeface="华文新魏" panose="02010800040101010101" pitchFamily="2" charset="-122"/>
              </a:rPr>
              <a:t>中，对象（</a:t>
            </a:r>
            <a:r>
              <a:rPr lang="en-US" altLang="zh-CN">
                <a:solidFill>
                  <a:schemeClr val="tx1"/>
                </a:solidFill>
                <a:latin typeface="华文新魏" panose="02010800040101010101" pitchFamily="2" charset="-122"/>
                <a:ea typeface="华文新魏" panose="02010800040101010101" pitchFamily="2" charset="-122"/>
              </a:rPr>
              <a:t>object</a:t>
            </a:r>
            <a:r>
              <a:rPr lang="zh-CN" altLang="en-US" dirty="0">
                <a:solidFill>
                  <a:schemeClr val="tx1"/>
                </a:solidFill>
                <a:latin typeface="华文新魏" panose="02010800040101010101" pitchFamily="2" charset="-122"/>
                <a:ea typeface="华文新魏" panose="02010800040101010101" pitchFamily="2" charset="-122"/>
              </a:rPr>
              <a:t>）是可以赋予一个值的客体，对象有</a:t>
            </a:r>
            <a:r>
              <a:rPr lang="en-US" altLang="zh-CN">
                <a:solidFill>
                  <a:schemeClr val="tx1"/>
                </a:solidFill>
                <a:latin typeface="华文新魏" panose="02010800040101010101" pitchFamily="2" charset="-122"/>
                <a:ea typeface="华文新魏" panose="02010800040101010101" pitchFamily="2" charset="-122"/>
              </a:rPr>
              <a:t>4</a:t>
            </a:r>
            <a:r>
              <a:rPr lang="zh-CN" altLang="en-US" dirty="0">
                <a:solidFill>
                  <a:schemeClr val="tx1"/>
                </a:solidFill>
                <a:latin typeface="华文新魏" panose="02010800040101010101" pitchFamily="2" charset="-122"/>
                <a:ea typeface="华文新魏" panose="02010800040101010101" pitchFamily="2" charset="-122"/>
              </a:rPr>
              <a:t>种：</a:t>
            </a:r>
            <a:r>
              <a:rPr lang="zh-CN" altLang="en-US" dirty="0">
                <a:solidFill>
                  <a:srgbClr val="FF0000"/>
                </a:solidFill>
                <a:latin typeface="华文新魏" panose="02010800040101010101" pitchFamily="2" charset="-122"/>
                <a:ea typeface="华文新魏" panose="02010800040101010101" pitchFamily="2" charset="-122"/>
              </a:rPr>
              <a:t>常量（</a:t>
            </a:r>
            <a:r>
              <a:rPr lang="en-US" altLang="zh-CN">
                <a:solidFill>
                  <a:srgbClr val="FF0000"/>
                </a:solidFill>
                <a:latin typeface="华文新魏" panose="02010800040101010101" pitchFamily="2" charset="-122"/>
                <a:ea typeface="华文新魏" panose="02010800040101010101" pitchFamily="2" charset="-122"/>
              </a:rPr>
              <a:t>constant</a:t>
            </a:r>
            <a:r>
              <a:rPr lang="zh-CN" altLang="en-US" dirty="0">
                <a:solidFill>
                  <a:srgbClr val="FF0000"/>
                </a:solidFill>
                <a:latin typeface="华文新魏" panose="02010800040101010101" pitchFamily="2" charset="-122"/>
                <a:ea typeface="华文新魏" panose="02010800040101010101" pitchFamily="2" charset="-122"/>
              </a:rPr>
              <a:t>）、变量（</a:t>
            </a:r>
            <a:r>
              <a:rPr lang="en-US" altLang="zh-CN">
                <a:solidFill>
                  <a:srgbClr val="FF0000"/>
                </a:solidFill>
                <a:latin typeface="华文新魏" panose="02010800040101010101" pitchFamily="2" charset="-122"/>
                <a:ea typeface="华文新魏" panose="02010800040101010101" pitchFamily="2" charset="-122"/>
              </a:rPr>
              <a:t>variable</a:t>
            </a:r>
            <a:r>
              <a:rPr lang="zh-CN" altLang="en-US" dirty="0">
                <a:solidFill>
                  <a:srgbClr val="FF0000"/>
                </a:solidFill>
                <a:latin typeface="华文新魏" panose="02010800040101010101" pitchFamily="2" charset="-122"/>
                <a:ea typeface="华文新魏" panose="02010800040101010101" pitchFamily="2" charset="-122"/>
              </a:rPr>
              <a:t>）、信号（</a:t>
            </a:r>
            <a:r>
              <a:rPr lang="en-US" altLang="zh-CN">
                <a:solidFill>
                  <a:srgbClr val="FF0000"/>
                </a:solidFill>
                <a:latin typeface="华文新魏" panose="02010800040101010101" pitchFamily="2" charset="-122"/>
                <a:ea typeface="华文新魏" panose="02010800040101010101" pitchFamily="2" charset="-122"/>
              </a:rPr>
              <a:t>signal</a:t>
            </a:r>
            <a:r>
              <a:rPr lang="zh-CN" altLang="en-US" dirty="0">
                <a:solidFill>
                  <a:srgbClr val="FF0000"/>
                </a:solidFill>
                <a:latin typeface="华文新魏" panose="02010800040101010101" pitchFamily="2" charset="-122"/>
                <a:ea typeface="华文新魏" panose="02010800040101010101" pitchFamily="2" charset="-122"/>
              </a:rPr>
              <a:t>）和文件（</a:t>
            </a:r>
            <a:r>
              <a:rPr lang="en-US" altLang="zh-CN">
                <a:solidFill>
                  <a:srgbClr val="FF0000"/>
                </a:solidFill>
                <a:latin typeface="华文新魏" panose="02010800040101010101" pitchFamily="2" charset="-122"/>
                <a:ea typeface="华文新魏" panose="02010800040101010101" pitchFamily="2" charset="-122"/>
              </a:rPr>
              <a:t>files</a:t>
            </a:r>
            <a:r>
              <a:rPr lang="zh-CN" altLang="en-US" dirty="0">
                <a:solidFill>
                  <a:srgbClr val="FF0000"/>
                </a:solidFill>
                <a:latin typeface="华文新魏" panose="02010800040101010101" pitchFamily="2" charset="-122"/>
                <a:ea typeface="华文新魏" panose="02010800040101010101" pitchFamily="2" charset="-122"/>
              </a:rPr>
              <a:t>）</a:t>
            </a:r>
          </a:p>
        </p:txBody>
      </p:sp>
      <p:sp>
        <p:nvSpPr>
          <p:cNvPr id="139268" name="矩形 1"/>
          <p:cNvSpPr/>
          <p:nvPr/>
        </p:nvSpPr>
        <p:spPr>
          <a:xfrm>
            <a:off x="1187450" y="2692400"/>
            <a:ext cx="7343775" cy="1891287"/>
          </a:xfrm>
          <a:prstGeom prst="rect">
            <a:avLst/>
          </a:prstGeom>
          <a:noFill/>
          <a:ln w="9525">
            <a:noFill/>
          </a:ln>
        </p:spPr>
        <p:txBody>
          <a:bodyPr>
            <a:spAutoFit/>
          </a:bodyPr>
          <a:lstStyle/>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常量</a:t>
            </a:r>
            <a:r>
              <a:rPr lang="zh-CN" altLang="en-US" dirty="0">
                <a:solidFill>
                  <a:schemeClr val="tx1"/>
                </a:solidFill>
                <a:latin typeface="华文新魏" panose="02010800040101010101" pitchFamily="2" charset="-122"/>
                <a:ea typeface="华文新魏" panose="02010800040101010101" pitchFamily="2" charset="-122"/>
              </a:rPr>
              <a:t>在程序中往往用于代表一些经常要使用的固定值。</a:t>
            </a:r>
            <a:endParaRPr lang="en-US" altLang="zh-CN" dirty="0">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变量</a:t>
            </a:r>
            <a:r>
              <a:rPr lang="zh-CN" altLang="en-US" dirty="0">
                <a:solidFill>
                  <a:schemeClr val="tx1"/>
                </a:solidFill>
                <a:latin typeface="华文新魏" panose="02010800040101010101" pitchFamily="2" charset="-122"/>
                <a:ea typeface="华文新魏" panose="02010800040101010101" pitchFamily="2" charset="-122"/>
              </a:rPr>
              <a:t>是程序中临时使用的对象，常常用于保存中间结果。</a:t>
            </a:r>
            <a:endParaRPr lang="en-US" altLang="zh-CN" dirty="0">
              <a:solidFill>
                <a:schemeClr val="tx1"/>
              </a:solidFill>
              <a:latin typeface="华文新魏" panose="02010800040101010101" pitchFamily="2" charset="-122"/>
              <a:ea typeface="华文新魏" panose="02010800040101010101" pitchFamily="2" charset="-122"/>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信号</a:t>
            </a:r>
            <a:r>
              <a:rPr lang="zh-CN" altLang="en-US" dirty="0">
                <a:solidFill>
                  <a:srgbClr val="0000FF"/>
                </a:solidFill>
                <a:latin typeface="华文新魏" panose="02010800040101010101" pitchFamily="2" charset="-122"/>
                <a:ea typeface="华文新魏" panose="02010800040101010101" pitchFamily="2" charset="-122"/>
              </a:rPr>
              <a:t>是</a:t>
            </a:r>
            <a:r>
              <a:rPr lang="en-US" altLang="zh-CN" dirty="0">
                <a:solidFill>
                  <a:srgbClr val="0000FF"/>
                </a:solidFill>
                <a:latin typeface="华文新魏" panose="02010800040101010101" pitchFamily="2" charset="-122"/>
                <a:ea typeface="华文新魏" panose="02010800040101010101" pitchFamily="2" charset="-122"/>
              </a:rPr>
              <a:t>VHDL</a:t>
            </a:r>
            <a:r>
              <a:rPr lang="zh-CN" altLang="en-US" dirty="0">
                <a:solidFill>
                  <a:srgbClr val="0000FF"/>
                </a:solidFill>
                <a:latin typeface="华文新魏" panose="02010800040101010101" pitchFamily="2" charset="-122"/>
                <a:ea typeface="华文新魏" panose="02010800040101010101" pitchFamily="2" charset="-122"/>
              </a:rPr>
              <a:t>中最重要的对象</a:t>
            </a:r>
            <a:r>
              <a:rPr lang="zh-CN" altLang="en-US" dirty="0">
                <a:solidFill>
                  <a:schemeClr val="tx1"/>
                </a:solidFill>
                <a:latin typeface="华文新魏" panose="02010800040101010101" pitchFamily="2" charset="-122"/>
                <a:ea typeface="华文新魏" panose="02010800040101010101" pitchFamily="2" charset="-122"/>
              </a:rPr>
              <a:t>，是硬件中物理连线的抽象描述</a:t>
            </a:r>
            <a:r>
              <a:rPr lang="zh-CN" altLang="en-US" dirty="0">
                <a:solidFill>
                  <a:schemeClr val="tx1"/>
                </a:solidFill>
                <a:latin typeface="Calibri" panose="020F0502020204030204" pitchFamily="34" charset="0"/>
              </a:rPr>
              <a:t>。</a:t>
            </a:r>
            <a:endParaRPr lang="en-US" altLang="zh-CN" dirty="0">
              <a:solidFill>
                <a:schemeClr val="tx1"/>
              </a:solidFill>
              <a:latin typeface="Calibri" panose="020F0502020204030204" pitchFamily="34" charset="0"/>
            </a:endParaRPr>
          </a:p>
          <a:p>
            <a:pPr>
              <a:lnSpc>
                <a:spcPct val="150000"/>
              </a:lnSpc>
            </a:pPr>
            <a:r>
              <a:rPr lang="zh-CN" altLang="en-US" dirty="0">
                <a:solidFill>
                  <a:srgbClr val="FF0000"/>
                </a:solidFill>
                <a:latin typeface="华文新魏" panose="02010800040101010101" pitchFamily="2" charset="-122"/>
                <a:ea typeface="华文新魏" panose="02010800040101010101" pitchFamily="2" charset="-122"/>
              </a:rPr>
              <a:t>文件</a:t>
            </a:r>
            <a:r>
              <a:rPr lang="zh-CN" altLang="en-US" dirty="0">
                <a:solidFill>
                  <a:schemeClr val="tx1"/>
                </a:solidFill>
                <a:latin typeface="华文新魏" panose="02010800040101010101" pitchFamily="2" charset="-122"/>
                <a:ea typeface="华文新魏" panose="02010800040101010101" pitchFamily="2" charset="-122"/>
              </a:rPr>
              <a:t>主要用于保存仿真数据。</a:t>
            </a:r>
          </a:p>
        </p:txBody>
      </p:sp>
      <p:sp>
        <p:nvSpPr>
          <p:cNvPr id="2" name="对话气泡: 圆角矩形 1">
            <a:extLst>
              <a:ext uri="{FF2B5EF4-FFF2-40B4-BE49-F238E27FC236}">
                <a16:creationId xmlns:a16="http://schemas.microsoft.com/office/drawing/2014/main" id="{30F3D8DB-949B-42F5-9CB5-CFD3EB2F7F75}"/>
              </a:ext>
            </a:extLst>
          </p:cNvPr>
          <p:cNvSpPr/>
          <p:nvPr/>
        </p:nvSpPr>
        <p:spPr bwMode="auto">
          <a:xfrm>
            <a:off x="7020272" y="915567"/>
            <a:ext cx="2016224" cy="607632"/>
          </a:xfrm>
          <a:prstGeom prst="wedgeRoundRectCallout">
            <a:avLst>
              <a:gd name="adj1" fmla="val 17647"/>
              <a:gd name="adj2" fmla="val 12571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2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STD.TEXTIO </a:t>
            </a:r>
            <a:r>
              <a:rPr kumimoji="0" lang="zh-CN" altLang="en-US" sz="12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和</a:t>
            </a:r>
            <a:endParaRPr kumimoji="0" lang="en-US" altLang="zh-CN" sz="1200" b="0" i="0" u="none" strike="noStrike" cap="none" normalizeH="0" baseline="0" dirty="0">
              <a:ln>
                <a:noFill/>
              </a:ln>
              <a:solidFill>
                <a:srgbClr val="FFFF00"/>
              </a:solidFill>
              <a:effectLst/>
              <a:latin typeface="Calibri" panose="020F050202020403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2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 </a:t>
            </a:r>
            <a:r>
              <a:rPr kumimoji="0" lang="en-US" altLang="zh-CN" sz="12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IEEE.NUMERIC_STD.TEXTIO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文本框 1"/>
          <p:cNvSpPr txBox="1"/>
          <p:nvPr/>
        </p:nvSpPr>
        <p:spPr>
          <a:xfrm>
            <a:off x="251460" y="699135"/>
            <a:ext cx="2782570" cy="398780"/>
          </a:xfrm>
          <a:prstGeom prst="rect">
            <a:avLst/>
          </a:prstGeom>
          <a:noFill/>
          <a:ln w="9525">
            <a:noFill/>
          </a:ln>
        </p:spPr>
        <p:txBody>
          <a:bodyPr wrap="square">
            <a:spAutoFit/>
          </a:bodyPr>
          <a:lstStyle/>
          <a:p>
            <a:r>
              <a:rPr lang="en-US" altLang="zh-CN" b="1">
                <a:solidFill>
                  <a:srgbClr val="FF0000"/>
                </a:solidFill>
                <a:latin typeface="华文新魏" panose="02010800040101010101" pitchFamily="2" charset="-122"/>
                <a:ea typeface="华文新魏" panose="02010800040101010101" pitchFamily="2" charset="-122"/>
              </a:rPr>
              <a:t>7.  </a:t>
            </a:r>
            <a:r>
              <a:rPr lang="zh-CN" altLang="en-US" b="1" dirty="0">
                <a:solidFill>
                  <a:srgbClr val="FF0000"/>
                </a:solidFill>
                <a:latin typeface="华文新魏" panose="02010800040101010101" pitchFamily="2" charset="-122"/>
                <a:ea typeface="华文新魏" panose="02010800040101010101" pitchFamily="2" charset="-122"/>
              </a:rPr>
              <a:t>运算符</a:t>
            </a:r>
          </a:p>
        </p:txBody>
      </p:sp>
      <p:sp>
        <p:nvSpPr>
          <p:cNvPr id="140291" name="文本框 2"/>
          <p:cNvSpPr txBox="1"/>
          <p:nvPr/>
        </p:nvSpPr>
        <p:spPr>
          <a:xfrm>
            <a:off x="180340" y="1061085"/>
            <a:ext cx="8893810" cy="3784600"/>
          </a:xfrm>
          <a:prstGeom prst="rect">
            <a:avLst/>
          </a:prstGeom>
          <a:noFill/>
          <a:ln w="9525">
            <a:noFill/>
          </a:ln>
        </p:spPr>
        <p:txBody>
          <a:bodyPr wrap="square">
            <a:spAutoFit/>
          </a:bodyPr>
          <a:lstStyle/>
          <a:p>
            <a:pPr>
              <a:lnSpc>
                <a:spcPct val="125000"/>
              </a:lnSpc>
              <a:spcBef>
                <a:spcPct val="50000"/>
              </a:spcBef>
            </a:pPr>
            <a:r>
              <a:rPr lang="zh-CN" altLang="en-US" dirty="0">
                <a:solidFill>
                  <a:srgbClr val="FF0000"/>
                </a:solidFill>
                <a:latin typeface="华文新魏" panose="02010800040101010101" pitchFamily="2" charset="-122"/>
                <a:ea typeface="华文新魏" panose="02010800040101010101" pitchFamily="2" charset="-122"/>
              </a:rPr>
              <a:t>逻辑运算符</a:t>
            </a:r>
            <a:r>
              <a:rPr lang="zh-CN" altLang="en-US" dirty="0">
                <a:solidFill>
                  <a:schemeClr val="tx1"/>
                </a:solidFill>
                <a:latin typeface="华文新魏" panose="02010800040101010101" pitchFamily="2" charset="-122"/>
                <a:ea typeface="华文新魏" panose="02010800040101010101" pitchFamily="2" charset="-122"/>
              </a:rPr>
              <a:t>有</a:t>
            </a:r>
            <a:r>
              <a:rPr lang="en-US" altLang="zh-CN" dirty="0">
                <a:solidFill>
                  <a:srgbClr val="0000FF"/>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种：</a:t>
            </a:r>
            <a:r>
              <a:rPr lang="en-US" altLang="zh-CN" dirty="0">
                <a:solidFill>
                  <a:schemeClr val="tx1"/>
                </a:solidFill>
                <a:latin typeface="华文新魏" panose="02010800040101010101" pitchFamily="2" charset="-122"/>
                <a:ea typeface="华文新魏" panose="02010800040101010101" pitchFamily="2" charset="-122"/>
              </a:rPr>
              <a:t>not</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or</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and</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err="1">
                <a:solidFill>
                  <a:schemeClr val="tx1"/>
                </a:solidFill>
                <a:latin typeface="华文新魏" panose="02010800040101010101" pitchFamily="2" charset="-122"/>
                <a:ea typeface="华文新魏" panose="02010800040101010101" pitchFamily="2" charset="-122"/>
              </a:rPr>
              <a:t>nand</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nor</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err="1">
                <a:solidFill>
                  <a:schemeClr val="tx1"/>
                </a:solidFill>
                <a:latin typeface="华文新魏" panose="02010800040101010101" pitchFamily="2" charset="-122"/>
                <a:ea typeface="华文新魏" panose="02010800040101010101" pitchFamily="2" charset="-122"/>
              </a:rPr>
              <a:t>xor</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err="1">
                <a:solidFill>
                  <a:schemeClr val="tx1"/>
                </a:solidFill>
                <a:latin typeface="华文新魏" panose="02010800040101010101" pitchFamily="2" charset="-122"/>
                <a:ea typeface="华文新魏" panose="02010800040101010101" pitchFamily="2" charset="-122"/>
              </a:rPr>
              <a:t>xnor</a:t>
            </a:r>
            <a:r>
              <a:rPr lang="zh-CN" altLang="en-US" dirty="0">
                <a:solidFill>
                  <a:schemeClr val="tx1"/>
                </a:solidFill>
                <a:latin typeface="华文新魏" panose="02010800040101010101" pitchFamily="2" charset="-122"/>
                <a:ea typeface="华文新魏" panose="02010800040101010101" pitchFamily="2" charset="-122"/>
              </a:rPr>
              <a:t>，</a:t>
            </a:r>
            <a:r>
              <a:rPr lang="zh-CN" altLang="zh-CN" dirty="0">
                <a:solidFill>
                  <a:schemeClr val="tx1"/>
                </a:solidFill>
                <a:latin typeface="华文新魏" panose="02010800040101010101" pitchFamily="2" charset="-122"/>
                <a:ea typeface="华文新魏" panose="02010800040101010101" pitchFamily="2" charset="-122"/>
              </a:rPr>
              <a:t>参与逻辑运算的变量或者信号，必须有</a:t>
            </a:r>
            <a:r>
              <a:rPr lang="zh-CN" altLang="zh-CN" dirty="0">
                <a:solidFill>
                  <a:srgbClr val="0000FF"/>
                </a:solidFill>
                <a:latin typeface="华文新魏" panose="02010800040101010101" pitchFamily="2" charset="-122"/>
                <a:ea typeface="华文新魏" panose="02010800040101010101" pitchFamily="2" charset="-122"/>
              </a:rPr>
              <a:t>相同的数据类型和数据长度</a:t>
            </a:r>
            <a:r>
              <a:rPr lang="zh-CN" altLang="zh-CN"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a:p>
            <a:pPr>
              <a:lnSpc>
                <a:spcPct val="125000"/>
              </a:lnSpc>
              <a:spcBef>
                <a:spcPct val="50000"/>
              </a:spcBef>
            </a:pPr>
            <a:r>
              <a:rPr lang="zh-CN" altLang="en-US" dirty="0">
                <a:solidFill>
                  <a:srgbClr val="FF0000"/>
                </a:solidFill>
                <a:latin typeface="华文新魏" panose="02010800040101010101" pitchFamily="2" charset="-122"/>
                <a:ea typeface="华文新魏" panose="02010800040101010101" pitchFamily="2" charset="-122"/>
              </a:rPr>
              <a:t>算术运算符</a:t>
            </a:r>
            <a:r>
              <a:rPr lang="zh-CN" altLang="en-US" dirty="0">
                <a:solidFill>
                  <a:schemeClr val="tx1"/>
                </a:solidFill>
                <a:latin typeface="华文新魏" panose="02010800040101010101" pitchFamily="2" charset="-122"/>
                <a:ea typeface="华文新魏" panose="02010800040101010101" pitchFamily="2" charset="-122"/>
              </a:rPr>
              <a:t>有</a:t>
            </a:r>
            <a:r>
              <a:rPr lang="en-US" altLang="zh-CN" dirty="0">
                <a:solidFill>
                  <a:srgbClr val="0000FF"/>
                </a:solidFill>
                <a:latin typeface="华文新魏" panose="02010800040101010101" pitchFamily="2" charset="-122"/>
                <a:ea typeface="华文新魏" panose="02010800040101010101" pitchFamily="2" charset="-122"/>
              </a:rPr>
              <a:t>14</a:t>
            </a:r>
            <a:r>
              <a:rPr lang="zh-CN" altLang="en-US" dirty="0">
                <a:solidFill>
                  <a:schemeClr val="tx1"/>
                </a:solidFill>
                <a:latin typeface="华文新魏" panose="02010800040101010101" pitchFamily="2" charset="-122"/>
                <a:ea typeface="华文新魏" panose="02010800040101010101" pitchFamily="2" charset="-122"/>
              </a:rPr>
              <a:t>种，最常用的四则算术运算符是</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a:p>
            <a:pPr>
              <a:lnSpc>
                <a:spcPct val="125000"/>
              </a:lnSpc>
              <a:spcBef>
                <a:spcPct val="50000"/>
              </a:spcBef>
            </a:pPr>
            <a:r>
              <a:rPr lang="zh-CN" altLang="en-US" dirty="0">
                <a:solidFill>
                  <a:srgbClr val="FF0000"/>
                </a:solidFill>
                <a:latin typeface="华文新魏" panose="02010800040101010101" pitchFamily="2" charset="-122"/>
                <a:ea typeface="华文新魏" panose="02010800040101010101" pitchFamily="2" charset="-122"/>
              </a:rPr>
              <a:t>关系运算符</a:t>
            </a:r>
            <a:r>
              <a:rPr lang="zh-CN" altLang="en-US" dirty="0">
                <a:solidFill>
                  <a:schemeClr val="tx1"/>
                </a:solidFill>
                <a:latin typeface="华文新魏" panose="02010800040101010101" pitchFamily="2" charset="-122"/>
                <a:ea typeface="华文新魏" panose="02010800040101010101" pitchFamily="2" charset="-122"/>
              </a:rPr>
              <a:t>有</a:t>
            </a:r>
            <a:r>
              <a:rPr lang="en-US" altLang="zh-CN" dirty="0">
                <a:solidFill>
                  <a:srgbClr val="0000FF"/>
                </a:solidFill>
                <a:latin typeface="华文新魏" panose="02010800040101010101" pitchFamily="2" charset="-122"/>
                <a:ea typeface="华文新魏" panose="02010800040101010101" pitchFamily="2" charset="-122"/>
              </a:rPr>
              <a:t>6</a:t>
            </a:r>
            <a:r>
              <a:rPr lang="zh-CN" altLang="en-US" dirty="0">
                <a:solidFill>
                  <a:schemeClr val="tx1"/>
                </a:solidFill>
                <a:latin typeface="华文新魏" panose="02010800040101010101" pitchFamily="2" charset="-122"/>
                <a:ea typeface="华文新魏" panose="02010800040101010101" pitchFamily="2" charset="-122"/>
              </a:rPr>
              <a:t>种：</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（等于），</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（不等于），</a:t>
            </a:r>
            <a:r>
              <a:rPr lang="en-US" altLang="zh-CN" dirty="0">
                <a:solidFill>
                  <a:schemeClr val="tx1"/>
                </a:solidFill>
                <a:latin typeface="华文新魏" panose="02010800040101010101" pitchFamily="2" charset="-122"/>
                <a:ea typeface="华文新魏" panose="02010800040101010101" pitchFamily="2" charset="-122"/>
              </a:rPr>
              <a:t>&lt;</a:t>
            </a:r>
            <a:r>
              <a:rPr lang="zh-CN" altLang="en-US" dirty="0">
                <a:solidFill>
                  <a:schemeClr val="tx1"/>
                </a:solidFill>
                <a:latin typeface="华文新魏" panose="02010800040101010101" pitchFamily="2" charset="-122"/>
                <a:ea typeface="华文新魏" panose="02010800040101010101" pitchFamily="2" charset="-122"/>
              </a:rPr>
              <a:t>（小于），</a:t>
            </a:r>
            <a:r>
              <a:rPr lang="en-US" altLang="zh-CN" dirty="0">
                <a:solidFill>
                  <a:schemeClr val="tx1"/>
                </a:solidFill>
                <a:latin typeface="华文新魏" panose="02010800040101010101" pitchFamily="2" charset="-122"/>
                <a:ea typeface="华文新魏" panose="02010800040101010101" pitchFamily="2" charset="-122"/>
              </a:rPr>
              <a:t>&gt;</a:t>
            </a:r>
            <a:r>
              <a:rPr lang="zh-CN" altLang="en-US" dirty="0">
                <a:solidFill>
                  <a:schemeClr val="tx1"/>
                </a:solidFill>
                <a:latin typeface="华文新魏" panose="02010800040101010101" pitchFamily="2" charset="-122"/>
                <a:ea typeface="华文新魏" panose="02010800040101010101" pitchFamily="2" charset="-122"/>
              </a:rPr>
              <a:t>（大于），</a:t>
            </a:r>
            <a:r>
              <a:rPr lang="en-US" altLang="zh-CN" dirty="0">
                <a:solidFill>
                  <a:schemeClr val="tx1"/>
                </a:solidFill>
                <a:latin typeface="华文新魏" panose="02010800040101010101" pitchFamily="2" charset="-122"/>
                <a:ea typeface="华文新魏" panose="02010800040101010101" pitchFamily="2" charset="-122"/>
              </a:rPr>
              <a:t>&lt;= </a:t>
            </a:r>
            <a:r>
              <a:rPr lang="zh-CN" altLang="en-US" dirty="0">
                <a:solidFill>
                  <a:schemeClr val="tx1"/>
                </a:solidFill>
                <a:latin typeface="华文新魏" panose="02010800040101010101" pitchFamily="2" charset="-122"/>
                <a:ea typeface="华文新魏" panose="02010800040101010101" pitchFamily="2" charset="-122"/>
              </a:rPr>
              <a:t>（小于等于），</a:t>
            </a:r>
            <a:r>
              <a:rPr lang="en-US" altLang="zh-CN" dirty="0">
                <a:solidFill>
                  <a:schemeClr val="tx1"/>
                </a:solidFill>
                <a:latin typeface="华文新魏" panose="02010800040101010101" pitchFamily="2" charset="-122"/>
                <a:ea typeface="华文新魏" panose="02010800040101010101" pitchFamily="2" charset="-122"/>
              </a:rPr>
              <a:t>&gt;= </a:t>
            </a:r>
            <a:r>
              <a:rPr lang="zh-CN" altLang="en-US" dirty="0">
                <a:solidFill>
                  <a:schemeClr val="tx1"/>
                </a:solidFill>
                <a:latin typeface="华文新魏" panose="02010800040101010101" pitchFamily="2" charset="-122"/>
                <a:ea typeface="华文新魏" panose="02010800040101010101" pitchFamily="2" charset="-122"/>
              </a:rPr>
              <a:t>（大于等于）。</a:t>
            </a:r>
            <a:r>
              <a:rPr lang="en-US" altLang="zh-CN" dirty="0">
                <a:solidFill>
                  <a:schemeClr val="tx1"/>
                </a:solidFill>
                <a:latin typeface="华文新魏" panose="02010800040101010101" pitchFamily="2" charset="-122"/>
                <a:ea typeface="华文新魏" panose="02010800040101010101" pitchFamily="2" charset="-122"/>
              </a:rPr>
              <a:t> </a:t>
            </a:r>
          </a:p>
          <a:p>
            <a:pPr>
              <a:lnSpc>
                <a:spcPct val="125000"/>
              </a:lnSpc>
              <a:spcBef>
                <a:spcPct val="50000"/>
              </a:spcBef>
            </a:pPr>
            <a:r>
              <a:rPr lang="zh-CN" altLang="en-US" dirty="0">
                <a:solidFill>
                  <a:srgbClr val="FF0000"/>
                </a:solidFill>
                <a:latin typeface="华文新魏" panose="02010800040101010101" pitchFamily="2" charset="-122"/>
                <a:ea typeface="华文新魏" panose="02010800040101010101" pitchFamily="2" charset="-122"/>
              </a:rPr>
              <a:t>并置运算符“</a:t>
            </a:r>
            <a:r>
              <a:rPr lang="zh-CN" altLang="en-US" dirty="0">
                <a:solidFill>
                  <a:srgbClr val="0000FF"/>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用于位的连接以形成矢量，也可连接矢量生成更大的矢量。</a:t>
            </a:r>
            <a:r>
              <a:rPr lang="en-US" altLang="zh-CN" dirty="0">
                <a:solidFill>
                  <a:srgbClr val="0000FF"/>
                </a:solidFill>
                <a:latin typeface="华文新魏" panose="02010800040101010101" pitchFamily="2" charset="-122"/>
                <a:ea typeface="华文新魏" panose="02010800040101010101" pitchFamily="2" charset="-122"/>
              </a:rPr>
              <a:t>  </a:t>
            </a:r>
          </a:p>
          <a:p>
            <a:pPr>
              <a:lnSpc>
                <a:spcPct val="125000"/>
              </a:lnSpc>
              <a:spcBef>
                <a:spcPct val="50000"/>
              </a:spcBef>
            </a:pPr>
            <a:r>
              <a:rPr lang="zh-CN" altLang="en-US" dirty="0">
                <a:solidFill>
                  <a:srgbClr val="FF0000"/>
                </a:solidFill>
                <a:latin typeface="华文新魏" panose="02010800040101010101" pitchFamily="2" charset="-122"/>
                <a:ea typeface="华文新魏" panose="02010800040101010101" pitchFamily="2" charset="-122"/>
              </a:rPr>
              <a:t>移位运算符</a:t>
            </a:r>
            <a:r>
              <a:rPr lang="en-US" altLang="zh-CN" dirty="0">
                <a:solidFill>
                  <a:srgbClr val="FF0000"/>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sym typeface="+mn-ea"/>
              </a:rPr>
              <a:t>有</a:t>
            </a:r>
            <a:r>
              <a:rPr lang="en-US" altLang="zh-CN" dirty="0">
                <a:solidFill>
                  <a:srgbClr val="0000FF"/>
                </a:solidFill>
                <a:latin typeface="华文新魏" panose="02010800040101010101" pitchFamily="2" charset="-122"/>
                <a:ea typeface="华文新魏" panose="02010800040101010101" pitchFamily="2" charset="-122"/>
                <a:sym typeface="+mn-ea"/>
              </a:rPr>
              <a:t>6</a:t>
            </a:r>
            <a:r>
              <a:rPr lang="zh-CN" altLang="en-US" dirty="0">
                <a:solidFill>
                  <a:schemeClr val="tx1"/>
                </a:solidFill>
                <a:latin typeface="华文新魏" panose="02010800040101010101" pitchFamily="2" charset="-122"/>
                <a:ea typeface="华文新魏" panose="02010800040101010101" pitchFamily="2" charset="-122"/>
                <a:sym typeface="+mn-ea"/>
              </a:rPr>
              <a:t>种，</a:t>
            </a:r>
            <a:r>
              <a:rPr lang="en-US" altLang="zh-CN" dirty="0" err="1">
                <a:solidFill>
                  <a:schemeClr val="tx1"/>
                </a:solidFill>
                <a:latin typeface="华文新魏" panose="02010800040101010101" pitchFamily="2" charset="-122"/>
                <a:ea typeface="华文新魏" panose="02010800040101010101" pitchFamily="2" charset="-122"/>
                <a:sym typeface="+mn-ea"/>
              </a:rPr>
              <a:t>sll</a:t>
            </a:r>
            <a:r>
              <a:rPr lang="zh-CN" altLang="en-US" dirty="0">
                <a:solidFill>
                  <a:schemeClr val="tx1"/>
                </a:solidFill>
                <a:latin typeface="华文新魏" panose="02010800040101010101" pitchFamily="2" charset="-122"/>
                <a:ea typeface="华文新魏" panose="02010800040101010101" pitchFamily="2" charset="-122"/>
                <a:sym typeface="+mn-ea"/>
              </a:rPr>
              <a:t>（逻辑左移），</a:t>
            </a:r>
            <a:r>
              <a:rPr lang="en-US" altLang="zh-CN" dirty="0" err="1">
                <a:solidFill>
                  <a:schemeClr val="tx1"/>
                </a:solidFill>
                <a:latin typeface="华文新魏" panose="02010800040101010101" pitchFamily="2" charset="-122"/>
                <a:ea typeface="华文新魏" panose="02010800040101010101" pitchFamily="2" charset="-122"/>
                <a:sym typeface="+mn-ea"/>
              </a:rPr>
              <a:t>srl</a:t>
            </a:r>
            <a:r>
              <a:rPr lang="zh-CN" altLang="en-US" dirty="0">
                <a:solidFill>
                  <a:schemeClr val="tx1"/>
                </a:solidFill>
                <a:latin typeface="华文新魏" panose="02010800040101010101" pitchFamily="2" charset="-122"/>
                <a:ea typeface="华文新魏" panose="02010800040101010101" pitchFamily="2" charset="-122"/>
                <a:sym typeface="+mn-ea"/>
              </a:rPr>
              <a:t>（逻辑右移），</a:t>
            </a:r>
            <a:r>
              <a:rPr lang="en-US" altLang="zh-CN" dirty="0" err="1">
                <a:solidFill>
                  <a:schemeClr val="tx1"/>
                </a:solidFill>
                <a:latin typeface="华文新魏" panose="02010800040101010101" pitchFamily="2" charset="-122"/>
                <a:ea typeface="华文新魏" panose="02010800040101010101" pitchFamily="2" charset="-122"/>
                <a:sym typeface="+mn-ea"/>
              </a:rPr>
              <a:t>sla</a:t>
            </a:r>
            <a:r>
              <a:rPr lang="zh-CN" altLang="en-US" dirty="0">
                <a:solidFill>
                  <a:schemeClr val="tx1"/>
                </a:solidFill>
                <a:latin typeface="华文新魏" panose="02010800040101010101" pitchFamily="2" charset="-122"/>
                <a:ea typeface="华文新魏" panose="02010800040101010101" pitchFamily="2" charset="-122"/>
                <a:sym typeface="+mn-ea"/>
              </a:rPr>
              <a:t>（算术左移），</a:t>
            </a:r>
            <a:r>
              <a:rPr lang="en-US" altLang="zh-CN" dirty="0" err="1">
                <a:solidFill>
                  <a:schemeClr val="tx1"/>
                </a:solidFill>
                <a:latin typeface="华文新魏" panose="02010800040101010101" pitchFamily="2" charset="-122"/>
                <a:ea typeface="华文新魏" panose="02010800040101010101" pitchFamily="2" charset="-122"/>
                <a:sym typeface="+mn-ea"/>
              </a:rPr>
              <a:t>sra</a:t>
            </a:r>
            <a:r>
              <a:rPr lang="zh-CN" altLang="en-US" dirty="0">
                <a:solidFill>
                  <a:schemeClr val="tx1"/>
                </a:solidFill>
                <a:latin typeface="华文新魏" panose="02010800040101010101" pitchFamily="2" charset="-122"/>
                <a:ea typeface="华文新魏" panose="02010800040101010101" pitchFamily="2" charset="-122"/>
                <a:sym typeface="+mn-ea"/>
              </a:rPr>
              <a:t>（算术右移），</a:t>
            </a:r>
            <a:r>
              <a:rPr lang="en-US" altLang="zh-CN" dirty="0" err="1">
                <a:solidFill>
                  <a:schemeClr val="tx1"/>
                </a:solidFill>
                <a:latin typeface="华文新魏" panose="02010800040101010101" pitchFamily="2" charset="-122"/>
                <a:ea typeface="华文新魏" panose="02010800040101010101" pitchFamily="2" charset="-122"/>
                <a:sym typeface="+mn-ea"/>
              </a:rPr>
              <a:t>rol</a:t>
            </a:r>
            <a:r>
              <a:rPr lang="zh-CN" altLang="en-US" dirty="0">
                <a:solidFill>
                  <a:schemeClr val="tx1"/>
                </a:solidFill>
                <a:latin typeface="华文新魏" panose="02010800040101010101" pitchFamily="2" charset="-122"/>
                <a:ea typeface="华文新魏" panose="02010800040101010101" pitchFamily="2" charset="-122"/>
                <a:sym typeface="+mn-ea"/>
              </a:rPr>
              <a:t>（逻辑循环左移）， </a:t>
            </a:r>
            <a:r>
              <a:rPr lang="en-US" altLang="zh-CN" dirty="0" err="1">
                <a:solidFill>
                  <a:schemeClr val="tx1"/>
                </a:solidFill>
                <a:latin typeface="华文新魏" panose="02010800040101010101" pitchFamily="2" charset="-122"/>
                <a:ea typeface="华文新魏" panose="02010800040101010101" pitchFamily="2" charset="-122"/>
                <a:sym typeface="+mn-ea"/>
              </a:rPr>
              <a:t>ror</a:t>
            </a:r>
            <a:r>
              <a:rPr lang="zh-CN" altLang="en-US" dirty="0">
                <a:solidFill>
                  <a:schemeClr val="tx1"/>
                </a:solidFill>
                <a:latin typeface="华文新魏" panose="02010800040101010101" pitchFamily="2" charset="-122"/>
                <a:ea typeface="华文新魏" panose="02010800040101010101" pitchFamily="2" charset="-122"/>
                <a:sym typeface="+mn-ea"/>
              </a:rPr>
              <a:t>（逻辑循环右移）。</a:t>
            </a:r>
            <a:endParaRPr lang="zh-CN" altLang="en-US"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 calcmode="lin" valueType="num">
                                      <p:cBhvr additive="base">
                                        <p:cTn id="7" dur="500" fill="hold"/>
                                        <p:tgtEl>
                                          <p:spTgt spid="140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0291">
                                            <p:txEl>
                                              <p:pRg st="1" end="1"/>
                                            </p:txEl>
                                          </p:spTgt>
                                        </p:tgtEl>
                                        <p:attrNameLst>
                                          <p:attrName>style.visibility</p:attrName>
                                        </p:attrNameLst>
                                      </p:cBhvr>
                                      <p:to>
                                        <p:strVal val="visible"/>
                                      </p:to>
                                    </p:set>
                                    <p:anim calcmode="lin" valueType="num">
                                      <p:cBhvr additive="base">
                                        <p:cTn id="13" dur="500" fill="hold"/>
                                        <p:tgtEl>
                                          <p:spTgt spid="140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0291">
                                            <p:txEl>
                                              <p:pRg st="2" end="2"/>
                                            </p:txEl>
                                          </p:spTgt>
                                        </p:tgtEl>
                                        <p:attrNameLst>
                                          <p:attrName>style.visibility</p:attrName>
                                        </p:attrNameLst>
                                      </p:cBhvr>
                                      <p:to>
                                        <p:strVal val="visible"/>
                                      </p:to>
                                    </p:set>
                                    <p:anim calcmode="lin" valueType="num">
                                      <p:cBhvr additive="base">
                                        <p:cTn id="19" dur="500" fill="hold"/>
                                        <p:tgtEl>
                                          <p:spTgt spid="1402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0291">
                                            <p:txEl>
                                              <p:pRg st="3" end="3"/>
                                            </p:txEl>
                                          </p:spTgt>
                                        </p:tgtEl>
                                        <p:attrNameLst>
                                          <p:attrName>style.visibility</p:attrName>
                                        </p:attrNameLst>
                                      </p:cBhvr>
                                      <p:to>
                                        <p:strVal val="visible"/>
                                      </p:to>
                                    </p:set>
                                    <p:anim calcmode="lin" valueType="num">
                                      <p:cBhvr additive="base">
                                        <p:cTn id="25" dur="500" fill="hold"/>
                                        <p:tgtEl>
                                          <p:spTgt spid="1402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02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0291">
                                            <p:txEl>
                                              <p:pRg st="4" end="4"/>
                                            </p:txEl>
                                          </p:spTgt>
                                        </p:tgtEl>
                                        <p:attrNameLst>
                                          <p:attrName>style.visibility</p:attrName>
                                        </p:attrNameLst>
                                      </p:cBhvr>
                                      <p:to>
                                        <p:strVal val="visible"/>
                                      </p:to>
                                    </p:set>
                                    <p:anim calcmode="lin" valueType="num">
                                      <p:cBhvr additive="base">
                                        <p:cTn id="31" dur="500" fill="hold"/>
                                        <p:tgtEl>
                                          <p:spTgt spid="1402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029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文本框 1"/>
          <p:cNvSpPr txBox="1"/>
          <p:nvPr/>
        </p:nvSpPr>
        <p:spPr>
          <a:xfrm>
            <a:off x="2700338" y="447040"/>
            <a:ext cx="2449512" cy="460375"/>
          </a:xfrm>
          <a:prstGeom prst="rect">
            <a:avLst/>
          </a:prstGeom>
          <a:noFill/>
          <a:ln w="9525">
            <a:noFill/>
          </a:ln>
        </p:spPr>
        <p:txBody>
          <a:bodyPr>
            <a:spAutoFit/>
          </a:bodyPr>
          <a:lstStyle/>
          <a:p>
            <a:r>
              <a:rPr lang="zh-CN" altLang="en-US" sz="2400" b="1" dirty="0">
                <a:solidFill>
                  <a:srgbClr val="FF0066"/>
                </a:solidFill>
                <a:latin typeface="华文新魏" panose="02010800040101010101" pitchFamily="2" charset="-122"/>
                <a:ea typeface="华文新魏" panose="02010800040101010101" pitchFamily="2" charset="-122"/>
              </a:rPr>
              <a:t>运算符优先级</a:t>
            </a:r>
          </a:p>
        </p:txBody>
      </p:sp>
      <p:sp>
        <p:nvSpPr>
          <p:cNvPr id="141315" name="文本框 2"/>
          <p:cNvSpPr txBox="1"/>
          <p:nvPr/>
        </p:nvSpPr>
        <p:spPr>
          <a:xfrm>
            <a:off x="170815" y="915670"/>
            <a:ext cx="8973185" cy="4246245"/>
          </a:xfrm>
          <a:prstGeom prst="rect">
            <a:avLst/>
          </a:prstGeom>
          <a:noFill/>
          <a:ln w="9525">
            <a:noFill/>
          </a:ln>
        </p:spPr>
        <p:txBody>
          <a:bodyPr wrap="square">
            <a:spAutoFit/>
          </a:bodyPr>
          <a:lstStyle/>
          <a:p>
            <a:pPr>
              <a:lnSpc>
                <a:spcPct val="125000"/>
              </a:lnSpc>
              <a:buFont typeface="Wingdings" panose="05000000000000000000" pitchFamily="2" charset="2"/>
              <a:buChar char="Ø"/>
            </a:pPr>
            <a:r>
              <a:rPr lang="zh-CN" altLang="en-US" sz="2400" dirty="0">
                <a:solidFill>
                  <a:schemeClr val="tx1"/>
                </a:solidFill>
                <a:latin typeface="华文新魏" panose="02010800040101010101" pitchFamily="2" charset="-122"/>
                <a:ea typeface="华文新魏" panose="02010800040101010101" pitchFamily="2" charset="-122"/>
              </a:rPr>
              <a:t>**（乘方），</a:t>
            </a:r>
            <a:r>
              <a:rPr lang="en-US" altLang="zh-CN" sz="2400">
                <a:solidFill>
                  <a:schemeClr val="tx1"/>
                </a:solidFill>
                <a:latin typeface="华文新魏" panose="02010800040101010101" pitchFamily="2" charset="-122"/>
                <a:ea typeface="华文新魏" panose="02010800040101010101" pitchFamily="2" charset="-122"/>
              </a:rPr>
              <a:t>abs</a:t>
            </a:r>
            <a:r>
              <a:rPr lang="zh-CN" altLang="en-US" sz="2400" dirty="0">
                <a:solidFill>
                  <a:schemeClr val="tx1"/>
                </a:solidFill>
                <a:latin typeface="华文新魏" panose="02010800040101010101" pitchFamily="2" charset="-122"/>
                <a:ea typeface="华文新魏" panose="02010800040101010101" pitchFamily="2" charset="-122"/>
              </a:rPr>
              <a:t>（取绝对值），</a:t>
            </a:r>
            <a:r>
              <a:rPr lang="en-US" altLang="zh-CN" sz="2400">
                <a:solidFill>
                  <a:schemeClr val="tx1"/>
                </a:solidFill>
                <a:latin typeface="华文新魏" panose="02010800040101010101" pitchFamily="2" charset="-122"/>
                <a:ea typeface="华文新魏" panose="02010800040101010101" pitchFamily="2" charset="-122"/>
              </a:rPr>
              <a:t>not</a:t>
            </a:r>
          </a:p>
          <a:p>
            <a:pPr>
              <a:lnSpc>
                <a:spcPct val="125000"/>
              </a:lnSpc>
              <a:buFont typeface="Wingdings" panose="05000000000000000000" pitchFamily="2" charset="2"/>
              <a:buChar char="Ø"/>
            </a:pP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（乘），</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（除），</a:t>
            </a:r>
            <a:r>
              <a:rPr lang="en-US" altLang="zh-CN" sz="2400">
                <a:solidFill>
                  <a:schemeClr val="tx1"/>
                </a:solidFill>
                <a:latin typeface="华文新魏" panose="02010800040101010101" pitchFamily="2" charset="-122"/>
                <a:ea typeface="华文新魏" panose="02010800040101010101" pitchFamily="2" charset="-122"/>
              </a:rPr>
              <a:t>mod</a:t>
            </a:r>
            <a:r>
              <a:rPr lang="zh-CN" altLang="en-US" sz="2400" dirty="0">
                <a:solidFill>
                  <a:schemeClr val="tx1"/>
                </a:solidFill>
                <a:latin typeface="华文新魏" panose="02010800040101010101" pitchFamily="2" charset="-122"/>
                <a:ea typeface="华文新魏" panose="02010800040101010101" pitchFamily="2" charset="-122"/>
              </a:rPr>
              <a:t>（取模），</a:t>
            </a:r>
            <a:r>
              <a:rPr lang="en-US" altLang="zh-CN" sz="2400" err="1">
                <a:solidFill>
                  <a:schemeClr val="tx1"/>
                </a:solidFill>
                <a:latin typeface="华文新魏" panose="02010800040101010101" pitchFamily="2" charset="-122"/>
                <a:ea typeface="华文新魏" panose="02010800040101010101" pitchFamily="2" charset="-122"/>
              </a:rPr>
              <a:t>rem</a:t>
            </a:r>
            <a:r>
              <a:rPr lang="zh-CN" altLang="en-US" sz="2400" dirty="0">
                <a:solidFill>
                  <a:schemeClr val="tx1"/>
                </a:solidFill>
                <a:latin typeface="华文新魏" panose="02010800040101010101" pitchFamily="2" charset="-122"/>
                <a:ea typeface="华文新魏" panose="02010800040101010101" pitchFamily="2" charset="-122"/>
              </a:rPr>
              <a:t>（求余）</a:t>
            </a:r>
          </a:p>
          <a:p>
            <a:pPr>
              <a:lnSpc>
                <a:spcPct val="125000"/>
              </a:lnSpc>
              <a:buFont typeface="Wingdings" panose="05000000000000000000" pitchFamily="2" charset="2"/>
              <a:buChar char="Ø"/>
            </a:pP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（正号），</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（负号）</a:t>
            </a:r>
          </a:p>
          <a:p>
            <a:pPr>
              <a:lnSpc>
                <a:spcPct val="125000"/>
              </a:lnSpc>
              <a:buFont typeface="Wingdings" panose="05000000000000000000" pitchFamily="2" charset="2"/>
              <a:buChar char="Ø"/>
            </a:pP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（加），</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（减），</a:t>
            </a:r>
            <a:r>
              <a:rPr lang="en-US" altLang="zh-CN" sz="2400">
                <a:solidFill>
                  <a:schemeClr val="tx1"/>
                </a:solidFill>
                <a:latin typeface="华文新魏" panose="02010800040101010101" pitchFamily="2" charset="-122"/>
                <a:ea typeface="华文新魏" panose="02010800040101010101" pitchFamily="2" charset="-122"/>
              </a:rPr>
              <a:t>&amp;</a:t>
            </a:r>
            <a:r>
              <a:rPr lang="zh-CN" altLang="en-US" sz="2400" dirty="0">
                <a:solidFill>
                  <a:schemeClr val="tx1"/>
                </a:solidFill>
                <a:latin typeface="华文新魏" panose="02010800040101010101" pitchFamily="2" charset="-122"/>
                <a:ea typeface="华文新魏" panose="02010800040101010101" pitchFamily="2" charset="-122"/>
              </a:rPr>
              <a:t>（并置）</a:t>
            </a:r>
          </a:p>
          <a:p>
            <a:pPr>
              <a:lnSpc>
                <a:spcPct val="125000"/>
              </a:lnSpc>
              <a:buFont typeface="Wingdings" panose="05000000000000000000" pitchFamily="2" charset="2"/>
              <a:buChar char="Ø"/>
            </a:pPr>
            <a:r>
              <a:rPr lang="en-US" altLang="zh-CN" sz="2400" err="1">
                <a:solidFill>
                  <a:schemeClr val="tx1"/>
                </a:solidFill>
                <a:latin typeface="华文新魏" panose="02010800040101010101" pitchFamily="2" charset="-122"/>
                <a:ea typeface="华文新魏" panose="02010800040101010101" pitchFamily="2" charset="-122"/>
              </a:rPr>
              <a:t>sll</a:t>
            </a:r>
            <a:r>
              <a:rPr lang="zh-CN" altLang="en-US" sz="2400" dirty="0">
                <a:solidFill>
                  <a:schemeClr val="tx1"/>
                </a:solidFill>
                <a:latin typeface="华文新魏" panose="02010800040101010101" pitchFamily="2" charset="-122"/>
                <a:ea typeface="华文新魏" panose="02010800040101010101" pitchFamily="2" charset="-122"/>
              </a:rPr>
              <a:t>（逻辑左移），</a:t>
            </a:r>
            <a:r>
              <a:rPr lang="en-US" altLang="zh-CN" sz="2400" err="1">
                <a:solidFill>
                  <a:schemeClr val="tx1"/>
                </a:solidFill>
                <a:latin typeface="华文新魏" panose="02010800040101010101" pitchFamily="2" charset="-122"/>
                <a:ea typeface="华文新魏" panose="02010800040101010101" pitchFamily="2" charset="-122"/>
              </a:rPr>
              <a:t>srl</a:t>
            </a:r>
            <a:r>
              <a:rPr lang="zh-CN" altLang="en-US" sz="2400" dirty="0">
                <a:solidFill>
                  <a:schemeClr val="tx1"/>
                </a:solidFill>
                <a:latin typeface="华文新魏" panose="02010800040101010101" pitchFamily="2" charset="-122"/>
                <a:ea typeface="华文新魏" panose="02010800040101010101" pitchFamily="2" charset="-122"/>
              </a:rPr>
              <a:t>（逻辑右移），</a:t>
            </a:r>
            <a:r>
              <a:rPr lang="en-US" altLang="zh-CN" sz="2400" err="1">
                <a:solidFill>
                  <a:schemeClr val="tx1"/>
                </a:solidFill>
                <a:latin typeface="华文新魏" panose="02010800040101010101" pitchFamily="2" charset="-122"/>
                <a:ea typeface="华文新魏" panose="02010800040101010101" pitchFamily="2" charset="-122"/>
              </a:rPr>
              <a:t>sla</a:t>
            </a:r>
            <a:r>
              <a:rPr lang="zh-CN" altLang="en-US" sz="2400" dirty="0">
                <a:solidFill>
                  <a:schemeClr val="tx1"/>
                </a:solidFill>
                <a:latin typeface="华文新魏" panose="02010800040101010101" pitchFamily="2" charset="-122"/>
                <a:ea typeface="华文新魏" panose="02010800040101010101" pitchFamily="2" charset="-122"/>
              </a:rPr>
              <a:t>（算术左移），</a:t>
            </a:r>
            <a:r>
              <a:rPr lang="en-US" altLang="zh-CN" sz="2400" err="1">
                <a:solidFill>
                  <a:schemeClr val="tx1"/>
                </a:solidFill>
                <a:latin typeface="华文新魏" panose="02010800040101010101" pitchFamily="2" charset="-122"/>
                <a:ea typeface="华文新魏" panose="02010800040101010101" pitchFamily="2" charset="-122"/>
              </a:rPr>
              <a:t>sra</a:t>
            </a:r>
            <a:r>
              <a:rPr lang="zh-CN" altLang="en-US" sz="2400" dirty="0">
                <a:solidFill>
                  <a:schemeClr val="tx1"/>
                </a:solidFill>
                <a:latin typeface="华文新魏" panose="02010800040101010101" pitchFamily="2" charset="-122"/>
                <a:ea typeface="华文新魏" panose="02010800040101010101" pitchFamily="2" charset="-122"/>
              </a:rPr>
              <a:t>（算术右移），</a:t>
            </a:r>
            <a:r>
              <a:rPr lang="en-US" altLang="zh-CN" sz="2400" err="1">
                <a:solidFill>
                  <a:schemeClr val="tx1"/>
                </a:solidFill>
                <a:latin typeface="华文新魏" panose="02010800040101010101" pitchFamily="2" charset="-122"/>
                <a:ea typeface="华文新魏" panose="02010800040101010101" pitchFamily="2" charset="-122"/>
              </a:rPr>
              <a:t>rol</a:t>
            </a:r>
            <a:r>
              <a:rPr lang="zh-CN" altLang="en-US" sz="2400" dirty="0">
                <a:solidFill>
                  <a:schemeClr val="tx1"/>
                </a:solidFill>
                <a:latin typeface="华文新魏" panose="02010800040101010101" pitchFamily="2" charset="-122"/>
                <a:ea typeface="华文新魏" panose="02010800040101010101" pitchFamily="2" charset="-122"/>
              </a:rPr>
              <a:t>（逻辑循环左移）， </a:t>
            </a:r>
            <a:r>
              <a:rPr lang="en-US" altLang="zh-CN" sz="2400" err="1">
                <a:solidFill>
                  <a:schemeClr val="tx1"/>
                </a:solidFill>
                <a:latin typeface="华文新魏" panose="02010800040101010101" pitchFamily="2" charset="-122"/>
                <a:ea typeface="华文新魏" panose="02010800040101010101" pitchFamily="2" charset="-122"/>
              </a:rPr>
              <a:t>ror</a:t>
            </a:r>
            <a:r>
              <a:rPr lang="zh-CN" altLang="en-US" sz="2400" dirty="0">
                <a:solidFill>
                  <a:schemeClr val="tx1"/>
                </a:solidFill>
                <a:latin typeface="华文新魏" panose="02010800040101010101" pitchFamily="2" charset="-122"/>
                <a:ea typeface="华文新魏" panose="02010800040101010101" pitchFamily="2" charset="-122"/>
              </a:rPr>
              <a:t>（逻辑循环右移）</a:t>
            </a:r>
          </a:p>
          <a:p>
            <a:pPr>
              <a:lnSpc>
                <a:spcPct val="125000"/>
              </a:lnSpc>
              <a:buFont typeface="Wingdings" panose="05000000000000000000" pitchFamily="2" charset="2"/>
              <a:buChar char="Ø"/>
            </a:pP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&lt;</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&lt;=</a:t>
            </a:r>
            <a:r>
              <a:rPr lang="zh-CN" altLang="en-US" sz="2400" dirty="0">
                <a:solidFill>
                  <a:schemeClr val="tx1"/>
                </a:solidFill>
                <a:latin typeface="华文新魏" panose="02010800040101010101" pitchFamily="2" charset="-122"/>
                <a:ea typeface="华文新魏" panose="02010800040101010101" pitchFamily="2" charset="-122"/>
              </a:rPr>
              <a:t>（小于等于），</a:t>
            </a:r>
            <a:r>
              <a:rPr lang="en-US" altLang="zh-CN" sz="2400">
                <a:solidFill>
                  <a:schemeClr val="tx1"/>
                </a:solidFill>
                <a:latin typeface="华文新魏" panose="02010800040101010101" pitchFamily="2" charset="-122"/>
                <a:ea typeface="华文新魏" panose="02010800040101010101" pitchFamily="2" charset="-122"/>
              </a:rPr>
              <a:t>&gt;</a:t>
            </a:r>
            <a:r>
              <a:rPr lang="zh-CN" altLang="en-US" sz="2400" dirty="0">
                <a:solidFill>
                  <a:schemeClr val="tx1"/>
                </a:solidFill>
                <a:latin typeface="华文新魏" panose="02010800040101010101" pitchFamily="2" charset="-122"/>
                <a:ea typeface="华文新魏" panose="02010800040101010101" pitchFamily="2" charset="-122"/>
              </a:rPr>
              <a:t>（大于），</a:t>
            </a:r>
            <a:r>
              <a:rPr lang="en-US" altLang="zh-CN" sz="2400">
                <a:solidFill>
                  <a:schemeClr val="tx1"/>
                </a:solidFill>
                <a:latin typeface="华文新魏" panose="02010800040101010101" pitchFamily="2" charset="-122"/>
                <a:ea typeface="华文新魏" panose="02010800040101010101" pitchFamily="2" charset="-122"/>
              </a:rPr>
              <a:t>&gt;=</a:t>
            </a:r>
            <a:r>
              <a:rPr lang="zh-CN" altLang="en-US" sz="2400" dirty="0">
                <a:solidFill>
                  <a:schemeClr val="tx1"/>
                </a:solidFill>
                <a:latin typeface="华文新魏" panose="02010800040101010101" pitchFamily="2" charset="-122"/>
                <a:ea typeface="华文新魏" panose="02010800040101010101" pitchFamily="2" charset="-122"/>
              </a:rPr>
              <a:t>（大于等于） </a:t>
            </a:r>
          </a:p>
          <a:p>
            <a:pPr>
              <a:lnSpc>
                <a:spcPct val="125000"/>
              </a:lnSpc>
              <a:buFont typeface="Wingdings" panose="05000000000000000000" pitchFamily="2" charset="2"/>
              <a:buChar char="Ø"/>
            </a:pPr>
            <a:r>
              <a:rPr lang="en-US" altLang="zh-CN" sz="2400">
                <a:solidFill>
                  <a:schemeClr val="tx1"/>
                </a:solidFill>
                <a:latin typeface="华文新魏" panose="02010800040101010101" pitchFamily="2" charset="-122"/>
                <a:ea typeface="华文新魏" panose="02010800040101010101" pitchFamily="2" charset="-122"/>
              </a:rPr>
              <a:t>and</a:t>
            </a:r>
            <a:r>
              <a:rPr lang="zh-CN" altLang="en-US" sz="2400" dirty="0">
                <a:solidFill>
                  <a:schemeClr val="tx1"/>
                </a:solidFill>
                <a:latin typeface="华文新魏" panose="02010800040101010101" pitchFamily="2" charset="-122"/>
                <a:ea typeface="华文新魏" panose="02010800040101010101" pitchFamily="2" charset="-122"/>
              </a:rPr>
              <a:t>（与），</a:t>
            </a:r>
            <a:r>
              <a:rPr lang="en-US" altLang="zh-CN" sz="2400">
                <a:solidFill>
                  <a:schemeClr val="tx1"/>
                </a:solidFill>
                <a:latin typeface="华文新魏" panose="02010800040101010101" pitchFamily="2" charset="-122"/>
                <a:ea typeface="华文新魏" panose="02010800040101010101" pitchFamily="2" charset="-122"/>
              </a:rPr>
              <a:t>or</a:t>
            </a:r>
            <a:r>
              <a:rPr lang="zh-CN" altLang="en-US" sz="2400" dirty="0">
                <a:solidFill>
                  <a:schemeClr val="tx1"/>
                </a:solidFill>
                <a:latin typeface="华文新魏" panose="02010800040101010101" pitchFamily="2" charset="-122"/>
                <a:ea typeface="华文新魏" panose="02010800040101010101" pitchFamily="2" charset="-122"/>
              </a:rPr>
              <a:t>（或），</a:t>
            </a:r>
            <a:r>
              <a:rPr lang="en-US" altLang="zh-CN" sz="2400" err="1">
                <a:solidFill>
                  <a:schemeClr val="tx1"/>
                </a:solidFill>
                <a:latin typeface="华文新魏" panose="02010800040101010101" pitchFamily="2" charset="-122"/>
                <a:ea typeface="华文新魏" panose="02010800040101010101" pitchFamily="2" charset="-122"/>
              </a:rPr>
              <a:t>nand</a:t>
            </a:r>
            <a:r>
              <a:rPr lang="zh-CN" altLang="en-US" sz="2400" dirty="0">
                <a:solidFill>
                  <a:schemeClr val="tx1"/>
                </a:solidFill>
                <a:latin typeface="华文新魏" panose="02010800040101010101" pitchFamily="2" charset="-122"/>
                <a:ea typeface="华文新魏" panose="02010800040101010101" pitchFamily="2" charset="-122"/>
              </a:rPr>
              <a:t>（与非），</a:t>
            </a:r>
            <a:r>
              <a:rPr lang="en-US" altLang="zh-CN" sz="2400">
                <a:solidFill>
                  <a:schemeClr val="tx1"/>
                </a:solidFill>
                <a:latin typeface="华文新魏" panose="02010800040101010101" pitchFamily="2" charset="-122"/>
                <a:ea typeface="华文新魏" panose="02010800040101010101" pitchFamily="2" charset="-122"/>
              </a:rPr>
              <a:t>nor</a:t>
            </a:r>
            <a:r>
              <a:rPr lang="zh-CN" altLang="en-US" sz="2400" dirty="0">
                <a:solidFill>
                  <a:schemeClr val="tx1"/>
                </a:solidFill>
                <a:latin typeface="华文新魏" panose="02010800040101010101" pitchFamily="2" charset="-122"/>
                <a:ea typeface="华文新魏" panose="02010800040101010101" pitchFamily="2" charset="-122"/>
              </a:rPr>
              <a:t>（或非），</a:t>
            </a:r>
            <a:r>
              <a:rPr lang="en-US" altLang="zh-CN" sz="2400" err="1">
                <a:solidFill>
                  <a:schemeClr val="tx1"/>
                </a:solidFill>
                <a:latin typeface="华文新魏" panose="02010800040101010101" pitchFamily="2" charset="-122"/>
                <a:ea typeface="华文新魏" panose="02010800040101010101" pitchFamily="2" charset="-122"/>
              </a:rPr>
              <a:t>xor</a:t>
            </a:r>
            <a:r>
              <a:rPr lang="zh-CN" altLang="en-US" sz="2400" dirty="0">
                <a:solidFill>
                  <a:schemeClr val="tx1"/>
                </a:solidFill>
                <a:latin typeface="华文新魏" panose="02010800040101010101" pitchFamily="2" charset="-122"/>
                <a:ea typeface="华文新魏" panose="02010800040101010101" pitchFamily="2" charset="-122"/>
              </a:rPr>
              <a:t>（异或），</a:t>
            </a:r>
            <a:r>
              <a:rPr lang="en-US" altLang="zh-CN" sz="2400" err="1">
                <a:solidFill>
                  <a:schemeClr val="tx1"/>
                </a:solidFill>
                <a:latin typeface="华文新魏" panose="02010800040101010101" pitchFamily="2" charset="-122"/>
                <a:ea typeface="华文新魏" panose="02010800040101010101" pitchFamily="2" charset="-122"/>
              </a:rPr>
              <a:t>xnor</a:t>
            </a:r>
            <a:r>
              <a:rPr lang="zh-CN" altLang="en-US" sz="2400" dirty="0">
                <a:solidFill>
                  <a:schemeClr val="tx1"/>
                </a:solidFill>
                <a:latin typeface="华文新魏" panose="02010800040101010101" pitchFamily="2" charset="-122"/>
                <a:ea typeface="华文新魏" panose="02010800040101010101" pitchFamily="2" charset="-122"/>
              </a:rPr>
              <a:t>（同或）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 calcmode="lin" valueType="num">
                                      <p:cBhvr additive="base">
                                        <p:cTn id="7" dur="500" fill="hold"/>
                                        <p:tgtEl>
                                          <p:spTgt spid="141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1315">
                                            <p:txEl>
                                              <p:pRg st="1" end="1"/>
                                            </p:txEl>
                                          </p:spTgt>
                                        </p:tgtEl>
                                        <p:attrNameLst>
                                          <p:attrName>style.visibility</p:attrName>
                                        </p:attrNameLst>
                                      </p:cBhvr>
                                      <p:to>
                                        <p:strVal val="visible"/>
                                      </p:to>
                                    </p:set>
                                    <p:anim calcmode="lin" valueType="num">
                                      <p:cBhvr additive="base">
                                        <p:cTn id="13" dur="500" fill="hold"/>
                                        <p:tgtEl>
                                          <p:spTgt spid="141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1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1315">
                                            <p:txEl>
                                              <p:pRg st="2" end="2"/>
                                            </p:txEl>
                                          </p:spTgt>
                                        </p:tgtEl>
                                        <p:attrNameLst>
                                          <p:attrName>style.visibility</p:attrName>
                                        </p:attrNameLst>
                                      </p:cBhvr>
                                      <p:to>
                                        <p:strVal val="visible"/>
                                      </p:to>
                                    </p:set>
                                    <p:anim calcmode="lin" valueType="num">
                                      <p:cBhvr additive="base">
                                        <p:cTn id="19" dur="500" fill="hold"/>
                                        <p:tgtEl>
                                          <p:spTgt spid="141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1315">
                                            <p:txEl>
                                              <p:pRg st="3" end="3"/>
                                            </p:txEl>
                                          </p:spTgt>
                                        </p:tgtEl>
                                        <p:attrNameLst>
                                          <p:attrName>style.visibility</p:attrName>
                                        </p:attrNameLst>
                                      </p:cBhvr>
                                      <p:to>
                                        <p:strVal val="visible"/>
                                      </p:to>
                                    </p:set>
                                    <p:anim calcmode="lin" valueType="num">
                                      <p:cBhvr additive="base">
                                        <p:cTn id="25" dur="500" fill="hold"/>
                                        <p:tgtEl>
                                          <p:spTgt spid="141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1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1315">
                                            <p:txEl>
                                              <p:pRg st="4" end="4"/>
                                            </p:txEl>
                                          </p:spTgt>
                                        </p:tgtEl>
                                        <p:attrNameLst>
                                          <p:attrName>style.visibility</p:attrName>
                                        </p:attrNameLst>
                                      </p:cBhvr>
                                      <p:to>
                                        <p:strVal val="visible"/>
                                      </p:to>
                                    </p:set>
                                    <p:anim calcmode="lin" valueType="num">
                                      <p:cBhvr additive="base">
                                        <p:cTn id="31" dur="500" fill="hold"/>
                                        <p:tgtEl>
                                          <p:spTgt spid="141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1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1315">
                                            <p:txEl>
                                              <p:pRg st="5" end="5"/>
                                            </p:txEl>
                                          </p:spTgt>
                                        </p:tgtEl>
                                        <p:attrNameLst>
                                          <p:attrName>style.visibility</p:attrName>
                                        </p:attrNameLst>
                                      </p:cBhvr>
                                      <p:to>
                                        <p:strVal val="visible"/>
                                      </p:to>
                                    </p:set>
                                    <p:anim calcmode="lin" valueType="num">
                                      <p:cBhvr additive="base">
                                        <p:cTn id="37" dur="500" fill="hold"/>
                                        <p:tgtEl>
                                          <p:spTgt spid="141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13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1315">
                                            <p:txEl>
                                              <p:pRg st="6" end="6"/>
                                            </p:txEl>
                                          </p:spTgt>
                                        </p:tgtEl>
                                        <p:attrNameLst>
                                          <p:attrName>style.visibility</p:attrName>
                                        </p:attrNameLst>
                                      </p:cBhvr>
                                      <p:to>
                                        <p:strVal val="visible"/>
                                      </p:to>
                                    </p:set>
                                    <p:anim calcmode="lin" valueType="num">
                                      <p:cBhvr additive="base">
                                        <p:cTn id="43" dur="500" fill="hold"/>
                                        <p:tgtEl>
                                          <p:spTgt spid="14131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13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矩形 3"/>
          <p:cNvSpPr/>
          <p:nvPr/>
        </p:nvSpPr>
        <p:spPr>
          <a:xfrm>
            <a:off x="1297305" y="771525"/>
            <a:ext cx="6991350" cy="53403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2400" b="1">
                <a:solidFill>
                  <a:srgbClr val="FF0000"/>
                </a:solidFill>
                <a:latin typeface="华文新魏" panose="02010800040101010101" pitchFamily="2" charset="-122"/>
                <a:ea typeface="华文新魏" panose="02010800040101010101" pitchFamily="2" charset="-122"/>
              </a:rPr>
              <a:t>4.4.2  </a:t>
            </a:r>
            <a:r>
              <a:rPr lang="zh-CN" altLang="en-US" sz="2400" dirty="0">
                <a:solidFill>
                  <a:srgbClr val="FF0000"/>
                </a:solidFill>
                <a:latin typeface="华文新魏" panose="02010800040101010101" pitchFamily="2" charset="-122"/>
                <a:ea typeface="华文新魏" panose="02010800040101010101" pitchFamily="2" charset="-122"/>
              </a:rPr>
              <a:t>常用语句</a:t>
            </a:r>
            <a:r>
              <a:rPr lang="zh-CN" altLang="en-US" sz="2400" dirty="0">
                <a:solidFill>
                  <a:srgbClr val="0000FF"/>
                </a:solidFill>
                <a:latin typeface="华文新魏" panose="02010800040101010101" pitchFamily="2" charset="-122"/>
                <a:ea typeface="华文新魏" panose="02010800040101010101" pitchFamily="2" charset="-122"/>
              </a:rPr>
              <a:t>（分为两类：并行语句和顺序语句）</a:t>
            </a:r>
          </a:p>
        </p:txBody>
      </p:sp>
      <p:sp>
        <p:nvSpPr>
          <p:cNvPr id="142339" name="文本框 1"/>
          <p:cNvSpPr txBox="1"/>
          <p:nvPr/>
        </p:nvSpPr>
        <p:spPr>
          <a:xfrm>
            <a:off x="1332230" y="1993900"/>
            <a:ext cx="6463030" cy="1568450"/>
          </a:xfrm>
          <a:prstGeom prst="rect">
            <a:avLst/>
          </a:prstGeom>
          <a:noFill/>
          <a:ln w="9525">
            <a:noFill/>
          </a:ln>
        </p:spPr>
        <p:txBody>
          <a:bodyPr wrap="square">
            <a:spAutoFit/>
          </a:bodyPr>
          <a:lstStyle/>
          <a:p>
            <a:r>
              <a:rPr lang="en-US" altLang="zh-CN" sz="2400">
                <a:solidFill>
                  <a:schemeClr val="tx1"/>
                </a:solidFill>
                <a:latin typeface="华文新魏" panose="02010800040101010101" pitchFamily="2" charset="-122"/>
                <a:ea typeface="华文新魏" panose="02010800040101010101" pitchFamily="2" charset="-122"/>
              </a:rPr>
              <a:t>VHDL 5</a:t>
            </a:r>
            <a:r>
              <a:rPr lang="zh-CN" altLang="en-US" sz="2400" dirty="0">
                <a:solidFill>
                  <a:schemeClr val="tx1"/>
                </a:solidFill>
                <a:latin typeface="华文新魏" panose="02010800040101010101" pitchFamily="2" charset="-122"/>
                <a:ea typeface="华文新魏" panose="02010800040101010101" pitchFamily="2" charset="-122"/>
              </a:rPr>
              <a:t>种常用</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并行</a:t>
            </a:r>
            <a:r>
              <a:rPr lang="zh-CN" altLang="en-US" sz="2400" dirty="0">
                <a:solidFill>
                  <a:schemeClr val="tx1"/>
                </a:solidFill>
                <a:latin typeface="华文新魏" panose="02010800040101010101" pitchFamily="2" charset="-122"/>
                <a:ea typeface="华文新魏" panose="02010800040101010101" pitchFamily="2" charset="-122"/>
              </a:rPr>
              <a:t>、顺序</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语句</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说明语句、赋值语句、</a:t>
            </a:r>
            <a:r>
              <a:rPr lang="en-US" altLang="zh-CN" sz="2400">
                <a:solidFill>
                  <a:srgbClr val="FF0000"/>
                </a:solidFill>
                <a:latin typeface="华文新魏" panose="02010800040101010101" pitchFamily="2" charset="-122"/>
                <a:ea typeface="华文新魏" panose="02010800040101010101" pitchFamily="2" charset="-122"/>
              </a:rPr>
              <a:t>if</a:t>
            </a:r>
            <a:r>
              <a:rPr lang="zh-CN" altLang="en-US" sz="2400" dirty="0">
                <a:solidFill>
                  <a:srgbClr val="FF0000"/>
                </a:solidFill>
                <a:latin typeface="华文新魏" panose="02010800040101010101" pitchFamily="2" charset="-122"/>
                <a:ea typeface="华文新魏" panose="02010800040101010101" pitchFamily="2" charset="-122"/>
              </a:rPr>
              <a:t>语句、</a:t>
            </a:r>
            <a:r>
              <a:rPr lang="en-US" altLang="zh-CN" sz="2400">
                <a:solidFill>
                  <a:srgbClr val="FF0000"/>
                </a:solidFill>
                <a:latin typeface="华文新魏" panose="02010800040101010101" pitchFamily="2" charset="-122"/>
                <a:ea typeface="华文新魏" panose="02010800040101010101" pitchFamily="2" charset="-122"/>
              </a:rPr>
              <a:t>case</a:t>
            </a:r>
            <a:r>
              <a:rPr lang="zh-CN" altLang="en-US" sz="2400" dirty="0">
                <a:solidFill>
                  <a:srgbClr val="FF0000"/>
                </a:solidFill>
                <a:latin typeface="华文新魏" panose="02010800040101010101" pitchFamily="2" charset="-122"/>
                <a:ea typeface="华文新魏" panose="02010800040101010101" pitchFamily="2" charset="-122"/>
              </a:rPr>
              <a:t>语句</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a:solidFill>
                  <a:srgbClr val="FF0000"/>
                </a:solidFill>
                <a:latin typeface="华文新魏" panose="02010800040101010101" pitchFamily="2" charset="-122"/>
                <a:ea typeface="华文新魏" panose="02010800040101010101" pitchFamily="2" charset="-122"/>
              </a:rPr>
              <a:t>process</a:t>
            </a:r>
            <a:r>
              <a:rPr lang="zh-CN" altLang="en-US" sz="2400" dirty="0">
                <a:solidFill>
                  <a:srgbClr val="FF0000"/>
                </a:solidFill>
                <a:latin typeface="华文新魏" panose="02010800040101010101" pitchFamily="2" charset="-122"/>
                <a:ea typeface="华文新魏" panose="02010800040101010101" pitchFamily="2" charset="-122"/>
              </a:rPr>
              <a:t>语句</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中的所有语句都以半角分号</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结束。一个完整的</a:t>
            </a: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设计是由一系列语句构成。</a:t>
            </a:r>
            <a:endParaRPr lang="en-US" altLang="zh-CN" sz="240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矩形 3"/>
          <p:cNvSpPr/>
          <p:nvPr/>
        </p:nvSpPr>
        <p:spPr>
          <a:xfrm>
            <a:off x="1390650" y="615950"/>
            <a:ext cx="1778000" cy="511175"/>
          </a:xfrm>
          <a:prstGeom prst="rect">
            <a:avLst/>
          </a:prstGeom>
          <a:noFill/>
          <a:ln w="9525">
            <a:noFill/>
          </a:ln>
        </p:spPr>
        <p:txBody>
          <a:bodyPr wrap="none">
            <a:spAutoFit/>
          </a:bodyPr>
          <a:lstStyle/>
          <a:p>
            <a:pPr eaLnBrk="1" hangingPunct="1">
              <a:lnSpc>
                <a:spcPct val="120000"/>
              </a:lnSpc>
              <a:buFont typeface="Arial" panose="020B0604020202020204" pitchFamily="34" charset="0"/>
            </a:pPr>
            <a:r>
              <a:rPr lang="en-US" altLang="zh-CN" sz="2400" b="1">
                <a:solidFill>
                  <a:srgbClr val="FF0066"/>
                </a:solidFill>
                <a:latin typeface="华文新魏" panose="02010800040101010101" pitchFamily="2" charset="-122"/>
                <a:ea typeface="华文新魏" panose="02010800040101010101" pitchFamily="2" charset="-122"/>
              </a:rPr>
              <a:t>1.  </a:t>
            </a:r>
            <a:r>
              <a:rPr lang="zh-CN" altLang="en-US" sz="2400" b="1" dirty="0">
                <a:solidFill>
                  <a:srgbClr val="FF0066"/>
                </a:solidFill>
                <a:latin typeface="华文新魏" panose="02010800040101010101" pitchFamily="2" charset="-122"/>
                <a:ea typeface="华文新魏" panose="02010800040101010101" pitchFamily="2" charset="-122"/>
              </a:rPr>
              <a:t>说明语句</a:t>
            </a:r>
            <a:endParaRPr lang="en-US" altLang="zh-CN" sz="2400" b="1">
              <a:solidFill>
                <a:srgbClr val="FF0066"/>
              </a:solidFill>
              <a:latin typeface="华文新魏" panose="02010800040101010101" pitchFamily="2" charset="-122"/>
              <a:ea typeface="华文新魏" panose="02010800040101010101" pitchFamily="2" charset="-122"/>
            </a:endParaRPr>
          </a:p>
        </p:txBody>
      </p:sp>
      <p:sp>
        <p:nvSpPr>
          <p:cNvPr id="143363" name="文本框 1"/>
          <p:cNvSpPr txBox="1"/>
          <p:nvPr/>
        </p:nvSpPr>
        <p:spPr>
          <a:xfrm>
            <a:off x="1403350" y="1419225"/>
            <a:ext cx="7129463" cy="120015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常量、变量和</a:t>
            </a:r>
            <a:r>
              <a:rPr lang="zh-CN" altLang="en-US" sz="2400" dirty="0">
                <a:solidFill>
                  <a:srgbClr val="FF0000"/>
                </a:solidFill>
                <a:latin typeface="华文新魏" panose="02010800040101010101" pitchFamily="2" charset="-122"/>
                <a:ea typeface="华文新魏" panose="02010800040101010101" pitchFamily="2" charset="-122"/>
              </a:rPr>
              <a:t>信号</a:t>
            </a:r>
            <a:r>
              <a:rPr lang="zh-CN" altLang="en-US" sz="2400" dirty="0">
                <a:solidFill>
                  <a:schemeClr val="tx1"/>
                </a:solidFill>
                <a:latin typeface="华文新魏" panose="02010800040101010101" pitchFamily="2" charset="-122"/>
                <a:ea typeface="华文新魏" panose="02010800040101010101" pitchFamily="2" charset="-122"/>
              </a:rPr>
              <a:t>只有经过说明语句说明后才能使用。常量、变量和信号说明的作用是指出被说明的对象使用何种数据类型。</a:t>
            </a: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143364" name="矩形 1"/>
          <p:cNvSpPr/>
          <p:nvPr/>
        </p:nvSpPr>
        <p:spPr>
          <a:xfrm>
            <a:off x="1403350" y="2932113"/>
            <a:ext cx="7006590" cy="1568450"/>
          </a:xfrm>
          <a:prstGeom prst="rect">
            <a:avLst/>
          </a:prstGeom>
          <a:noFill/>
          <a:ln w="9525">
            <a:noFill/>
          </a:ln>
        </p:spPr>
        <p:txBody>
          <a:bodyPr wrap="none">
            <a:spAutoFit/>
          </a:bodyPr>
          <a:lstStyle/>
          <a:p>
            <a:r>
              <a:rPr lang="zh-CN" altLang="en-US" sz="2400" dirty="0">
                <a:solidFill>
                  <a:srgbClr val="0000FF"/>
                </a:solidFill>
                <a:latin typeface="华文新魏" panose="02010800040101010101" pitchFamily="2" charset="-122"/>
                <a:ea typeface="华文新魏" panose="02010800040101010101" pitchFamily="2" charset="-122"/>
              </a:rPr>
              <a:t>常量说明语句</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r>
              <a:rPr lang="en-US" altLang="zh-CN" sz="2400">
                <a:solidFill>
                  <a:srgbClr val="FF0000"/>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constant </a:t>
            </a:r>
            <a:r>
              <a:rPr lang="zh-CN" altLang="en-US" sz="2400" dirty="0">
                <a:solidFill>
                  <a:schemeClr val="tx1"/>
                </a:solidFill>
                <a:latin typeface="华文新魏" panose="02010800040101010101" pitchFamily="2" charset="-122"/>
                <a:ea typeface="华文新魏" panose="02010800040101010101" pitchFamily="2" charset="-122"/>
              </a:rPr>
              <a:t>常量名</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数据类型 </a:t>
            </a:r>
            <a:r>
              <a:rPr lang="en-US" altLang="zh-CN" sz="2400">
                <a:solidFill>
                  <a:srgbClr val="FF0000"/>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a:solidFill>
                  <a:schemeClr val="tx1"/>
                </a:solidFill>
                <a:latin typeface="华文新魏" panose="02010800040101010101" pitchFamily="2" charset="-122"/>
                <a:ea typeface="华文新魏" panose="02010800040101010101" pitchFamily="2" charset="-122"/>
              </a:rPr>
              <a:t>;</a:t>
            </a:r>
          </a:p>
          <a:p>
            <a:r>
              <a:rPr lang="en-US" altLang="zh-CN" sz="2400">
                <a:solidFill>
                  <a:schemeClr val="tx1"/>
                </a:solidFill>
                <a:latin typeface="华文新魏" panose="02010800040101010101" pitchFamily="2" charset="-122"/>
                <a:ea typeface="华文新魏" panose="02010800040101010101" pitchFamily="2" charset="-122"/>
              </a:rPr>
              <a:t>	</a:t>
            </a:r>
          </a:p>
          <a:p>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例如，</a:t>
            </a:r>
            <a:r>
              <a:rPr lang="en-US" altLang="zh-CN" sz="2400">
                <a:solidFill>
                  <a:srgbClr val="FF0000"/>
                </a:solidFill>
                <a:latin typeface="华文新魏" panose="02010800040101010101" pitchFamily="2" charset="-122"/>
                <a:ea typeface="华文新魏" panose="02010800040101010101" pitchFamily="2" charset="-122"/>
              </a:rPr>
              <a:t>constant</a:t>
            </a:r>
            <a:r>
              <a:rPr lang="en-US" altLang="zh-CN" sz="2400">
                <a:solidFill>
                  <a:schemeClr val="tx1"/>
                </a:solidFill>
                <a:latin typeface="华文新魏" panose="02010800040101010101" pitchFamily="2" charset="-122"/>
                <a:ea typeface="华文新魏" panose="02010800040101010101" pitchFamily="2" charset="-122"/>
              </a:rPr>
              <a:t>  high: integer </a:t>
            </a:r>
            <a:r>
              <a:rPr lang="en-US" altLang="zh-CN" sz="240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100;</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矩形 3"/>
          <p:cNvSpPr/>
          <p:nvPr/>
        </p:nvSpPr>
        <p:spPr>
          <a:xfrm>
            <a:off x="313055" y="843280"/>
            <a:ext cx="8569960" cy="1605280"/>
          </a:xfrm>
          <a:prstGeom prst="rect">
            <a:avLst/>
          </a:prstGeom>
          <a:noFill/>
          <a:ln w="9525">
            <a:noFill/>
          </a:ln>
        </p:spPr>
        <p:txBody>
          <a:bodyPr wrap="square">
            <a:spAutoFit/>
          </a:bodyPr>
          <a:lstStyle/>
          <a:p>
            <a:r>
              <a:rPr lang="zh-CN" altLang="en-US" sz="2400" dirty="0">
                <a:solidFill>
                  <a:srgbClr val="0000FF"/>
                </a:solidFill>
                <a:latin typeface="华文新魏" panose="02010800040101010101" pitchFamily="2" charset="-122"/>
                <a:ea typeface="华文新魏" panose="02010800040101010101" pitchFamily="2" charset="-122"/>
              </a:rPr>
              <a:t>变量说明语句</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dirty="0">
              <a:solidFill>
                <a:schemeClr val="tx1"/>
              </a:solidFill>
              <a:latin typeface="华文新魏" panose="02010800040101010101" pitchFamily="2" charset="-122"/>
              <a:ea typeface="华文新魏" panose="02010800040101010101" pitchFamily="2" charset="-122"/>
            </a:endParaRPr>
          </a:p>
          <a:p>
            <a:pPr>
              <a:lnSpc>
                <a:spcPct val="210000"/>
              </a:lnSpc>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variable </a:t>
            </a:r>
            <a:r>
              <a:rPr lang="zh-CN" altLang="en-US" sz="2400" dirty="0">
                <a:solidFill>
                  <a:schemeClr val="tx1"/>
                </a:solidFill>
                <a:latin typeface="华文新魏" panose="02010800040101010101" pitchFamily="2" charset="-122"/>
                <a:ea typeface="华文新魏" panose="02010800040101010101" pitchFamily="2" charset="-122"/>
              </a:rPr>
              <a:t>变量名</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数据类型约束条件 </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dirty="0">
                <a:solidFill>
                  <a:schemeClr val="tx1"/>
                </a:solidFill>
                <a:latin typeface="华文新魏" panose="02010800040101010101" pitchFamily="2" charset="-122"/>
                <a:ea typeface="华文新魏" panose="02010800040101010101" pitchFamily="2" charset="-122"/>
              </a:rPr>
              <a:t>;</a:t>
            </a:r>
          </a:p>
          <a:p>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例如，</a:t>
            </a:r>
            <a:r>
              <a:rPr lang="en-US" altLang="zh-CN" sz="2400" dirty="0">
                <a:solidFill>
                  <a:srgbClr val="FF0000"/>
                </a:solidFill>
                <a:latin typeface="华文新魏" panose="02010800040101010101" pitchFamily="2" charset="-122"/>
                <a:ea typeface="华文新魏" panose="02010800040101010101" pitchFamily="2" charset="-122"/>
              </a:rPr>
              <a:t>variable</a:t>
            </a:r>
            <a:r>
              <a:rPr lang="en-US" altLang="zh-CN" sz="2400" dirty="0">
                <a:solidFill>
                  <a:schemeClr val="tx1"/>
                </a:solidFill>
                <a:latin typeface="华文新魏" panose="02010800040101010101" pitchFamily="2" charset="-122"/>
                <a:ea typeface="华文新魏" panose="02010800040101010101" pitchFamily="2" charset="-122"/>
              </a:rPr>
              <a:t> counter: integer range 0 to 7 :=1; --</a:t>
            </a:r>
            <a:r>
              <a:rPr lang="zh-CN" altLang="en-US" sz="2400" dirty="0">
                <a:solidFill>
                  <a:schemeClr val="tx1"/>
                </a:solidFill>
                <a:latin typeface="华文新魏" panose="02010800040101010101" pitchFamily="2" charset="-122"/>
                <a:ea typeface="华文新魏" panose="02010800040101010101" pitchFamily="2" charset="-122"/>
              </a:rPr>
              <a:t>赋初值</a:t>
            </a:r>
            <a:r>
              <a:rPr lang="en-US" altLang="zh-CN" sz="2400" dirty="0">
                <a:solidFill>
                  <a:schemeClr val="tx1"/>
                </a:solidFill>
                <a:latin typeface="华文新魏" panose="02010800040101010101" pitchFamily="2" charset="-122"/>
                <a:ea typeface="华文新魏" panose="02010800040101010101" pitchFamily="2" charset="-122"/>
              </a:rPr>
              <a:t>1</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44387" name="矩形 4"/>
          <p:cNvSpPr/>
          <p:nvPr/>
        </p:nvSpPr>
        <p:spPr>
          <a:xfrm>
            <a:off x="323850" y="2930208"/>
            <a:ext cx="8820150" cy="1753235"/>
          </a:xfrm>
          <a:prstGeom prst="rect">
            <a:avLst/>
          </a:prstGeom>
          <a:noFill/>
          <a:ln w="9525">
            <a:noFill/>
          </a:ln>
        </p:spPr>
        <p:txBody>
          <a:bodyPr>
            <a:spAutoFit/>
          </a:bodyPr>
          <a:lstStyle/>
          <a:p>
            <a:pPr>
              <a:lnSpc>
                <a:spcPct val="150000"/>
              </a:lnSpc>
            </a:pPr>
            <a:r>
              <a:rPr lang="zh-CN" altLang="en-US" sz="2400" dirty="0">
                <a:solidFill>
                  <a:srgbClr val="0000FF"/>
                </a:solidFill>
                <a:latin typeface="华文新魏" panose="02010800040101010101" pitchFamily="2" charset="-122"/>
                <a:ea typeface="华文新魏" panose="02010800040101010101" pitchFamily="2" charset="-122"/>
              </a:rPr>
              <a:t>信号说明语句</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a:lnSpc>
                <a:spcPct val="150000"/>
              </a:lnSpc>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signal </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a:solidFill>
                  <a:schemeClr val="tx1"/>
                </a:solidFill>
                <a:latin typeface="华文新魏" panose="02010800040101010101" pitchFamily="2" charset="-122"/>
                <a:ea typeface="华文新魏" panose="02010800040101010101" pitchFamily="2" charset="-122"/>
              </a:rPr>
              <a:t>l,</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a:solidFill>
                  <a:schemeClr val="tx1"/>
                </a:solidFill>
                <a:latin typeface="华文新魏" panose="02010800040101010101" pitchFamily="2" charset="-122"/>
                <a:ea typeface="华文新魏" panose="02010800040101010101" pitchFamily="2" charset="-122"/>
              </a:rPr>
              <a:t>n: </a:t>
            </a:r>
            <a:r>
              <a:rPr lang="zh-CN" altLang="en-US" sz="2400" dirty="0">
                <a:solidFill>
                  <a:schemeClr val="tx1"/>
                </a:solidFill>
                <a:latin typeface="华文新魏" panose="02010800040101010101" pitchFamily="2" charset="-122"/>
                <a:ea typeface="华文新魏" panose="02010800040101010101" pitchFamily="2" charset="-122"/>
              </a:rPr>
              <a:t>数据类型</a:t>
            </a:r>
            <a:r>
              <a:rPr lang="en-US" altLang="zh-CN" sz="2400">
                <a:solidFill>
                  <a:schemeClr val="tx1"/>
                </a:solidFill>
                <a:latin typeface="华文新魏" panose="02010800040101010101" pitchFamily="2" charset="-122"/>
                <a:ea typeface="华文新魏" panose="02010800040101010101" pitchFamily="2" charset="-122"/>
              </a:rPr>
              <a:t>;</a:t>
            </a:r>
          </a:p>
          <a:p>
            <a:pPr>
              <a:lnSpc>
                <a:spcPct val="150000"/>
              </a:lnSpc>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例如，</a:t>
            </a:r>
            <a:r>
              <a:rPr lang="en-US" altLang="zh-CN" sz="2400">
                <a:solidFill>
                  <a:srgbClr val="FF0000"/>
                </a:solidFill>
                <a:latin typeface="华文新魏" panose="02010800040101010101" pitchFamily="2" charset="-122"/>
                <a:ea typeface="华文新魏" panose="02010800040101010101" pitchFamily="2" charset="-122"/>
              </a:rPr>
              <a:t>signal </a:t>
            </a:r>
            <a:r>
              <a:rPr lang="en-US" altLang="zh-CN" sz="2400">
                <a:solidFill>
                  <a:schemeClr val="tx1"/>
                </a:solidFill>
                <a:latin typeface="华文新魏" panose="02010800040101010101" pitchFamily="2" charset="-122"/>
                <a:ea typeface="华文新魏" panose="02010800040101010101" pitchFamily="2" charset="-122"/>
              </a:rPr>
              <a:t>clock: </a:t>
            </a:r>
            <a:r>
              <a:rPr lang="en-US" altLang="zh-CN" sz="2400" err="1">
                <a:solidFill>
                  <a:schemeClr val="tx1"/>
                </a:solidFill>
                <a:latin typeface="华文新魏" panose="02010800040101010101" pitchFamily="2" charset="-122"/>
                <a:ea typeface="华文新魏" panose="02010800040101010101" pitchFamily="2" charset="-122"/>
              </a:rPr>
              <a:t>std_logic</a:t>
            </a:r>
            <a:r>
              <a:rPr lang="en-US" altLang="zh-CN" sz="240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 calcmode="lin" valueType="num">
                                      <p:cBhvr additive="base">
                                        <p:cTn id="7" dur="500" fill="hold"/>
                                        <p:tgtEl>
                                          <p:spTgt spid="144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43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4387">
                                            <p:txEl>
                                              <p:pRg st="1" end="1"/>
                                            </p:txEl>
                                          </p:spTgt>
                                        </p:tgtEl>
                                        <p:attrNameLst>
                                          <p:attrName>style.visibility</p:attrName>
                                        </p:attrNameLst>
                                      </p:cBhvr>
                                      <p:to>
                                        <p:strVal val="visible"/>
                                      </p:to>
                                    </p:set>
                                    <p:anim calcmode="lin" valueType="num">
                                      <p:cBhvr additive="base">
                                        <p:cTn id="11" dur="500" fill="hold"/>
                                        <p:tgtEl>
                                          <p:spTgt spid="1443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43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4387">
                                            <p:txEl>
                                              <p:pRg st="2" end="2"/>
                                            </p:txEl>
                                          </p:spTgt>
                                        </p:tgtEl>
                                        <p:attrNameLst>
                                          <p:attrName>style.visibility</p:attrName>
                                        </p:attrNameLst>
                                      </p:cBhvr>
                                      <p:to>
                                        <p:strVal val="visible"/>
                                      </p:to>
                                    </p:set>
                                    <p:anim calcmode="lin" valueType="num">
                                      <p:cBhvr additive="base">
                                        <p:cTn id="15" dur="500" fill="hold"/>
                                        <p:tgtEl>
                                          <p:spTgt spid="1443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438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矩形 3"/>
          <p:cNvSpPr/>
          <p:nvPr/>
        </p:nvSpPr>
        <p:spPr>
          <a:xfrm>
            <a:off x="1014413" y="563563"/>
            <a:ext cx="1828800" cy="511175"/>
          </a:xfrm>
          <a:prstGeom prst="rect">
            <a:avLst/>
          </a:prstGeom>
          <a:noFill/>
          <a:ln w="9525">
            <a:noFill/>
          </a:ln>
        </p:spPr>
        <p:txBody>
          <a:bodyPr wrap="none">
            <a:spAutoFit/>
          </a:bodyPr>
          <a:lstStyle/>
          <a:p>
            <a:pPr eaLnBrk="1" hangingPunct="1">
              <a:lnSpc>
                <a:spcPct val="120000"/>
              </a:lnSpc>
              <a:buFont typeface="Arial" panose="020B0604020202020204" pitchFamily="34" charset="0"/>
            </a:pPr>
            <a:r>
              <a:rPr lang="en-US" altLang="zh-CN" sz="2400" b="1">
                <a:solidFill>
                  <a:srgbClr val="FF0066"/>
                </a:solidFill>
                <a:latin typeface="华文新魏" panose="02010800040101010101" pitchFamily="2" charset="-122"/>
                <a:ea typeface="华文新魏" panose="02010800040101010101" pitchFamily="2" charset="-122"/>
              </a:rPr>
              <a:t>2.  </a:t>
            </a:r>
            <a:r>
              <a:rPr lang="zh-CN" altLang="en-US" sz="2400" b="1" dirty="0">
                <a:solidFill>
                  <a:srgbClr val="FF0066"/>
                </a:solidFill>
                <a:latin typeface="华文新魏" panose="02010800040101010101" pitchFamily="2" charset="-122"/>
                <a:ea typeface="华文新魏" panose="02010800040101010101" pitchFamily="2" charset="-122"/>
              </a:rPr>
              <a:t>赋值语句</a:t>
            </a:r>
            <a:endParaRPr lang="en-US" altLang="zh-CN" sz="2400" b="1">
              <a:solidFill>
                <a:srgbClr val="FF0066"/>
              </a:solidFill>
              <a:latin typeface="华文新魏" panose="02010800040101010101" pitchFamily="2" charset="-122"/>
              <a:ea typeface="华文新魏" panose="02010800040101010101" pitchFamily="2" charset="-122"/>
            </a:endParaRPr>
          </a:p>
        </p:txBody>
      </p:sp>
      <p:sp>
        <p:nvSpPr>
          <p:cNvPr id="146435" name="文本框 1"/>
          <p:cNvSpPr txBox="1"/>
          <p:nvPr/>
        </p:nvSpPr>
        <p:spPr>
          <a:xfrm>
            <a:off x="971550" y="1163638"/>
            <a:ext cx="7704138" cy="822325"/>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赋值语句的作用是给</a:t>
            </a:r>
            <a:r>
              <a:rPr lang="zh-CN" altLang="en-US" sz="2400" dirty="0">
                <a:solidFill>
                  <a:srgbClr val="0000FF"/>
                </a:solidFill>
                <a:latin typeface="华文新魏" panose="02010800040101010101" pitchFamily="2" charset="-122"/>
                <a:ea typeface="华文新魏" panose="02010800040101010101" pitchFamily="2" charset="-122"/>
              </a:rPr>
              <a:t>信号或变量</a:t>
            </a:r>
            <a:r>
              <a:rPr lang="zh-CN" altLang="en-US" sz="2400" dirty="0">
                <a:solidFill>
                  <a:schemeClr val="tx1"/>
                </a:solidFill>
                <a:latin typeface="华文新魏" panose="02010800040101010101" pitchFamily="2" charset="-122"/>
                <a:ea typeface="华文新魏" panose="02010800040101010101" pitchFamily="2" charset="-122"/>
              </a:rPr>
              <a:t>赋值，它是将赋值符右边表达式的值赋给左边的信号或者变量。</a:t>
            </a: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146436" name="矩形 1"/>
          <p:cNvSpPr/>
          <p:nvPr/>
        </p:nvSpPr>
        <p:spPr>
          <a:xfrm>
            <a:off x="1331913" y="1995488"/>
            <a:ext cx="7200900" cy="1570037"/>
          </a:xfrm>
          <a:prstGeom prst="rect">
            <a:avLst/>
          </a:prstGeom>
          <a:noFill/>
          <a:ln w="9525">
            <a:noFill/>
          </a:ln>
        </p:spPr>
        <p:txBody>
          <a:bodyPr>
            <a:spAutoFit/>
          </a:bodyPr>
          <a:lstStyle/>
          <a:p>
            <a:r>
              <a:rPr lang="zh-CN" altLang="en-US" sz="2400" dirty="0">
                <a:solidFill>
                  <a:srgbClr val="0000FF"/>
                </a:solidFill>
                <a:latin typeface="华文新魏" panose="02010800040101010101" pitchFamily="2" charset="-122"/>
                <a:ea typeface="华文新魏" panose="02010800040101010101" pitchFamily="2" charset="-122"/>
              </a:rPr>
              <a:t>变量赋值</a:t>
            </a:r>
            <a:r>
              <a:rPr lang="zh-CN" altLang="en-US" sz="2400" dirty="0">
                <a:solidFill>
                  <a:schemeClr val="tx1"/>
                </a:solidFill>
                <a:latin typeface="华文新魏" panose="02010800040101010101" pitchFamily="2" charset="-122"/>
                <a:ea typeface="华文新魏" panose="02010800040101010101" pitchFamily="2" charset="-122"/>
              </a:rPr>
              <a:t>语句：</a:t>
            </a:r>
            <a:endParaRPr lang="en-US" altLang="zh-CN" sz="2400">
              <a:solidFill>
                <a:schemeClr val="tx1"/>
              </a:solidFill>
              <a:latin typeface="华文新魏" panose="02010800040101010101" pitchFamily="2" charset="-122"/>
              <a:ea typeface="华文新魏" panose="02010800040101010101" pitchFamily="2" charset="-122"/>
            </a:endParaRPr>
          </a:p>
          <a:p>
            <a:r>
              <a:rPr lang="en-US" altLang="zh-CN" sz="2400">
                <a:solidFill>
                  <a:srgbClr val="FF0000"/>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：变量名 </a:t>
            </a:r>
            <a:r>
              <a:rPr lang="en-US" altLang="zh-CN" sz="240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a:solidFill>
                  <a:schemeClr val="tx1"/>
                </a:solidFill>
                <a:latin typeface="华文新魏" panose="02010800040101010101" pitchFamily="2" charset="-122"/>
                <a:ea typeface="华文新魏" panose="02010800040101010101" pitchFamily="2" charset="-122"/>
              </a:rPr>
              <a:t>;</a:t>
            </a:r>
          </a:p>
          <a:p>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例如，</a:t>
            </a:r>
            <a:r>
              <a:rPr lang="en-US" altLang="zh-CN" sz="2400">
                <a:solidFill>
                  <a:schemeClr val="tx1"/>
                </a:solidFill>
                <a:latin typeface="华文新魏" panose="02010800040101010101" pitchFamily="2" charset="-122"/>
                <a:ea typeface="华文新魏" panose="02010800040101010101" pitchFamily="2" charset="-122"/>
              </a:rPr>
              <a:t>variable  counter: integer range 0 to 7;</a:t>
            </a:r>
          </a:p>
          <a:p>
            <a:r>
              <a:rPr lang="en-US" altLang="zh-CN" sz="2400">
                <a:solidFill>
                  <a:schemeClr val="tx1"/>
                </a:solidFill>
                <a:latin typeface="华文新魏" panose="02010800040101010101" pitchFamily="2" charset="-122"/>
                <a:ea typeface="华文新魏" panose="02010800040101010101" pitchFamily="2" charset="-122"/>
              </a:rPr>
              <a:t>      	             counter </a:t>
            </a:r>
            <a:r>
              <a:rPr lang="en-US" altLang="zh-CN" sz="240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1;</a:t>
            </a:r>
          </a:p>
        </p:txBody>
      </p:sp>
      <p:sp>
        <p:nvSpPr>
          <p:cNvPr id="146437" name="矩形 4"/>
          <p:cNvSpPr/>
          <p:nvPr/>
        </p:nvSpPr>
        <p:spPr>
          <a:xfrm>
            <a:off x="1331913" y="3543618"/>
            <a:ext cx="6911975" cy="1570037"/>
          </a:xfrm>
          <a:prstGeom prst="rect">
            <a:avLst/>
          </a:prstGeom>
          <a:noFill/>
          <a:ln w="9525" cap="flat" cmpd="sng">
            <a:solidFill>
              <a:srgbClr val="000000"/>
            </a:solidFill>
            <a:prstDash val="solid"/>
            <a:miter/>
            <a:headEnd type="none" w="med" len="med"/>
            <a:tailEnd type="none" w="med" len="med"/>
          </a:ln>
        </p:spPr>
        <p:txBody>
          <a:bodyPr>
            <a:spAutoFit/>
          </a:bodyPr>
          <a:lstStyle/>
          <a:p>
            <a:r>
              <a:rPr lang="zh-CN" altLang="en-US" sz="2400" dirty="0">
                <a:solidFill>
                  <a:srgbClr val="0000FF"/>
                </a:solidFill>
                <a:latin typeface="华文新魏" panose="02010800040101010101" pitchFamily="2" charset="-122"/>
                <a:ea typeface="华文新魏" panose="02010800040101010101" pitchFamily="2" charset="-122"/>
              </a:rPr>
              <a:t>信号赋值</a:t>
            </a:r>
            <a:r>
              <a:rPr lang="zh-CN" altLang="en-US" sz="2400" dirty="0">
                <a:solidFill>
                  <a:schemeClr val="tx1"/>
                </a:solidFill>
                <a:latin typeface="华文新魏" panose="02010800040101010101" pitchFamily="2" charset="-122"/>
                <a:ea typeface="华文新魏" panose="02010800040101010101" pitchFamily="2" charset="-122"/>
              </a:rPr>
              <a:t>语句：</a:t>
            </a:r>
            <a:endParaRPr lang="en-US" altLang="zh-CN" sz="2400">
              <a:solidFill>
                <a:schemeClr val="tx1"/>
              </a:solidFill>
              <a:latin typeface="华文新魏" panose="02010800040101010101" pitchFamily="2" charset="-122"/>
              <a:ea typeface="华文新魏" panose="02010800040101010101" pitchFamily="2" charset="-122"/>
            </a:endParaRPr>
          </a:p>
          <a:p>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：信号名 </a:t>
            </a:r>
            <a:r>
              <a:rPr lang="en-US" altLang="zh-CN" sz="2400">
                <a:solidFill>
                  <a:srgbClr val="0000FF"/>
                </a:solidFill>
                <a:latin typeface="华文新魏" panose="02010800040101010101" pitchFamily="2" charset="-122"/>
                <a:ea typeface="华文新魏" panose="02010800040101010101" pitchFamily="2" charset="-122"/>
              </a:rPr>
              <a:t>&lt;=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a:solidFill>
                  <a:schemeClr val="tx1"/>
                </a:solidFill>
                <a:latin typeface="华文新魏" panose="02010800040101010101" pitchFamily="2" charset="-122"/>
                <a:ea typeface="华文新魏" panose="02010800040101010101" pitchFamily="2" charset="-122"/>
              </a:rPr>
              <a:t>;	</a:t>
            </a:r>
          </a:p>
          <a:p>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例如，</a:t>
            </a:r>
            <a:r>
              <a:rPr lang="en-US" altLang="zh-CN" sz="2400">
                <a:solidFill>
                  <a:schemeClr val="tx1"/>
                </a:solidFill>
                <a:latin typeface="华文新魏" panose="02010800040101010101" pitchFamily="2" charset="-122"/>
                <a:ea typeface="华文新魏" panose="02010800040101010101" pitchFamily="2" charset="-122"/>
              </a:rPr>
              <a:t>signal </a:t>
            </a:r>
            <a:r>
              <a:rPr lang="en-US" altLang="zh-CN" sz="2400" err="1">
                <a:solidFill>
                  <a:schemeClr val="tx1"/>
                </a:solidFill>
                <a:latin typeface="华文新魏" panose="02010800040101010101" pitchFamily="2" charset="-122"/>
                <a:ea typeface="华文新魏" panose="02010800040101010101" pitchFamily="2" charset="-122"/>
              </a:rPr>
              <a:t>clk</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clock: </a:t>
            </a:r>
            <a:r>
              <a:rPr lang="en-US" altLang="zh-CN" sz="2400" err="1">
                <a:solidFill>
                  <a:schemeClr val="tx1"/>
                </a:solidFill>
                <a:latin typeface="华文新魏" panose="02010800040101010101" pitchFamily="2" charset="-122"/>
                <a:ea typeface="华文新魏" panose="02010800040101010101" pitchFamily="2" charset="-122"/>
              </a:rPr>
              <a:t>std_logic</a:t>
            </a:r>
            <a:r>
              <a:rPr lang="en-US" altLang="zh-CN" sz="2400">
                <a:solidFill>
                  <a:schemeClr val="tx1"/>
                </a:solidFill>
                <a:latin typeface="华文新魏" panose="02010800040101010101" pitchFamily="2" charset="-122"/>
                <a:ea typeface="华文新魏" panose="02010800040101010101" pitchFamily="2" charset="-122"/>
              </a:rPr>
              <a:t>;</a:t>
            </a:r>
          </a:p>
          <a:p>
            <a:r>
              <a:rPr lang="en-US" altLang="zh-CN" sz="2400">
                <a:solidFill>
                  <a:schemeClr val="tx1"/>
                </a:solidFill>
                <a:latin typeface="华文新魏" panose="02010800040101010101" pitchFamily="2" charset="-122"/>
                <a:ea typeface="华文新魏" panose="02010800040101010101" pitchFamily="2" charset="-122"/>
              </a:rPr>
              <a:t>     		clock </a:t>
            </a:r>
            <a:r>
              <a:rPr lang="en-US" altLang="zh-CN" sz="2400">
                <a:solidFill>
                  <a:srgbClr val="FF0000"/>
                </a:solidFill>
                <a:latin typeface="华文新魏" panose="02010800040101010101" pitchFamily="2" charset="-122"/>
                <a:ea typeface="华文新魏" panose="02010800040101010101" pitchFamily="2" charset="-122"/>
              </a:rPr>
              <a:t>&lt;=</a:t>
            </a:r>
            <a:r>
              <a:rPr lang="en-US" altLang="zh-CN" sz="2400">
                <a:solidFill>
                  <a:schemeClr val="tx1"/>
                </a:solidFill>
                <a:latin typeface="华文新魏" panose="02010800040101010101" pitchFamily="2" charset="-122"/>
                <a:ea typeface="华文新魏" panose="02010800040101010101" pitchFamily="2" charset="-122"/>
              </a:rPr>
              <a:t> not </a:t>
            </a:r>
            <a:r>
              <a:rPr lang="en-US" altLang="zh-CN" sz="2400" err="1">
                <a:solidFill>
                  <a:schemeClr val="tx1"/>
                </a:solidFill>
                <a:latin typeface="华文新魏" panose="02010800040101010101" pitchFamily="2" charset="-122"/>
                <a:ea typeface="华文新魏" panose="02010800040101010101" pitchFamily="2" charset="-122"/>
              </a:rPr>
              <a:t>clk</a:t>
            </a:r>
            <a:r>
              <a:rPr lang="en-US" altLang="zh-CN" sz="2400">
                <a:solidFill>
                  <a:schemeClr val="tx1"/>
                </a:solidFill>
                <a:latin typeface="华文新魏" panose="02010800040101010101" pitchFamily="2" charset="-122"/>
                <a:ea typeface="华文新魏" panose="02010800040101010101" pitchFamily="2" charset="-122"/>
              </a:rPr>
              <a:t>;</a:t>
            </a:r>
          </a:p>
        </p:txBody>
      </p:sp>
      <p:sp>
        <p:nvSpPr>
          <p:cNvPr id="2" name="对话气泡: 圆角矩形 1">
            <a:extLst>
              <a:ext uri="{FF2B5EF4-FFF2-40B4-BE49-F238E27FC236}">
                <a16:creationId xmlns:a16="http://schemas.microsoft.com/office/drawing/2014/main" id="{8B9E48F8-9169-4EB4-9941-D21453DFCF0B}"/>
              </a:ext>
            </a:extLst>
          </p:cNvPr>
          <p:cNvSpPr/>
          <p:nvPr/>
        </p:nvSpPr>
        <p:spPr bwMode="auto">
          <a:xfrm>
            <a:off x="179512" y="2643758"/>
            <a:ext cx="1512168" cy="648072"/>
          </a:xfrm>
          <a:prstGeom prst="wedgeRoundRectCallout">
            <a:avLst>
              <a:gd name="adj1" fmla="val 108383"/>
              <a:gd name="adj2" fmla="val 65182"/>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变量和信号的赋值符号不同！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 calcmode="lin" valueType="num">
                                      <p:cBhvr additive="base">
                                        <p:cTn id="7" dur="500" fill="hold"/>
                                        <p:tgtEl>
                                          <p:spTgt spid="146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436"/>
                                        </p:tgtEl>
                                        <p:attrNameLst>
                                          <p:attrName>style.visibility</p:attrName>
                                        </p:attrNameLst>
                                      </p:cBhvr>
                                      <p:to>
                                        <p:strVal val="visible"/>
                                      </p:to>
                                    </p:set>
                                    <p:anim calcmode="lin" valueType="num">
                                      <p:cBhvr additive="base">
                                        <p:cTn id="13" dur="500" fill="hold"/>
                                        <p:tgtEl>
                                          <p:spTgt spid="146436"/>
                                        </p:tgtEl>
                                        <p:attrNameLst>
                                          <p:attrName>ppt_x</p:attrName>
                                        </p:attrNameLst>
                                      </p:cBhvr>
                                      <p:tavLst>
                                        <p:tav tm="0">
                                          <p:val>
                                            <p:strVal val="#ppt_x"/>
                                          </p:val>
                                        </p:tav>
                                        <p:tav tm="100000">
                                          <p:val>
                                            <p:strVal val="#ppt_x"/>
                                          </p:val>
                                        </p:tav>
                                      </p:tavLst>
                                    </p:anim>
                                    <p:anim calcmode="lin" valueType="num">
                                      <p:cBhvr additive="base">
                                        <p:cTn id="14" dur="500" fill="hold"/>
                                        <p:tgtEl>
                                          <p:spTgt spid="1464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6437"/>
                                        </p:tgtEl>
                                        <p:attrNameLst>
                                          <p:attrName>style.visibility</p:attrName>
                                        </p:attrNameLst>
                                      </p:cBhvr>
                                      <p:to>
                                        <p:strVal val="visible"/>
                                      </p:to>
                                    </p:set>
                                    <p:anim calcmode="lin" valueType="num">
                                      <p:cBhvr additive="base">
                                        <p:cTn id="19" dur="500" fill="hold"/>
                                        <p:tgtEl>
                                          <p:spTgt spid="146437"/>
                                        </p:tgtEl>
                                        <p:attrNameLst>
                                          <p:attrName>ppt_x</p:attrName>
                                        </p:attrNameLst>
                                      </p:cBhvr>
                                      <p:tavLst>
                                        <p:tav tm="0">
                                          <p:val>
                                            <p:strVal val="#ppt_x"/>
                                          </p:val>
                                        </p:tav>
                                        <p:tav tm="100000">
                                          <p:val>
                                            <p:strVal val="#ppt_x"/>
                                          </p:val>
                                        </p:tav>
                                      </p:tavLst>
                                    </p:anim>
                                    <p:anim calcmode="lin" valueType="num">
                                      <p:cBhvr additive="base">
                                        <p:cTn id="20" dur="500" fill="hold"/>
                                        <p:tgtEl>
                                          <p:spTgt spid="14643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p:bldP spid="146436" grpId="1"/>
      <p:bldP spid="146437" grpId="0" bldLvl="0" animBg="1"/>
      <p:bldP spid="146437" grpId="1" animBg="1"/>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4945" y="457200"/>
            <a:ext cx="8932545" cy="466153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3.  if</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语句</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a:lnSpc>
                <a:spcPts val="2080"/>
              </a:lnSpc>
              <a:spcBef>
                <a:spcPts val="6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if</a:t>
            </a: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语句是顺序执行语句，它根据指定条件来确定语句执行的顺序。</a:t>
            </a:r>
            <a:endPar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a:lnSpc>
                <a:spcPts val="208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828800" marR="0" lvl="4" indent="0" algn="l" defTabSz="914400" rtl="0">
              <a:lnSpc>
                <a:spcPts val="208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格式</a:t>
            </a: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if   </a:t>
            </a:r>
            <a:r>
              <a:rPr kumimoji="0" lang="zh-CN" altLang="en-US"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条件</a:t>
            </a:r>
            <a:r>
              <a:rPr kumimoji="0" lang="en-US" altLang="zh-CN"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1 </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then</a:t>
            </a:r>
            <a:endPar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3657600" marR="0" lvl="8"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若干顺序执行语句</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p>
          <a:p>
            <a:pPr marL="3657600" marR="0" lvl="8"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cs typeface="+mn-cs"/>
              </a:rPr>
              <a:t>elsif</a:t>
            </a:r>
            <a:r>
              <a:rPr kumimoji="0" lang="zh-CN" altLang="en-US"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条件</a:t>
            </a:r>
            <a:r>
              <a:rPr kumimoji="0" lang="en-US" altLang="zh-CN"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2</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then</a:t>
            </a:r>
          </a:p>
          <a:p>
            <a:pPr marL="3657600" marR="0" lvl="8"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若干顺序执行语句</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a:t>
            </a: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0" marR="0" lvl="2"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lang="zh-CN" altLang="en-US" sz="2400" dirty="0">
                <a:solidFill>
                  <a:srgbClr val="000000"/>
                </a:solidFill>
                <a:latin typeface="华文新魏" panose="02010800040101010101" pitchFamily="2" charset="-122"/>
                <a:ea typeface="华文新魏" panose="02010800040101010101" pitchFamily="2" charset="-122"/>
                <a:sym typeface="+mn-ea"/>
              </a:rPr>
              <a:t> </a:t>
            </a:r>
            <a:r>
              <a:rPr lang="en-US" altLang="zh-CN" sz="2400" dirty="0">
                <a:solidFill>
                  <a:srgbClr val="000000"/>
                </a:solidFill>
                <a:latin typeface="华文新魏" panose="02010800040101010101" pitchFamily="2" charset="-122"/>
                <a:ea typeface="华文新魏" panose="02010800040101010101" pitchFamily="2" charset="-122"/>
                <a:sym typeface="+mn-ea"/>
              </a:rPr>
              <a:t>                                                       </a:t>
            </a:r>
            <a:r>
              <a:rPr lang="zh-CN" altLang="en-US" sz="2400" dirty="0">
                <a:solidFill>
                  <a:srgbClr val="000000"/>
                </a:solidFill>
                <a:latin typeface="华文新魏" panose="02010800040101010101" pitchFamily="2" charset="-122"/>
                <a:ea typeface="华文新魏" panose="02010800040101010101" pitchFamily="2" charset="-122"/>
                <a:sym typeface="+mn-ea"/>
              </a:rPr>
              <a:t>。。。</a:t>
            </a:r>
            <a:endParaRPr lang="zh-CN" altLang="en-US" sz="2400" dirty="0">
              <a:solidFill>
                <a:srgbClr val="000000"/>
              </a:solidFill>
              <a:latin typeface="华文新魏" panose="02010800040101010101" pitchFamily="2" charset="-122"/>
              <a:ea typeface="华文新魏" panose="02010800040101010101" pitchFamily="2" charset="-122"/>
            </a:endParaRPr>
          </a:p>
          <a:p>
            <a:pPr marL="3657600" marR="0" lvl="8"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cs typeface="+mn-cs"/>
              </a:rPr>
              <a:t>elsif</a:t>
            </a:r>
            <a:r>
              <a:rPr kumimoji="0" lang="zh-CN" altLang="en-US"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条件</a:t>
            </a:r>
            <a:r>
              <a:rPr kumimoji="0" lang="en-US" altLang="zh-CN"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n-1</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then</a:t>
            </a:r>
          </a:p>
          <a:p>
            <a:pPr marL="3657600" marR="0" lvl="8"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若干顺序执行语句</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n-1</a:t>
            </a: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3657600" marR="0" lvl="8"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else</a:t>
            </a:r>
          </a:p>
          <a:p>
            <a:pPr marL="3657600" marR="0" lvl="8"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若干顺序执行语句</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n</a:t>
            </a:r>
            <a:r>
              <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3657600" marR="0" lvl="8"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end if</a:t>
            </a:r>
            <a:r>
              <a:rPr kumimoji="0" lang="zh-CN" altLang="en-US" sz="24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a:t>
            </a: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endParaRPr kumimoji="0" lang="zh-CN" altLang="en-US"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 name="文本框 2"/>
          <p:cNvSpPr txBox="1"/>
          <p:nvPr/>
        </p:nvSpPr>
        <p:spPr>
          <a:xfrm>
            <a:off x="251520" y="1779662"/>
            <a:ext cx="2513330" cy="2585323"/>
          </a:xfrm>
          <a:prstGeom prst="rect">
            <a:avLst/>
          </a:prstGeom>
          <a:noFill/>
        </p:spPr>
        <p:txBody>
          <a:bodyPr wrap="square" rtlCol="0">
            <a:spAutoFit/>
          </a:bodyPr>
          <a:lstStyle/>
          <a:p>
            <a:r>
              <a:rPr lang="en-US" altLang="zh-CN" sz="1800" dirty="0">
                <a:solidFill>
                  <a:srgbClr val="0000FF"/>
                </a:solidFill>
                <a:latin typeface="华文新魏" panose="02010800040101010101" pitchFamily="2" charset="-122"/>
                <a:ea typeface="华文新魏" panose="02010800040101010101" pitchFamily="2" charset="-122"/>
              </a:rPr>
              <a:t>1.</a:t>
            </a:r>
            <a:r>
              <a:rPr lang="zh-CN" altLang="en-US" sz="1800" dirty="0">
                <a:solidFill>
                  <a:srgbClr val="0000FF"/>
                </a:solidFill>
                <a:latin typeface="华文新魏" panose="02010800040101010101" pitchFamily="2" charset="-122"/>
                <a:ea typeface="华文新魏" panose="02010800040101010101" pitchFamily="2" charset="-122"/>
              </a:rPr>
              <a:t>门闩型</a:t>
            </a:r>
            <a:r>
              <a:rPr lang="en-US" altLang="zh-CN" sz="1800" dirty="0">
                <a:solidFill>
                  <a:srgbClr val="0000FF"/>
                </a:solidFill>
                <a:latin typeface="华文新魏" panose="02010800040101010101" pitchFamily="2" charset="-122"/>
                <a:ea typeface="华文新魏" panose="02010800040101010101" pitchFamily="2" charset="-122"/>
              </a:rPr>
              <a:t>if</a:t>
            </a:r>
            <a:r>
              <a:rPr lang="zh-CN" altLang="en-US" sz="1800" dirty="0">
                <a:solidFill>
                  <a:srgbClr val="0000FF"/>
                </a:solidFill>
                <a:latin typeface="华文新魏" panose="02010800040101010101" pitchFamily="2" charset="-122"/>
                <a:ea typeface="华文新魏" panose="02010800040101010101" pitchFamily="2" charset="-122"/>
              </a:rPr>
              <a:t>语句</a:t>
            </a:r>
          </a:p>
          <a:p>
            <a:r>
              <a:rPr lang="en-US" altLang="zh-CN" sz="1800" dirty="0">
                <a:solidFill>
                  <a:srgbClr val="0000FF"/>
                </a:solidFill>
                <a:latin typeface="华文新魏" panose="02010800040101010101" pitchFamily="2" charset="-122"/>
                <a:ea typeface="华文新魏" panose="02010800040101010101" pitchFamily="2" charset="-122"/>
              </a:rPr>
              <a:t>   if </a:t>
            </a:r>
            <a:r>
              <a:rPr lang="zh-CN" altLang="en-US" sz="1800" dirty="0">
                <a:solidFill>
                  <a:srgbClr val="0000FF"/>
                </a:solidFill>
                <a:latin typeface="华文新魏" panose="02010800040101010101" pitchFamily="2" charset="-122"/>
                <a:ea typeface="华文新魏" panose="02010800040101010101" pitchFamily="2" charset="-122"/>
              </a:rPr>
              <a:t>条件</a:t>
            </a:r>
            <a:r>
              <a:rPr lang="en-US" altLang="zh-CN" sz="1800" dirty="0">
                <a:solidFill>
                  <a:srgbClr val="0000FF"/>
                </a:solidFill>
                <a:latin typeface="华文新魏" panose="02010800040101010101" pitchFamily="2" charset="-122"/>
                <a:ea typeface="华文新魏" panose="02010800040101010101" pitchFamily="2" charset="-122"/>
              </a:rPr>
              <a:t> then</a:t>
            </a:r>
          </a:p>
          <a:p>
            <a:endParaRPr lang="en-US" altLang="zh-CN" sz="1800" dirty="0">
              <a:solidFill>
                <a:srgbClr val="0000FF"/>
              </a:solidFill>
              <a:latin typeface="华文新魏" panose="02010800040101010101" pitchFamily="2" charset="-122"/>
              <a:ea typeface="华文新魏" panose="02010800040101010101" pitchFamily="2" charset="-122"/>
            </a:endParaRPr>
          </a:p>
          <a:p>
            <a:r>
              <a:rPr lang="en-US" altLang="zh-CN" sz="1800" dirty="0">
                <a:solidFill>
                  <a:srgbClr val="0000FF"/>
                </a:solidFill>
                <a:latin typeface="华文新魏" panose="02010800040101010101" pitchFamily="2" charset="-122"/>
                <a:ea typeface="华文新魏" panose="02010800040101010101" pitchFamily="2" charset="-122"/>
              </a:rPr>
              <a:t>2.</a:t>
            </a:r>
            <a:r>
              <a:rPr lang="zh-CN" altLang="en-US" sz="1800" dirty="0">
                <a:solidFill>
                  <a:srgbClr val="0000FF"/>
                </a:solidFill>
                <a:latin typeface="华文新魏" panose="02010800040101010101" pitchFamily="2" charset="-122"/>
                <a:ea typeface="华文新魏" panose="02010800040101010101" pitchFamily="2" charset="-122"/>
              </a:rPr>
              <a:t>二选一型</a:t>
            </a:r>
            <a:r>
              <a:rPr lang="en-US" altLang="zh-CN" sz="1800" dirty="0">
                <a:solidFill>
                  <a:srgbClr val="0000FF"/>
                </a:solidFill>
                <a:latin typeface="华文新魏" panose="02010800040101010101" pitchFamily="2" charset="-122"/>
                <a:ea typeface="华文新魏" panose="02010800040101010101" pitchFamily="2" charset="-122"/>
              </a:rPr>
              <a:t>if</a:t>
            </a:r>
            <a:r>
              <a:rPr lang="zh-CN" altLang="en-US" sz="1800" dirty="0">
                <a:solidFill>
                  <a:srgbClr val="0000FF"/>
                </a:solidFill>
                <a:latin typeface="华文新魏" panose="02010800040101010101" pitchFamily="2" charset="-122"/>
                <a:ea typeface="华文新魏" panose="02010800040101010101" pitchFamily="2" charset="-122"/>
              </a:rPr>
              <a:t>语句</a:t>
            </a:r>
          </a:p>
          <a:p>
            <a:r>
              <a:rPr lang="en-US" altLang="zh-CN" sz="1800" dirty="0">
                <a:solidFill>
                  <a:srgbClr val="0000FF"/>
                </a:solidFill>
                <a:latin typeface="华文新魏" panose="02010800040101010101" pitchFamily="2" charset="-122"/>
                <a:ea typeface="华文新魏" panose="02010800040101010101" pitchFamily="2" charset="-122"/>
              </a:rPr>
              <a:t>   if </a:t>
            </a:r>
            <a:r>
              <a:rPr lang="zh-CN" altLang="en-US" sz="1800" dirty="0">
                <a:solidFill>
                  <a:srgbClr val="0000FF"/>
                </a:solidFill>
                <a:latin typeface="华文新魏" panose="02010800040101010101" pitchFamily="2" charset="-122"/>
                <a:ea typeface="华文新魏" panose="02010800040101010101" pitchFamily="2" charset="-122"/>
              </a:rPr>
              <a:t>条件</a:t>
            </a:r>
            <a:r>
              <a:rPr lang="en-US" altLang="zh-CN" sz="1800" dirty="0">
                <a:solidFill>
                  <a:srgbClr val="0000FF"/>
                </a:solidFill>
                <a:latin typeface="华文新魏" panose="02010800040101010101" pitchFamily="2" charset="-122"/>
                <a:ea typeface="华文新魏" panose="02010800040101010101" pitchFamily="2" charset="-122"/>
              </a:rPr>
              <a:t> then</a:t>
            </a:r>
          </a:p>
          <a:p>
            <a:r>
              <a:rPr lang="en-US" altLang="zh-CN" sz="1800" dirty="0">
                <a:solidFill>
                  <a:srgbClr val="0000FF"/>
                </a:solidFill>
                <a:latin typeface="华文新魏" panose="02010800040101010101" pitchFamily="2" charset="-122"/>
                <a:ea typeface="华文新魏" panose="02010800040101010101" pitchFamily="2" charset="-122"/>
              </a:rPr>
              <a:t>   else</a:t>
            </a:r>
          </a:p>
          <a:p>
            <a:endParaRPr lang="en-US" altLang="zh-CN" sz="1800" dirty="0">
              <a:solidFill>
                <a:srgbClr val="0000FF"/>
              </a:solidFill>
              <a:latin typeface="华文新魏" panose="02010800040101010101" pitchFamily="2" charset="-122"/>
              <a:ea typeface="华文新魏" panose="02010800040101010101" pitchFamily="2" charset="-122"/>
            </a:endParaRPr>
          </a:p>
          <a:p>
            <a:r>
              <a:rPr lang="en-US" altLang="zh-CN" sz="1800" dirty="0">
                <a:solidFill>
                  <a:srgbClr val="0000FF"/>
                </a:solidFill>
                <a:latin typeface="华文新魏" panose="02010800040101010101" pitchFamily="2" charset="-122"/>
                <a:ea typeface="华文新魏" panose="02010800040101010101" pitchFamily="2" charset="-122"/>
              </a:rPr>
              <a:t>3.</a:t>
            </a:r>
            <a:r>
              <a:rPr lang="zh-CN" altLang="en-US" sz="1800" dirty="0">
                <a:solidFill>
                  <a:srgbClr val="0000FF"/>
                </a:solidFill>
                <a:latin typeface="华文新魏" panose="02010800040101010101" pitchFamily="2" charset="-122"/>
                <a:ea typeface="华文新魏" panose="02010800040101010101" pitchFamily="2" charset="-122"/>
              </a:rPr>
              <a:t>嵌套型</a:t>
            </a:r>
            <a:r>
              <a:rPr lang="en-US" altLang="zh-CN" sz="1800" dirty="0">
                <a:solidFill>
                  <a:srgbClr val="0000FF"/>
                </a:solidFill>
                <a:latin typeface="华文新魏" panose="02010800040101010101" pitchFamily="2" charset="-122"/>
                <a:ea typeface="华文新魏" panose="02010800040101010101" pitchFamily="2" charset="-122"/>
              </a:rPr>
              <a:t>if</a:t>
            </a:r>
            <a:r>
              <a:rPr lang="zh-CN" altLang="en-US" sz="1800" dirty="0">
                <a:solidFill>
                  <a:srgbClr val="0000FF"/>
                </a:solidFill>
                <a:latin typeface="华文新魏" panose="02010800040101010101" pitchFamily="2" charset="-122"/>
                <a:ea typeface="华文新魏" panose="02010800040101010101" pitchFamily="2" charset="-122"/>
              </a:rPr>
              <a:t>语句</a:t>
            </a:r>
          </a:p>
          <a:p>
            <a:r>
              <a:rPr lang="en-US" altLang="zh-CN" sz="1800" dirty="0">
                <a:solidFill>
                  <a:srgbClr val="0000FF"/>
                </a:solidFill>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如右所示</a:t>
            </a:r>
          </a:p>
        </p:txBody>
      </p:sp>
      <p:sp>
        <p:nvSpPr>
          <p:cNvPr id="2" name="对话气泡: 圆角矩形 1">
            <a:extLst>
              <a:ext uri="{FF2B5EF4-FFF2-40B4-BE49-F238E27FC236}">
                <a16:creationId xmlns:a16="http://schemas.microsoft.com/office/drawing/2014/main" id="{3DFF2374-74C8-40B7-8EC1-E47571F3957F}"/>
              </a:ext>
            </a:extLst>
          </p:cNvPr>
          <p:cNvSpPr/>
          <p:nvPr/>
        </p:nvSpPr>
        <p:spPr bwMode="auto">
          <a:xfrm>
            <a:off x="2915816" y="2715766"/>
            <a:ext cx="576064" cy="288032"/>
          </a:xfrm>
          <a:prstGeom prst="wedgeRoundRectCallout">
            <a:avLst>
              <a:gd name="adj1" fmla="val 136692"/>
              <a:gd name="adj2" fmla="val 15182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注意！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文本框 1"/>
          <p:cNvSpPr txBox="1"/>
          <p:nvPr/>
        </p:nvSpPr>
        <p:spPr>
          <a:xfrm>
            <a:off x="971550" y="485458"/>
            <a:ext cx="5976938" cy="45720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例如，用</a:t>
            </a:r>
            <a:r>
              <a:rPr lang="en-US" altLang="zh-CN" sz="2400">
                <a:solidFill>
                  <a:schemeClr val="tx1"/>
                </a:solidFill>
                <a:latin typeface="华文新魏" panose="02010800040101010101" pitchFamily="2" charset="-122"/>
                <a:ea typeface="华文新魏" panose="02010800040101010101" pitchFamily="2" charset="-122"/>
              </a:rPr>
              <a:t>if</a:t>
            </a:r>
            <a:r>
              <a:rPr lang="zh-CN" altLang="en-US" sz="2400" dirty="0">
                <a:solidFill>
                  <a:schemeClr val="tx1"/>
                </a:solidFill>
                <a:latin typeface="华文新魏" panose="02010800040101010101" pitchFamily="2" charset="-122"/>
                <a:ea typeface="华文新魏" panose="02010800040101010101" pitchFamily="2" charset="-122"/>
              </a:rPr>
              <a:t>语句描述下降沿触发的</a:t>
            </a:r>
            <a:r>
              <a:rPr lang="en-US" altLang="zh-CN" sz="2400">
                <a:solidFill>
                  <a:schemeClr val="tx1"/>
                </a:solidFill>
                <a:latin typeface="华文新魏" panose="02010800040101010101" pitchFamily="2" charset="-122"/>
                <a:ea typeface="华文新魏" panose="02010800040101010101" pitchFamily="2" charset="-122"/>
              </a:rPr>
              <a:t>D</a:t>
            </a:r>
            <a:r>
              <a:rPr lang="zh-CN" altLang="en-US" sz="2400" dirty="0">
                <a:solidFill>
                  <a:schemeClr val="tx1"/>
                </a:solidFill>
                <a:latin typeface="华文新魏" panose="02010800040101010101" pitchFamily="2" charset="-122"/>
                <a:ea typeface="华文新魏" panose="02010800040101010101" pitchFamily="2" charset="-122"/>
              </a:rPr>
              <a:t>触发器</a:t>
            </a:r>
          </a:p>
        </p:txBody>
      </p:sp>
      <p:pic>
        <p:nvPicPr>
          <p:cNvPr id="149507" name="图片 2"/>
          <p:cNvPicPr>
            <a:picLocks noChangeAspect="1"/>
          </p:cNvPicPr>
          <p:nvPr/>
        </p:nvPicPr>
        <p:blipFill>
          <a:blip r:embed="rId3"/>
          <a:stretch>
            <a:fillRect/>
          </a:stretch>
        </p:blipFill>
        <p:spPr>
          <a:xfrm>
            <a:off x="827088" y="1563688"/>
            <a:ext cx="7561262" cy="2225675"/>
          </a:xfrm>
          <a:prstGeom prst="rect">
            <a:avLst/>
          </a:prstGeom>
          <a:noFill/>
          <a:ln w="9525">
            <a:noFill/>
          </a:ln>
        </p:spPr>
      </p:pic>
      <p:sp>
        <p:nvSpPr>
          <p:cNvPr id="188418" name="Text Box 2"/>
          <p:cNvSpPr txBox="1"/>
          <p:nvPr/>
        </p:nvSpPr>
        <p:spPr>
          <a:xfrm>
            <a:off x="683568" y="494121"/>
            <a:ext cx="8153400" cy="4669155"/>
          </a:xfrm>
          <a:prstGeom prst="rect">
            <a:avLst/>
          </a:prstGeom>
          <a:noFill/>
          <a:ln w="9525">
            <a:noFill/>
          </a:ln>
        </p:spPr>
        <p:txBody>
          <a:bodyPr anchor="t">
            <a:spAutoFit/>
          </a:bodyPr>
          <a:lstStyle/>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LIBRARY</a:t>
            </a:r>
            <a:r>
              <a:rPr lang="en-US" altLang="zh-CN" dirty="0">
                <a:solidFill>
                  <a:schemeClr val="tx1"/>
                </a:solidFill>
                <a:latin typeface="华文新魏" panose="02010800040101010101" pitchFamily="2" charset="-122"/>
                <a:ea typeface="华文新魏" panose="02010800040101010101" pitchFamily="2" charset="-122"/>
              </a:rPr>
              <a:t> ieee;</a:t>
            </a:r>
          </a:p>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USE</a:t>
            </a:r>
            <a:r>
              <a:rPr lang="en-US" altLang="zh-CN" dirty="0">
                <a:solidFill>
                  <a:schemeClr val="tx1"/>
                </a:solidFill>
                <a:latin typeface="华文新魏" panose="02010800040101010101" pitchFamily="2" charset="-122"/>
                <a:ea typeface="华文新魏" panose="02010800040101010101" pitchFamily="2" charset="-122"/>
              </a:rPr>
              <a:t> ieee.std_logic_1164.</a:t>
            </a:r>
            <a:r>
              <a:rPr lang="en-US" altLang="zh-CN" dirty="0">
                <a:solidFill>
                  <a:srgbClr val="0000FF"/>
                </a:solidFill>
                <a:latin typeface="华文新魏" panose="02010800040101010101" pitchFamily="2" charset="-122"/>
                <a:ea typeface="华文新魏" panose="02010800040101010101" pitchFamily="2" charset="-122"/>
              </a:rPr>
              <a:t>ALL</a:t>
            </a:r>
            <a:r>
              <a:rPr lang="en-US" altLang="zh-CN" dirty="0">
                <a:solidFill>
                  <a:schemeClr val="tx1"/>
                </a:solidFill>
                <a:latin typeface="华文新魏" panose="02010800040101010101" pitchFamily="2" charset="-122"/>
                <a:ea typeface="华文新魏" panose="02010800040101010101" pitchFamily="2" charset="-122"/>
              </a:rPr>
              <a:t>;</a:t>
            </a:r>
          </a:p>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ENTITY</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dff</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华文新魏" panose="02010800040101010101" pitchFamily="2" charset="-122"/>
                <a:ea typeface="华文新魏" panose="02010800040101010101" pitchFamily="2" charset="-122"/>
              </a:rPr>
              <a:t>IS</a:t>
            </a:r>
            <a:endParaRPr lang="en-US" altLang="zh-CN" dirty="0">
              <a:solidFill>
                <a:schemeClr val="tx1"/>
              </a:solidFill>
              <a:latin typeface="华文新魏" panose="02010800040101010101" pitchFamily="2" charset="-122"/>
              <a:ea typeface="华文新魏" panose="02010800040101010101" pitchFamily="2" charset="-122"/>
            </a:endParaRP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华文新魏" panose="02010800040101010101" pitchFamily="2" charset="-122"/>
                <a:ea typeface="华文新魏" panose="02010800040101010101" pitchFamily="2" charset="-122"/>
              </a:rPr>
              <a:t>PORT</a:t>
            </a:r>
            <a:r>
              <a:rPr lang="en-US" altLang="zh-CN" dirty="0">
                <a:solidFill>
                  <a:schemeClr val="tx1"/>
                </a:solidFill>
                <a:latin typeface="华文新魏" panose="02010800040101010101" pitchFamily="2" charset="-122"/>
                <a:ea typeface="华文新魏" panose="02010800040101010101" pitchFamily="2" charset="-122"/>
              </a:rPr>
              <a:t>(clk, d		: </a:t>
            </a:r>
            <a:r>
              <a:rPr lang="en-US" altLang="zh-CN" dirty="0">
                <a:solidFill>
                  <a:srgbClr val="0000FF"/>
                </a:solidFill>
                <a:latin typeface="华文新魏" panose="02010800040101010101" pitchFamily="2" charset="-122"/>
                <a:ea typeface="华文新魏" panose="02010800040101010101" pitchFamily="2" charset="-122"/>
              </a:rPr>
              <a:t>IN</a:t>
            </a:r>
            <a:r>
              <a:rPr lang="en-US" altLang="zh-CN" dirty="0">
                <a:solidFill>
                  <a:schemeClr val="tx1"/>
                </a:solidFill>
                <a:latin typeface="华文新魏" panose="02010800040101010101" pitchFamily="2" charset="-122"/>
                <a:ea typeface="华文新魏" panose="02010800040101010101" pitchFamily="2" charset="-122"/>
              </a:rPr>
              <a:t>	STD_LOGIC;</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q		: </a:t>
            </a:r>
            <a:r>
              <a:rPr lang="en-US" altLang="zh-CN" dirty="0">
                <a:solidFill>
                  <a:srgbClr val="0000FF"/>
                </a:solidFill>
                <a:latin typeface="华文新魏" panose="02010800040101010101" pitchFamily="2" charset="-122"/>
                <a:ea typeface="华文新魏" panose="02010800040101010101" pitchFamily="2" charset="-122"/>
              </a:rPr>
              <a:t>OUT</a:t>
            </a:r>
            <a:r>
              <a:rPr lang="en-US" altLang="zh-CN" dirty="0">
                <a:solidFill>
                  <a:schemeClr val="tx1"/>
                </a:solidFill>
                <a:latin typeface="华文新魏" panose="02010800040101010101" pitchFamily="2" charset="-122"/>
                <a:ea typeface="华文新魏" panose="02010800040101010101" pitchFamily="2" charset="-122"/>
              </a:rPr>
              <a:t>	STD_LOGIC);</a:t>
            </a:r>
          </a:p>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END</a:t>
            </a:r>
            <a:r>
              <a:rPr lang="en-US" altLang="zh-CN" dirty="0">
                <a:solidFill>
                  <a:schemeClr val="tx1"/>
                </a:solidFill>
                <a:latin typeface="华文新魏" panose="02010800040101010101" pitchFamily="2" charset="-122"/>
                <a:ea typeface="华文新魏" panose="02010800040101010101" pitchFamily="2" charset="-122"/>
              </a:rPr>
              <a:t> dff;</a:t>
            </a:r>
          </a:p>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ARCHITECTURE</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rtl</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华文新魏" panose="02010800040101010101" pitchFamily="2" charset="-122"/>
                <a:ea typeface="华文新魏" panose="02010800040101010101" pitchFamily="2" charset="-122"/>
              </a:rPr>
              <a:t>OF</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dff</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华文新魏" panose="02010800040101010101" pitchFamily="2" charset="-122"/>
                <a:ea typeface="华文新魏" panose="02010800040101010101" pitchFamily="2" charset="-122"/>
              </a:rPr>
              <a:t>IS</a:t>
            </a:r>
          </a:p>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BEGIN</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PROCESS (</a:t>
            </a:r>
            <a:r>
              <a:rPr lang="en-US" altLang="zh-CN" dirty="0">
                <a:solidFill>
                  <a:srgbClr val="FF0000"/>
                </a:solidFill>
                <a:latin typeface="华文新魏" panose="02010800040101010101" pitchFamily="2" charset="-122"/>
                <a:ea typeface="华文新魏" panose="02010800040101010101" pitchFamily="2" charset="-122"/>
              </a:rPr>
              <a:t>clk</a:t>
            </a:r>
            <a:r>
              <a:rPr lang="en-US" altLang="zh-CN" dirty="0">
                <a:solidFill>
                  <a:schemeClr val="tx1"/>
                </a:solidFill>
                <a:latin typeface="华文新魏" panose="02010800040101010101" pitchFamily="2" charset="-122"/>
                <a:ea typeface="华文新魏" panose="02010800040101010101" pitchFamily="2" charset="-122"/>
              </a:rPr>
              <a:t>)</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BEGIN</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IF (clk'event </a:t>
            </a:r>
            <a:r>
              <a:rPr lang="en-US" altLang="zh-CN" dirty="0">
                <a:solidFill>
                  <a:srgbClr val="0000FF"/>
                </a:solidFill>
                <a:latin typeface="华文新魏" panose="02010800040101010101" pitchFamily="2" charset="-122"/>
                <a:ea typeface="华文新魏" panose="02010800040101010101" pitchFamily="2" charset="-122"/>
              </a:rPr>
              <a:t>and</a:t>
            </a:r>
            <a:r>
              <a:rPr lang="en-US" altLang="zh-CN" dirty="0">
                <a:solidFill>
                  <a:schemeClr val="tx1"/>
                </a:solidFill>
                <a:latin typeface="华文新魏" panose="02010800040101010101" pitchFamily="2" charset="-122"/>
                <a:ea typeface="华文新魏" panose="02010800040101010101" pitchFamily="2" charset="-122"/>
              </a:rPr>
              <a:t> clk='0') THEN</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q &lt;= d;</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END IF;</a:t>
            </a:r>
          </a:p>
          <a:p>
            <a:pPr>
              <a:lnSpc>
                <a:spcPts val="2380"/>
              </a:lnSpc>
            </a:pPr>
            <a:r>
              <a:rPr lang="en-US" altLang="zh-CN" dirty="0">
                <a:solidFill>
                  <a:schemeClr val="tx1"/>
                </a:solidFill>
                <a:latin typeface="华文新魏" panose="02010800040101010101" pitchFamily="2" charset="-122"/>
                <a:ea typeface="华文新魏" panose="02010800040101010101" pitchFamily="2" charset="-122"/>
              </a:rPr>
              <a:t>	END PROCESS ;</a:t>
            </a:r>
          </a:p>
          <a:p>
            <a:pPr>
              <a:lnSpc>
                <a:spcPts val="2380"/>
              </a:lnSpc>
            </a:pPr>
            <a:r>
              <a:rPr lang="en-US" altLang="zh-CN" dirty="0">
                <a:solidFill>
                  <a:srgbClr val="0000FF"/>
                </a:solidFill>
                <a:latin typeface="华文新魏" panose="02010800040101010101" pitchFamily="2" charset="-122"/>
                <a:ea typeface="华文新魏" panose="02010800040101010101" pitchFamily="2" charset="-122"/>
              </a:rPr>
              <a:t>END</a:t>
            </a:r>
            <a:r>
              <a:rPr lang="en-US" altLang="zh-CN" dirty="0">
                <a:solidFill>
                  <a:schemeClr val="tx1"/>
                </a:solidFill>
                <a:latin typeface="华文新魏" panose="02010800040101010101" pitchFamily="2" charset="-122"/>
                <a:ea typeface="华文新魏" panose="02010800040101010101" pitchFamily="2" charset="-122"/>
              </a:rPr>
              <a:t> rtl;</a:t>
            </a:r>
          </a:p>
        </p:txBody>
      </p:sp>
      <p:cxnSp>
        <p:nvCxnSpPr>
          <p:cNvPr id="2" name="直接连接符 1"/>
          <p:cNvCxnSpPr>
            <a:cxnSpLocks/>
          </p:cNvCxnSpPr>
          <p:nvPr/>
        </p:nvCxnSpPr>
        <p:spPr>
          <a:xfrm>
            <a:off x="2915816" y="3867894"/>
            <a:ext cx="1008112" cy="0"/>
          </a:xfrm>
          <a:prstGeom prst="line">
            <a:avLst/>
          </a:prstGeom>
          <a:solidFill>
            <a:schemeClr val="accent1"/>
          </a:solidFill>
          <a:ln w="9525" cap="flat" cmpd="sng" algn="ctr">
            <a:solidFill>
              <a:srgbClr val="FF0066"/>
            </a:solidFill>
            <a:prstDash val="solid"/>
            <a:round/>
            <a:headEnd type="none" w="med" len="med"/>
            <a:tailEnd type="none" w="med" len="med"/>
          </a:ln>
        </p:spPr>
      </p:cxnSp>
      <p:sp>
        <p:nvSpPr>
          <p:cNvPr id="3" name="文本框 2"/>
          <p:cNvSpPr txBox="1"/>
          <p:nvPr/>
        </p:nvSpPr>
        <p:spPr>
          <a:xfrm>
            <a:off x="4236522" y="3957770"/>
            <a:ext cx="4600446" cy="369332"/>
          </a:xfrm>
          <a:prstGeom prst="rect">
            <a:avLst/>
          </a:prstGeom>
          <a:noFill/>
        </p:spPr>
        <p:txBody>
          <a:bodyPr wrap="square" rtlCol="0">
            <a:spAutoFit/>
          </a:bodyPr>
          <a:lstStyle/>
          <a:p>
            <a:r>
              <a:rPr lang="zh-CN" altLang="en-US" sz="1800" dirty="0">
                <a:solidFill>
                  <a:srgbClr val="0000FF"/>
                </a:solidFill>
                <a:latin typeface="华文新魏" panose="02010800040101010101" pitchFamily="2" charset="-122"/>
                <a:ea typeface="华文新魏" panose="02010800040101010101" pitchFamily="2" charset="-122"/>
              </a:rPr>
              <a:t>门闩型</a:t>
            </a:r>
            <a:r>
              <a:rPr lang="en-US" altLang="zh-CN" sz="1800" dirty="0">
                <a:solidFill>
                  <a:srgbClr val="0000FF"/>
                </a:solidFill>
                <a:latin typeface="华文新魏" panose="02010800040101010101" pitchFamily="2" charset="-122"/>
                <a:ea typeface="华文新魏" panose="02010800040101010101" pitchFamily="2" charset="-122"/>
              </a:rPr>
              <a:t>if</a:t>
            </a:r>
            <a:r>
              <a:rPr lang="zh-CN" altLang="en-US" sz="1800" dirty="0">
                <a:solidFill>
                  <a:srgbClr val="0000FF"/>
                </a:solidFill>
                <a:latin typeface="华文新魏" panose="02010800040101010101" pitchFamily="2" charset="-122"/>
                <a:ea typeface="华文新魏" panose="02010800040101010101" pitchFamily="2" charset="-122"/>
              </a:rPr>
              <a:t>语句；</a:t>
            </a:r>
            <a:r>
              <a:rPr lang="en-US" altLang="zh-CN" sz="1800" dirty="0">
                <a:solidFill>
                  <a:srgbClr val="0000FF"/>
                </a:solidFill>
                <a:latin typeface="华文新魏" panose="02010800040101010101" pitchFamily="2" charset="-122"/>
                <a:ea typeface="华文新魏" panose="02010800040101010101" pitchFamily="2" charset="-122"/>
              </a:rPr>
              <a:t>event</a:t>
            </a:r>
            <a:r>
              <a:rPr lang="zh-CN" altLang="en-US" sz="1800" dirty="0">
                <a:solidFill>
                  <a:srgbClr val="0000FF"/>
                </a:solidFill>
                <a:latin typeface="华文新魏" panose="02010800040101010101" pitchFamily="2" charset="-122"/>
                <a:ea typeface="华文新魏" panose="02010800040101010101" pitchFamily="2" charset="-122"/>
              </a:rPr>
              <a:t>是一个属性函数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9507"/>
                                        </p:tgtEl>
                                        <p:attrNameLst>
                                          <p:attrName>style.visibility</p:attrName>
                                        </p:attrNameLst>
                                      </p:cBhvr>
                                      <p:to>
                                        <p:strVal val="visible"/>
                                      </p:to>
                                    </p:set>
                                    <p:anim calcmode="lin" valueType="num">
                                      <p:cBhvr additive="base">
                                        <p:cTn id="7" dur="500" fill="hold"/>
                                        <p:tgtEl>
                                          <p:spTgt spid="149507"/>
                                        </p:tgtEl>
                                        <p:attrNameLst>
                                          <p:attrName>ppt_x</p:attrName>
                                        </p:attrNameLst>
                                      </p:cBhvr>
                                      <p:tavLst>
                                        <p:tav tm="0">
                                          <p:val>
                                            <p:strVal val="#ppt_x"/>
                                          </p:val>
                                        </p:tav>
                                        <p:tav tm="100000">
                                          <p:val>
                                            <p:strVal val="#ppt_x"/>
                                          </p:val>
                                        </p:tav>
                                      </p:tavLst>
                                    </p:anim>
                                    <p:anim calcmode="lin" valueType="num">
                                      <p:cBhvr additive="base">
                                        <p:cTn id="8" dur="500" fill="hold"/>
                                        <p:tgtEl>
                                          <p:spTgt spid="1495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49507"/>
                                        </p:tgtEl>
                                        <p:attrNameLst>
                                          <p:attrName>ppt_x</p:attrName>
                                        </p:attrNameLst>
                                      </p:cBhvr>
                                      <p:tavLst>
                                        <p:tav tm="0">
                                          <p:val>
                                            <p:strVal val="ppt_x"/>
                                          </p:val>
                                        </p:tav>
                                        <p:tav tm="100000">
                                          <p:val>
                                            <p:strVal val="ppt_x"/>
                                          </p:val>
                                        </p:tav>
                                      </p:tavLst>
                                    </p:anim>
                                    <p:anim calcmode="lin" valueType="num">
                                      <p:cBhvr additive="base">
                                        <p:cTn id="13" dur="500"/>
                                        <p:tgtEl>
                                          <p:spTgt spid="149507"/>
                                        </p:tgtEl>
                                        <p:attrNameLst>
                                          <p:attrName>ppt_y</p:attrName>
                                        </p:attrNameLst>
                                      </p:cBhvr>
                                      <p:tavLst>
                                        <p:tav tm="0">
                                          <p:val>
                                            <p:strVal val="ppt_y"/>
                                          </p:val>
                                        </p:tav>
                                        <p:tav tm="100000">
                                          <p:val>
                                            <p:strVal val="1+ppt_h/2"/>
                                          </p:val>
                                        </p:tav>
                                      </p:tavLst>
                                    </p:anim>
                                    <p:set>
                                      <p:cBhvr>
                                        <p:cTn id="14" dur="1" fill="hold">
                                          <p:stCondLst>
                                            <p:cond delay="499"/>
                                          </p:stCondLst>
                                        </p:cTn>
                                        <p:tgtEl>
                                          <p:spTgt spid="14950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149506"/>
                                        </p:tgtEl>
                                        <p:attrNameLst>
                                          <p:attrName>ppt_x</p:attrName>
                                        </p:attrNameLst>
                                      </p:cBhvr>
                                      <p:tavLst>
                                        <p:tav tm="0">
                                          <p:val>
                                            <p:strVal val="ppt_x"/>
                                          </p:val>
                                        </p:tav>
                                        <p:tav tm="100000">
                                          <p:val>
                                            <p:strVal val="ppt_x"/>
                                          </p:val>
                                        </p:tav>
                                      </p:tavLst>
                                    </p:anim>
                                    <p:anim calcmode="lin" valueType="num">
                                      <p:cBhvr additive="base">
                                        <p:cTn id="19" dur="500"/>
                                        <p:tgtEl>
                                          <p:spTgt spid="149506"/>
                                        </p:tgtEl>
                                        <p:attrNameLst>
                                          <p:attrName>ppt_y</p:attrName>
                                        </p:attrNameLst>
                                      </p:cBhvr>
                                      <p:tavLst>
                                        <p:tav tm="0">
                                          <p:val>
                                            <p:strVal val="ppt_y"/>
                                          </p:val>
                                        </p:tav>
                                        <p:tav tm="100000">
                                          <p:val>
                                            <p:strVal val="1+ppt_h/2"/>
                                          </p:val>
                                        </p:tav>
                                      </p:tavLst>
                                    </p:anim>
                                    <p:set>
                                      <p:cBhvr>
                                        <p:cTn id="20" dur="1" fill="hold">
                                          <p:stCondLst>
                                            <p:cond delay="499"/>
                                          </p:stCondLst>
                                        </p:cTn>
                                        <p:tgtEl>
                                          <p:spTgt spid="14950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8418"/>
                                        </p:tgtEl>
                                        <p:attrNameLst>
                                          <p:attrName>style.visibility</p:attrName>
                                        </p:attrNameLst>
                                      </p:cBhvr>
                                      <p:to>
                                        <p:strVal val="visible"/>
                                      </p:to>
                                    </p:set>
                                    <p:anim calcmode="lin" valueType="num">
                                      <p:cBhvr additive="base">
                                        <p:cTn id="25" dur="500" fill="hold"/>
                                        <p:tgtEl>
                                          <p:spTgt spid="188418"/>
                                        </p:tgtEl>
                                        <p:attrNameLst>
                                          <p:attrName>ppt_x</p:attrName>
                                        </p:attrNameLst>
                                      </p:cBhvr>
                                      <p:tavLst>
                                        <p:tav tm="0">
                                          <p:val>
                                            <p:strVal val="#ppt_x"/>
                                          </p:val>
                                        </p:tav>
                                        <p:tav tm="100000">
                                          <p:val>
                                            <p:strVal val="#ppt_x"/>
                                          </p:val>
                                        </p:tav>
                                      </p:tavLst>
                                    </p:anim>
                                    <p:anim calcmode="lin" valueType="num">
                                      <p:cBhvr additive="base">
                                        <p:cTn id="26" dur="500" fill="hold"/>
                                        <p:tgtEl>
                                          <p:spTgt spid="1884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p:bldP spid="149506" grpId="1"/>
      <p:bldP spid="188418" grpId="0"/>
      <p:bldP spid="188418" grpId="1"/>
      <p:bldP spid="3" grpId="0"/>
      <p:bldP spid="3"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文本框 1"/>
          <p:cNvSpPr txBox="1"/>
          <p:nvPr/>
        </p:nvSpPr>
        <p:spPr>
          <a:xfrm>
            <a:off x="1116013" y="627063"/>
            <a:ext cx="5976937" cy="45720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例如，用</a:t>
            </a:r>
            <a:r>
              <a:rPr lang="en-US" altLang="zh-CN" sz="2400">
                <a:solidFill>
                  <a:schemeClr val="tx1"/>
                </a:solidFill>
                <a:latin typeface="华文新魏" panose="02010800040101010101" pitchFamily="2" charset="-122"/>
                <a:ea typeface="华文新魏" panose="02010800040101010101" pitchFamily="2" charset="-122"/>
              </a:rPr>
              <a:t>if</a:t>
            </a:r>
            <a:r>
              <a:rPr lang="zh-CN" altLang="en-US" sz="2400" dirty="0">
                <a:solidFill>
                  <a:schemeClr val="tx1"/>
                </a:solidFill>
                <a:latin typeface="华文新魏" panose="02010800040101010101" pitchFamily="2" charset="-122"/>
                <a:ea typeface="华文新魏" panose="02010800040101010101" pitchFamily="2" charset="-122"/>
              </a:rPr>
              <a:t>语句描述二选一电路</a:t>
            </a:r>
          </a:p>
        </p:txBody>
      </p:sp>
      <p:pic>
        <p:nvPicPr>
          <p:cNvPr id="150531" name="图片 5"/>
          <p:cNvPicPr>
            <a:picLocks noChangeAspect="1"/>
          </p:cNvPicPr>
          <p:nvPr/>
        </p:nvPicPr>
        <p:blipFill>
          <a:blip r:embed="rId3"/>
          <a:stretch>
            <a:fillRect/>
          </a:stretch>
        </p:blipFill>
        <p:spPr>
          <a:xfrm>
            <a:off x="539750" y="1135380"/>
            <a:ext cx="7993380" cy="4233545"/>
          </a:xfrm>
          <a:prstGeom prst="rect">
            <a:avLst/>
          </a:prstGeom>
          <a:noFill/>
          <a:ln w="9525">
            <a:noFill/>
          </a:ln>
        </p:spPr>
      </p:pic>
      <p:sp>
        <p:nvSpPr>
          <p:cNvPr id="3" name="文本框 2"/>
          <p:cNvSpPr txBox="1"/>
          <p:nvPr/>
        </p:nvSpPr>
        <p:spPr>
          <a:xfrm>
            <a:off x="5220335" y="1707515"/>
            <a:ext cx="3168089" cy="923330"/>
          </a:xfrm>
          <a:prstGeom prst="rect">
            <a:avLst/>
          </a:prstGeom>
          <a:noFill/>
        </p:spPr>
        <p:txBody>
          <a:bodyPr wrap="square" rtlCol="0">
            <a:spAutoFit/>
          </a:bodyPr>
          <a:lstStyle/>
          <a:p>
            <a:r>
              <a:rPr lang="en-US" altLang="zh-CN" sz="1800" dirty="0">
                <a:solidFill>
                  <a:srgbClr val="0000FF"/>
                </a:solidFill>
                <a:latin typeface="华文新魏" panose="02010800040101010101" pitchFamily="2" charset="-122"/>
                <a:ea typeface="华文新魏" panose="02010800040101010101" pitchFamily="2" charset="-122"/>
              </a:rPr>
              <a:t>to</a:t>
            </a:r>
            <a:r>
              <a:rPr lang="zh-CN" altLang="en-US" sz="1800" dirty="0">
                <a:solidFill>
                  <a:srgbClr val="0000FF"/>
                </a:solidFill>
                <a:latin typeface="华文新魏" panose="02010800040101010101" pitchFamily="2" charset="-122"/>
                <a:ea typeface="华文新魏" panose="02010800040101010101" pitchFamily="2" charset="-122"/>
              </a:rPr>
              <a:t>：升序</a:t>
            </a:r>
          </a:p>
          <a:p>
            <a:r>
              <a:rPr lang="en-US" altLang="zh-CN" sz="1800" dirty="0" err="1">
                <a:solidFill>
                  <a:srgbClr val="0000FF"/>
                </a:solidFill>
                <a:latin typeface="华文新魏" panose="02010800040101010101" pitchFamily="2" charset="-122"/>
                <a:ea typeface="华文新魏" panose="02010800040101010101" pitchFamily="2" charset="-122"/>
              </a:rPr>
              <a:t>downto</a:t>
            </a:r>
            <a:r>
              <a:rPr lang="zh-CN" altLang="en-US" sz="1800" dirty="0">
                <a:solidFill>
                  <a:srgbClr val="0000FF"/>
                </a:solidFill>
                <a:latin typeface="华文新魏" panose="02010800040101010101" pitchFamily="2" charset="-122"/>
                <a:ea typeface="华文新魏" panose="02010800040101010101" pitchFamily="2" charset="-122"/>
              </a:rPr>
              <a:t>：降序</a:t>
            </a:r>
            <a:endParaRPr lang="en-US" altLang="zh-CN" sz="1800" dirty="0">
              <a:solidFill>
                <a:srgbClr val="0000FF"/>
              </a:solidFill>
              <a:latin typeface="华文新魏" panose="02010800040101010101" pitchFamily="2" charset="-122"/>
              <a:ea typeface="华文新魏" panose="02010800040101010101" pitchFamily="2" charset="-122"/>
            </a:endParaRPr>
          </a:p>
          <a:p>
            <a:r>
              <a:rPr lang="zh-CN" altLang="en-US" sz="1800" dirty="0">
                <a:solidFill>
                  <a:srgbClr val="0000FF"/>
                </a:solidFill>
                <a:latin typeface="华文新魏" panose="02010800040101010101" pitchFamily="2" charset="-122"/>
                <a:ea typeface="华文新魏" panose="02010800040101010101" pitchFamily="2" charset="-122"/>
              </a:rPr>
              <a:t>注意最高有效位</a:t>
            </a:r>
          </a:p>
        </p:txBody>
      </p:sp>
      <p:sp>
        <p:nvSpPr>
          <p:cNvPr id="2" name="矩形标注 1"/>
          <p:cNvSpPr/>
          <p:nvPr/>
        </p:nvSpPr>
        <p:spPr>
          <a:xfrm>
            <a:off x="2700020" y="3507740"/>
            <a:ext cx="1789430" cy="642620"/>
          </a:xfrm>
          <a:prstGeom prst="wedgeRectCallout">
            <a:avLst>
              <a:gd name="adj1" fmla="val -68065"/>
              <a:gd name="adj2" fmla="val 83794"/>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sele</a:t>
            </a:r>
            <a:r>
              <a:rPr kumimoji="0" lang="zh-CN" altLang="en-US" sz="18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为何取值时</a:t>
            </a:r>
            <a:r>
              <a:rPr kumimoji="0" lang="en-US" altLang="zh-CN" sz="18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f&lt;=y</a:t>
            </a:r>
            <a:r>
              <a:rPr kumimoji="0" lang="zh-CN" altLang="en-US" sz="18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 grpId="0" animBg="1"/>
      <p:bldP spid="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矩形 3"/>
          <p:cNvSpPr/>
          <p:nvPr/>
        </p:nvSpPr>
        <p:spPr>
          <a:xfrm>
            <a:off x="539750" y="563563"/>
            <a:ext cx="2179638" cy="511175"/>
          </a:xfrm>
          <a:prstGeom prst="rect">
            <a:avLst/>
          </a:prstGeom>
          <a:noFill/>
          <a:ln w="9525">
            <a:noFill/>
          </a:ln>
        </p:spPr>
        <p:txBody>
          <a:bodyPr wrap="none">
            <a:spAutoFit/>
          </a:bodyPr>
          <a:lstStyle/>
          <a:p>
            <a:pPr eaLnBrk="1" hangingPunct="1">
              <a:lnSpc>
                <a:spcPct val="120000"/>
              </a:lnSpc>
              <a:buFont typeface="Arial" panose="020B0604020202020204" pitchFamily="34" charset="0"/>
            </a:pPr>
            <a:r>
              <a:rPr lang="en-US" altLang="zh-CN" sz="2400">
                <a:solidFill>
                  <a:srgbClr val="FF0066"/>
                </a:solidFill>
                <a:latin typeface="华文新魏" panose="02010800040101010101" pitchFamily="2" charset="-122"/>
                <a:ea typeface="华文新魏" panose="02010800040101010101" pitchFamily="2" charset="-122"/>
              </a:rPr>
              <a:t>4.  process</a:t>
            </a:r>
            <a:r>
              <a:rPr lang="zh-CN" altLang="en-US" sz="2400" dirty="0">
                <a:solidFill>
                  <a:srgbClr val="FF0066"/>
                </a:solidFill>
                <a:latin typeface="华文新魏" panose="02010800040101010101" pitchFamily="2" charset="-122"/>
                <a:ea typeface="华文新魏" panose="02010800040101010101" pitchFamily="2" charset="-122"/>
              </a:rPr>
              <a:t>语句</a:t>
            </a:r>
            <a:endParaRPr lang="en-US" altLang="zh-CN" sz="2400">
              <a:solidFill>
                <a:srgbClr val="FF0066"/>
              </a:solidFill>
              <a:latin typeface="华文新魏" panose="02010800040101010101" pitchFamily="2" charset="-122"/>
              <a:ea typeface="华文新魏" panose="02010800040101010101" pitchFamily="2" charset="-122"/>
            </a:endParaRPr>
          </a:p>
        </p:txBody>
      </p:sp>
      <p:sp>
        <p:nvSpPr>
          <p:cNvPr id="151555" name="文本框 1"/>
          <p:cNvSpPr txBox="1"/>
          <p:nvPr/>
        </p:nvSpPr>
        <p:spPr>
          <a:xfrm>
            <a:off x="900113" y="1058863"/>
            <a:ext cx="7993062" cy="1187450"/>
          </a:xfrm>
          <a:prstGeom prst="rect">
            <a:avLst/>
          </a:prstGeom>
          <a:noFill/>
          <a:ln w="9525">
            <a:noFill/>
          </a:ln>
        </p:spPr>
        <p:txBody>
          <a:bodyPr>
            <a:spAutoFit/>
          </a:bodyPr>
          <a:lstStyle/>
          <a:p>
            <a:r>
              <a:rPr lang="en-US" altLang="zh-CN" sz="2400">
                <a:solidFill>
                  <a:schemeClr val="tx1"/>
                </a:solidFill>
                <a:latin typeface="华文新魏" panose="02010800040101010101" pitchFamily="2" charset="-122"/>
                <a:ea typeface="华文新魏" panose="02010800040101010101" pitchFamily="2" charset="-122"/>
              </a:rPr>
              <a:t>process</a:t>
            </a:r>
            <a:r>
              <a:rPr lang="zh-CN" altLang="en-US" sz="2400" dirty="0">
                <a:solidFill>
                  <a:schemeClr val="tx1"/>
                </a:solidFill>
                <a:latin typeface="华文新魏" panose="02010800040101010101" pitchFamily="2" charset="-122"/>
                <a:ea typeface="华文新魏" panose="02010800040101010101" pitchFamily="2" charset="-122"/>
              </a:rPr>
              <a:t>语句称为</a:t>
            </a:r>
            <a:r>
              <a:rPr lang="zh-CN" altLang="en-US" sz="2400" dirty="0">
                <a:solidFill>
                  <a:srgbClr val="0000FF"/>
                </a:solidFill>
                <a:latin typeface="华文新魏" panose="02010800040101010101" pitchFamily="2" charset="-122"/>
                <a:ea typeface="华文新魏" panose="02010800040101010101" pitchFamily="2" charset="-122"/>
              </a:rPr>
              <a:t>进程语句</a:t>
            </a:r>
            <a:r>
              <a:rPr lang="zh-CN" altLang="en-US" sz="2400" dirty="0">
                <a:solidFill>
                  <a:schemeClr val="tx1"/>
                </a:solidFill>
                <a:latin typeface="华文新魏" panose="02010800040101010101" pitchFamily="2" charset="-122"/>
                <a:ea typeface="华文新魏" panose="02010800040101010101" pitchFamily="2" charset="-122"/>
              </a:rPr>
              <a:t>。它是</a:t>
            </a: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程序中描述硬件并行工作最重要最常用的一个并行执行的语句，它描述了一个功能独立的电路块。</a:t>
            </a: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151556" name="矩形 4"/>
          <p:cNvSpPr/>
          <p:nvPr/>
        </p:nvSpPr>
        <p:spPr>
          <a:xfrm>
            <a:off x="871855" y="2355215"/>
            <a:ext cx="7696200" cy="2306955"/>
          </a:xfrm>
          <a:prstGeom prst="rect">
            <a:avLst/>
          </a:prstGeom>
          <a:noFill/>
          <a:ln w="9525">
            <a:noFill/>
          </a:ln>
        </p:spPr>
        <p:txBody>
          <a:bodyPr wrap="square">
            <a:spAutoFit/>
          </a:bodyPr>
          <a:lstStyle/>
          <a:p>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进程名</a:t>
            </a:r>
            <a:r>
              <a:rPr lang="en-US" altLang="zh-CN" sz="2400">
                <a:solidFill>
                  <a:schemeClr val="tx1"/>
                </a:solidFill>
                <a:latin typeface="华文新魏" panose="02010800040101010101" pitchFamily="2" charset="-122"/>
                <a:ea typeface="华文新魏" panose="02010800040101010101" pitchFamily="2" charset="-122"/>
              </a:rPr>
              <a:t>:]</a:t>
            </a:r>
            <a:r>
              <a:rPr lang="en-US" altLang="zh-CN" sz="2400">
                <a:solidFill>
                  <a:srgbClr val="FF0066"/>
                </a:solidFill>
                <a:latin typeface="华文新魏" panose="02010800040101010101" pitchFamily="2" charset="-122"/>
                <a:ea typeface="华文新魏" panose="02010800040101010101" pitchFamily="2" charset="-122"/>
              </a:rPr>
              <a:t>process</a:t>
            </a:r>
            <a:r>
              <a:rPr lang="zh-CN" altLang="en-US" sz="2400" dirty="0">
                <a:solidFill>
                  <a:schemeClr val="tx1"/>
                </a:solidFill>
                <a:latin typeface="华文新魏" panose="02010800040101010101" pitchFamily="2" charset="-122"/>
                <a:ea typeface="华文新魏" panose="02010800040101010101" pitchFamily="2" charset="-122"/>
              </a:rPr>
              <a:t>（敏感信号</a:t>
            </a:r>
            <a:r>
              <a:rPr lang="en-US" altLang="zh-CN" sz="240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敏感信号</a:t>
            </a:r>
            <a:r>
              <a:rPr lang="en-US" altLang="zh-CN" sz="2400">
                <a:solidFill>
                  <a:schemeClr val="tx1"/>
                </a:solidFill>
                <a:latin typeface="华文新魏" panose="02010800040101010101" pitchFamily="2" charset="-122"/>
                <a:ea typeface="华文新魏" panose="02010800040101010101" pitchFamily="2" charset="-122"/>
              </a:rPr>
              <a:t>2</a:t>
            </a:r>
            <a:r>
              <a:rPr lang="en-US" sz="240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敏感信号</a:t>
            </a:r>
            <a:r>
              <a:rPr lang="en-US" altLang="zh-CN" sz="2400">
                <a:solidFill>
                  <a:schemeClr val="tx1"/>
                </a:solidFill>
                <a:latin typeface="华文新魏" panose="02010800040101010101" pitchFamily="2" charset="-122"/>
                <a:ea typeface="华文新魏" panose="02010800040101010101" pitchFamily="2" charset="-122"/>
              </a:rPr>
              <a:t>n</a:t>
            </a:r>
            <a:r>
              <a:rPr lang="zh-CN" altLang="en-US" sz="2400" dirty="0">
                <a:solidFill>
                  <a:schemeClr val="tx1"/>
                </a:solidFill>
                <a:latin typeface="华文新魏" panose="02010800040101010101" pitchFamily="2" charset="-122"/>
                <a:ea typeface="华文新魏" panose="02010800040101010101" pitchFamily="2" charset="-122"/>
              </a:rPr>
              <a:t>）</a:t>
            </a:r>
          </a:p>
          <a:p>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若干</a:t>
            </a:r>
            <a:r>
              <a:rPr lang="zh-CN" altLang="en-US" sz="2400" dirty="0">
                <a:solidFill>
                  <a:srgbClr val="0000FF"/>
                </a:solidFill>
                <a:latin typeface="华文新魏" panose="02010800040101010101" pitchFamily="2" charset="-122"/>
                <a:ea typeface="华文新魏" panose="02010800040101010101" pitchFamily="2" charset="-122"/>
              </a:rPr>
              <a:t>变量</a:t>
            </a:r>
            <a:r>
              <a:rPr lang="zh-CN" altLang="en-US" sz="2400" dirty="0">
                <a:solidFill>
                  <a:schemeClr val="tx1"/>
                </a:solidFill>
                <a:latin typeface="华文新魏" panose="02010800040101010101" pitchFamily="2" charset="-122"/>
                <a:ea typeface="华文新魏" panose="02010800040101010101" pitchFamily="2" charset="-122"/>
              </a:rPr>
              <a:t>说明语句</a:t>
            </a:r>
            <a:r>
              <a:rPr lang="en-US" altLang="zh-CN" sz="240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r>
              <a:rPr lang="en-US" altLang="zh-CN" sz="2400">
                <a:solidFill>
                  <a:schemeClr val="tx1"/>
                </a:solidFill>
                <a:latin typeface="华文新魏" panose="02010800040101010101" pitchFamily="2" charset="-122"/>
                <a:ea typeface="华文新魏" panose="02010800040101010101" pitchFamily="2" charset="-122"/>
              </a:rPr>
              <a:t>	   begin</a:t>
            </a:r>
          </a:p>
          <a:p>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若干</a:t>
            </a:r>
            <a:r>
              <a:rPr lang="zh-CN" altLang="en-US" sz="2400" dirty="0">
                <a:solidFill>
                  <a:srgbClr val="FF0000"/>
                </a:solidFill>
                <a:latin typeface="华文新魏" panose="02010800040101010101" pitchFamily="2" charset="-122"/>
                <a:ea typeface="华文新魏" panose="02010800040101010101" pitchFamily="2" charset="-122"/>
              </a:rPr>
              <a:t>顺序执行语句</a:t>
            </a:r>
            <a:r>
              <a:rPr lang="en-US" altLang="zh-CN" sz="2400" dirty="0">
                <a:solidFill>
                  <a:schemeClr val="tx1"/>
                </a:solidFill>
                <a:latin typeface="华文新魏" panose="02010800040101010101" pitchFamily="2" charset="-122"/>
                <a:ea typeface="华文新魏" panose="02010800040101010101" pitchFamily="2" charset="-122"/>
              </a:rPr>
              <a:t>;</a:t>
            </a:r>
          </a:p>
          <a:p>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end process [</a:t>
            </a:r>
            <a:r>
              <a:rPr lang="zh-CN" altLang="en-US" sz="2400" dirty="0">
                <a:solidFill>
                  <a:schemeClr val="tx1"/>
                </a:solidFill>
                <a:latin typeface="华文新魏" panose="02010800040101010101" pitchFamily="2" charset="-122"/>
                <a:ea typeface="华文新魏" panose="02010800040101010101" pitchFamily="2" charset="-122"/>
              </a:rPr>
              <a:t>进程名</a:t>
            </a:r>
            <a:r>
              <a:rPr lang="en-US" altLang="zh-CN" sz="2400">
                <a:solidFill>
                  <a:schemeClr val="tx1"/>
                </a:solidFill>
                <a:latin typeface="华文新魏" panose="02010800040101010101" pitchFamily="2" charset="-122"/>
                <a:ea typeface="华文新魏" panose="02010800040101010101" pitchFamily="2" charset="-122"/>
              </a:rPr>
              <a:t>]</a:t>
            </a:r>
            <a:r>
              <a:rPr lang="en-US" sz="2400">
                <a:solidFill>
                  <a:schemeClr val="tx1"/>
                </a:solidFill>
                <a:latin typeface="华文新魏" panose="02010800040101010101" pitchFamily="2" charset="-122"/>
                <a:ea typeface="华文新魏" panose="02010800040101010101" pitchFamily="2" charset="-122"/>
              </a:rPr>
              <a:t>;</a:t>
            </a:r>
          </a:p>
        </p:txBody>
      </p:sp>
      <p:sp>
        <p:nvSpPr>
          <p:cNvPr id="2" name="矩形标注 1"/>
          <p:cNvSpPr/>
          <p:nvPr/>
        </p:nvSpPr>
        <p:spPr>
          <a:xfrm>
            <a:off x="6012180" y="1851660"/>
            <a:ext cx="2277110" cy="642620"/>
          </a:xfrm>
          <a:prstGeom prst="wedgeRectCallout">
            <a:avLst>
              <a:gd name="adj1" fmla="val -68065"/>
              <a:gd name="adj2" fmla="val 83794"/>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敏感信号表为空时，内部配合</a:t>
            </a:r>
            <a:r>
              <a:rPr kumimoji="0" lang="en-US" altLang="zh-CN"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wait</a:t>
            </a:r>
            <a:r>
              <a:rPr kumimoji="0" lang="zh-CN" altLang="en-US"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语句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1556"/>
                                        </p:tgtEl>
                                        <p:attrNameLst>
                                          <p:attrName>style.visibility</p:attrName>
                                        </p:attrNameLst>
                                      </p:cBhvr>
                                      <p:to>
                                        <p:strVal val="visible"/>
                                      </p:to>
                                    </p:set>
                                    <p:anim calcmode="lin" valueType="num">
                                      <p:cBhvr additive="base">
                                        <p:cTn id="7" dur="500" fill="hold"/>
                                        <p:tgtEl>
                                          <p:spTgt spid="151556"/>
                                        </p:tgtEl>
                                        <p:attrNameLst>
                                          <p:attrName>ppt_x</p:attrName>
                                        </p:attrNameLst>
                                      </p:cBhvr>
                                      <p:tavLst>
                                        <p:tav tm="0">
                                          <p:val>
                                            <p:strVal val="#ppt_x"/>
                                          </p:val>
                                        </p:tav>
                                        <p:tav tm="100000">
                                          <p:val>
                                            <p:strVal val="#ppt_x"/>
                                          </p:val>
                                        </p:tav>
                                      </p:tavLst>
                                    </p:anim>
                                    <p:anim calcmode="lin" valueType="num">
                                      <p:cBhvr additive="base">
                                        <p:cTn id="8" dur="500" fill="hold"/>
                                        <p:tgtEl>
                                          <p:spTgt spid="1515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6" grpId="0"/>
      <p:bldP spid="151556" grpId="1"/>
      <p:bldP spid="2" grpId="0" bldLvl="0" animBg="1"/>
      <p:bldP spid="2"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矩形 4"/>
          <p:cNvSpPr/>
          <p:nvPr/>
        </p:nvSpPr>
        <p:spPr>
          <a:xfrm>
            <a:off x="539750" y="556260"/>
            <a:ext cx="5903913" cy="76835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例如，一个下降沿触发的</a:t>
            </a:r>
            <a:r>
              <a:rPr lang="en-US" altLang="zh-CN" sz="2400">
                <a:solidFill>
                  <a:schemeClr val="tx1"/>
                </a:solidFill>
                <a:latin typeface="华文新魏" panose="02010800040101010101" pitchFamily="2" charset="-122"/>
                <a:ea typeface="华文新魏" panose="02010800040101010101" pitchFamily="2" charset="-122"/>
              </a:rPr>
              <a:t>D</a:t>
            </a:r>
            <a:r>
              <a:rPr lang="zh-CN" altLang="en-US" sz="2400" dirty="0">
                <a:solidFill>
                  <a:schemeClr val="tx1"/>
                </a:solidFill>
                <a:latin typeface="华文新魏" panose="02010800040101010101" pitchFamily="2" charset="-122"/>
                <a:ea typeface="华文新魏" panose="02010800040101010101" pitchFamily="2" charset="-122"/>
              </a:rPr>
              <a:t>触发器电路</a:t>
            </a:r>
            <a:r>
              <a:rPr lang="en-US" altLang="zh-CN">
                <a:solidFill>
                  <a:schemeClr val="tx1"/>
                </a:solidFill>
                <a:latin typeface="华文新魏" panose="02010800040101010101" pitchFamily="2" charset="-122"/>
                <a:ea typeface="华文新魏" panose="02010800040101010101" pitchFamily="2" charset="-122"/>
              </a:rPr>
              <a:t>	</a:t>
            </a:r>
          </a:p>
          <a:p>
            <a:endParaRPr lang="en-US" altLang="zh-CN">
              <a:solidFill>
                <a:schemeClr val="tx1"/>
              </a:solidFill>
              <a:latin typeface="华文新魏" panose="02010800040101010101" pitchFamily="2" charset="-122"/>
              <a:ea typeface="华文新魏" panose="02010800040101010101" pitchFamily="2" charset="-122"/>
            </a:endParaRPr>
          </a:p>
        </p:txBody>
      </p:sp>
      <p:pic>
        <p:nvPicPr>
          <p:cNvPr id="152579" name="图片 1"/>
          <p:cNvPicPr>
            <a:picLocks noChangeAspect="1"/>
          </p:cNvPicPr>
          <p:nvPr/>
        </p:nvPicPr>
        <p:blipFill>
          <a:blip r:embed="rId2"/>
          <a:stretch>
            <a:fillRect/>
          </a:stretch>
        </p:blipFill>
        <p:spPr>
          <a:xfrm>
            <a:off x="73025" y="1233805"/>
            <a:ext cx="8703945" cy="337820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矩形 3"/>
          <p:cNvSpPr/>
          <p:nvPr/>
        </p:nvSpPr>
        <p:spPr>
          <a:xfrm>
            <a:off x="539750" y="404813"/>
            <a:ext cx="1754188" cy="511175"/>
          </a:xfrm>
          <a:prstGeom prst="rect">
            <a:avLst/>
          </a:prstGeom>
          <a:noFill/>
          <a:ln w="9525">
            <a:noFill/>
          </a:ln>
        </p:spPr>
        <p:txBody>
          <a:bodyPr wrap="none">
            <a:spAutoFit/>
          </a:bodyPr>
          <a:lstStyle/>
          <a:p>
            <a:pPr eaLnBrk="1" hangingPunct="1">
              <a:lnSpc>
                <a:spcPct val="120000"/>
              </a:lnSpc>
            </a:pPr>
            <a:r>
              <a:rPr lang="en-US" altLang="zh-CN" sz="2400">
                <a:solidFill>
                  <a:srgbClr val="FF0066"/>
                </a:solidFill>
                <a:latin typeface="华文新魏" panose="02010800040101010101" pitchFamily="2" charset="-122"/>
                <a:ea typeface="华文新魏" panose="02010800040101010101" pitchFamily="2" charset="-122"/>
              </a:rPr>
              <a:t>5.  case</a:t>
            </a:r>
            <a:r>
              <a:rPr lang="zh-CN" altLang="en-US" sz="2400" dirty="0">
                <a:solidFill>
                  <a:srgbClr val="FF0066"/>
                </a:solidFill>
                <a:latin typeface="华文新魏" panose="02010800040101010101" pitchFamily="2" charset="-122"/>
                <a:ea typeface="华文新魏" panose="02010800040101010101" pitchFamily="2" charset="-122"/>
              </a:rPr>
              <a:t>语句</a:t>
            </a:r>
            <a:endParaRPr lang="en-US" altLang="zh-CN" sz="2400">
              <a:solidFill>
                <a:srgbClr val="FF0066"/>
              </a:solidFill>
              <a:latin typeface="华文新魏" panose="02010800040101010101" pitchFamily="2" charset="-122"/>
              <a:ea typeface="华文新魏" panose="02010800040101010101" pitchFamily="2" charset="-122"/>
            </a:endParaRPr>
          </a:p>
        </p:txBody>
      </p:sp>
      <p:sp>
        <p:nvSpPr>
          <p:cNvPr id="153603" name="文本框 1"/>
          <p:cNvSpPr txBox="1"/>
          <p:nvPr/>
        </p:nvSpPr>
        <p:spPr>
          <a:xfrm>
            <a:off x="2411760" y="731959"/>
            <a:ext cx="6264312" cy="830997"/>
          </a:xfrm>
          <a:prstGeom prst="rect">
            <a:avLst/>
          </a:prstGeom>
          <a:noFill/>
          <a:ln w="9525">
            <a:noFill/>
          </a:ln>
        </p:spPr>
        <p:txBody>
          <a:bodyPr wrap="square">
            <a:spAutoFit/>
          </a:bodyPr>
          <a:lstStyle/>
          <a:p>
            <a:r>
              <a:rPr lang="en-US" altLang="zh-CN" sz="2400" dirty="0">
                <a:solidFill>
                  <a:srgbClr val="000000"/>
                </a:solidFill>
                <a:latin typeface="华文新魏" panose="02010800040101010101" pitchFamily="2" charset="-122"/>
                <a:ea typeface="华文新魏" panose="02010800040101010101" pitchFamily="2" charset="-122"/>
              </a:rPr>
              <a:t>case</a:t>
            </a:r>
            <a:r>
              <a:rPr lang="zh-CN" altLang="en-US" sz="2400" dirty="0">
                <a:solidFill>
                  <a:srgbClr val="000000"/>
                </a:solidFill>
                <a:latin typeface="华文新魏" panose="02010800040101010101" pitchFamily="2" charset="-122"/>
                <a:ea typeface="华文新魏" panose="02010800040101010101" pitchFamily="2" charset="-122"/>
              </a:rPr>
              <a:t>语句常用来描述总线行为、译码器结构和状态机等。</a:t>
            </a:r>
            <a:r>
              <a:rPr lang="en-US" altLang="zh-CN" sz="2400" dirty="0">
                <a:solidFill>
                  <a:srgbClr val="000000"/>
                </a:solidFill>
                <a:latin typeface="华文新魏" panose="02010800040101010101" pitchFamily="2" charset="-122"/>
                <a:ea typeface="华文新魏" panose="02010800040101010101" pitchFamily="2" charset="-122"/>
              </a:rPr>
              <a:t>case</a:t>
            </a:r>
            <a:r>
              <a:rPr lang="zh-CN" altLang="en-US" sz="2400" dirty="0">
                <a:solidFill>
                  <a:srgbClr val="000000"/>
                </a:solidFill>
                <a:latin typeface="华文新魏" panose="02010800040101010101" pitchFamily="2" charset="-122"/>
                <a:ea typeface="华文新魏" panose="02010800040101010101" pitchFamily="2" charset="-122"/>
              </a:rPr>
              <a:t>语句可读性好。</a:t>
            </a:r>
            <a:endParaRPr lang="en-US" altLang="zh-CN" sz="2400" dirty="0">
              <a:solidFill>
                <a:srgbClr val="000000"/>
              </a:solidFill>
              <a:latin typeface="华文新魏" panose="02010800040101010101" pitchFamily="2" charset="-122"/>
              <a:ea typeface="华文新魏" panose="02010800040101010101" pitchFamily="2" charset="-122"/>
            </a:endParaRPr>
          </a:p>
        </p:txBody>
      </p:sp>
      <p:sp>
        <p:nvSpPr>
          <p:cNvPr id="153604" name="矩形 4"/>
          <p:cNvSpPr/>
          <p:nvPr/>
        </p:nvSpPr>
        <p:spPr>
          <a:xfrm>
            <a:off x="1331913" y="1400175"/>
            <a:ext cx="7200900" cy="3784600"/>
          </a:xfrm>
          <a:prstGeom prst="rect">
            <a:avLst/>
          </a:prstGeom>
          <a:noFill/>
          <a:ln w="9525">
            <a:noFill/>
          </a:ln>
        </p:spPr>
        <p:txBody>
          <a:bodyPr>
            <a:spAutoFit/>
          </a:bodyPr>
          <a:lstStyle/>
          <a:p>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rgbClr val="000000"/>
                </a:solidFill>
                <a:latin typeface="华文新魏" panose="02010800040101010101" pitchFamily="2" charset="-122"/>
                <a:ea typeface="华文新魏" panose="02010800040101010101" pitchFamily="2" charset="-122"/>
              </a:rPr>
              <a:t>：</a:t>
            </a:r>
            <a:endParaRPr lang="en-US" altLang="zh-CN" sz="2400">
              <a:solidFill>
                <a:srgbClr val="000000"/>
              </a:solidFill>
              <a:latin typeface="华文新魏" panose="02010800040101010101" pitchFamily="2" charset="-122"/>
              <a:ea typeface="华文新魏" panose="02010800040101010101" pitchFamily="2" charset="-122"/>
            </a:endParaRPr>
          </a:p>
          <a:p>
            <a:r>
              <a:rPr lang="en-US" altLang="zh-CN" sz="2400">
                <a:solidFill>
                  <a:srgbClr val="000000"/>
                </a:solidFill>
                <a:latin typeface="华文新魏" panose="02010800040101010101" pitchFamily="2" charset="-122"/>
                <a:ea typeface="华文新魏" panose="02010800040101010101" pitchFamily="2" charset="-122"/>
              </a:rPr>
              <a:t>	  </a:t>
            </a:r>
            <a:r>
              <a:rPr lang="en-US" altLang="zh-CN" sz="2400">
                <a:solidFill>
                  <a:srgbClr val="0000FF"/>
                </a:solidFill>
                <a:latin typeface="华文新魏" panose="02010800040101010101" pitchFamily="2" charset="-122"/>
                <a:ea typeface="华文新魏" panose="02010800040101010101" pitchFamily="2" charset="-122"/>
              </a:rPr>
              <a:t>case</a:t>
            </a:r>
            <a:r>
              <a:rPr lang="en-US" altLang="zh-CN" sz="240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条件表达式   </a:t>
            </a:r>
            <a:r>
              <a:rPr lang="en-US" altLang="zh-CN" sz="2400">
                <a:solidFill>
                  <a:srgbClr val="0000FF"/>
                </a:solidFill>
                <a:latin typeface="华文新魏" panose="02010800040101010101" pitchFamily="2" charset="-122"/>
                <a:ea typeface="华文新魏" panose="02010800040101010101" pitchFamily="2" charset="-122"/>
              </a:rPr>
              <a:t>is</a:t>
            </a:r>
          </a:p>
          <a:p>
            <a:pPr lvl="2"/>
            <a:r>
              <a:rPr lang="en-US" altLang="zh-CN" sz="2400">
                <a:solidFill>
                  <a:srgbClr val="000000"/>
                </a:solidFill>
                <a:latin typeface="华文新魏" panose="02010800040101010101" pitchFamily="2" charset="-122"/>
                <a:ea typeface="华文新魏" panose="02010800040101010101" pitchFamily="2" charset="-122"/>
              </a:rPr>
              <a:t>  </a:t>
            </a:r>
            <a:r>
              <a:rPr lang="en-US" altLang="zh-CN" sz="2400">
                <a:solidFill>
                  <a:srgbClr val="0000FF"/>
                </a:solidFill>
                <a:latin typeface="华文新魏" panose="02010800040101010101" pitchFamily="2" charset="-122"/>
                <a:ea typeface="华文新魏" panose="02010800040101010101" pitchFamily="2" charset="-122"/>
              </a:rPr>
              <a:t>when</a:t>
            </a:r>
            <a:r>
              <a:rPr lang="en-US" altLang="zh-CN" sz="240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条件表达式取值</a:t>
            </a:r>
            <a:r>
              <a:rPr lang="en-US" altLang="zh-CN" sz="2400">
                <a:solidFill>
                  <a:srgbClr val="000000"/>
                </a:solidFill>
                <a:latin typeface="华文新魏" panose="02010800040101010101" pitchFamily="2" charset="-122"/>
                <a:ea typeface="华文新魏" panose="02010800040101010101" pitchFamily="2" charset="-122"/>
              </a:rPr>
              <a:t>1 </a:t>
            </a:r>
            <a:r>
              <a:rPr lang="en-US" altLang="zh-CN" sz="2400">
                <a:solidFill>
                  <a:srgbClr val="0000FF"/>
                </a:solidFill>
                <a:latin typeface="华文新魏" panose="02010800040101010101" pitchFamily="2" charset="-122"/>
                <a:ea typeface="华文新魏" panose="02010800040101010101" pitchFamily="2" charset="-122"/>
              </a:rPr>
              <a:t>=&gt;</a:t>
            </a:r>
          </a:p>
          <a:p>
            <a:pPr lvl="2"/>
            <a:r>
              <a:rPr lang="en-US" altLang="zh-CN" sz="240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若干顺序执行语句</a:t>
            </a:r>
            <a:r>
              <a:rPr lang="en-US" altLang="zh-CN" sz="2400" dirty="0">
                <a:solidFill>
                  <a:srgbClr val="000000"/>
                </a:solidFill>
                <a:latin typeface="华文新魏" panose="02010800040101010101" pitchFamily="2" charset="-122"/>
                <a:ea typeface="华文新魏" panose="02010800040101010101" pitchFamily="2" charset="-122"/>
              </a:rPr>
              <a:t>;</a:t>
            </a:r>
            <a:endParaRPr lang="zh-CN" altLang="en-US" sz="2400" dirty="0">
              <a:solidFill>
                <a:srgbClr val="000000"/>
              </a:solidFill>
              <a:latin typeface="华文新魏" panose="02010800040101010101" pitchFamily="2" charset="-122"/>
              <a:ea typeface="华文新魏" panose="02010800040101010101" pitchFamily="2" charset="-122"/>
            </a:endParaRPr>
          </a:p>
          <a:p>
            <a:pPr lvl="2"/>
            <a:r>
              <a:rPr lang="zh-CN" altLang="en-US" sz="2400" dirty="0">
                <a:solidFill>
                  <a:srgbClr val="000000"/>
                </a:solidFill>
                <a:latin typeface="华文新魏" panose="02010800040101010101" pitchFamily="2" charset="-122"/>
                <a:ea typeface="华文新魏" panose="02010800040101010101" pitchFamily="2" charset="-122"/>
              </a:rPr>
              <a:t>       。。。</a:t>
            </a:r>
          </a:p>
          <a:p>
            <a:pPr lvl="2"/>
            <a:r>
              <a:rPr lang="zh-CN" altLang="en-US" sz="2400" dirty="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FF"/>
                </a:solidFill>
                <a:latin typeface="华文新魏" panose="02010800040101010101" pitchFamily="2" charset="-122"/>
                <a:ea typeface="华文新魏" panose="02010800040101010101" pitchFamily="2" charset="-122"/>
              </a:rPr>
              <a:t> </a:t>
            </a:r>
            <a:r>
              <a:rPr lang="en-US" altLang="zh-CN" sz="2400">
                <a:solidFill>
                  <a:srgbClr val="0000FF"/>
                </a:solidFill>
                <a:latin typeface="华文新魏" panose="02010800040101010101" pitchFamily="2" charset="-122"/>
                <a:ea typeface="华文新魏" panose="02010800040101010101" pitchFamily="2" charset="-122"/>
              </a:rPr>
              <a:t>when </a:t>
            </a:r>
            <a:r>
              <a:rPr lang="zh-CN" altLang="en-US" sz="2400" dirty="0">
                <a:solidFill>
                  <a:srgbClr val="000000"/>
                </a:solidFill>
                <a:latin typeface="华文新魏" panose="02010800040101010101" pitchFamily="2" charset="-122"/>
                <a:ea typeface="华文新魏" panose="02010800040101010101" pitchFamily="2" charset="-122"/>
              </a:rPr>
              <a:t>条件表达式</a:t>
            </a:r>
            <a:r>
              <a:rPr lang="zh-CN" altLang="en-US" sz="2400" dirty="0">
                <a:solidFill>
                  <a:srgbClr val="000000"/>
                </a:solidFill>
                <a:latin typeface="华文新魏" panose="02010800040101010101" pitchFamily="2" charset="-122"/>
                <a:ea typeface="华文新魏" panose="02010800040101010101" pitchFamily="2" charset="-122"/>
                <a:sym typeface="+mn-ea"/>
              </a:rPr>
              <a:t>取值</a:t>
            </a:r>
            <a:r>
              <a:rPr lang="en-US" altLang="zh-CN" sz="2400">
                <a:solidFill>
                  <a:srgbClr val="000000"/>
                </a:solidFill>
                <a:latin typeface="华文新魏" panose="02010800040101010101" pitchFamily="2" charset="-122"/>
                <a:ea typeface="华文新魏" panose="02010800040101010101" pitchFamily="2" charset="-122"/>
              </a:rPr>
              <a:t>n </a:t>
            </a:r>
            <a:r>
              <a:rPr lang="en-US" altLang="zh-CN" sz="2400">
                <a:solidFill>
                  <a:srgbClr val="0000FF"/>
                </a:solidFill>
                <a:latin typeface="华文新魏" panose="02010800040101010101" pitchFamily="2" charset="-122"/>
                <a:ea typeface="华文新魏" panose="02010800040101010101" pitchFamily="2" charset="-122"/>
              </a:rPr>
              <a:t>=&gt;</a:t>
            </a:r>
          </a:p>
          <a:p>
            <a:pPr lvl="2"/>
            <a:r>
              <a:rPr lang="en-US" altLang="zh-CN" sz="240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若干顺序执行语句</a:t>
            </a:r>
            <a:r>
              <a:rPr lang="en-US" altLang="zh-CN" sz="2400" dirty="0">
                <a:solidFill>
                  <a:srgbClr val="000000"/>
                </a:solidFill>
                <a:latin typeface="华文新魏" panose="02010800040101010101" pitchFamily="2" charset="-122"/>
                <a:ea typeface="华文新魏" panose="02010800040101010101" pitchFamily="2" charset="-122"/>
              </a:rPr>
              <a:t>;</a:t>
            </a:r>
            <a:endParaRPr lang="zh-CN" altLang="en-US" sz="2400" dirty="0">
              <a:solidFill>
                <a:srgbClr val="000000"/>
              </a:solidFill>
              <a:latin typeface="华文新魏" panose="02010800040101010101" pitchFamily="2" charset="-122"/>
              <a:ea typeface="华文新魏" panose="02010800040101010101" pitchFamily="2" charset="-122"/>
            </a:endParaRPr>
          </a:p>
          <a:p>
            <a:pPr lvl="2"/>
            <a:r>
              <a:rPr lang="zh-CN" altLang="en-US" sz="2400" dirty="0">
                <a:solidFill>
                  <a:srgbClr val="000000"/>
                </a:solidFill>
                <a:latin typeface="华文新魏" panose="02010800040101010101" pitchFamily="2" charset="-122"/>
                <a:ea typeface="华文新魏" panose="02010800040101010101" pitchFamily="2" charset="-122"/>
              </a:rPr>
              <a:t>  </a:t>
            </a:r>
            <a:r>
              <a:rPr lang="en-US" altLang="zh-CN" sz="2400">
                <a:solidFill>
                  <a:srgbClr val="0000FF"/>
                </a:solidFill>
                <a:latin typeface="华文新魏" panose="02010800040101010101" pitchFamily="2" charset="-122"/>
                <a:ea typeface="华文新魏" panose="02010800040101010101" pitchFamily="2" charset="-122"/>
              </a:rPr>
              <a:t>when</a:t>
            </a:r>
            <a:r>
              <a:rPr lang="en-US" altLang="zh-CN" sz="2400">
                <a:solidFill>
                  <a:srgbClr val="000000"/>
                </a:solidFill>
                <a:latin typeface="华文新魏" panose="02010800040101010101" pitchFamily="2" charset="-122"/>
                <a:ea typeface="华文新魏" panose="02010800040101010101" pitchFamily="2" charset="-122"/>
              </a:rPr>
              <a:t> </a:t>
            </a:r>
            <a:r>
              <a:rPr lang="en-US" altLang="zh-CN" sz="2400">
                <a:solidFill>
                  <a:srgbClr val="FF0000"/>
                </a:solidFill>
                <a:latin typeface="华文新魏" panose="02010800040101010101" pitchFamily="2" charset="-122"/>
                <a:ea typeface="华文新魏" panose="02010800040101010101" pitchFamily="2" charset="-122"/>
              </a:rPr>
              <a:t>others                     </a:t>
            </a:r>
            <a:r>
              <a:rPr lang="en-US" altLang="zh-CN" sz="2400">
                <a:solidFill>
                  <a:srgbClr val="0000FF"/>
                </a:solidFill>
                <a:latin typeface="华文新魏" panose="02010800040101010101" pitchFamily="2" charset="-122"/>
                <a:ea typeface="华文新魏" panose="02010800040101010101" pitchFamily="2" charset="-122"/>
              </a:rPr>
              <a:t>=&gt;</a:t>
            </a:r>
          </a:p>
          <a:p>
            <a:pPr lvl="2"/>
            <a:r>
              <a:rPr lang="en-US" altLang="zh-CN" sz="240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若干顺序执行语句</a:t>
            </a:r>
            <a:r>
              <a:rPr lang="en-US" altLang="zh-CN" sz="2400" dirty="0">
                <a:solidFill>
                  <a:srgbClr val="000000"/>
                </a:solidFill>
                <a:latin typeface="华文新魏" panose="02010800040101010101" pitchFamily="2" charset="-122"/>
                <a:ea typeface="华文新魏" panose="02010800040101010101" pitchFamily="2" charset="-122"/>
              </a:rPr>
              <a:t>;</a:t>
            </a:r>
            <a:endParaRPr lang="zh-CN" altLang="en-US" sz="2400" dirty="0">
              <a:solidFill>
                <a:srgbClr val="000000"/>
              </a:solidFill>
              <a:latin typeface="华文新魏" panose="02010800040101010101" pitchFamily="2" charset="-122"/>
              <a:ea typeface="华文新魏" panose="02010800040101010101" pitchFamily="2" charset="-122"/>
            </a:endParaRPr>
          </a:p>
          <a:p>
            <a:pPr lvl="2"/>
            <a:r>
              <a:rPr lang="en-US" altLang="zh-CN" sz="2400">
                <a:solidFill>
                  <a:srgbClr val="0000FF"/>
                </a:solidFill>
                <a:latin typeface="华文新魏" panose="02010800040101010101" pitchFamily="2" charset="-122"/>
                <a:ea typeface="华文新魏" panose="02010800040101010101" pitchFamily="2" charset="-122"/>
              </a:rPr>
              <a:t>  end</a:t>
            </a:r>
            <a:r>
              <a:rPr lang="en-US" altLang="zh-CN" sz="2400">
                <a:solidFill>
                  <a:srgbClr val="000000"/>
                </a:solidFill>
                <a:latin typeface="华文新魏" panose="02010800040101010101" pitchFamily="2" charset="-122"/>
                <a:ea typeface="华文新魏" panose="02010800040101010101" pitchFamily="2" charset="-122"/>
              </a:rPr>
              <a:t> case;</a:t>
            </a:r>
          </a:p>
        </p:txBody>
      </p:sp>
      <p:sp>
        <p:nvSpPr>
          <p:cNvPr id="3" name="文本框 2"/>
          <p:cNvSpPr txBox="1"/>
          <p:nvPr/>
        </p:nvSpPr>
        <p:spPr>
          <a:xfrm>
            <a:off x="35560" y="2499995"/>
            <a:ext cx="2448208" cy="1200329"/>
          </a:xfrm>
          <a:prstGeom prst="rect">
            <a:avLst/>
          </a:prstGeom>
          <a:noFill/>
        </p:spPr>
        <p:txBody>
          <a:bodyPr wrap="square" rtlCol="0">
            <a:spAutoFit/>
          </a:bodyPr>
          <a:lstStyle/>
          <a:p>
            <a:r>
              <a:rPr lang="en-US" altLang="zh-CN" sz="1800" dirty="0">
                <a:solidFill>
                  <a:srgbClr val="FF0000"/>
                </a:solidFill>
                <a:latin typeface="华文新魏" panose="02010800040101010101" pitchFamily="2" charset="-122"/>
                <a:ea typeface="华文新魏" panose="02010800040101010101" pitchFamily="2" charset="-122"/>
              </a:rPr>
              <a:t>case</a:t>
            </a:r>
            <a:r>
              <a:rPr lang="zh-CN" altLang="en-US" sz="1800" dirty="0">
                <a:solidFill>
                  <a:srgbClr val="FF0000"/>
                </a:solidFill>
                <a:latin typeface="华文新魏" panose="02010800040101010101" pitchFamily="2" charset="-122"/>
                <a:ea typeface="华文新魏" panose="02010800040101010101" pitchFamily="2" charset="-122"/>
              </a:rPr>
              <a:t>与</a:t>
            </a:r>
            <a:r>
              <a:rPr lang="en-US" altLang="zh-CN" sz="1800" dirty="0">
                <a:solidFill>
                  <a:srgbClr val="FF0000"/>
                </a:solidFill>
                <a:latin typeface="华文新魏" panose="02010800040101010101" pitchFamily="2" charset="-122"/>
                <a:ea typeface="华文新魏" panose="02010800040101010101" pitchFamily="2" charset="-122"/>
              </a:rPr>
              <a:t>if</a:t>
            </a:r>
            <a:r>
              <a:rPr lang="zh-CN" altLang="en-US" sz="1800" dirty="0">
                <a:solidFill>
                  <a:srgbClr val="FF0000"/>
                </a:solidFill>
                <a:latin typeface="华文新魏" panose="02010800040101010101" pitchFamily="2" charset="-122"/>
                <a:ea typeface="华文新魏" panose="02010800040101010101" pitchFamily="2" charset="-122"/>
              </a:rPr>
              <a:t>的不同：</a:t>
            </a:r>
            <a:endParaRPr lang="zh-CN" altLang="en-US" sz="1800" dirty="0">
              <a:solidFill>
                <a:schemeClr val="tx1"/>
              </a:solidFill>
              <a:latin typeface="华文新魏" panose="02010800040101010101" pitchFamily="2" charset="-122"/>
              <a:ea typeface="华文新魏" panose="02010800040101010101" pitchFamily="2" charset="-122"/>
            </a:endParaRPr>
          </a:p>
          <a:p>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穷举所有条件取值；</a:t>
            </a:r>
          </a:p>
          <a:p>
            <a:r>
              <a:rPr lang="en-US" altLang="zh-CN" sz="1800" dirty="0">
                <a:solidFill>
                  <a:schemeClr val="tx1"/>
                </a:solidFill>
                <a:latin typeface="华文新魏" panose="02010800040101010101" pitchFamily="2" charset="-122"/>
                <a:ea typeface="华文新魏" panose="02010800040101010101" pitchFamily="2" charset="-122"/>
              </a:rPr>
              <a:t>2.</a:t>
            </a:r>
            <a:r>
              <a:rPr lang="zh-CN" altLang="en-US" sz="1800" dirty="0">
                <a:solidFill>
                  <a:schemeClr val="tx1"/>
                </a:solidFill>
                <a:latin typeface="华文新魏" panose="02010800040101010101" pitchFamily="2" charset="-122"/>
                <a:ea typeface="华文新魏" panose="02010800040101010101" pitchFamily="2" charset="-122"/>
              </a:rPr>
              <a:t>条件之间没有先后顺序，并发判断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矩形 4"/>
          <p:cNvSpPr/>
          <p:nvPr/>
        </p:nvSpPr>
        <p:spPr>
          <a:xfrm>
            <a:off x="107950" y="843280"/>
            <a:ext cx="2865755" cy="4154170"/>
          </a:xfrm>
          <a:prstGeom prst="rect">
            <a:avLst/>
          </a:prstGeom>
          <a:noFill/>
          <a:ln w="9525">
            <a:noFill/>
          </a:ln>
        </p:spPr>
        <p:txBody>
          <a:bodyPr wrap="square">
            <a:spAutoFit/>
          </a:bodyPr>
          <a:lstStyle/>
          <a:p>
            <a:r>
              <a:rPr lang="zh-CN" altLang="en-US" sz="2400" dirty="0">
                <a:solidFill>
                  <a:srgbClr val="000000"/>
                </a:solidFill>
                <a:latin typeface="华文新魏" panose="02010800040101010101" pitchFamily="2" charset="-122"/>
                <a:ea typeface="华文新魏" panose="02010800040101010101" pitchFamily="2" charset="-122"/>
              </a:rPr>
              <a:t>例如，一个有加、减、与、或功能的</a:t>
            </a:r>
            <a:r>
              <a:rPr lang="en-US" altLang="zh-CN" sz="2400">
                <a:solidFill>
                  <a:srgbClr val="000000"/>
                </a:solidFill>
                <a:latin typeface="华文新魏" panose="02010800040101010101" pitchFamily="2" charset="-122"/>
                <a:ea typeface="华文新魏" panose="02010800040101010101" pitchFamily="2" charset="-122"/>
              </a:rPr>
              <a:t>8</a:t>
            </a:r>
            <a:r>
              <a:rPr lang="zh-CN" altLang="en-US" sz="2400" dirty="0">
                <a:solidFill>
                  <a:srgbClr val="000000"/>
                </a:solidFill>
                <a:latin typeface="华文新魏" panose="02010800040101010101" pitchFamily="2" charset="-122"/>
                <a:ea typeface="华文新魏" panose="02010800040101010101" pitchFamily="2" charset="-122"/>
              </a:rPr>
              <a:t>位运算器。其中</a:t>
            </a:r>
            <a:r>
              <a:rPr lang="en-US" altLang="zh-CN" sz="2400" err="1">
                <a:solidFill>
                  <a:srgbClr val="000000"/>
                </a:solidFill>
                <a:latin typeface="华文新魏" panose="02010800040101010101" pitchFamily="2" charset="-122"/>
                <a:ea typeface="华文新魏" panose="02010800040101010101" pitchFamily="2" charset="-122"/>
              </a:rPr>
              <a:t>ci</a:t>
            </a:r>
            <a:r>
              <a:rPr lang="zh-CN" altLang="en-US" sz="2400" dirty="0">
                <a:solidFill>
                  <a:srgbClr val="000000"/>
                </a:solidFill>
                <a:latin typeface="华文新魏" panose="02010800040101010101" pitchFamily="2" charset="-122"/>
                <a:ea typeface="华文新魏" panose="02010800040101010101" pitchFamily="2" charset="-122"/>
              </a:rPr>
              <a:t>是低位的进位值，</a:t>
            </a:r>
            <a:r>
              <a:rPr lang="en-US" altLang="zh-CN" sz="2400">
                <a:solidFill>
                  <a:srgbClr val="000000"/>
                </a:solidFill>
                <a:latin typeface="华文新魏" panose="02010800040101010101" pitchFamily="2" charset="-122"/>
                <a:ea typeface="华文新魏" panose="02010800040101010101" pitchFamily="2" charset="-122"/>
              </a:rPr>
              <a:t>co</a:t>
            </a:r>
            <a:r>
              <a:rPr lang="zh-CN" altLang="en-US" sz="2400" dirty="0">
                <a:solidFill>
                  <a:srgbClr val="000000"/>
                </a:solidFill>
                <a:latin typeface="华文新魏" panose="02010800040101010101" pitchFamily="2" charset="-122"/>
                <a:ea typeface="华文新魏" panose="02010800040101010101" pitchFamily="2" charset="-122"/>
              </a:rPr>
              <a:t>是运算后向高位的进位值，</a:t>
            </a:r>
            <a:r>
              <a:rPr lang="en-US" altLang="zh-CN" sz="2400">
                <a:solidFill>
                  <a:srgbClr val="000000"/>
                </a:solidFill>
                <a:latin typeface="华文新魏" panose="02010800040101010101" pitchFamily="2" charset="-122"/>
                <a:ea typeface="华文新魏" panose="02010800040101010101" pitchFamily="2" charset="-122"/>
              </a:rPr>
              <a:t>s</a:t>
            </a:r>
            <a:r>
              <a:rPr lang="zh-CN" altLang="en-US" sz="2400" dirty="0">
                <a:solidFill>
                  <a:srgbClr val="000000"/>
                </a:solidFill>
                <a:latin typeface="华文新魏" panose="02010800040101010101" pitchFamily="2" charset="-122"/>
                <a:ea typeface="华文新魏" panose="02010800040101010101" pitchFamily="2" charset="-122"/>
              </a:rPr>
              <a:t>是运算的结果，</a:t>
            </a:r>
            <a:r>
              <a:rPr lang="en-US" altLang="zh-CN" sz="2400">
                <a:solidFill>
                  <a:srgbClr val="000000"/>
                </a:solidFill>
                <a:latin typeface="华文新魏" panose="02010800040101010101" pitchFamily="2" charset="-122"/>
                <a:ea typeface="华文新魏" panose="02010800040101010101" pitchFamily="2" charset="-122"/>
              </a:rPr>
              <a:t>a</a:t>
            </a:r>
            <a:r>
              <a:rPr lang="zh-CN" altLang="en-US" sz="2400" dirty="0">
                <a:solidFill>
                  <a:srgbClr val="000000"/>
                </a:solidFill>
                <a:latin typeface="华文新魏" panose="02010800040101010101" pitchFamily="2" charset="-122"/>
                <a:ea typeface="华文新魏" panose="02010800040101010101" pitchFamily="2" charset="-122"/>
              </a:rPr>
              <a:t>和</a:t>
            </a:r>
            <a:r>
              <a:rPr lang="en-US" altLang="zh-CN" sz="2400">
                <a:solidFill>
                  <a:srgbClr val="000000"/>
                </a:solidFill>
                <a:latin typeface="华文新魏" panose="02010800040101010101" pitchFamily="2" charset="-122"/>
                <a:ea typeface="华文新魏" panose="02010800040101010101" pitchFamily="2" charset="-122"/>
              </a:rPr>
              <a:t>b</a:t>
            </a:r>
            <a:r>
              <a:rPr lang="zh-CN" altLang="en-US" sz="2400" dirty="0">
                <a:solidFill>
                  <a:srgbClr val="000000"/>
                </a:solidFill>
                <a:latin typeface="华文新魏" panose="02010800040101010101" pitchFamily="2" charset="-122"/>
                <a:ea typeface="华文新魏" panose="02010800040101010101" pitchFamily="2" charset="-122"/>
              </a:rPr>
              <a:t>是</a:t>
            </a:r>
            <a:r>
              <a:rPr lang="en-US" altLang="zh-CN" sz="2400">
                <a:solidFill>
                  <a:srgbClr val="000000"/>
                </a:solidFill>
                <a:latin typeface="华文新魏" panose="02010800040101010101" pitchFamily="2" charset="-122"/>
                <a:ea typeface="华文新魏" panose="02010800040101010101" pitchFamily="2" charset="-122"/>
              </a:rPr>
              <a:t>2</a:t>
            </a:r>
            <a:r>
              <a:rPr lang="zh-CN" altLang="en-US" sz="2400" dirty="0">
                <a:solidFill>
                  <a:srgbClr val="000000"/>
                </a:solidFill>
                <a:latin typeface="华文新魏" panose="02010800040101010101" pitchFamily="2" charset="-122"/>
                <a:ea typeface="华文新魏" panose="02010800040101010101" pitchFamily="2" charset="-122"/>
              </a:rPr>
              <a:t>个操作数，</a:t>
            </a:r>
            <a:r>
              <a:rPr lang="en-US" altLang="zh-CN" sz="2400" err="1">
                <a:solidFill>
                  <a:srgbClr val="000000"/>
                </a:solidFill>
                <a:latin typeface="华文新魏" panose="02010800040101010101" pitchFamily="2" charset="-122"/>
                <a:ea typeface="华文新魏" panose="02010800040101010101" pitchFamily="2" charset="-122"/>
              </a:rPr>
              <a:t>sele</a:t>
            </a:r>
            <a:r>
              <a:rPr lang="zh-CN" altLang="en-US" sz="2400" dirty="0">
                <a:solidFill>
                  <a:srgbClr val="000000"/>
                </a:solidFill>
                <a:latin typeface="华文新魏" panose="02010800040101010101" pitchFamily="2" charset="-122"/>
                <a:ea typeface="华文新魏" panose="02010800040101010101" pitchFamily="2" charset="-122"/>
              </a:rPr>
              <a:t>是一个</a:t>
            </a:r>
            <a:r>
              <a:rPr lang="en-US" altLang="zh-CN" sz="2400">
                <a:solidFill>
                  <a:srgbClr val="000000"/>
                </a:solidFill>
                <a:latin typeface="华文新魏" panose="02010800040101010101" pitchFamily="2" charset="-122"/>
                <a:ea typeface="华文新魏" panose="02010800040101010101" pitchFamily="2" charset="-122"/>
              </a:rPr>
              <a:t>2</a:t>
            </a:r>
            <a:r>
              <a:rPr lang="zh-CN" altLang="en-US" sz="2400" dirty="0">
                <a:solidFill>
                  <a:srgbClr val="000000"/>
                </a:solidFill>
                <a:latin typeface="华文新魏" panose="02010800040101010101" pitchFamily="2" charset="-122"/>
                <a:ea typeface="华文新魏" panose="02010800040101010101" pitchFamily="2" charset="-122"/>
              </a:rPr>
              <a:t>位的运算选择码。</a:t>
            </a:r>
            <a:r>
              <a:rPr lang="en-US" altLang="zh-CN" sz="2400">
                <a:solidFill>
                  <a:srgbClr val="000000"/>
                </a:solidFill>
                <a:latin typeface="华文新魏" panose="02010800040101010101" pitchFamily="2" charset="-122"/>
                <a:ea typeface="华文新魏" panose="02010800040101010101" pitchFamily="2" charset="-122"/>
              </a:rPr>
              <a:t>	</a:t>
            </a:r>
          </a:p>
          <a:p>
            <a:endParaRPr lang="en-US" altLang="zh-CN" sz="2400">
              <a:solidFill>
                <a:srgbClr val="000000"/>
              </a:solidFill>
              <a:latin typeface="华文新魏" panose="02010800040101010101" pitchFamily="2" charset="-122"/>
              <a:ea typeface="华文新魏" panose="02010800040101010101" pitchFamily="2" charset="-122"/>
            </a:endParaRPr>
          </a:p>
        </p:txBody>
      </p:sp>
      <p:pic>
        <p:nvPicPr>
          <p:cNvPr id="154627" name="图片 2"/>
          <p:cNvPicPr>
            <a:picLocks noChangeAspect="1"/>
          </p:cNvPicPr>
          <p:nvPr/>
        </p:nvPicPr>
        <p:blipFill>
          <a:blip r:embed="rId3"/>
          <a:stretch>
            <a:fillRect/>
          </a:stretch>
        </p:blipFill>
        <p:spPr>
          <a:xfrm>
            <a:off x="3131820" y="411163"/>
            <a:ext cx="6030913" cy="4613275"/>
          </a:xfrm>
          <a:prstGeom prst="rect">
            <a:avLst/>
          </a:prstGeom>
          <a:noFill/>
          <a:ln w="9525">
            <a:noFill/>
          </a:ln>
        </p:spPr>
      </p:pic>
      <p:sp>
        <p:nvSpPr>
          <p:cNvPr id="3" name="矩形标注 2"/>
          <p:cNvSpPr/>
          <p:nvPr/>
        </p:nvSpPr>
        <p:spPr>
          <a:xfrm>
            <a:off x="6300470" y="2355850"/>
            <a:ext cx="2130425" cy="492760"/>
          </a:xfrm>
          <a:prstGeom prst="wedgeRectCallout">
            <a:avLst>
              <a:gd name="adj1" fmla="val -138584"/>
              <a:gd name="adj2" fmla="val -42256"/>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0" i="0" u="none" strike="noStrike" cap="none" normalizeH="0" baseline="0">
                <a:ln>
                  <a:noFill/>
                </a:ln>
                <a:solidFill>
                  <a:srgbClr val="FF0000"/>
                </a:solidFill>
                <a:effectLst/>
                <a:latin typeface="Calibri" panose="020F0502020204030204" pitchFamily="34" charset="0"/>
                <a:ea typeface="宋体" panose="02010600030101010101" pitchFamily="2" charset="-122"/>
              </a:rPr>
              <a:t>所有的</a:t>
            </a:r>
            <a:r>
              <a:rPr kumimoji="0" lang="en-US" altLang="zh-CN" sz="2000" b="0" i="0" u="none" strike="noStrike" cap="none" normalizeH="0" baseline="0">
                <a:ln>
                  <a:noFill/>
                </a:ln>
                <a:solidFill>
                  <a:srgbClr val="FF0000"/>
                </a:solidFill>
                <a:effectLst/>
                <a:latin typeface="Calibri" panose="020F0502020204030204" pitchFamily="34" charset="0"/>
                <a:ea typeface="宋体" panose="02010600030101010101" pitchFamily="2" charset="-122"/>
              </a:rPr>
              <a:t>q</a:t>
            </a:r>
            <a:r>
              <a:rPr kumimoji="0" lang="zh-CN" altLang="en-US" sz="2000" b="0" i="0" u="none" strike="noStrike" cap="none" normalizeH="0" baseline="0">
                <a:ln>
                  <a:noFill/>
                </a:ln>
                <a:solidFill>
                  <a:srgbClr val="FF0000"/>
                </a:solidFill>
                <a:effectLst/>
                <a:latin typeface="Calibri" panose="020F0502020204030204" pitchFamily="34" charset="0"/>
                <a:ea typeface="宋体" panose="02010600030101010101" pitchFamily="2" charset="-122"/>
              </a:rPr>
              <a:t>要换成</a:t>
            </a:r>
            <a:r>
              <a:rPr kumimoji="0" lang="en-US" altLang="zh-CN" sz="2000" b="0" i="0" u="none" strike="noStrike" cap="none" normalizeH="0" baseline="0">
                <a:ln>
                  <a:noFill/>
                </a:ln>
                <a:solidFill>
                  <a:srgbClr val="FF0000"/>
                </a:solidFill>
                <a:effectLst/>
                <a:latin typeface="Calibri" panose="020F0502020204030204" pitchFamily="34" charset="0"/>
                <a:ea typeface="宋体" panose="02010600030101010101" pitchFamily="2" charset="-122"/>
              </a:rPr>
              <a:t>S</a:t>
            </a:r>
          </a:p>
        </p:txBody>
      </p:sp>
      <p:sp>
        <p:nvSpPr>
          <p:cNvPr id="5" name="矩形 4"/>
          <p:cNvSpPr/>
          <p:nvPr/>
        </p:nvSpPr>
        <p:spPr>
          <a:xfrm>
            <a:off x="4067810" y="4011930"/>
            <a:ext cx="360045" cy="144145"/>
          </a:xfrm>
          <a:prstGeom prst="rect">
            <a:avLst/>
          </a:prstGeom>
          <a:noFill/>
          <a:ln w="19050"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4627"/>
                                        </p:tgtEl>
                                        <p:attrNameLst>
                                          <p:attrName>style.visibility</p:attrName>
                                        </p:attrNameLst>
                                      </p:cBhvr>
                                      <p:to>
                                        <p:strVal val="visible"/>
                                      </p:to>
                                    </p:set>
                                    <p:anim calcmode="lin" valueType="num">
                                      <p:cBhvr additive="base">
                                        <p:cTn id="7" dur="500" fill="hold"/>
                                        <p:tgtEl>
                                          <p:spTgt spid="154627"/>
                                        </p:tgtEl>
                                        <p:attrNameLst>
                                          <p:attrName>ppt_x</p:attrName>
                                        </p:attrNameLst>
                                      </p:cBhvr>
                                      <p:tavLst>
                                        <p:tav tm="0">
                                          <p:val>
                                            <p:strVal val="#ppt_x"/>
                                          </p:val>
                                        </p:tav>
                                        <p:tav tm="100000">
                                          <p:val>
                                            <p:strVal val="#ppt_x"/>
                                          </p:val>
                                        </p:tav>
                                      </p:tavLst>
                                    </p:anim>
                                    <p:anim calcmode="lin" valueType="num">
                                      <p:cBhvr additive="base">
                                        <p:cTn id="8" dur="500" fill="hold"/>
                                        <p:tgtEl>
                                          <p:spTgt spid="1546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5" grpId="0" animBg="1"/>
      <p:bldP spid="5"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矩形 3"/>
          <p:cNvSpPr/>
          <p:nvPr/>
        </p:nvSpPr>
        <p:spPr>
          <a:xfrm>
            <a:off x="454025" y="700088"/>
            <a:ext cx="2279650" cy="511175"/>
          </a:xfrm>
          <a:prstGeom prst="rect">
            <a:avLst/>
          </a:prstGeom>
          <a:noFill/>
          <a:ln w="9525">
            <a:noFill/>
          </a:ln>
        </p:spPr>
        <p:txBody>
          <a:bodyPr wrap="none">
            <a:spAutoFit/>
          </a:bodyPr>
          <a:lstStyle/>
          <a:p>
            <a:pPr eaLnBrk="1" hangingPunct="1">
              <a:lnSpc>
                <a:spcPct val="120000"/>
              </a:lnSpc>
              <a:buFont typeface="Arial" panose="020B0604020202020204" pitchFamily="34" charset="0"/>
            </a:pPr>
            <a:r>
              <a:rPr lang="en-US" altLang="zh-CN" sz="2400" b="1">
                <a:solidFill>
                  <a:srgbClr val="FF0066"/>
                </a:solidFill>
                <a:latin typeface="华文新魏" panose="02010800040101010101" pitchFamily="2" charset="-122"/>
                <a:ea typeface="华文新魏" panose="02010800040101010101" pitchFamily="2" charset="-122"/>
              </a:rPr>
              <a:t>4.4.3. </a:t>
            </a:r>
            <a:r>
              <a:rPr lang="zh-CN" altLang="en-US" sz="2400" b="1" dirty="0">
                <a:solidFill>
                  <a:srgbClr val="FF0066"/>
                </a:solidFill>
                <a:latin typeface="华文新魏" panose="02010800040101010101" pitchFamily="2" charset="-122"/>
                <a:ea typeface="华文新魏" panose="02010800040101010101" pitchFamily="2" charset="-122"/>
              </a:rPr>
              <a:t>设计实体</a:t>
            </a:r>
            <a:endParaRPr lang="en-US" altLang="zh-CN" sz="2400" b="1">
              <a:solidFill>
                <a:srgbClr val="FF0066"/>
              </a:solidFill>
              <a:latin typeface="华文新魏" panose="02010800040101010101" pitchFamily="2" charset="-122"/>
              <a:ea typeface="华文新魏" panose="02010800040101010101" pitchFamily="2" charset="-122"/>
            </a:endParaRPr>
          </a:p>
        </p:txBody>
      </p:sp>
      <p:sp>
        <p:nvSpPr>
          <p:cNvPr id="155651" name="矩形 1"/>
          <p:cNvSpPr/>
          <p:nvPr/>
        </p:nvSpPr>
        <p:spPr>
          <a:xfrm>
            <a:off x="755650" y="1211580"/>
            <a:ext cx="8109585" cy="3638550"/>
          </a:xfrm>
          <a:prstGeom prst="rect">
            <a:avLst/>
          </a:prstGeom>
          <a:noFill/>
          <a:ln w="9525">
            <a:noFill/>
          </a:ln>
        </p:spPr>
        <p:txBody>
          <a:bodyPr wrap="square">
            <a:noAutofit/>
          </a:bodyPr>
          <a:lstStyle/>
          <a:p>
            <a:pPr>
              <a:lnSpc>
                <a:spcPct val="130000"/>
              </a:lnSpc>
            </a:pPr>
            <a:r>
              <a:rPr lang="zh-CN" altLang="en-US" sz="2400" dirty="0">
                <a:solidFill>
                  <a:schemeClr val="tx1"/>
                </a:solidFill>
                <a:latin typeface="华文新魏" panose="02010800040101010101" pitchFamily="2" charset="-122"/>
                <a:ea typeface="华文新魏" panose="02010800040101010101" pitchFamily="2" charset="-122"/>
              </a:rPr>
              <a:t>在</a:t>
            </a: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的设计中，最基本的单位是</a:t>
            </a:r>
            <a:r>
              <a:rPr lang="zh-CN" altLang="en-US" sz="2400" u="sng" dirty="0">
                <a:solidFill>
                  <a:schemeClr val="tx1"/>
                </a:solidFill>
                <a:latin typeface="华文新魏" panose="02010800040101010101" pitchFamily="2" charset="-122"/>
                <a:ea typeface="华文新魏" panose="02010800040101010101" pitchFamily="2" charset="-122"/>
              </a:rPr>
              <a:t>设计实体</a:t>
            </a:r>
            <a:r>
              <a:rPr lang="zh-CN" altLang="en-US" sz="2400" dirty="0">
                <a:solidFill>
                  <a:schemeClr val="tx1"/>
                </a:solidFill>
                <a:latin typeface="华文新魏" panose="02010800040101010101" pitchFamily="2" charset="-122"/>
                <a:ea typeface="华文新魏" panose="02010800040101010101" pitchFamily="2" charset="-122"/>
              </a:rPr>
              <a:t>，</a:t>
            </a:r>
            <a:r>
              <a:rPr lang="zh-CN" altLang="en-US" sz="2400" dirty="0">
                <a:solidFill>
                  <a:srgbClr val="0000FF"/>
                </a:solidFill>
                <a:latin typeface="华文新魏" panose="02010800040101010101" pitchFamily="2" charset="-122"/>
                <a:ea typeface="华文新魏" panose="02010800040101010101" pitchFamily="2" charset="-122"/>
              </a:rPr>
              <a:t>一个设计实体是一个电路摸块</a:t>
            </a:r>
            <a:r>
              <a:rPr lang="zh-CN" altLang="en-US" sz="2400" dirty="0">
                <a:solidFill>
                  <a:schemeClr val="tx1"/>
                </a:solidFill>
                <a:latin typeface="华文新魏" panose="02010800040101010101" pitchFamily="2" charset="-122"/>
                <a:ea typeface="华文新魏" panose="02010800040101010101" pitchFamily="2" charset="-122"/>
              </a:rPr>
              <a:t>。一个设计实体最多由</a:t>
            </a:r>
            <a:r>
              <a:rPr lang="en-US" altLang="zh-CN" sz="2400">
                <a:solidFill>
                  <a:schemeClr val="tx1"/>
                </a:solidFill>
                <a:latin typeface="华文新魏" panose="02010800040101010101" pitchFamily="2" charset="-122"/>
                <a:ea typeface="华文新魏" panose="02010800040101010101" pitchFamily="2" charset="-122"/>
              </a:rPr>
              <a:t>5</a:t>
            </a:r>
            <a:r>
              <a:rPr lang="zh-CN" altLang="en-US" sz="2400" dirty="0">
                <a:solidFill>
                  <a:schemeClr val="tx1"/>
                </a:solidFill>
                <a:latin typeface="华文新魏" panose="02010800040101010101" pitchFamily="2" charset="-122"/>
                <a:ea typeface="华文新魏" panose="02010800040101010101" pitchFamily="2" charset="-122"/>
              </a:rPr>
              <a:t>部分构成：实体（</a:t>
            </a:r>
            <a:r>
              <a:rPr lang="en-US" altLang="zh-CN" sz="2400">
                <a:solidFill>
                  <a:schemeClr val="tx1"/>
                </a:solidFill>
                <a:latin typeface="华文新魏" panose="02010800040101010101" pitchFamily="2" charset="-122"/>
                <a:ea typeface="华文新魏" panose="02010800040101010101" pitchFamily="2" charset="-122"/>
              </a:rPr>
              <a:t>entity</a:t>
            </a:r>
            <a:r>
              <a:rPr lang="zh-CN" altLang="en-US" sz="2400" dirty="0">
                <a:solidFill>
                  <a:schemeClr val="tx1"/>
                </a:solidFill>
                <a:latin typeface="华文新魏" panose="02010800040101010101" pitchFamily="2" charset="-122"/>
                <a:ea typeface="华文新魏" panose="02010800040101010101" pitchFamily="2" charset="-122"/>
              </a:rPr>
              <a:t>），一个或者多个结构体（</a:t>
            </a:r>
            <a:r>
              <a:rPr lang="en-US" altLang="zh-CN" sz="2400">
                <a:solidFill>
                  <a:schemeClr val="tx1"/>
                </a:solidFill>
                <a:latin typeface="华文新魏" panose="02010800040101010101" pitchFamily="2" charset="-122"/>
                <a:ea typeface="华文新魏" panose="02010800040101010101" pitchFamily="2" charset="-122"/>
              </a:rPr>
              <a:t>architecture</a:t>
            </a:r>
            <a:r>
              <a:rPr lang="zh-CN" altLang="en-US" sz="2400" dirty="0">
                <a:solidFill>
                  <a:schemeClr val="tx1"/>
                </a:solidFill>
                <a:latin typeface="华文新魏" panose="02010800040101010101" pitchFamily="2" charset="-122"/>
                <a:ea typeface="华文新魏" panose="02010800040101010101" pitchFamily="2" charset="-122"/>
              </a:rPr>
              <a:t>），库（</a:t>
            </a:r>
            <a:r>
              <a:rPr lang="en-US" altLang="zh-CN" sz="2400">
                <a:solidFill>
                  <a:schemeClr val="tx1"/>
                </a:solidFill>
                <a:latin typeface="华文新魏" panose="02010800040101010101" pitchFamily="2" charset="-122"/>
                <a:ea typeface="华文新魏" panose="02010800040101010101" pitchFamily="2" charset="-122"/>
              </a:rPr>
              <a:t>library</a:t>
            </a:r>
            <a:r>
              <a:rPr lang="zh-CN" altLang="en-US" sz="2400" dirty="0">
                <a:solidFill>
                  <a:schemeClr val="tx1"/>
                </a:solidFill>
                <a:latin typeface="华文新魏" panose="02010800040101010101" pitchFamily="2" charset="-122"/>
                <a:ea typeface="华文新魏" panose="02010800040101010101" pitchFamily="2" charset="-122"/>
              </a:rPr>
              <a:t>），程序包（</a:t>
            </a:r>
            <a:r>
              <a:rPr lang="en-US" altLang="zh-CN" sz="2400">
                <a:solidFill>
                  <a:schemeClr val="tx1"/>
                </a:solidFill>
                <a:latin typeface="华文新魏" panose="02010800040101010101" pitchFamily="2" charset="-122"/>
                <a:ea typeface="华文新魏" panose="02010800040101010101" pitchFamily="2" charset="-122"/>
              </a:rPr>
              <a:t>package</a:t>
            </a:r>
            <a:r>
              <a:rPr lang="zh-CN" altLang="en-US" sz="2400" dirty="0">
                <a:solidFill>
                  <a:schemeClr val="tx1"/>
                </a:solidFill>
                <a:latin typeface="华文新魏" panose="02010800040101010101" pitchFamily="2" charset="-122"/>
                <a:ea typeface="华文新魏" panose="02010800040101010101" pitchFamily="2" charset="-122"/>
              </a:rPr>
              <a:t>）和配置（</a:t>
            </a:r>
            <a:r>
              <a:rPr lang="en-US" altLang="zh-CN" sz="2400">
                <a:solidFill>
                  <a:schemeClr val="tx1"/>
                </a:solidFill>
                <a:latin typeface="华文新魏" panose="02010800040101010101" pitchFamily="2" charset="-122"/>
                <a:ea typeface="华文新魏" panose="02010800040101010101" pitchFamily="2" charset="-122"/>
              </a:rPr>
              <a:t>configuration</a:t>
            </a:r>
            <a:r>
              <a:rPr lang="zh-CN" altLang="en-US" sz="2400" dirty="0">
                <a:solidFill>
                  <a:schemeClr val="tx1"/>
                </a:solidFill>
                <a:latin typeface="华文新魏" panose="02010800040101010101" pitchFamily="2" charset="-122"/>
                <a:ea typeface="华文新魏" panose="02010800040101010101" pitchFamily="2" charset="-122"/>
              </a:rPr>
              <a:t>）。一个“</a:t>
            </a:r>
            <a:r>
              <a:rPr lang="zh-CN" altLang="en-US" sz="2400" dirty="0">
                <a:solidFill>
                  <a:srgbClr val="0000FF"/>
                </a:solidFill>
                <a:latin typeface="华文新魏" panose="02010800040101010101" pitchFamily="2" charset="-122"/>
                <a:ea typeface="华文新魏" panose="02010800040101010101" pitchFamily="2" charset="-122"/>
              </a:rPr>
              <a:t>实体</a:t>
            </a:r>
            <a:r>
              <a:rPr lang="en-US" altLang="zh-CN" sz="2400">
                <a:solidFill>
                  <a:srgbClr val="0000FF"/>
                </a:solidFill>
                <a:latin typeface="华文新魏" panose="02010800040101010101" pitchFamily="2" charset="-122"/>
                <a:ea typeface="华文新魏" panose="02010800040101010101" pitchFamily="2" charset="-122"/>
              </a:rPr>
              <a:t>-</a:t>
            </a:r>
            <a:r>
              <a:rPr lang="zh-CN" altLang="en-US" sz="2400" dirty="0">
                <a:solidFill>
                  <a:srgbClr val="0000FF"/>
                </a:solidFill>
                <a:latin typeface="华文新魏" panose="02010800040101010101" pitchFamily="2" charset="-122"/>
                <a:ea typeface="华文新魏" panose="02010800040101010101" pitchFamily="2" charset="-122"/>
              </a:rPr>
              <a:t>结构体对</a:t>
            </a:r>
            <a:r>
              <a:rPr lang="zh-CN" altLang="en-US" sz="2400" dirty="0">
                <a:solidFill>
                  <a:schemeClr val="tx1"/>
                </a:solidFill>
                <a:latin typeface="华文新魏" panose="02010800040101010101" pitchFamily="2" charset="-122"/>
                <a:ea typeface="华文新魏" panose="02010800040101010101" pitchFamily="2" charset="-122"/>
              </a:rPr>
              <a:t>”共同定义一个电路块。由于绝大多数设计实体仅含一个结构体，所以这里仅讨论含有一个结构体的设计实体。</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矩形 1"/>
          <p:cNvSpPr/>
          <p:nvPr/>
        </p:nvSpPr>
        <p:spPr>
          <a:xfrm>
            <a:off x="468313" y="771525"/>
            <a:ext cx="2470150" cy="461963"/>
          </a:xfrm>
          <a:prstGeom prst="rect">
            <a:avLst/>
          </a:prstGeom>
          <a:noFill/>
          <a:ln w="9525">
            <a:noFill/>
          </a:ln>
        </p:spPr>
        <p:txBody>
          <a:bodyPr wrap="none">
            <a:spAutoFit/>
          </a:bodyPr>
          <a:lstStyle/>
          <a:p>
            <a:r>
              <a:rPr lang="en-US" altLang="zh-CN" sz="2400" b="1">
                <a:solidFill>
                  <a:srgbClr val="FF0000"/>
                </a:solidFill>
                <a:latin typeface="华文新魏" panose="02010800040101010101" pitchFamily="2" charset="-122"/>
                <a:ea typeface="华文新魏" panose="02010800040101010101" pitchFamily="2" charset="-122"/>
              </a:rPr>
              <a:t>1. </a:t>
            </a:r>
            <a:r>
              <a:rPr lang="zh-CN" altLang="zh-CN" sz="2400" b="1" dirty="0">
                <a:solidFill>
                  <a:srgbClr val="FF0000"/>
                </a:solidFill>
                <a:latin typeface="华文新魏" panose="02010800040101010101" pitchFamily="2" charset="-122"/>
                <a:ea typeface="华文新魏" panose="02010800040101010101" pitchFamily="2" charset="-122"/>
              </a:rPr>
              <a:t>实体（</a:t>
            </a:r>
            <a:r>
              <a:rPr lang="en-US" altLang="zh-CN" sz="2400" b="1">
                <a:solidFill>
                  <a:srgbClr val="FF0000"/>
                </a:solidFill>
                <a:latin typeface="华文新魏" panose="02010800040101010101" pitchFamily="2" charset="-122"/>
                <a:ea typeface="华文新魏" panose="02010800040101010101" pitchFamily="2" charset="-122"/>
              </a:rPr>
              <a:t>entity</a:t>
            </a:r>
            <a:r>
              <a:rPr lang="zh-CN" altLang="zh-CN" sz="2400" b="1" dirty="0">
                <a:solidFill>
                  <a:srgbClr val="FF0000"/>
                </a:solidFill>
                <a:latin typeface="华文新魏" panose="02010800040101010101" pitchFamily="2" charset="-122"/>
                <a:ea typeface="华文新魏" panose="02010800040101010101" pitchFamily="2" charset="-122"/>
              </a:rPr>
              <a:t>）</a:t>
            </a:r>
            <a:endParaRPr lang="zh-CN" altLang="en-US" sz="2400" dirty="0">
              <a:solidFill>
                <a:srgbClr val="FF0000"/>
              </a:solidFill>
              <a:latin typeface="华文新魏" panose="02010800040101010101" pitchFamily="2" charset="-122"/>
              <a:ea typeface="华文新魏" panose="02010800040101010101" pitchFamily="2" charset="-122"/>
            </a:endParaRPr>
          </a:p>
        </p:txBody>
      </p:sp>
      <p:sp>
        <p:nvSpPr>
          <p:cNvPr id="157699" name="矩形 2"/>
          <p:cNvSpPr/>
          <p:nvPr/>
        </p:nvSpPr>
        <p:spPr>
          <a:xfrm>
            <a:off x="2790825" y="842963"/>
            <a:ext cx="6173788" cy="830262"/>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实体由实体（</a:t>
            </a:r>
            <a:r>
              <a:rPr lang="en-US" altLang="zh-CN" sz="2400">
                <a:solidFill>
                  <a:schemeClr val="tx1"/>
                </a:solidFill>
                <a:latin typeface="华文新魏" panose="02010800040101010101" pitchFamily="2" charset="-122"/>
                <a:ea typeface="华文新魏" panose="02010800040101010101" pitchFamily="2" charset="-122"/>
              </a:rPr>
              <a:t>entity</a:t>
            </a:r>
            <a:r>
              <a:rPr lang="zh-CN" altLang="en-US" sz="2400" dirty="0">
                <a:solidFill>
                  <a:schemeClr val="tx1"/>
                </a:solidFill>
                <a:latin typeface="华文新魏" panose="02010800040101010101" pitchFamily="2" charset="-122"/>
                <a:ea typeface="华文新魏" panose="02010800040101010101" pitchFamily="2" charset="-122"/>
              </a:rPr>
              <a:t>）语句说明，实体语句又称为实体说明语句。</a:t>
            </a:r>
            <a:r>
              <a:rPr lang="en-US" altLang="zh-CN" sz="2400">
                <a:solidFill>
                  <a:schemeClr val="tx1"/>
                </a:solidFill>
                <a:latin typeface="华文新魏" panose="02010800040101010101" pitchFamily="2" charset="-122"/>
                <a:ea typeface="华文新魏" panose="02010800040101010101" pitchFamily="2" charset="-122"/>
              </a:rPr>
              <a:t>entity</a:t>
            </a:r>
            <a:r>
              <a:rPr lang="zh-CN" altLang="en-US" sz="2400" dirty="0">
                <a:solidFill>
                  <a:schemeClr val="tx1"/>
                </a:solidFill>
                <a:latin typeface="华文新魏" panose="02010800040101010101" pitchFamily="2" charset="-122"/>
                <a:ea typeface="华文新魏" panose="02010800040101010101" pitchFamily="2" charset="-122"/>
              </a:rPr>
              <a:t>语句的格式如下：</a:t>
            </a:r>
          </a:p>
        </p:txBody>
      </p:sp>
      <p:sp>
        <p:nvSpPr>
          <p:cNvPr id="157700" name="矩形 3"/>
          <p:cNvSpPr/>
          <p:nvPr/>
        </p:nvSpPr>
        <p:spPr>
          <a:xfrm>
            <a:off x="846455" y="1722755"/>
            <a:ext cx="6999605" cy="3046095"/>
          </a:xfrm>
          <a:prstGeom prst="rect">
            <a:avLst/>
          </a:prstGeom>
          <a:noFill/>
          <a:ln w="9525">
            <a:noFill/>
          </a:ln>
        </p:spPr>
        <p:txBody>
          <a:bodyPr wrap="square">
            <a:spAutoFit/>
          </a:bodyPr>
          <a:lstStyle/>
          <a:p>
            <a:r>
              <a:rPr lang="en-US" altLang="zh-CN" sz="2400" dirty="0">
                <a:solidFill>
                  <a:srgbClr val="FF0000"/>
                </a:solidFill>
                <a:latin typeface="华文新魏" panose="02010800040101010101" pitchFamily="2" charset="-122"/>
                <a:ea typeface="华文新魏" panose="02010800040101010101" pitchFamily="2" charset="-122"/>
              </a:rPr>
              <a:t>entity</a:t>
            </a:r>
            <a:r>
              <a:rPr lang="zh-CN" altLang="en-US" sz="2400" dirty="0">
                <a:solidFill>
                  <a:srgbClr val="FF0000"/>
                </a:solidFill>
                <a:latin typeface="华文新魏" panose="02010800040101010101" pitchFamily="2" charset="-122"/>
                <a:ea typeface="华文新魏" panose="02010800040101010101" pitchFamily="2" charset="-122"/>
              </a:rPr>
              <a:t>语句的格式：</a:t>
            </a:r>
            <a:endParaRPr lang="en-US" altLang="zh-CN" sz="2400" dirty="0">
              <a:solidFill>
                <a:srgbClr val="FF0000"/>
              </a:solidFill>
              <a:latin typeface="华文新魏" panose="02010800040101010101" pitchFamily="2" charset="-122"/>
              <a:ea typeface="华文新魏" panose="02010800040101010101" pitchFamily="2" charset="-122"/>
            </a:endParaRPr>
          </a:p>
          <a:p>
            <a:pPr lvl="4"/>
            <a:r>
              <a:rPr lang="en-US" altLang="zh-CN" sz="2400" dirty="0">
                <a:solidFill>
                  <a:srgbClr val="0000FF"/>
                </a:solidFill>
                <a:latin typeface="华文新魏" panose="02010800040101010101" pitchFamily="2" charset="-122"/>
                <a:ea typeface="华文新魏" panose="02010800040101010101" pitchFamily="2" charset="-122"/>
              </a:rPr>
              <a:t>entity</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实体名</a:t>
            </a:r>
            <a:r>
              <a:rPr lang="zh-CN" altLang="en-US" sz="2400" dirty="0">
                <a:solidFill>
                  <a:srgbClr val="0000FF"/>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is</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generic</a:t>
            </a:r>
            <a:r>
              <a:rPr lang="zh-CN" altLang="en-US" sz="2400" dirty="0">
                <a:solidFill>
                  <a:schemeClr val="tx1"/>
                </a:solidFill>
                <a:latin typeface="华文新魏" panose="02010800040101010101" pitchFamily="2" charset="-122"/>
                <a:ea typeface="华文新魏" panose="02010800040101010101" pitchFamily="2" charset="-122"/>
              </a:rPr>
              <a:t>（类属参数表）</a:t>
            </a:r>
            <a:r>
              <a:rPr lang="en-US" altLang="zh-CN" sz="2400" dirty="0">
                <a:solidFill>
                  <a:schemeClr val="tx1"/>
                </a:solidFill>
                <a:latin typeface="华文新魏" panose="02010800040101010101" pitchFamily="2" charset="-122"/>
                <a:ea typeface="华文新魏" panose="02010800040101010101" pitchFamily="2" charset="-122"/>
              </a:rPr>
              <a:t>;]</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port</a:t>
            </a:r>
            <a:r>
              <a:rPr lang="zh-CN" altLang="en-US" sz="2400" dirty="0">
                <a:solidFill>
                  <a:schemeClr val="tx1"/>
                </a:solidFill>
                <a:latin typeface="华文新魏" panose="02010800040101010101" pitchFamily="2" charset="-122"/>
                <a:ea typeface="华文新魏" panose="02010800040101010101" pitchFamily="2" charset="-122"/>
              </a:rPr>
              <a:t>（端口信号表）</a:t>
            </a:r>
            <a:r>
              <a:rPr lang="en-US" altLang="zh-CN" sz="2400" dirty="0">
                <a:solidFill>
                  <a:schemeClr val="tx1"/>
                </a:solidFill>
                <a:latin typeface="华文新魏" panose="02010800040101010101" pitchFamily="2" charset="-122"/>
                <a:ea typeface="华文新魏" panose="02010800040101010101" pitchFamily="2" charset="-122"/>
              </a:rPr>
              <a:t>;]</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实体说明部分</a:t>
            </a:r>
            <a:r>
              <a:rPr lang="en-US" altLang="zh-CN" sz="2400" dirty="0">
                <a:solidFill>
                  <a:schemeClr val="tx1"/>
                </a:solidFill>
                <a:latin typeface="华文新魏" panose="02010800040101010101" pitchFamily="2" charset="-122"/>
                <a:ea typeface="华文新魏" panose="02010800040101010101" pitchFamily="2" charset="-122"/>
              </a:rPr>
              <a:t>;]</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begin</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实体语句部分</a:t>
            </a:r>
            <a:r>
              <a:rPr lang="en-US" altLang="zh-CN" sz="2400" dirty="0">
                <a:solidFill>
                  <a:schemeClr val="tx1"/>
                </a:solidFill>
                <a:latin typeface="华文新魏" panose="02010800040101010101" pitchFamily="2" charset="-122"/>
                <a:ea typeface="华文新魏" panose="02010800040101010101" pitchFamily="2" charset="-122"/>
              </a:rPr>
              <a:t>;]</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end</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实体名</a:t>
            </a:r>
            <a:r>
              <a:rPr lang="en-US" altLang="zh-CN"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700"/>
                                        </p:tgtEl>
                                        <p:attrNameLst>
                                          <p:attrName>style.visibility</p:attrName>
                                        </p:attrNameLst>
                                      </p:cBhvr>
                                      <p:to>
                                        <p:strVal val="visible"/>
                                      </p:to>
                                    </p:set>
                                    <p:anim calcmode="lin" valueType="num">
                                      <p:cBhvr additive="base">
                                        <p:cTn id="7" dur="500" fill="hold"/>
                                        <p:tgtEl>
                                          <p:spTgt spid="157700"/>
                                        </p:tgtEl>
                                        <p:attrNameLst>
                                          <p:attrName>ppt_x</p:attrName>
                                        </p:attrNameLst>
                                      </p:cBhvr>
                                      <p:tavLst>
                                        <p:tav tm="0">
                                          <p:val>
                                            <p:strVal val="#ppt_x"/>
                                          </p:val>
                                        </p:tav>
                                        <p:tav tm="100000">
                                          <p:val>
                                            <p:strVal val="#ppt_x"/>
                                          </p:val>
                                        </p:tav>
                                      </p:tavLst>
                                    </p:anim>
                                    <p:anim calcmode="lin" valueType="num">
                                      <p:cBhvr additive="base">
                                        <p:cTn id="8" dur="500" fill="hold"/>
                                        <p:tgtEl>
                                          <p:spTgt spid="1577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p:bldP spid="157700"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矩形 3"/>
          <p:cNvSpPr/>
          <p:nvPr/>
        </p:nvSpPr>
        <p:spPr>
          <a:xfrm>
            <a:off x="107950" y="771525"/>
            <a:ext cx="8731250" cy="3046095"/>
          </a:xfrm>
          <a:prstGeom prst="rect">
            <a:avLst/>
          </a:prstGeom>
          <a:noFill/>
          <a:ln w="9525">
            <a:noFill/>
          </a:ln>
        </p:spPr>
        <p:txBody>
          <a:bodyPr>
            <a:spAutoFit/>
          </a:bodyPr>
          <a:lstStyle/>
          <a:p>
            <a:r>
              <a:rPr lang="en-US" altLang="zh-CN" sz="2400">
                <a:solidFill>
                  <a:schemeClr val="tx1"/>
                </a:solidFill>
                <a:latin typeface="华文新魏" panose="02010800040101010101" pitchFamily="2" charset="-122"/>
                <a:ea typeface="华文新魏" panose="02010800040101010101" pitchFamily="2" charset="-122"/>
              </a:rPr>
              <a:t>port</a:t>
            </a:r>
            <a:r>
              <a:rPr lang="zh-CN" altLang="en-US" sz="2400" dirty="0">
                <a:solidFill>
                  <a:schemeClr val="tx1"/>
                </a:solidFill>
                <a:latin typeface="华文新魏" panose="02010800040101010101" pitchFamily="2" charset="-122"/>
                <a:ea typeface="华文新魏" panose="02010800040101010101" pitchFamily="2" charset="-122"/>
              </a:rPr>
              <a:t>（端口信号表）语句的格式：</a:t>
            </a:r>
            <a:endParaRPr lang="en-US" altLang="zh-CN" sz="2400">
              <a:solidFill>
                <a:schemeClr val="tx1"/>
              </a:solidFill>
              <a:latin typeface="华文新魏" panose="02010800040101010101" pitchFamily="2" charset="-122"/>
              <a:ea typeface="华文新魏" panose="02010800040101010101" pitchFamily="2" charset="-122"/>
            </a:endParaRPr>
          </a:p>
          <a:p>
            <a:endParaRPr lang="en-US" altLang="zh-CN" sz="2400">
              <a:solidFill>
                <a:schemeClr val="tx1"/>
              </a:solidFill>
              <a:latin typeface="华文新魏" panose="02010800040101010101" pitchFamily="2" charset="-122"/>
              <a:ea typeface="华文新魏" panose="02010800040101010101" pitchFamily="2" charset="-122"/>
            </a:endParaRPr>
          </a:p>
          <a:p>
            <a:pPr lvl="4"/>
            <a:r>
              <a:rPr lang="en-US" altLang="zh-CN" sz="2400">
                <a:solidFill>
                  <a:schemeClr val="tx1"/>
                </a:solidFill>
                <a:latin typeface="华文新魏" panose="02010800040101010101" pitchFamily="2" charset="-122"/>
                <a:ea typeface="华文新魏" panose="02010800040101010101" pitchFamily="2" charset="-122"/>
              </a:rPr>
              <a:t>port</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模式</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 数据类型</a:t>
            </a:r>
            <a:r>
              <a:rPr lang="en-US" altLang="zh-CN" sz="2400">
                <a:solidFill>
                  <a:schemeClr val="tx1"/>
                </a:solidFill>
                <a:latin typeface="华文新魏" panose="02010800040101010101" pitchFamily="2" charset="-122"/>
                <a:ea typeface="华文新魏" panose="02010800040101010101" pitchFamily="2" charset="-122"/>
              </a:rPr>
              <a:t>;</a:t>
            </a:r>
          </a:p>
          <a:p>
            <a:pPr lvl="4"/>
            <a:r>
              <a:rPr lang="en-US" altLang="zh-CN" sz="2400">
                <a:solidFill>
                  <a:schemeClr val="tx1"/>
                </a:solidFill>
                <a:latin typeface="华文新魏" panose="02010800040101010101" pitchFamily="2" charset="-122"/>
                <a:ea typeface="华文新魏" panose="02010800040101010101" pitchFamily="2" charset="-122"/>
              </a:rPr>
              <a:t>port</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模式</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 数据类型</a:t>
            </a:r>
            <a:r>
              <a:rPr lang="en-US" altLang="zh-CN" sz="2400">
                <a:solidFill>
                  <a:schemeClr val="tx1"/>
                </a:solidFill>
                <a:latin typeface="华文新魏" panose="02010800040101010101" pitchFamily="2" charset="-122"/>
                <a:ea typeface="华文新魏" panose="02010800040101010101" pitchFamily="2" charset="-122"/>
              </a:rPr>
              <a:t>;</a:t>
            </a:r>
          </a:p>
          <a:p>
            <a:pPr lvl="4"/>
            <a:r>
              <a:rPr lang="en-US" altLang="zh-CN" sz="2400">
                <a:solidFill>
                  <a:schemeClr val="tx1"/>
                </a:solidFill>
                <a:latin typeface="华文新魏" panose="02010800040101010101" pitchFamily="2" charset="-122"/>
                <a:ea typeface="华文新魏" panose="02010800040101010101" pitchFamily="2" charset="-122"/>
              </a:rPr>
              <a:t> </a:t>
            </a:r>
          </a:p>
          <a:p>
            <a:pPr lvl="4"/>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模式</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 数据类型</a:t>
            </a:r>
          </a:p>
          <a:p>
            <a:pPr lvl="4"/>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华文新魏" panose="02010800040101010101" pitchFamily="2" charset="-122"/>
                <a:ea typeface="华文新魏" panose="02010800040101010101" pitchFamily="2" charset="-122"/>
              </a:rPr>
              <a:t>;</a:t>
            </a:r>
          </a:p>
          <a:p>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58723" name="矩形 4"/>
          <p:cNvSpPr/>
          <p:nvPr/>
        </p:nvSpPr>
        <p:spPr>
          <a:xfrm>
            <a:off x="755650" y="3580130"/>
            <a:ext cx="7777163" cy="1200150"/>
          </a:xfrm>
          <a:prstGeom prst="rect">
            <a:avLst/>
          </a:prstGeom>
          <a:noFill/>
          <a:ln w="9525">
            <a:noFill/>
          </a:ln>
        </p:spPr>
        <p:txBody>
          <a:bodyPr>
            <a:spAutoFit/>
          </a:bodyPr>
          <a:lstStyle/>
          <a:p>
            <a:r>
              <a:rPr lang="zh-CN" altLang="en-US" sz="2400" dirty="0">
                <a:solidFill>
                  <a:srgbClr val="0000FF"/>
                </a:solidFill>
                <a:latin typeface="华文新魏" panose="02010800040101010101" pitchFamily="2" charset="-122"/>
                <a:ea typeface="华文新魏" panose="02010800040101010101" pitchFamily="2" charset="-122"/>
              </a:rPr>
              <a:t>端口与</a:t>
            </a:r>
            <a:r>
              <a:rPr lang="zh-CN" altLang="en-US" sz="2400" dirty="0">
                <a:solidFill>
                  <a:srgbClr val="FF0000"/>
                </a:solidFill>
                <a:latin typeface="华文新魏" panose="02010800040101010101" pitchFamily="2" charset="-122"/>
                <a:ea typeface="华文新魏" panose="02010800040101010101" pitchFamily="2" charset="-122"/>
              </a:rPr>
              <a:t>一般信号</a:t>
            </a:r>
            <a:r>
              <a:rPr lang="zh-CN" altLang="en-US" sz="2400" dirty="0">
                <a:solidFill>
                  <a:srgbClr val="0000FF"/>
                </a:solidFill>
                <a:latin typeface="华文新魏" panose="02010800040101010101" pitchFamily="2" charset="-122"/>
                <a:ea typeface="华文新魏" panose="02010800040101010101" pitchFamily="2" charset="-122"/>
              </a:rPr>
              <a:t>有两点不同</a:t>
            </a:r>
            <a:r>
              <a:rPr lang="zh-CN" altLang="en-US" sz="2400" dirty="0">
                <a:solidFill>
                  <a:schemeClr val="tx1"/>
                </a:solidFill>
                <a:latin typeface="华文新魏" panose="02010800040101010101" pitchFamily="2" charset="-122"/>
                <a:ea typeface="华文新魏" panose="02010800040101010101" pitchFamily="2" charset="-122"/>
              </a:rPr>
              <a:t>： 一是端口一定是信号，在说明时省略了关键字</a:t>
            </a:r>
            <a:r>
              <a:rPr lang="en-US" altLang="zh-CN" sz="2400">
                <a:solidFill>
                  <a:schemeClr val="tx1"/>
                </a:solidFill>
                <a:latin typeface="华文新魏" panose="02010800040101010101" pitchFamily="2" charset="-122"/>
                <a:ea typeface="华文新魏" panose="02010800040101010101" pitchFamily="2" charset="-122"/>
              </a:rPr>
              <a:t>signal</a:t>
            </a:r>
            <a:r>
              <a:rPr lang="zh-CN" altLang="en-US" sz="2400" dirty="0">
                <a:solidFill>
                  <a:schemeClr val="tx1"/>
                </a:solidFill>
                <a:latin typeface="华文新魏" panose="02010800040101010101" pitchFamily="2" charset="-122"/>
                <a:ea typeface="华文新魏" panose="02010800040101010101" pitchFamily="2" charset="-122"/>
              </a:rPr>
              <a:t>；二是在一般信号的说明语句中信号没有说明方向，端口是要说明方向的。</a:t>
            </a:r>
          </a:p>
        </p:txBody>
      </p:sp>
      <p:sp>
        <p:nvSpPr>
          <p:cNvPr id="2" name="对话气泡: 圆角矩形 1">
            <a:extLst>
              <a:ext uri="{FF2B5EF4-FFF2-40B4-BE49-F238E27FC236}">
                <a16:creationId xmlns:a16="http://schemas.microsoft.com/office/drawing/2014/main" id="{A7FB4229-68B3-4345-9E6B-F037B9290D55}"/>
              </a:ext>
            </a:extLst>
          </p:cNvPr>
          <p:cNvSpPr/>
          <p:nvPr/>
        </p:nvSpPr>
        <p:spPr bwMode="auto">
          <a:xfrm>
            <a:off x="7956749" y="2067694"/>
            <a:ext cx="1152128" cy="648072"/>
          </a:xfrm>
          <a:prstGeom prst="wedgeRoundRectCallout">
            <a:avLst>
              <a:gd name="adj1" fmla="val -55537"/>
              <a:gd name="adj2" fmla="val 78595"/>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最后一处没有分号！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58723"/>
                                        </p:tgtEl>
                                        <p:attrNameLst>
                                          <p:attrName>style.visibility</p:attrName>
                                        </p:attrNameLst>
                                      </p:cBhvr>
                                      <p:to>
                                        <p:strVal val="visible"/>
                                      </p:to>
                                    </p:set>
                                    <p:anim calcmode="lin" valueType="num">
                                      <p:cBhvr additive="base">
                                        <p:cTn id="12" dur="500" fill="hold"/>
                                        <p:tgtEl>
                                          <p:spTgt spid="158723"/>
                                        </p:tgtEl>
                                        <p:attrNameLst>
                                          <p:attrName>ppt_x</p:attrName>
                                        </p:attrNameLst>
                                      </p:cBhvr>
                                      <p:tavLst>
                                        <p:tav tm="0">
                                          <p:val>
                                            <p:strVal val="#ppt_x"/>
                                          </p:val>
                                        </p:tav>
                                        <p:tav tm="100000">
                                          <p:val>
                                            <p:strVal val="#ppt_x"/>
                                          </p:val>
                                        </p:tav>
                                      </p:tavLst>
                                    </p:anim>
                                    <p:anim calcmode="lin" valueType="num">
                                      <p:cBhvr additive="base">
                                        <p:cTn id="13" dur="500" fill="hold"/>
                                        <p:tgtEl>
                                          <p:spTgt spid="1587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p:bldP spid="158723" grpId="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矩形 2"/>
          <p:cNvSpPr/>
          <p:nvPr/>
        </p:nvSpPr>
        <p:spPr>
          <a:xfrm>
            <a:off x="971550" y="915988"/>
            <a:ext cx="7561263" cy="118745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端口的方向通过端口模式来说明，说明信号通过端口的方向和通过方式，这些方向相对该设计实体而言。共有下列</a:t>
            </a:r>
            <a:r>
              <a:rPr lang="zh-CN" altLang="en-US" sz="2400" dirty="0">
                <a:solidFill>
                  <a:srgbClr val="0000FF"/>
                </a:solidFill>
                <a:latin typeface="华文新魏" panose="02010800040101010101" pitchFamily="2" charset="-122"/>
                <a:ea typeface="华文新魏" panose="02010800040101010101" pitchFamily="2" charset="-122"/>
              </a:rPr>
              <a:t>几种模式</a:t>
            </a:r>
            <a:r>
              <a:rPr lang="zh-CN" altLang="en-US" sz="2400" dirty="0">
                <a:solidFill>
                  <a:schemeClr val="tx1"/>
                </a:solidFill>
                <a:latin typeface="华文新魏" panose="02010800040101010101" pitchFamily="2" charset="-122"/>
                <a:ea typeface="华文新魏" panose="02010800040101010101" pitchFamily="2" charset="-122"/>
              </a:rPr>
              <a:t>：</a:t>
            </a:r>
          </a:p>
        </p:txBody>
      </p:sp>
      <p:sp>
        <p:nvSpPr>
          <p:cNvPr id="159747" name="矩形 3"/>
          <p:cNvSpPr/>
          <p:nvPr/>
        </p:nvSpPr>
        <p:spPr>
          <a:xfrm>
            <a:off x="1403350" y="2643188"/>
            <a:ext cx="6423025" cy="1938337"/>
          </a:xfrm>
          <a:prstGeom prst="rect">
            <a:avLst/>
          </a:prstGeom>
          <a:noFill/>
          <a:ln w="9525">
            <a:noFill/>
          </a:ln>
        </p:spPr>
        <p:txBody>
          <a:bodyPr wrap="none">
            <a:spAutoFit/>
          </a:bodyPr>
          <a:lstStyle/>
          <a:p>
            <a:r>
              <a:rPr lang="en-US" altLang="zh-CN" sz="2400" dirty="0">
                <a:solidFill>
                  <a:srgbClr val="FF0000"/>
                </a:solidFill>
                <a:latin typeface="华文新魏" panose="02010800040101010101" pitchFamily="2" charset="-122"/>
                <a:ea typeface="华文新魏" panose="02010800040101010101" pitchFamily="2" charset="-122"/>
              </a:rPr>
              <a:t>in          </a:t>
            </a:r>
            <a:r>
              <a:rPr lang="zh-CN" altLang="en-US" sz="2400" dirty="0">
                <a:solidFill>
                  <a:schemeClr val="tx1"/>
                </a:solidFill>
                <a:latin typeface="华文新魏" panose="02010800040101010101" pitchFamily="2" charset="-122"/>
                <a:ea typeface="华文新魏" panose="02010800040101010101" pitchFamily="2" charset="-122"/>
              </a:rPr>
              <a:t>表示流入设计实体，即输入。</a:t>
            </a:r>
          </a:p>
          <a:p>
            <a:r>
              <a:rPr lang="en-US" altLang="zh-CN" sz="2400" dirty="0">
                <a:solidFill>
                  <a:srgbClr val="FF0000"/>
                </a:solidFill>
                <a:latin typeface="华文新魏" panose="02010800040101010101" pitchFamily="2" charset="-122"/>
                <a:ea typeface="华文新魏" panose="02010800040101010101" pitchFamily="2" charset="-122"/>
              </a:rPr>
              <a:t>out</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表示从设计实体流出，即输出。</a:t>
            </a:r>
          </a:p>
          <a:p>
            <a:r>
              <a:rPr lang="en-US" altLang="zh-CN" sz="2400" dirty="0" err="1">
                <a:solidFill>
                  <a:srgbClr val="FF0000"/>
                </a:solidFill>
                <a:latin typeface="华文新魏" panose="02010800040101010101" pitchFamily="2" charset="-122"/>
                <a:ea typeface="华文新魏" panose="02010800040101010101" pitchFamily="2" charset="-122"/>
              </a:rPr>
              <a:t>inout</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表示双向端口，即既可输入又可输出。</a:t>
            </a:r>
          </a:p>
          <a:p>
            <a:r>
              <a:rPr lang="en-US" altLang="zh-CN" sz="2400" dirty="0">
                <a:solidFill>
                  <a:srgbClr val="FF0000"/>
                </a:solidFill>
                <a:latin typeface="华文新魏" panose="02010800040101010101" pitchFamily="2" charset="-122"/>
                <a:ea typeface="华文新魏" panose="02010800040101010101" pitchFamily="2" charset="-122"/>
              </a:rPr>
              <a:t>buffer   </a:t>
            </a:r>
            <a:r>
              <a:rPr lang="zh-CN" altLang="en-US" sz="2400" dirty="0">
                <a:solidFill>
                  <a:schemeClr val="tx1"/>
                </a:solidFill>
                <a:latin typeface="华文新魏" panose="02010800040101010101" pitchFamily="2" charset="-122"/>
                <a:ea typeface="华文新魏" panose="02010800040101010101" pitchFamily="2" charset="-122"/>
              </a:rPr>
              <a:t>表示缓存，即能用于内部反馈的输出。</a:t>
            </a:r>
          </a:p>
          <a:p>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9747"/>
                                        </p:tgtEl>
                                        <p:attrNameLst>
                                          <p:attrName>style.visibility</p:attrName>
                                        </p:attrNameLst>
                                      </p:cBhvr>
                                      <p:to>
                                        <p:strVal val="visible"/>
                                      </p:to>
                                    </p:set>
                                    <p:anim calcmode="lin" valueType="num">
                                      <p:cBhvr additive="base">
                                        <p:cTn id="7" dur="500" fill="hold"/>
                                        <p:tgtEl>
                                          <p:spTgt spid="159747"/>
                                        </p:tgtEl>
                                        <p:attrNameLst>
                                          <p:attrName>ppt_x</p:attrName>
                                        </p:attrNameLst>
                                      </p:cBhvr>
                                      <p:tavLst>
                                        <p:tav tm="0">
                                          <p:val>
                                            <p:strVal val="#ppt_x"/>
                                          </p:val>
                                        </p:tav>
                                        <p:tav tm="100000">
                                          <p:val>
                                            <p:strVal val="#ppt_x"/>
                                          </p:val>
                                        </p:tav>
                                      </p:tavLst>
                                    </p:anim>
                                    <p:anim calcmode="lin" valueType="num">
                                      <p:cBhvr additive="base">
                                        <p:cTn id="8" dur="500" fill="hold"/>
                                        <p:tgtEl>
                                          <p:spTgt spid="1597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p:bldP spid="159747"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5"/>
          <p:cNvSpPr txBox="1">
            <a:spLocks noGrp="1"/>
          </p:cNvSpPr>
          <p:nvPr>
            <p:ph type="sldNum" sz="quarter" idx="4"/>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5E96DC-977B-422F-B20D-7FE3E3DD6E64}"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39</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0771" name="Rectangle 2"/>
          <p:cNvSpPr>
            <a:spLocks noGrp="1"/>
          </p:cNvSpPr>
          <p:nvPr>
            <p:ph type="title"/>
          </p:nvPr>
        </p:nvSpPr>
        <p:spPr>
          <a:xfrm>
            <a:off x="457200" y="555625"/>
            <a:ext cx="8229600" cy="508000"/>
          </a:xfrm>
          <a:prstGeom prst="rect">
            <a:avLst/>
          </a:prstGeom>
          <a:noFill/>
          <a:ln>
            <a:noFill/>
          </a:ln>
        </p:spPr>
        <p:txBody>
          <a:bodyPr/>
          <a:lstStyle/>
          <a:p>
            <a:pPr eaLnBrk="1" hangingPunct="1"/>
            <a:r>
              <a:rPr lang="zh-CN" altLang="en-US" b="1" dirty="0">
                <a:ea typeface="华文新魏" panose="02010800040101010101" pitchFamily="2" charset="-122"/>
              </a:rPr>
              <a:t>端口定义总结</a:t>
            </a:r>
          </a:p>
        </p:txBody>
      </p:sp>
      <p:graphicFrame>
        <p:nvGraphicFramePr>
          <p:cNvPr id="594947" name="Group 3"/>
          <p:cNvGraphicFramePr>
            <a:graphicFrameLocks noGrp="1"/>
          </p:cNvGraphicFramePr>
          <p:nvPr>
            <p:ph idx="4294967295"/>
            <p:custDataLst>
              <p:tags r:id="rId1"/>
            </p:custDataLst>
          </p:nvPr>
        </p:nvGraphicFramePr>
        <p:xfrm>
          <a:off x="1341120" y="1170305"/>
          <a:ext cx="4875530" cy="2426335"/>
        </p:xfrm>
        <a:graphic>
          <a:graphicData uri="http://schemas.openxmlformats.org/drawingml/2006/table">
            <a:tbl>
              <a:tblPr/>
              <a:tblGrid>
                <a:gridCol w="1470660">
                  <a:extLst>
                    <a:ext uri="{9D8B030D-6E8A-4147-A177-3AD203B41FA5}">
                      <a16:colId xmlns:a16="http://schemas.microsoft.com/office/drawing/2014/main" val="20000"/>
                    </a:ext>
                  </a:extLst>
                </a:gridCol>
                <a:gridCol w="3404870">
                  <a:extLst>
                    <a:ext uri="{9D8B030D-6E8A-4147-A177-3AD203B41FA5}">
                      <a16:colId xmlns:a16="http://schemas.microsoft.com/office/drawing/2014/main" val="20001"/>
                    </a:ext>
                  </a:extLst>
                </a:gridCol>
              </a:tblGrid>
              <a:tr h="4343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方向定义</a:t>
                      </a:r>
                    </a:p>
                  </a:txBody>
                  <a:tcPr marL="68574" marR="68574"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含      义</a:t>
                      </a:r>
                    </a:p>
                  </a:txBody>
                  <a:tcPr marL="68574" marR="68574"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extLst>
                  <a:ext uri="{0D108BD9-81ED-4DB2-BD59-A6C34878D82A}">
                    <a16:rowId xmlns:a16="http://schemas.microsoft.com/office/drawing/2014/main" val="10000"/>
                  </a:ext>
                </a:extLst>
              </a:tr>
              <a:tr h="4343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IN</a:t>
                      </a:r>
                    </a:p>
                  </a:txBody>
                  <a:tcPr marL="68574" marR="68574"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输入</a:t>
                      </a:r>
                    </a:p>
                  </a:txBody>
                  <a:tcPr marL="68574" marR="68574"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extLst>
                  <a:ext uri="{0D108BD9-81ED-4DB2-BD59-A6C34878D82A}">
                    <a16:rowId xmlns:a16="http://schemas.microsoft.com/office/drawing/2014/main" val="10001"/>
                  </a:ext>
                </a:extLst>
              </a:tr>
              <a:tr h="4343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OUT</a:t>
                      </a:r>
                    </a:p>
                  </a:txBody>
                  <a:tcPr marL="68574" marR="68574"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输出</a:t>
                      </a:r>
                    </a:p>
                  </a:txBody>
                  <a:tcPr marL="68574" marR="68574"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extLst>
                  <a:ext uri="{0D108BD9-81ED-4DB2-BD59-A6C34878D82A}">
                    <a16:rowId xmlns:a16="http://schemas.microsoft.com/office/drawing/2014/main" val="10002"/>
                  </a:ext>
                </a:extLst>
              </a:tr>
              <a:tr h="4343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INOUT</a:t>
                      </a:r>
                    </a:p>
                  </a:txBody>
                  <a:tcPr marL="68574" marR="68574"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双向</a:t>
                      </a:r>
                    </a:p>
                  </a:txBody>
                  <a:tcPr marL="68574" marR="68574"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FF"/>
                    </a:solidFill>
                  </a:tcPr>
                </a:tc>
                <a:extLst>
                  <a:ext uri="{0D108BD9-81ED-4DB2-BD59-A6C34878D82A}">
                    <a16:rowId xmlns:a16="http://schemas.microsoft.com/office/drawing/2014/main" val="10003"/>
                  </a:ext>
                </a:extLst>
              </a:tr>
              <a:tr h="6889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BUFFER</a:t>
                      </a:r>
                    </a:p>
                  </a:txBody>
                  <a:tcPr marL="68574" marR="68574"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具有读功能的输出模块</a:t>
                      </a:r>
                    </a:p>
                  </a:txBody>
                  <a:tcPr marL="68574" marR="68574"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CCFF"/>
                    </a:solidFill>
                  </a:tcPr>
                </a:tc>
                <a:extLst>
                  <a:ext uri="{0D108BD9-81ED-4DB2-BD59-A6C34878D82A}">
                    <a16:rowId xmlns:a16="http://schemas.microsoft.com/office/drawing/2014/main" val="10004"/>
                  </a:ext>
                </a:extLst>
              </a:tr>
            </a:tbl>
          </a:graphicData>
        </a:graphic>
      </p:graphicFrame>
      <p:sp>
        <p:nvSpPr>
          <p:cNvPr id="160792" name="Text Box 23"/>
          <p:cNvSpPr txBox="1"/>
          <p:nvPr/>
        </p:nvSpPr>
        <p:spPr>
          <a:xfrm>
            <a:off x="6240780" y="2067560"/>
            <a:ext cx="2732405" cy="460375"/>
          </a:xfrm>
          <a:prstGeom prst="rect">
            <a:avLst/>
          </a:prstGeom>
          <a:noFill/>
          <a:ln w="19050">
            <a:noFill/>
          </a:ln>
        </p:spPr>
        <p:txBody>
          <a:bodyPr wrap="square">
            <a:spAutoFit/>
          </a:bodyPr>
          <a:lstStyle/>
          <a:p>
            <a:pPr eaLnBrk="1" hangingPunct="1"/>
            <a:r>
              <a:rPr lang="zh-CN" altLang="en-US" sz="2400" dirty="0">
                <a:solidFill>
                  <a:schemeClr val="tx1"/>
                </a:solidFill>
                <a:latin typeface="华文新魏" panose="02010800040101010101" pitchFamily="2" charset="-122"/>
                <a:ea typeface="华文新魏" panose="02010800040101010101" pitchFamily="2" charset="-122"/>
              </a:rPr>
              <a:t>只写</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rgbClr val="CC3300"/>
                </a:solidFill>
                <a:latin typeface="华文新魏" panose="02010800040101010101" pitchFamily="2" charset="-122"/>
                <a:ea typeface="华文新魏" panose="02010800040101010101" pitchFamily="2" charset="-122"/>
              </a:rPr>
              <a:t>可有多个驱动</a:t>
            </a:r>
          </a:p>
        </p:txBody>
      </p:sp>
      <p:sp>
        <p:nvSpPr>
          <p:cNvPr id="160793" name="Text Box 24"/>
          <p:cNvSpPr txBox="1"/>
          <p:nvPr/>
        </p:nvSpPr>
        <p:spPr>
          <a:xfrm>
            <a:off x="6240780" y="2497455"/>
            <a:ext cx="1721485" cy="460375"/>
          </a:xfrm>
          <a:prstGeom prst="rect">
            <a:avLst/>
          </a:prstGeom>
          <a:noFill/>
          <a:ln w="19050">
            <a:noFill/>
          </a:ln>
        </p:spPr>
        <p:txBody>
          <a:bodyPr wrap="square">
            <a:spAutoFit/>
          </a:bodyPr>
          <a:lstStyle/>
          <a:p>
            <a:pPr eaLnBrk="1" hangingPunct="1"/>
            <a:r>
              <a:rPr lang="zh-CN" altLang="en-US" sz="2400" dirty="0">
                <a:solidFill>
                  <a:schemeClr val="tx1"/>
                </a:solidFill>
                <a:latin typeface="Times New Roman" panose="02020603050405020304" pitchFamily="18" charset="0"/>
                <a:ea typeface="华文新魏" panose="02010800040101010101" pitchFamily="2" charset="-122"/>
              </a:rPr>
              <a:t>可读、可写</a:t>
            </a:r>
          </a:p>
        </p:txBody>
      </p:sp>
      <p:sp>
        <p:nvSpPr>
          <p:cNvPr id="160794" name="Text Box 25"/>
          <p:cNvSpPr txBox="1"/>
          <p:nvPr/>
        </p:nvSpPr>
        <p:spPr>
          <a:xfrm>
            <a:off x="6266815" y="2993390"/>
            <a:ext cx="2630805" cy="460375"/>
          </a:xfrm>
          <a:prstGeom prst="rect">
            <a:avLst/>
          </a:prstGeom>
          <a:noFill/>
          <a:ln w="19050">
            <a:noFill/>
          </a:ln>
        </p:spPr>
        <p:txBody>
          <a:bodyPr wrap="square">
            <a:spAutoFit/>
          </a:bodyPr>
          <a:lstStyle/>
          <a:p>
            <a:pPr eaLnBrk="1" hangingPunct="1"/>
            <a:r>
              <a:rPr lang="zh-CN" altLang="en-US" sz="2400" dirty="0">
                <a:solidFill>
                  <a:schemeClr val="tx1"/>
                </a:solidFill>
                <a:latin typeface="华文新魏" panose="02010800040101010101" pitchFamily="2" charset="-122"/>
                <a:ea typeface="华文新魏" panose="02010800040101010101" pitchFamily="2" charset="-122"/>
              </a:rPr>
              <a:t>可读写</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rgbClr val="CC3300"/>
                </a:solidFill>
                <a:latin typeface="华文新魏" panose="02010800040101010101" pitchFamily="2" charset="-122"/>
                <a:ea typeface="华文新魏" panose="02010800040101010101" pitchFamily="2" charset="-122"/>
              </a:rPr>
              <a:t>仅</a:t>
            </a:r>
            <a:r>
              <a:rPr lang="en-US" altLang="zh-CN" sz="2400">
                <a:solidFill>
                  <a:srgbClr val="CC3300"/>
                </a:solidFill>
                <a:latin typeface="华文新魏" panose="02010800040101010101" pitchFamily="2" charset="-122"/>
                <a:ea typeface="华文新魏" panose="02010800040101010101" pitchFamily="2" charset="-122"/>
              </a:rPr>
              <a:t>1</a:t>
            </a:r>
            <a:r>
              <a:rPr lang="zh-CN" altLang="en-US" sz="2400" dirty="0">
                <a:solidFill>
                  <a:srgbClr val="CC3300"/>
                </a:solidFill>
                <a:latin typeface="华文新魏" panose="02010800040101010101" pitchFamily="2" charset="-122"/>
                <a:ea typeface="华文新魏" panose="02010800040101010101" pitchFamily="2" charset="-122"/>
              </a:rPr>
              <a:t>个驱动</a:t>
            </a:r>
          </a:p>
        </p:txBody>
      </p:sp>
      <p:sp>
        <p:nvSpPr>
          <p:cNvPr id="160795" name="Text Box 26"/>
          <p:cNvSpPr txBox="1"/>
          <p:nvPr/>
        </p:nvSpPr>
        <p:spPr>
          <a:xfrm>
            <a:off x="6284595" y="1581785"/>
            <a:ext cx="1039495" cy="460375"/>
          </a:xfrm>
          <a:prstGeom prst="rect">
            <a:avLst/>
          </a:prstGeom>
          <a:noFill/>
          <a:ln w="19050">
            <a:noFill/>
          </a:ln>
        </p:spPr>
        <p:txBody>
          <a:bodyPr wrap="square">
            <a:spAutoFit/>
          </a:bodyPr>
          <a:lstStyle/>
          <a:p>
            <a:pPr eaLnBrk="1" hangingPunct="1"/>
            <a:r>
              <a:rPr lang="zh-CN" altLang="en-US" sz="2400" dirty="0">
                <a:solidFill>
                  <a:schemeClr val="tx1"/>
                </a:solidFill>
                <a:latin typeface="Times New Roman" panose="02020603050405020304" pitchFamily="18" charset="0"/>
                <a:ea typeface="华文新魏" panose="02010800040101010101" pitchFamily="2" charset="-122"/>
              </a:rPr>
              <a:t>只读</a:t>
            </a:r>
          </a:p>
        </p:txBody>
      </p:sp>
      <p:sp>
        <p:nvSpPr>
          <p:cNvPr id="160796" name="Text Box 27"/>
          <p:cNvSpPr txBox="1"/>
          <p:nvPr/>
        </p:nvSpPr>
        <p:spPr>
          <a:xfrm>
            <a:off x="640080" y="3803015"/>
            <a:ext cx="7759700" cy="1198880"/>
          </a:xfrm>
          <a:prstGeom prst="rect">
            <a:avLst/>
          </a:prstGeom>
          <a:solidFill>
            <a:srgbClr val="C0C0C0"/>
          </a:solidFill>
          <a:ln w="19050">
            <a:noFill/>
          </a:ln>
        </p:spPr>
        <p:txBody>
          <a:bodyPr wrap="square">
            <a:spAutoFit/>
          </a:bodyPr>
          <a:lstStyle/>
          <a:p>
            <a:pPr eaLnBrk="1" hangingPunct="1">
              <a:spcBef>
                <a:spcPct val="50000"/>
              </a:spcBef>
            </a:pPr>
            <a:r>
              <a:rPr lang="zh-CN" altLang="en-US" sz="2400" dirty="0">
                <a:solidFill>
                  <a:schemeClr val="tx1"/>
                </a:solidFill>
                <a:latin typeface="华文新魏" panose="02010800040101010101" pitchFamily="2" charset="-122"/>
                <a:ea typeface="华文新魏" panose="02010800040101010101" pitchFamily="2" charset="-122"/>
              </a:rPr>
              <a:t>在实际的数字集成电路中，</a:t>
            </a:r>
            <a:r>
              <a:rPr lang="en-US" altLang="zh-CN" sz="2400">
                <a:solidFill>
                  <a:schemeClr val="tx1"/>
                </a:solidFill>
                <a:latin typeface="华文新魏" panose="02010800040101010101" pitchFamily="2" charset="-122"/>
                <a:ea typeface="华文新魏" panose="02010800040101010101" pitchFamily="2" charset="-122"/>
              </a:rPr>
              <a:t>IN</a:t>
            </a:r>
            <a:r>
              <a:rPr lang="zh-CN" altLang="en-US" sz="2400" dirty="0">
                <a:solidFill>
                  <a:schemeClr val="tx1"/>
                </a:solidFill>
                <a:latin typeface="华文新魏" panose="02010800040101010101" pitchFamily="2" charset="-122"/>
                <a:ea typeface="华文新魏" panose="02010800040101010101" pitchFamily="2" charset="-122"/>
              </a:rPr>
              <a:t>相当于只可输入的引脚，</a:t>
            </a:r>
            <a:r>
              <a:rPr lang="en-US" altLang="zh-CN" sz="2400">
                <a:solidFill>
                  <a:schemeClr val="tx1"/>
                </a:solidFill>
                <a:latin typeface="华文新魏" panose="02010800040101010101" pitchFamily="2" charset="-122"/>
                <a:ea typeface="华文新魏" panose="02010800040101010101" pitchFamily="2" charset="-122"/>
              </a:rPr>
              <a:t>OUT</a:t>
            </a:r>
            <a:r>
              <a:rPr lang="zh-CN" altLang="en-US" sz="2400" dirty="0">
                <a:solidFill>
                  <a:schemeClr val="tx1"/>
                </a:solidFill>
                <a:latin typeface="华文新魏" panose="02010800040101010101" pitchFamily="2" charset="-122"/>
                <a:ea typeface="华文新魏" panose="02010800040101010101" pitchFamily="2" charset="-122"/>
              </a:rPr>
              <a:t>相当于只可输出的引脚，</a:t>
            </a:r>
            <a:r>
              <a:rPr lang="en-US" altLang="zh-CN" sz="2400">
                <a:solidFill>
                  <a:schemeClr val="tx1"/>
                </a:solidFill>
                <a:latin typeface="华文新魏" panose="02010800040101010101" pitchFamily="2" charset="-122"/>
                <a:ea typeface="华文新魏" panose="02010800040101010101" pitchFamily="2" charset="-122"/>
              </a:rPr>
              <a:t>BUFFER</a:t>
            </a:r>
            <a:r>
              <a:rPr lang="zh-CN" altLang="en-US" sz="2400" dirty="0">
                <a:solidFill>
                  <a:schemeClr val="tx1"/>
                </a:solidFill>
                <a:latin typeface="华文新魏" panose="02010800040101010101" pitchFamily="2" charset="-122"/>
                <a:ea typeface="华文新魏" panose="02010800040101010101" pitchFamily="2" charset="-122"/>
              </a:rPr>
              <a:t>相当于带输出缓冲器并可回读的引脚，</a:t>
            </a:r>
            <a:r>
              <a:rPr lang="en-US" altLang="zh-CN" sz="2400">
                <a:solidFill>
                  <a:schemeClr val="tx1"/>
                </a:solidFill>
                <a:latin typeface="华文新魏" panose="02010800040101010101" pitchFamily="2" charset="-122"/>
                <a:ea typeface="华文新魏" panose="02010800040101010101" pitchFamily="2" charset="-122"/>
              </a:rPr>
              <a:t>INOUT</a:t>
            </a:r>
            <a:r>
              <a:rPr lang="zh-CN" altLang="en-US" sz="2400" dirty="0">
                <a:solidFill>
                  <a:schemeClr val="tx1"/>
                </a:solidFill>
                <a:latin typeface="华文新魏" panose="02010800040101010101" pitchFamily="2" charset="-122"/>
                <a:ea typeface="华文新魏" panose="02010800040101010101" pitchFamily="2" charset="-122"/>
              </a:rPr>
              <a:t>相当于双向引脚。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0795"/>
                                        </p:tgtEl>
                                        <p:attrNameLst>
                                          <p:attrName>style.visibility</p:attrName>
                                        </p:attrNameLst>
                                      </p:cBhvr>
                                      <p:to>
                                        <p:strVal val="visible"/>
                                      </p:to>
                                    </p:set>
                                    <p:anim calcmode="lin" valueType="num">
                                      <p:cBhvr additive="base">
                                        <p:cTn id="7" dur="500" fill="hold"/>
                                        <p:tgtEl>
                                          <p:spTgt spid="160795"/>
                                        </p:tgtEl>
                                        <p:attrNameLst>
                                          <p:attrName>ppt_x</p:attrName>
                                        </p:attrNameLst>
                                      </p:cBhvr>
                                      <p:tavLst>
                                        <p:tav tm="0">
                                          <p:val>
                                            <p:strVal val="#ppt_x"/>
                                          </p:val>
                                        </p:tav>
                                        <p:tav tm="100000">
                                          <p:val>
                                            <p:strVal val="#ppt_x"/>
                                          </p:val>
                                        </p:tav>
                                      </p:tavLst>
                                    </p:anim>
                                    <p:anim calcmode="lin" valueType="num">
                                      <p:cBhvr additive="base">
                                        <p:cTn id="8" dur="500" fill="hold"/>
                                        <p:tgtEl>
                                          <p:spTgt spid="160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0792"/>
                                        </p:tgtEl>
                                        <p:attrNameLst>
                                          <p:attrName>style.visibility</p:attrName>
                                        </p:attrNameLst>
                                      </p:cBhvr>
                                      <p:to>
                                        <p:strVal val="visible"/>
                                      </p:to>
                                    </p:set>
                                    <p:anim calcmode="lin" valueType="num">
                                      <p:cBhvr additive="base">
                                        <p:cTn id="13" dur="500" fill="hold"/>
                                        <p:tgtEl>
                                          <p:spTgt spid="160792"/>
                                        </p:tgtEl>
                                        <p:attrNameLst>
                                          <p:attrName>ppt_x</p:attrName>
                                        </p:attrNameLst>
                                      </p:cBhvr>
                                      <p:tavLst>
                                        <p:tav tm="0">
                                          <p:val>
                                            <p:strVal val="#ppt_x"/>
                                          </p:val>
                                        </p:tav>
                                        <p:tav tm="100000">
                                          <p:val>
                                            <p:strVal val="#ppt_x"/>
                                          </p:val>
                                        </p:tav>
                                      </p:tavLst>
                                    </p:anim>
                                    <p:anim calcmode="lin" valueType="num">
                                      <p:cBhvr additive="base">
                                        <p:cTn id="14" dur="500" fill="hold"/>
                                        <p:tgtEl>
                                          <p:spTgt spid="1607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0793"/>
                                        </p:tgtEl>
                                        <p:attrNameLst>
                                          <p:attrName>style.visibility</p:attrName>
                                        </p:attrNameLst>
                                      </p:cBhvr>
                                      <p:to>
                                        <p:strVal val="visible"/>
                                      </p:to>
                                    </p:set>
                                    <p:anim calcmode="lin" valueType="num">
                                      <p:cBhvr additive="base">
                                        <p:cTn id="19" dur="500" fill="hold"/>
                                        <p:tgtEl>
                                          <p:spTgt spid="160793"/>
                                        </p:tgtEl>
                                        <p:attrNameLst>
                                          <p:attrName>ppt_x</p:attrName>
                                        </p:attrNameLst>
                                      </p:cBhvr>
                                      <p:tavLst>
                                        <p:tav tm="0">
                                          <p:val>
                                            <p:strVal val="#ppt_x"/>
                                          </p:val>
                                        </p:tav>
                                        <p:tav tm="100000">
                                          <p:val>
                                            <p:strVal val="#ppt_x"/>
                                          </p:val>
                                        </p:tav>
                                      </p:tavLst>
                                    </p:anim>
                                    <p:anim calcmode="lin" valueType="num">
                                      <p:cBhvr additive="base">
                                        <p:cTn id="20" dur="500" fill="hold"/>
                                        <p:tgtEl>
                                          <p:spTgt spid="16079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0794"/>
                                        </p:tgtEl>
                                        <p:attrNameLst>
                                          <p:attrName>style.visibility</p:attrName>
                                        </p:attrNameLst>
                                      </p:cBhvr>
                                      <p:to>
                                        <p:strVal val="visible"/>
                                      </p:to>
                                    </p:set>
                                    <p:anim calcmode="lin" valueType="num">
                                      <p:cBhvr additive="base">
                                        <p:cTn id="25" dur="500" fill="hold"/>
                                        <p:tgtEl>
                                          <p:spTgt spid="160794"/>
                                        </p:tgtEl>
                                        <p:attrNameLst>
                                          <p:attrName>ppt_x</p:attrName>
                                        </p:attrNameLst>
                                      </p:cBhvr>
                                      <p:tavLst>
                                        <p:tav tm="0">
                                          <p:val>
                                            <p:strVal val="#ppt_x"/>
                                          </p:val>
                                        </p:tav>
                                        <p:tav tm="100000">
                                          <p:val>
                                            <p:strVal val="#ppt_x"/>
                                          </p:val>
                                        </p:tav>
                                      </p:tavLst>
                                    </p:anim>
                                    <p:anim calcmode="lin" valueType="num">
                                      <p:cBhvr additive="base">
                                        <p:cTn id="26" dur="500" fill="hold"/>
                                        <p:tgtEl>
                                          <p:spTgt spid="16079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0796"/>
                                        </p:tgtEl>
                                        <p:attrNameLst>
                                          <p:attrName>style.visibility</p:attrName>
                                        </p:attrNameLst>
                                      </p:cBhvr>
                                      <p:to>
                                        <p:strVal val="visible"/>
                                      </p:to>
                                    </p:set>
                                    <p:anim calcmode="lin" valueType="num">
                                      <p:cBhvr additive="base">
                                        <p:cTn id="31" dur="500" fill="hold"/>
                                        <p:tgtEl>
                                          <p:spTgt spid="160796"/>
                                        </p:tgtEl>
                                        <p:attrNameLst>
                                          <p:attrName>ppt_x</p:attrName>
                                        </p:attrNameLst>
                                      </p:cBhvr>
                                      <p:tavLst>
                                        <p:tav tm="0">
                                          <p:val>
                                            <p:strVal val="#ppt_x"/>
                                          </p:val>
                                        </p:tav>
                                        <p:tav tm="100000">
                                          <p:val>
                                            <p:strVal val="#ppt_x"/>
                                          </p:val>
                                        </p:tav>
                                      </p:tavLst>
                                    </p:anim>
                                    <p:anim calcmode="lin" valueType="num">
                                      <p:cBhvr additive="base">
                                        <p:cTn id="32" dur="500" fill="hold"/>
                                        <p:tgtEl>
                                          <p:spTgt spid="1607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92" grpId="0"/>
      <p:bldP spid="160792" grpId="1"/>
      <p:bldP spid="160793" grpId="0"/>
      <p:bldP spid="160793" grpId="1"/>
      <p:bldP spid="160794" grpId="0"/>
      <p:bldP spid="160794" grpId="1"/>
      <p:bldP spid="160795" grpId="0"/>
      <p:bldP spid="160795" grpId="1"/>
      <p:bldP spid="160796" grpId="0" animBg="1"/>
      <p:bldP spid="160796"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6E83F1-0D48-4E5B-8AD5-60ECBA7BF386}"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40</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61795" name="Group 2"/>
          <p:cNvGrpSpPr/>
          <p:nvPr/>
        </p:nvGrpSpPr>
        <p:grpSpPr>
          <a:xfrm>
            <a:off x="1392688" y="614491"/>
            <a:ext cx="6218544" cy="4193277"/>
            <a:chOff x="522" y="534"/>
            <a:chExt cx="4269" cy="2999"/>
          </a:xfrm>
        </p:grpSpPr>
        <p:grpSp>
          <p:nvGrpSpPr>
            <p:cNvPr id="161796" name="Group 3"/>
            <p:cNvGrpSpPr/>
            <p:nvPr/>
          </p:nvGrpSpPr>
          <p:grpSpPr>
            <a:xfrm>
              <a:off x="522" y="534"/>
              <a:ext cx="4269" cy="2447"/>
              <a:chOff x="378" y="822"/>
              <a:chExt cx="4269" cy="2447"/>
            </a:xfrm>
          </p:grpSpPr>
          <p:sp>
            <p:nvSpPr>
              <p:cNvPr id="161798" name="Line 4"/>
              <p:cNvSpPr/>
              <p:nvPr/>
            </p:nvSpPr>
            <p:spPr>
              <a:xfrm flipH="1">
                <a:off x="2745" y="2601"/>
                <a:ext cx="567" cy="0"/>
              </a:xfrm>
              <a:prstGeom prst="line">
                <a:avLst/>
              </a:prstGeom>
              <a:ln w="9525" cap="flat" cmpd="sng">
                <a:solidFill>
                  <a:schemeClr val="tx1"/>
                </a:solidFill>
                <a:prstDash val="solid"/>
                <a:headEnd type="none" w="med" len="med"/>
                <a:tailEnd type="none" w="med" len="med"/>
              </a:ln>
            </p:spPr>
          </p:sp>
          <p:sp>
            <p:nvSpPr>
              <p:cNvPr id="161799" name="AutoShape 5"/>
              <p:cNvSpPr/>
              <p:nvPr/>
            </p:nvSpPr>
            <p:spPr>
              <a:xfrm>
                <a:off x="1701" y="1278"/>
                <a:ext cx="249" cy="249"/>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00" name="AutoShape 6"/>
              <p:cNvSpPr/>
              <p:nvPr/>
            </p:nvSpPr>
            <p:spPr>
              <a:xfrm>
                <a:off x="1701" y="1692"/>
                <a:ext cx="249" cy="249"/>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01" name="AutoShape 7"/>
              <p:cNvSpPr/>
              <p:nvPr/>
            </p:nvSpPr>
            <p:spPr>
              <a:xfrm>
                <a:off x="2214" y="2115"/>
                <a:ext cx="249" cy="249"/>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02" name="AutoShape 8"/>
              <p:cNvSpPr/>
              <p:nvPr/>
            </p:nvSpPr>
            <p:spPr>
              <a:xfrm flipH="1">
                <a:off x="2844" y="2916"/>
                <a:ext cx="332" cy="302"/>
              </a:xfrm>
              <a:prstGeom prst="moon">
                <a:avLst>
                  <a:gd name="adj" fmla="val 75801"/>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03" name="AutoShape 9"/>
              <p:cNvSpPr/>
              <p:nvPr/>
            </p:nvSpPr>
            <p:spPr>
              <a:xfrm rot="-5400000" flipH="1">
                <a:off x="2840" y="2487"/>
                <a:ext cx="261" cy="226"/>
              </a:xfrm>
              <a:prstGeom prst="triangle">
                <a:avLst>
                  <a:gd name="adj" fmla="val 50000"/>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grpSp>
            <p:nvGrpSpPr>
              <p:cNvPr id="161804" name="Group 10"/>
              <p:cNvGrpSpPr/>
              <p:nvPr/>
            </p:nvGrpSpPr>
            <p:grpSpPr>
              <a:xfrm>
                <a:off x="918" y="1269"/>
                <a:ext cx="153" cy="153"/>
                <a:chOff x="2142" y="3303"/>
                <a:chExt cx="153" cy="153"/>
              </a:xfrm>
            </p:grpSpPr>
            <p:sp>
              <p:nvSpPr>
                <p:cNvPr id="161866" name="Rectangle 11"/>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67" name="Line 12"/>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68" name="Line 13"/>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sp>
            <p:nvSpPr>
              <p:cNvPr id="161805" name="Line 14"/>
              <p:cNvSpPr/>
              <p:nvPr/>
            </p:nvSpPr>
            <p:spPr>
              <a:xfrm flipH="1">
                <a:off x="1071" y="1350"/>
                <a:ext cx="630" cy="0"/>
              </a:xfrm>
              <a:prstGeom prst="line">
                <a:avLst/>
              </a:prstGeom>
              <a:ln w="9525" cap="flat" cmpd="sng">
                <a:solidFill>
                  <a:schemeClr val="tx1"/>
                </a:solidFill>
                <a:prstDash val="solid"/>
                <a:headEnd type="none" w="med" len="med"/>
                <a:tailEnd type="none" w="med" len="med"/>
              </a:ln>
            </p:spPr>
          </p:sp>
          <p:sp>
            <p:nvSpPr>
              <p:cNvPr id="161806" name="Line 15"/>
              <p:cNvSpPr/>
              <p:nvPr/>
            </p:nvSpPr>
            <p:spPr>
              <a:xfrm flipH="1">
                <a:off x="1548" y="1449"/>
                <a:ext cx="153" cy="0"/>
              </a:xfrm>
              <a:prstGeom prst="line">
                <a:avLst/>
              </a:prstGeom>
              <a:ln w="9525" cap="flat" cmpd="sng">
                <a:solidFill>
                  <a:schemeClr val="tx1"/>
                </a:solidFill>
                <a:prstDash val="solid"/>
                <a:headEnd type="none" w="med" len="med"/>
                <a:tailEnd type="none" w="med" len="med"/>
              </a:ln>
            </p:spPr>
          </p:sp>
          <p:sp>
            <p:nvSpPr>
              <p:cNvPr id="161807" name="Line 16"/>
              <p:cNvSpPr/>
              <p:nvPr/>
            </p:nvSpPr>
            <p:spPr>
              <a:xfrm>
                <a:off x="1548" y="1449"/>
                <a:ext cx="0" cy="738"/>
              </a:xfrm>
              <a:prstGeom prst="line">
                <a:avLst/>
              </a:prstGeom>
              <a:ln w="9525" cap="flat" cmpd="sng">
                <a:solidFill>
                  <a:schemeClr val="tx1"/>
                </a:solidFill>
                <a:prstDash val="solid"/>
                <a:headEnd type="none" w="med" len="med"/>
                <a:tailEnd type="none" w="med" len="med"/>
              </a:ln>
            </p:spPr>
          </p:sp>
          <p:sp>
            <p:nvSpPr>
              <p:cNvPr id="161808" name="Line 17"/>
              <p:cNvSpPr/>
              <p:nvPr/>
            </p:nvSpPr>
            <p:spPr>
              <a:xfrm>
                <a:off x="1413" y="1350"/>
                <a:ext cx="0" cy="414"/>
              </a:xfrm>
              <a:prstGeom prst="line">
                <a:avLst/>
              </a:prstGeom>
              <a:ln w="9525" cap="flat" cmpd="sng">
                <a:solidFill>
                  <a:schemeClr val="tx1"/>
                </a:solidFill>
                <a:prstDash val="solid"/>
                <a:headEnd type="none" w="med" len="med"/>
                <a:tailEnd type="none" w="med" len="med"/>
              </a:ln>
            </p:spPr>
          </p:sp>
          <p:sp>
            <p:nvSpPr>
              <p:cNvPr id="161809" name="Line 18"/>
              <p:cNvSpPr/>
              <p:nvPr/>
            </p:nvSpPr>
            <p:spPr>
              <a:xfrm>
                <a:off x="1413" y="1764"/>
                <a:ext cx="288" cy="0"/>
              </a:xfrm>
              <a:prstGeom prst="line">
                <a:avLst/>
              </a:prstGeom>
              <a:ln w="9525" cap="flat" cmpd="sng">
                <a:solidFill>
                  <a:schemeClr val="tx1"/>
                </a:solidFill>
                <a:prstDash val="solid"/>
                <a:headEnd type="none" w="med" len="med"/>
                <a:tailEnd type="none" w="med" len="med"/>
              </a:ln>
            </p:spPr>
          </p:sp>
          <p:sp>
            <p:nvSpPr>
              <p:cNvPr id="161810" name="Line 19"/>
              <p:cNvSpPr/>
              <p:nvPr/>
            </p:nvSpPr>
            <p:spPr>
              <a:xfrm flipH="1">
                <a:off x="1548" y="1872"/>
                <a:ext cx="153" cy="0"/>
              </a:xfrm>
              <a:prstGeom prst="line">
                <a:avLst/>
              </a:prstGeom>
              <a:ln w="9525" cap="flat" cmpd="sng">
                <a:solidFill>
                  <a:schemeClr val="tx1"/>
                </a:solidFill>
                <a:prstDash val="solid"/>
                <a:headEnd type="none" w="med" len="med"/>
                <a:tailEnd type="none" w="med" len="med"/>
              </a:ln>
            </p:spPr>
          </p:sp>
          <p:sp>
            <p:nvSpPr>
              <p:cNvPr id="161811" name="Line 20"/>
              <p:cNvSpPr/>
              <p:nvPr/>
            </p:nvSpPr>
            <p:spPr>
              <a:xfrm flipH="1">
                <a:off x="1080" y="2187"/>
                <a:ext cx="1125" cy="0"/>
              </a:xfrm>
              <a:prstGeom prst="line">
                <a:avLst/>
              </a:prstGeom>
              <a:ln w="9525" cap="flat" cmpd="sng">
                <a:solidFill>
                  <a:schemeClr val="tx1"/>
                </a:solidFill>
                <a:prstDash val="solid"/>
                <a:headEnd type="none" w="med" len="med"/>
                <a:tailEnd type="none" w="med" len="med"/>
              </a:ln>
            </p:spPr>
          </p:sp>
          <p:sp>
            <p:nvSpPr>
              <p:cNvPr id="161812" name="Line 21"/>
              <p:cNvSpPr/>
              <p:nvPr/>
            </p:nvSpPr>
            <p:spPr>
              <a:xfrm>
                <a:off x="1953" y="1404"/>
                <a:ext cx="1710" cy="0"/>
              </a:xfrm>
              <a:prstGeom prst="line">
                <a:avLst/>
              </a:prstGeom>
              <a:ln w="9525" cap="flat" cmpd="sng">
                <a:solidFill>
                  <a:schemeClr val="tx1"/>
                </a:solidFill>
                <a:prstDash val="solid"/>
                <a:headEnd type="none" w="med" len="med"/>
                <a:tailEnd type="none" w="med" len="med"/>
              </a:ln>
            </p:spPr>
          </p:sp>
          <p:sp>
            <p:nvSpPr>
              <p:cNvPr id="161813" name="Line 22"/>
              <p:cNvSpPr/>
              <p:nvPr/>
            </p:nvSpPr>
            <p:spPr>
              <a:xfrm>
                <a:off x="1962" y="1818"/>
                <a:ext cx="1701" cy="0"/>
              </a:xfrm>
              <a:prstGeom prst="line">
                <a:avLst/>
              </a:prstGeom>
              <a:ln w="9525" cap="flat" cmpd="sng">
                <a:solidFill>
                  <a:schemeClr val="tx1"/>
                </a:solidFill>
                <a:prstDash val="solid"/>
                <a:headEnd type="none" w="med" len="med"/>
                <a:tailEnd type="none" w="med" len="med"/>
              </a:ln>
            </p:spPr>
          </p:sp>
          <p:sp>
            <p:nvSpPr>
              <p:cNvPr id="161814" name="Line 23"/>
              <p:cNvSpPr/>
              <p:nvPr/>
            </p:nvSpPr>
            <p:spPr>
              <a:xfrm>
                <a:off x="2466" y="2241"/>
                <a:ext cx="1197" cy="0"/>
              </a:xfrm>
              <a:prstGeom prst="line">
                <a:avLst/>
              </a:prstGeom>
              <a:ln w="9525" cap="flat" cmpd="sng">
                <a:solidFill>
                  <a:schemeClr val="tx1"/>
                </a:solidFill>
                <a:prstDash val="solid"/>
                <a:headEnd type="none" w="med" len="med"/>
                <a:tailEnd type="none" w="med" len="med"/>
              </a:ln>
            </p:spPr>
          </p:sp>
          <p:sp>
            <p:nvSpPr>
              <p:cNvPr id="161815" name="Line 24"/>
              <p:cNvSpPr/>
              <p:nvPr/>
            </p:nvSpPr>
            <p:spPr>
              <a:xfrm flipV="1">
                <a:off x="2979" y="2007"/>
                <a:ext cx="0" cy="171"/>
              </a:xfrm>
              <a:prstGeom prst="line">
                <a:avLst/>
              </a:prstGeom>
              <a:ln w="9525" cap="flat" cmpd="sng">
                <a:solidFill>
                  <a:schemeClr val="tx1"/>
                </a:solidFill>
                <a:prstDash val="solid"/>
                <a:headEnd type="none" w="med" len="med"/>
                <a:tailEnd type="none" w="med" len="med"/>
              </a:ln>
            </p:spPr>
          </p:sp>
          <p:sp>
            <p:nvSpPr>
              <p:cNvPr id="161816" name="Line 25"/>
              <p:cNvSpPr/>
              <p:nvPr/>
            </p:nvSpPr>
            <p:spPr>
              <a:xfrm flipH="1">
                <a:off x="2610" y="2007"/>
                <a:ext cx="369" cy="0"/>
              </a:xfrm>
              <a:prstGeom prst="line">
                <a:avLst/>
              </a:prstGeom>
              <a:ln w="9525" cap="flat" cmpd="sng">
                <a:solidFill>
                  <a:schemeClr val="tx1"/>
                </a:solidFill>
                <a:prstDash val="solid"/>
                <a:headEnd type="none" w="med" len="med"/>
                <a:tailEnd type="none" w="med" len="med"/>
              </a:ln>
            </p:spPr>
          </p:sp>
          <p:sp>
            <p:nvSpPr>
              <p:cNvPr id="161817" name="Line 26"/>
              <p:cNvSpPr/>
              <p:nvPr/>
            </p:nvSpPr>
            <p:spPr>
              <a:xfrm>
                <a:off x="2610" y="2007"/>
                <a:ext cx="0" cy="756"/>
              </a:xfrm>
              <a:prstGeom prst="line">
                <a:avLst/>
              </a:prstGeom>
              <a:ln w="9525" cap="flat" cmpd="sng">
                <a:solidFill>
                  <a:schemeClr val="tx1"/>
                </a:solidFill>
                <a:prstDash val="solid"/>
                <a:headEnd type="none" w="med" len="med"/>
                <a:tailEnd type="none" w="med" len="med"/>
              </a:ln>
            </p:spPr>
          </p:sp>
          <p:sp>
            <p:nvSpPr>
              <p:cNvPr id="161818" name="Line 27"/>
              <p:cNvSpPr/>
              <p:nvPr/>
            </p:nvSpPr>
            <p:spPr>
              <a:xfrm flipH="1">
                <a:off x="1071" y="2763"/>
                <a:ext cx="1539" cy="0"/>
              </a:xfrm>
              <a:prstGeom prst="line">
                <a:avLst/>
              </a:prstGeom>
              <a:ln w="9525" cap="flat" cmpd="sng">
                <a:solidFill>
                  <a:schemeClr val="tx1"/>
                </a:solidFill>
                <a:prstDash val="solid"/>
                <a:headEnd type="none" w="med" len="med"/>
                <a:tailEnd type="none" w="med" len="med"/>
              </a:ln>
            </p:spPr>
          </p:sp>
          <p:sp>
            <p:nvSpPr>
              <p:cNvPr id="161819" name="AutoShape 28"/>
              <p:cNvSpPr/>
              <p:nvPr/>
            </p:nvSpPr>
            <p:spPr>
              <a:xfrm rot="5400000">
                <a:off x="2858" y="2127"/>
                <a:ext cx="261" cy="226"/>
              </a:xfrm>
              <a:prstGeom prst="triangle">
                <a:avLst>
                  <a:gd name="adj" fmla="val 50000"/>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20" name="Line 29"/>
              <p:cNvSpPr/>
              <p:nvPr/>
            </p:nvSpPr>
            <p:spPr>
              <a:xfrm>
                <a:off x="2070" y="1818"/>
                <a:ext cx="0" cy="1314"/>
              </a:xfrm>
              <a:prstGeom prst="line">
                <a:avLst/>
              </a:prstGeom>
              <a:ln w="9525" cap="flat" cmpd="sng">
                <a:solidFill>
                  <a:schemeClr val="tx1"/>
                </a:solidFill>
                <a:prstDash val="solid"/>
                <a:headEnd type="none" w="med" len="med"/>
                <a:tailEnd type="none" w="med" len="med"/>
              </a:ln>
            </p:spPr>
          </p:sp>
          <p:sp>
            <p:nvSpPr>
              <p:cNvPr id="161821" name="Line 30"/>
              <p:cNvSpPr/>
              <p:nvPr/>
            </p:nvSpPr>
            <p:spPr>
              <a:xfrm>
                <a:off x="2070" y="3132"/>
                <a:ext cx="846" cy="0"/>
              </a:xfrm>
              <a:prstGeom prst="line">
                <a:avLst/>
              </a:prstGeom>
              <a:ln w="9525" cap="flat" cmpd="sng">
                <a:solidFill>
                  <a:schemeClr val="tx1"/>
                </a:solidFill>
                <a:prstDash val="solid"/>
                <a:headEnd type="none" w="med" len="med"/>
                <a:tailEnd type="none" w="med" len="med"/>
              </a:ln>
            </p:spPr>
          </p:sp>
          <p:sp>
            <p:nvSpPr>
              <p:cNvPr id="161822" name="Line 31"/>
              <p:cNvSpPr/>
              <p:nvPr/>
            </p:nvSpPr>
            <p:spPr>
              <a:xfrm>
                <a:off x="2745" y="2601"/>
                <a:ext cx="0" cy="387"/>
              </a:xfrm>
              <a:prstGeom prst="line">
                <a:avLst/>
              </a:prstGeom>
              <a:ln w="9525" cap="flat" cmpd="sng">
                <a:solidFill>
                  <a:schemeClr val="tx1"/>
                </a:solidFill>
                <a:prstDash val="solid"/>
                <a:headEnd type="none" w="med" len="med"/>
                <a:tailEnd type="none" w="med" len="med"/>
              </a:ln>
            </p:spPr>
          </p:sp>
          <p:sp>
            <p:nvSpPr>
              <p:cNvPr id="161823" name="Line 32"/>
              <p:cNvSpPr/>
              <p:nvPr/>
            </p:nvSpPr>
            <p:spPr>
              <a:xfrm>
                <a:off x="2745" y="2988"/>
                <a:ext cx="162" cy="0"/>
              </a:xfrm>
              <a:prstGeom prst="line">
                <a:avLst/>
              </a:prstGeom>
              <a:ln w="9525" cap="flat" cmpd="sng">
                <a:solidFill>
                  <a:schemeClr val="tx1"/>
                </a:solidFill>
                <a:prstDash val="solid"/>
                <a:headEnd type="none" w="med" len="med"/>
                <a:tailEnd type="none" w="med" len="med"/>
              </a:ln>
            </p:spPr>
          </p:sp>
          <p:sp>
            <p:nvSpPr>
              <p:cNvPr id="161824" name="Line 33"/>
              <p:cNvSpPr/>
              <p:nvPr/>
            </p:nvSpPr>
            <p:spPr>
              <a:xfrm flipV="1">
                <a:off x="3312" y="2241"/>
                <a:ext cx="0" cy="360"/>
              </a:xfrm>
              <a:prstGeom prst="line">
                <a:avLst/>
              </a:prstGeom>
              <a:ln w="9525" cap="flat" cmpd="sng">
                <a:solidFill>
                  <a:schemeClr val="tx1"/>
                </a:solidFill>
                <a:prstDash val="solid"/>
                <a:headEnd type="none" w="med" len="med"/>
                <a:tailEnd type="none" w="med" len="med"/>
              </a:ln>
            </p:spPr>
          </p:sp>
          <p:sp>
            <p:nvSpPr>
              <p:cNvPr id="161825" name="Line 34"/>
              <p:cNvSpPr/>
              <p:nvPr/>
            </p:nvSpPr>
            <p:spPr>
              <a:xfrm>
                <a:off x="3177" y="3069"/>
                <a:ext cx="504" cy="0"/>
              </a:xfrm>
              <a:prstGeom prst="line">
                <a:avLst/>
              </a:prstGeom>
              <a:ln w="9525" cap="flat" cmpd="sng">
                <a:solidFill>
                  <a:schemeClr val="tx1"/>
                </a:solidFill>
                <a:prstDash val="solid"/>
                <a:headEnd type="none" w="med" len="med"/>
                <a:tailEnd type="none" w="med" len="med"/>
              </a:ln>
            </p:spPr>
          </p:sp>
          <p:grpSp>
            <p:nvGrpSpPr>
              <p:cNvPr id="161826" name="Group 35"/>
              <p:cNvGrpSpPr/>
              <p:nvPr/>
            </p:nvGrpSpPr>
            <p:grpSpPr>
              <a:xfrm>
                <a:off x="918" y="2106"/>
                <a:ext cx="153" cy="153"/>
                <a:chOff x="2142" y="3303"/>
                <a:chExt cx="153" cy="153"/>
              </a:xfrm>
            </p:grpSpPr>
            <p:sp>
              <p:nvSpPr>
                <p:cNvPr id="161863" name="Rectangle 36"/>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64" name="Line 37"/>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65" name="Line 38"/>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grpSp>
            <p:nvGrpSpPr>
              <p:cNvPr id="161827" name="Group 39"/>
              <p:cNvGrpSpPr/>
              <p:nvPr/>
            </p:nvGrpSpPr>
            <p:grpSpPr>
              <a:xfrm>
                <a:off x="918" y="2691"/>
                <a:ext cx="153" cy="153"/>
                <a:chOff x="2142" y="3303"/>
                <a:chExt cx="153" cy="153"/>
              </a:xfrm>
            </p:grpSpPr>
            <p:sp>
              <p:nvSpPr>
                <p:cNvPr id="161860" name="Rectangle 40"/>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61" name="Line 41"/>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62" name="Line 42"/>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grpSp>
            <p:nvGrpSpPr>
              <p:cNvPr id="161828" name="Group 43"/>
              <p:cNvGrpSpPr/>
              <p:nvPr/>
            </p:nvGrpSpPr>
            <p:grpSpPr>
              <a:xfrm>
                <a:off x="3663" y="2997"/>
                <a:ext cx="153" cy="153"/>
                <a:chOff x="2142" y="3303"/>
                <a:chExt cx="153" cy="153"/>
              </a:xfrm>
            </p:grpSpPr>
            <p:sp>
              <p:nvSpPr>
                <p:cNvPr id="161857" name="Rectangle 44"/>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58" name="Line 45"/>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59" name="Line 46"/>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grpSp>
            <p:nvGrpSpPr>
              <p:cNvPr id="161829" name="Group 47"/>
              <p:cNvGrpSpPr/>
              <p:nvPr/>
            </p:nvGrpSpPr>
            <p:grpSpPr>
              <a:xfrm>
                <a:off x="3663" y="2160"/>
                <a:ext cx="153" cy="153"/>
                <a:chOff x="2142" y="3303"/>
                <a:chExt cx="153" cy="153"/>
              </a:xfrm>
            </p:grpSpPr>
            <p:sp>
              <p:nvSpPr>
                <p:cNvPr id="161854" name="Rectangle 48"/>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55" name="Line 49"/>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56" name="Line 50"/>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grpSp>
            <p:nvGrpSpPr>
              <p:cNvPr id="161830" name="Group 51"/>
              <p:cNvGrpSpPr/>
              <p:nvPr/>
            </p:nvGrpSpPr>
            <p:grpSpPr>
              <a:xfrm>
                <a:off x="3663" y="1746"/>
                <a:ext cx="153" cy="153"/>
                <a:chOff x="2142" y="3303"/>
                <a:chExt cx="153" cy="153"/>
              </a:xfrm>
            </p:grpSpPr>
            <p:sp>
              <p:nvSpPr>
                <p:cNvPr id="161851" name="Rectangle 52"/>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52" name="Line 53"/>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53" name="Line 54"/>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grpSp>
            <p:nvGrpSpPr>
              <p:cNvPr id="161831" name="Group 55"/>
              <p:cNvGrpSpPr/>
              <p:nvPr/>
            </p:nvGrpSpPr>
            <p:grpSpPr>
              <a:xfrm>
                <a:off x="3663" y="1323"/>
                <a:ext cx="153" cy="153"/>
                <a:chOff x="2142" y="3303"/>
                <a:chExt cx="153" cy="153"/>
              </a:xfrm>
            </p:grpSpPr>
            <p:sp>
              <p:nvSpPr>
                <p:cNvPr id="161848" name="Rectangle 56"/>
                <p:cNvSpPr/>
                <p:nvPr/>
              </p:nvSpPr>
              <p:spPr>
                <a:xfrm>
                  <a:off x="2142" y="3303"/>
                  <a:ext cx="153" cy="153"/>
                </a:xfrm>
                <a:prstGeom prst="rect">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49" name="Line 57"/>
                <p:cNvSpPr/>
                <p:nvPr/>
              </p:nvSpPr>
              <p:spPr>
                <a:xfrm>
                  <a:off x="2142" y="3303"/>
                  <a:ext cx="153" cy="153"/>
                </a:xfrm>
                <a:prstGeom prst="line">
                  <a:avLst/>
                </a:prstGeom>
                <a:ln w="9525" cap="flat" cmpd="sng">
                  <a:solidFill>
                    <a:schemeClr val="tx1"/>
                  </a:solidFill>
                  <a:prstDash val="solid"/>
                  <a:headEnd type="none" w="med" len="med"/>
                  <a:tailEnd type="none" w="med" len="med"/>
                </a:ln>
              </p:spPr>
            </p:sp>
            <p:sp>
              <p:nvSpPr>
                <p:cNvPr id="161850" name="Line 58"/>
                <p:cNvSpPr/>
                <p:nvPr/>
              </p:nvSpPr>
              <p:spPr>
                <a:xfrm flipH="1">
                  <a:off x="2142" y="3303"/>
                  <a:ext cx="153" cy="153"/>
                </a:xfrm>
                <a:prstGeom prst="line">
                  <a:avLst/>
                </a:prstGeom>
                <a:ln w="9525" cap="flat" cmpd="sng">
                  <a:solidFill>
                    <a:schemeClr val="tx1"/>
                  </a:solidFill>
                  <a:prstDash val="solid"/>
                  <a:headEnd type="none" w="med" len="med"/>
                  <a:tailEnd type="none" w="med" len="med"/>
                </a:ln>
              </p:spPr>
            </p:sp>
          </p:grpSp>
          <p:sp>
            <p:nvSpPr>
              <p:cNvPr id="161832" name="Oval 59"/>
              <p:cNvSpPr/>
              <p:nvPr/>
            </p:nvSpPr>
            <p:spPr>
              <a:xfrm>
                <a:off x="1386" y="1323"/>
                <a:ext cx="56" cy="56"/>
              </a:xfrm>
              <a:prstGeom prst="ellipse">
                <a:avLst/>
              </a:prstGeom>
              <a:solidFill>
                <a:srgbClr val="FFFFFF"/>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33" name="Line 60"/>
              <p:cNvSpPr/>
              <p:nvPr/>
            </p:nvSpPr>
            <p:spPr>
              <a:xfrm flipH="1">
                <a:off x="2070" y="2295"/>
                <a:ext cx="144" cy="0"/>
              </a:xfrm>
              <a:prstGeom prst="line">
                <a:avLst/>
              </a:prstGeom>
              <a:ln w="9525" cap="flat" cmpd="sng">
                <a:solidFill>
                  <a:schemeClr val="tx1"/>
                </a:solidFill>
                <a:prstDash val="solid"/>
                <a:headEnd type="none" w="med" len="med"/>
                <a:tailEnd type="none" w="med" len="med"/>
              </a:ln>
            </p:spPr>
          </p:sp>
          <p:sp>
            <p:nvSpPr>
              <p:cNvPr id="161834" name="Oval 61"/>
              <p:cNvSpPr/>
              <p:nvPr/>
            </p:nvSpPr>
            <p:spPr>
              <a:xfrm>
                <a:off x="2040" y="2265"/>
                <a:ext cx="56" cy="56"/>
              </a:xfrm>
              <a:prstGeom prst="ellipse">
                <a:avLst/>
              </a:prstGeom>
              <a:solidFill>
                <a:srgbClr val="FFFFFF"/>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35" name="Oval 62"/>
              <p:cNvSpPr/>
              <p:nvPr/>
            </p:nvSpPr>
            <p:spPr>
              <a:xfrm>
                <a:off x="3285" y="2214"/>
                <a:ext cx="56" cy="56"/>
              </a:xfrm>
              <a:prstGeom prst="ellipse">
                <a:avLst/>
              </a:prstGeom>
              <a:solidFill>
                <a:srgbClr val="FFFFFF"/>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36" name="Oval 63"/>
              <p:cNvSpPr/>
              <p:nvPr/>
            </p:nvSpPr>
            <p:spPr>
              <a:xfrm>
                <a:off x="1518" y="2157"/>
                <a:ext cx="56" cy="56"/>
              </a:xfrm>
              <a:prstGeom prst="ellipse">
                <a:avLst/>
              </a:prstGeom>
              <a:solidFill>
                <a:srgbClr val="FFFFFF"/>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37" name="Oval 64"/>
              <p:cNvSpPr/>
              <p:nvPr/>
            </p:nvSpPr>
            <p:spPr>
              <a:xfrm>
                <a:off x="1521" y="1845"/>
                <a:ext cx="56" cy="56"/>
              </a:xfrm>
              <a:prstGeom prst="ellipse">
                <a:avLst/>
              </a:prstGeom>
              <a:solidFill>
                <a:srgbClr val="FFFFFF"/>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38" name="Text Box 65"/>
              <p:cNvSpPr txBox="1"/>
              <p:nvPr/>
            </p:nvSpPr>
            <p:spPr>
              <a:xfrm>
                <a:off x="648" y="1206"/>
                <a:ext cx="315" cy="329"/>
              </a:xfrm>
              <a:prstGeom prst="rect">
                <a:avLst/>
              </a:prstGeom>
              <a:noFill/>
              <a:ln w="9525">
                <a:noFill/>
              </a:ln>
            </p:spPr>
            <p:txBody>
              <a:bodyPr>
                <a:spAutoFit/>
              </a:bodyPr>
              <a:lstStyle/>
              <a:p>
                <a:pPr algn="ctr" eaLnBrk="1" hangingPunct="1">
                  <a:spcBef>
                    <a:spcPct val="50000"/>
                  </a:spcBef>
                </a:pPr>
                <a:r>
                  <a:rPr lang="en-US" altLang="zh-CN" sz="2400">
                    <a:solidFill>
                      <a:schemeClr val="tx1"/>
                    </a:solidFill>
                    <a:latin typeface="Times New Roman" panose="02020603050405020304" pitchFamily="18" charset="0"/>
                  </a:rPr>
                  <a:t>in</a:t>
                </a:r>
              </a:p>
            </p:txBody>
          </p:sp>
          <p:sp>
            <p:nvSpPr>
              <p:cNvPr id="161839" name="Text Box 66"/>
              <p:cNvSpPr txBox="1"/>
              <p:nvPr/>
            </p:nvSpPr>
            <p:spPr>
              <a:xfrm>
                <a:off x="639" y="2043"/>
                <a:ext cx="315" cy="329"/>
              </a:xfrm>
              <a:prstGeom prst="rect">
                <a:avLst/>
              </a:prstGeom>
              <a:noFill/>
              <a:ln w="9525">
                <a:noFill/>
              </a:ln>
            </p:spPr>
            <p:txBody>
              <a:bodyPr>
                <a:spAutoFit/>
              </a:bodyPr>
              <a:lstStyle/>
              <a:p>
                <a:pPr algn="ctr" eaLnBrk="1" hangingPunct="1">
                  <a:spcBef>
                    <a:spcPct val="50000"/>
                  </a:spcBef>
                </a:pPr>
                <a:r>
                  <a:rPr lang="en-US" altLang="zh-CN" sz="2400">
                    <a:solidFill>
                      <a:schemeClr val="tx1"/>
                    </a:solidFill>
                    <a:latin typeface="Times New Roman" panose="02020603050405020304" pitchFamily="18" charset="0"/>
                  </a:rPr>
                  <a:t>in</a:t>
                </a:r>
              </a:p>
            </p:txBody>
          </p:sp>
          <p:sp>
            <p:nvSpPr>
              <p:cNvPr id="161840" name="Text Box 67"/>
              <p:cNvSpPr txBox="1"/>
              <p:nvPr/>
            </p:nvSpPr>
            <p:spPr>
              <a:xfrm>
                <a:off x="648" y="2628"/>
                <a:ext cx="315" cy="329"/>
              </a:xfrm>
              <a:prstGeom prst="rect">
                <a:avLst/>
              </a:prstGeom>
              <a:noFill/>
              <a:ln w="9525">
                <a:noFill/>
              </a:ln>
            </p:spPr>
            <p:txBody>
              <a:bodyPr>
                <a:spAutoFit/>
              </a:bodyPr>
              <a:lstStyle/>
              <a:p>
                <a:pPr algn="ctr" eaLnBrk="1" hangingPunct="1">
                  <a:spcBef>
                    <a:spcPct val="50000"/>
                  </a:spcBef>
                </a:pPr>
                <a:r>
                  <a:rPr lang="en-US" altLang="zh-CN" sz="2400">
                    <a:solidFill>
                      <a:schemeClr val="tx1"/>
                    </a:solidFill>
                    <a:latin typeface="Times New Roman" panose="02020603050405020304" pitchFamily="18" charset="0"/>
                  </a:rPr>
                  <a:t>in</a:t>
                </a:r>
              </a:p>
            </p:txBody>
          </p:sp>
          <p:sp>
            <p:nvSpPr>
              <p:cNvPr id="161841" name="Text Box 68"/>
              <p:cNvSpPr txBox="1"/>
              <p:nvPr/>
            </p:nvSpPr>
            <p:spPr>
              <a:xfrm>
                <a:off x="3798" y="1269"/>
                <a:ext cx="405" cy="329"/>
              </a:xfrm>
              <a:prstGeom prst="rect">
                <a:avLst/>
              </a:prstGeom>
              <a:noFill/>
              <a:ln w="9525">
                <a:noFill/>
              </a:ln>
            </p:spPr>
            <p:txBody>
              <a:bodyPr>
                <a:spAutoFit/>
              </a:bodyPr>
              <a:lstStyle/>
              <a:p>
                <a:pPr algn="ctr" eaLnBrk="1" hangingPunct="1">
                  <a:spcBef>
                    <a:spcPct val="50000"/>
                  </a:spcBef>
                </a:pPr>
                <a:r>
                  <a:rPr lang="en-US" altLang="zh-CN" sz="2400">
                    <a:solidFill>
                      <a:schemeClr val="tx1"/>
                    </a:solidFill>
                    <a:latin typeface="Times New Roman" panose="02020603050405020304" pitchFamily="18" charset="0"/>
                  </a:rPr>
                  <a:t>out</a:t>
                </a:r>
              </a:p>
            </p:txBody>
          </p:sp>
          <p:sp>
            <p:nvSpPr>
              <p:cNvPr id="161842" name="Text Box 69"/>
              <p:cNvSpPr txBox="1"/>
              <p:nvPr/>
            </p:nvSpPr>
            <p:spPr>
              <a:xfrm>
                <a:off x="3789" y="2934"/>
                <a:ext cx="405" cy="335"/>
              </a:xfrm>
              <a:prstGeom prst="rect">
                <a:avLst/>
              </a:prstGeom>
              <a:noFill/>
              <a:ln w="9525">
                <a:noFill/>
              </a:ln>
            </p:spPr>
            <p:txBody>
              <a:bodyPr>
                <a:spAutoFit/>
              </a:bodyPr>
              <a:lstStyle/>
              <a:p>
                <a:pPr algn="ctr" eaLnBrk="1" hangingPunct="1">
                  <a:spcBef>
                    <a:spcPct val="50000"/>
                  </a:spcBef>
                </a:pPr>
                <a:r>
                  <a:rPr lang="en-US" altLang="zh-CN" sz="2400">
                    <a:solidFill>
                      <a:schemeClr val="tx1"/>
                    </a:solidFill>
                    <a:latin typeface="Times New Roman" panose="02020603050405020304" pitchFamily="18" charset="0"/>
                  </a:rPr>
                  <a:t>out</a:t>
                </a:r>
              </a:p>
            </p:txBody>
          </p:sp>
          <p:sp>
            <p:nvSpPr>
              <p:cNvPr id="161843" name="Oval 70"/>
              <p:cNvSpPr/>
              <p:nvPr/>
            </p:nvSpPr>
            <p:spPr>
              <a:xfrm>
                <a:off x="2040" y="1788"/>
                <a:ext cx="56" cy="56"/>
              </a:xfrm>
              <a:prstGeom prst="ellipse">
                <a:avLst/>
              </a:prstGeom>
              <a:solidFill>
                <a:srgbClr val="FFFFFF"/>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1844" name="Text Box 71"/>
              <p:cNvSpPr txBox="1"/>
              <p:nvPr/>
            </p:nvSpPr>
            <p:spPr>
              <a:xfrm>
                <a:off x="3620" y="1692"/>
                <a:ext cx="1027" cy="329"/>
              </a:xfrm>
              <a:prstGeom prst="rect">
                <a:avLst/>
              </a:prstGeom>
              <a:noFill/>
              <a:ln w="9525">
                <a:noFill/>
              </a:ln>
            </p:spPr>
            <p:txBody>
              <a:bodyPr wrap="square">
                <a:spAutoFit/>
              </a:bodyPr>
              <a:lstStyle/>
              <a:p>
                <a:pPr algn="ctr" eaLnBrk="1" hangingPunct="1">
                  <a:spcBef>
                    <a:spcPct val="50000"/>
                  </a:spcBef>
                </a:pPr>
                <a:r>
                  <a:rPr lang="en-US" altLang="zh-CN" sz="2400">
                    <a:solidFill>
                      <a:schemeClr val="tx1"/>
                    </a:solidFill>
                    <a:latin typeface="Times New Roman" panose="02020603050405020304" pitchFamily="18" charset="0"/>
                  </a:rPr>
                  <a:t>buffer</a:t>
                </a:r>
              </a:p>
            </p:txBody>
          </p:sp>
          <p:sp>
            <p:nvSpPr>
              <p:cNvPr id="161845" name="Text Box 72"/>
              <p:cNvSpPr txBox="1"/>
              <p:nvPr/>
            </p:nvSpPr>
            <p:spPr>
              <a:xfrm>
                <a:off x="3754" y="2076"/>
                <a:ext cx="668" cy="329"/>
              </a:xfrm>
              <a:prstGeom prst="rect">
                <a:avLst/>
              </a:prstGeom>
              <a:noFill/>
              <a:ln w="9525">
                <a:noFill/>
              </a:ln>
            </p:spPr>
            <p:txBody>
              <a:bodyPr wrap="square">
                <a:spAutoFit/>
              </a:bodyPr>
              <a:lstStyle/>
              <a:p>
                <a:pPr algn="ctr" eaLnBrk="1" hangingPunct="1">
                  <a:spcBef>
                    <a:spcPct val="50000"/>
                  </a:spcBef>
                </a:pPr>
                <a:r>
                  <a:rPr lang="en-US" altLang="zh-CN" sz="2400" err="1">
                    <a:solidFill>
                      <a:schemeClr val="tx1"/>
                    </a:solidFill>
                    <a:latin typeface="Times New Roman" panose="02020603050405020304" pitchFamily="18" charset="0"/>
                  </a:rPr>
                  <a:t>inout</a:t>
                </a:r>
                <a:endParaRPr lang="en-US" altLang="zh-CN" sz="2400">
                  <a:solidFill>
                    <a:schemeClr val="tx1"/>
                  </a:solidFill>
                  <a:latin typeface="Times New Roman" panose="02020603050405020304" pitchFamily="18" charset="0"/>
                </a:endParaRPr>
              </a:p>
            </p:txBody>
          </p:sp>
          <p:sp>
            <p:nvSpPr>
              <p:cNvPr id="161846" name="Text Box 73"/>
              <p:cNvSpPr txBox="1"/>
              <p:nvPr/>
            </p:nvSpPr>
            <p:spPr>
              <a:xfrm>
                <a:off x="3627" y="883"/>
                <a:ext cx="709" cy="329"/>
              </a:xfrm>
              <a:prstGeom prst="rect">
                <a:avLst/>
              </a:prstGeom>
              <a:noFill/>
              <a:ln w="9525">
                <a:noFill/>
              </a:ln>
            </p:spPr>
            <p:txBody>
              <a:bodyPr wrap="square">
                <a:spAutoFit/>
              </a:bodyPr>
              <a:lstStyle/>
              <a:p>
                <a:pPr algn="ctr" eaLnBrk="1" hangingPunct="1">
                  <a:spcBef>
                    <a:spcPct val="50000"/>
                  </a:spcBef>
                </a:pPr>
                <a:r>
                  <a:rPr lang="en-US" altLang="zh-CN" sz="2400">
                    <a:solidFill>
                      <a:schemeClr val="tx1"/>
                    </a:solidFill>
                    <a:latin typeface="Times New Roman" panose="02020603050405020304" pitchFamily="18" charset="0"/>
                  </a:rPr>
                  <a:t>mode</a:t>
                </a:r>
              </a:p>
            </p:txBody>
          </p:sp>
          <p:sp>
            <p:nvSpPr>
              <p:cNvPr id="161847" name="Text Box 74"/>
              <p:cNvSpPr txBox="1"/>
              <p:nvPr/>
            </p:nvSpPr>
            <p:spPr>
              <a:xfrm>
                <a:off x="378" y="822"/>
                <a:ext cx="765" cy="329"/>
              </a:xfrm>
              <a:prstGeom prst="rect">
                <a:avLst/>
              </a:prstGeom>
              <a:noFill/>
              <a:ln w="9525">
                <a:noFill/>
              </a:ln>
            </p:spPr>
            <p:txBody>
              <a:bodyPr wrap="square">
                <a:spAutoFit/>
              </a:bodyPr>
              <a:lstStyle/>
              <a:p>
                <a:pPr algn="ctr" eaLnBrk="1" hangingPunct="1">
                  <a:spcBef>
                    <a:spcPct val="50000"/>
                  </a:spcBef>
                </a:pPr>
                <a:r>
                  <a:rPr lang="en-US" altLang="zh-CN" sz="2400">
                    <a:solidFill>
                      <a:schemeClr val="tx1"/>
                    </a:solidFill>
                    <a:latin typeface="Times New Roman" panose="02020603050405020304" pitchFamily="18" charset="0"/>
                  </a:rPr>
                  <a:t>mode</a:t>
                </a:r>
              </a:p>
            </p:txBody>
          </p:sp>
        </p:grpSp>
        <p:sp>
          <p:nvSpPr>
            <p:cNvPr id="21509" name="Text Box 75"/>
            <p:cNvSpPr txBox="1">
              <a:spLocks noChangeArrowheads="1"/>
            </p:cNvSpPr>
            <p:nvPr/>
          </p:nvSpPr>
          <p:spPr bwMode="auto">
            <a:xfrm>
              <a:off x="2062" y="3204"/>
              <a:ext cx="1763" cy="329"/>
            </a:xfrm>
            <a:prstGeom prst="rect">
              <a:avLst/>
            </a:prstGeom>
            <a:solidFill>
              <a:schemeClr val="accent2"/>
            </a:solidFill>
            <a:ln w="9525">
              <a:solidFill>
                <a:srgbClr val="FFFFFF"/>
              </a:solidFill>
              <a:miter lim="800000"/>
            </a:ln>
          </p:spPr>
          <p:txBody>
            <a:bodyPr wrap="squar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rPr>
                <a:t>模式及其信号源</a:t>
              </a:r>
            </a:p>
          </p:txBody>
        </p:sp>
      </p:grpSp>
      <p:sp>
        <p:nvSpPr>
          <p:cNvPr id="2" name="矩形 1"/>
          <p:cNvSpPr/>
          <p:nvPr/>
        </p:nvSpPr>
        <p:spPr>
          <a:xfrm>
            <a:off x="2700020" y="987425"/>
            <a:ext cx="3456305" cy="3168650"/>
          </a:xfrm>
          <a:prstGeom prst="rect">
            <a:avLst/>
          </a:prstGeom>
          <a:noFill/>
          <a:ln w="19050" cap="flat" cmpd="sng" algn="ctr">
            <a:solidFill>
              <a:srgbClr val="FF0000"/>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4"/>
          <p:cNvPicPr>
            <a:picLocks noChangeAspect="1"/>
          </p:cNvPicPr>
          <p:nvPr/>
        </p:nvPicPr>
        <p:blipFill>
          <a:blip r:embed="rId2"/>
          <a:stretch>
            <a:fillRect/>
          </a:stretch>
        </p:blipFill>
        <p:spPr>
          <a:xfrm>
            <a:off x="1695450" y="803275"/>
            <a:ext cx="6043295" cy="2814320"/>
          </a:xfrm>
          <a:prstGeom prst="rect">
            <a:avLst/>
          </a:prstGeom>
          <a:noFill/>
          <a:ln w="9525">
            <a:noFill/>
          </a:ln>
        </p:spPr>
      </p:pic>
      <p:sp>
        <p:nvSpPr>
          <p:cNvPr id="2" name="文本框 1"/>
          <p:cNvSpPr txBox="1"/>
          <p:nvPr/>
        </p:nvSpPr>
        <p:spPr>
          <a:xfrm>
            <a:off x="3203575" y="3617595"/>
            <a:ext cx="2891790" cy="398780"/>
          </a:xfrm>
          <a:prstGeom prst="rect">
            <a:avLst/>
          </a:prstGeom>
          <a:noFill/>
        </p:spPr>
        <p:txBody>
          <a:bodyPr wrap="square" rtlCol="0">
            <a:spAutoFit/>
          </a:bodyPr>
          <a:lstStyle/>
          <a:p>
            <a:r>
              <a:rPr lang="en-US" altLang="zh-CN">
                <a:solidFill>
                  <a:schemeClr val="tx1"/>
                </a:solidFill>
                <a:latin typeface="华文新魏" panose="02010800040101010101" pitchFamily="2" charset="-122"/>
                <a:ea typeface="华文新魏" panose="02010800040101010101" pitchFamily="2" charset="-122"/>
                <a:cs typeface="华文新魏" panose="02010800040101010101" pitchFamily="2" charset="-122"/>
              </a:rPr>
              <a:t>OUT</a:t>
            </a:r>
            <a:r>
              <a:rPr lang="zh-CN" altLang="en-US">
                <a:solidFill>
                  <a:schemeClr val="tx1"/>
                </a:solidFill>
                <a:latin typeface="华文新魏" panose="02010800040101010101" pitchFamily="2" charset="-122"/>
                <a:ea typeface="华文新魏" panose="02010800040101010101" pitchFamily="2" charset="-122"/>
                <a:cs typeface="华文新魏" panose="02010800040101010101" pitchFamily="2" charset="-122"/>
              </a:rPr>
              <a:t>和</a:t>
            </a:r>
            <a:r>
              <a:rPr lang="en-US" altLang="zh-CN">
                <a:solidFill>
                  <a:schemeClr val="tx1"/>
                </a:solidFill>
                <a:latin typeface="华文新魏" panose="02010800040101010101" pitchFamily="2" charset="-122"/>
                <a:ea typeface="华文新魏" panose="02010800040101010101" pitchFamily="2" charset="-122"/>
                <a:cs typeface="华文新魏" panose="02010800040101010101" pitchFamily="2" charset="-122"/>
              </a:rPr>
              <a:t>BUFFER</a:t>
            </a:r>
            <a:r>
              <a:rPr lang="zh-CN" altLang="en-US">
                <a:solidFill>
                  <a:schemeClr val="tx1"/>
                </a:solidFill>
                <a:latin typeface="华文新魏" panose="02010800040101010101" pitchFamily="2" charset="-122"/>
                <a:ea typeface="华文新魏" panose="02010800040101010101" pitchFamily="2" charset="-122"/>
                <a:cs typeface="华文新魏" panose="02010800040101010101" pitchFamily="2" charset="-122"/>
              </a:rPr>
              <a:t>的区别</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eaLnBrk="0" hangingPunct="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eaLnBrk="0" hangingPunct="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EADA639-57DC-46D5-A538-1759CD0A7E92}" type="slidenum">
              <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42</a:t>
            </a:fld>
            <a:endPar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163843" name="Text Box 2"/>
          <p:cNvSpPr txBox="1"/>
          <p:nvPr/>
        </p:nvSpPr>
        <p:spPr>
          <a:xfrm>
            <a:off x="259715" y="492125"/>
            <a:ext cx="8599805" cy="3439795"/>
          </a:xfrm>
          <a:prstGeom prst="rect">
            <a:avLst/>
          </a:prstGeom>
          <a:noFill/>
          <a:ln w="9525">
            <a:noFill/>
          </a:ln>
        </p:spPr>
        <p:txBody>
          <a:bodyPr wrap="square">
            <a:spAutoFit/>
          </a:bodyPr>
          <a:lstStyle/>
          <a:p>
            <a:pPr algn="just" eaLnBrk="1" hangingPunct="1">
              <a:lnSpc>
                <a:spcPct val="110000"/>
              </a:lnSpc>
            </a:pPr>
            <a:r>
              <a:rPr lang="zh-CN" altLang="en-US" sz="2400" dirty="0">
                <a:solidFill>
                  <a:srgbClr val="FF0000"/>
                </a:solidFill>
                <a:latin typeface="华文新魏" panose="02010800040101010101" pitchFamily="2" charset="-122"/>
                <a:ea typeface="华文新魏" panose="02010800040101010101" pitchFamily="2" charset="-122"/>
              </a:rPr>
              <a:t>例： 四位加法器实体说明程序</a:t>
            </a:r>
          </a:p>
          <a:p>
            <a:pPr algn="just" eaLnBrk="1" hangingPunct="1">
              <a:lnSpc>
                <a:spcPct val="110000"/>
              </a:lnSpc>
            </a:pPr>
            <a:endParaRPr lang="zh-CN" altLang="en-US" sz="600" dirty="0">
              <a:solidFill>
                <a:schemeClr val="tx2"/>
              </a:solidFill>
              <a:latin typeface="华文新魏" panose="02010800040101010101" pitchFamily="2" charset="-122"/>
              <a:ea typeface="华文新魏" panose="02010800040101010101" pitchFamily="2" charset="-122"/>
            </a:endParaRPr>
          </a:p>
          <a:p>
            <a:pPr algn="just" eaLnBrk="1" hangingPunct="1">
              <a:lnSpc>
                <a:spcPct val="110000"/>
              </a:lnSpc>
            </a:pPr>
            <a:r>
              <a:rPr lang="en-US" altLang="zh-CN" sz="2400">
                <a:solidFill>
                  <a:srgbClr val="0000CC"/>
                </a:solidFill>
                <a:latin typeface="华文新魏" panose="02010800040101010101" pitchFamily="2" charset="-122"/>
                <a:ea typeface="华文新魏" panose="02010800040101010101" pitchFamily="2" charset="-122"/>
              </a:rPr>
              <a:t>ENTITY</a:t>
            </a:r>
            <a:r>
              <a:rPr lang="en-US" altLang="zh-CN" sz="2400">
                <a:solidFill>
                  <a:schemeClr val="tx1"/>
                </a:solidFill>
                <a:latin typeface="华文新魏" panose="02010800040101010101" pitchFamily="2" charset="-122"/>
                <a:ea typeface="华文新魏" panose="02010800040101010101" pitchFamily="2" charset="-122"/>
              </a:rPr>
              <a:t> add4 </a:t>
            </a:r>
            <a:r>
              <a:rPr lang="en-US" altLang="zh-CN" sz="2400">
                <a:solidFill>
                  <a:srgbClr val="0000CC"/>
                </a:solidFill>
                <a:latin typeface="华文新魏" panose="02010800040101010101" pitchFamily="2" charset="-122"/>
                <a:ea typeface="华文新魏" panose="02010800040101010101" pitchFamily="2" charset="-122"/>
              </a:rPr>
              <a:t>IS</a:t>
            </a:r>
          </a:p>
          <a:p>
            <a:pPr algn="just" eaLnBrk="1" hangingPunct="1">
              <a:lnSpc>
                <a:spcPct val="110000"/>
              </a:lnSpc>
            </a:pP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  </a:t>
            </a:r>
            <a:r>
              <a:rPr lang="en-US" altLang="zh-CN" sz="2400" err="1">
                <a:solidFill>
                  <a:srgbClr val="0000CC"/>
                </a:solidFill>
                <a:latin typeface="华文新魏" panose="02010800040101010101" pitchFamily="2" charset="-122"/>
                <a:ea typeface="华文新魏" panose="02010800040101010101" pitchFamily="2" charset="-122"/>
              </a:rPr>
              <a:t>PORT</a:t>
            </a:r>
            <a:r>
              <a:rPr lang="en-US" altLang="zh-CN" sz="2400" err="1">
                <a:solidFill>
                  <a:schemeClr val="tx1"/>
                </a:solidFill>
                <a:latin typeface="华文新魏" panose="02010800040101010101" pitchFamily="2" charset="-122"/>
                <a:ea typeface="华文新魏" panose="02010800040101010101" pitchFamily="2" charset="-122"/>
              </a:rPr>
              <a:t>(a</a:t>
            </a:r>
            <a:r>
              <a:rPr lang="en-US" altLang="zh-CN" sz="2400">
                <a:solidFill>
                  <a:schemeClr val="tx1"/>
                </a:solidFill>
                <a:latin typeface="华文新魏" panose="02010800040101010101" pitchFamily="2" charset="-122"/>
                <a:ea typeface="华文新魏" panose="02010800040101010101" pitchFamily="2" charset="-122"/>
              </a:rPr>
              <a:t>, b: </a:t>
            </a:r>
            <a:r>
              <a:rPr lang="en-US" altLang="zh-CN" sz="2400">
                <a:solidFill>
                  <a:srgbClr val="0000CC"/>
                </a:solidFill>
                <a:latin typeface="华文新魏" panose="02010800040101010101" pitchFamily="2" charset="-122"/>
                <a:ea typeface="华文新魏" panose="02010800040101010101" pitchFamily="2" charset="-122"/>
              </a:rPr>
              <a:t>IN </a:t>
            </a:r>
            <a:r>
              <a:rPr lang="en-US" altLang="zh-CN" sz="2400">
                <a:solidFill>
                  <a:schemeClr val="tx1"/>
                </a:solidFill>
                <a:latin typeface="华文新魏" panose="02010800040101010101" pitchFamily="2" charset="-122"/>
                <a:ea typeface="华文新魏" panose="02010800040101010101" pitchFamily="2" charset="-122"/>
              </a:rPr>
              <a:t>STD_LOGIC_VECTOR(3 </a:t>
            </a:r>
            <a:r>
              <a:rPr lang="en-US" altLang="zh-CN" sz="2400" err="1">
                <a:solidFill>
                  <a:srgbClr val="0000FF"/>
                </a:solidFill>
                <a:latin typeface="华文新魏" panose="02010800040101010101" pitchFamily="2" charset="-122"/>
                <a:ea typeface="华文新魏" panose="02010800040101010101" pitchFamily="2" charset="-122"/>
              </a:rPr>
              <a:t>downto</a:t>
            </a:r>
            <a:r>
              <a:rPr lang="en-US" altLang="zh-CN" sz="2400">
                <a:solidFill>
                  <a:schemeClr val="tx1"/>
                </a:solidFill>
                <a:latin typeface="华文新魏" panose="02010800040101010101" pitchFamily="2" charset="-122"/>
                <a:ea typeface="华文新魏" panose="02010800040101010101" pitchFamily="2" charset="-122"/>
              </a:rPr>
              <a:t> 0);</a:t>
            </a:r>
          </a:p>
          <a:p>
            <a:pPr algn="just" eaLnBrk="1" hangingPunct="1">
              <a:lnSpc>
                <a:spcPct val="110000"/>
              </a:lnSpc>
            </a:pP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err="1">
                <a:solidFill>
                  <a:schemeClr val="tx1"/>
                </a:solidFill>
                <a:latin typeface="华文新魏" panose="02010800040101010101" pitchFamily="2" charset="-122"/>
                <a:ea typeface="华文新魏" panose="02010800040101010101" pitchFamily="2" charset="-122"/>
              </a:rPr>
              <a:t>Ci</a:t>
            </a: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IN</a:t>
            </a:r>
            <a:r>
              <a:rPr lang="en-US" altLang="zh-CN" sz="2400">
                <a:solidFill>
                  <a:schemeClr val="tx1"/>
                </a:solidFill>
                <a:latin typeface="华文新魏" panose="02010800040101010101" pitchFamily="2" charset="-122"/>
                <a:ea typeface="华文新魏" panose="02010800040101010101" pitchFamily="2" charset="-122"/>
              </a:rPr>
              <a:t> STD_LOGIC;</a:t>
            </a:r>
          </a:p>
          <a:p>
            <a:pPr algn="just" eaLnBrk="1" hangingPunct="1">
              <a:lnSpc>
                <a:spcPct val="110000"/>
              </a:lnSpc>
            </a:pPr>
            <a:r>
              <a:rPr lang="en-US" altLang="zh-CN" sz="2400">
                <a:solidFill>
                  <a:schemeClr val="tx1"/>
                </a:solidFill>
                <a:latin typeface="华文新魏" panose="02010800040101010101" pitchFamily="2" charset="-122"/>
                <a:ea typeface="华文新魏" panose="02010800040101010101" pitchFamily="2" charset="-122"/>
              </a:rPr>
              <a:t>                  Sum: </a:t>
            </a:r>
            <a:r>
              <a:rPr lang="en-US" altLang="zh-CN" sz="2400">
                <a:solidFill>
                  <a:srgbClr val="0000CC"/>
                </a:solidFill>
                <a:latin typeface="华文新魏" panose="02010800040101010101" pitchFamily="2" charset="-122"/>
                <a:ea typeface="华文新魏" panose="02010800040101010101" pitchFamily="2" charset="-122"/>
              </a:rPr>
              <a:t>OUT</a:t>
            </a:r>
            <a:r>
              <a:rPr lang="en-US" altLang="zh-CN" sz="2400">
                <a:solidFill>
                  <a:schemeClr val="tx1"/>
                </a:solidFill>
                <a:latin typeface="华文新魏" panose="02010800040101010101" pitchFamily="2" charset="-122"/>
                <a:ea typeface="华文新魏" panose="02010800040101010101" pitchFamily="2" charset="-122"/>
              </a:rPr>
              <a:t> STD_LOGIC_VECTOR(3 </a:t>
            </a:r>
            <a:r>
              <a:rPr lang="en-US" altLang="zh-CN" sz="2400" err="1">
                <a:solidFill>
                  <a:srgbClr val="0000FF"/>
                </a:solidFill>
                <a:latin typeface="华文新魏" panose="02010800040101010101" pitchFamily="2" charset="-122"/>
                <a:ea typeface="华文新魏" panose="02010800040101010101" pitchFamily="2" charset="-122"/>
              </a:rPr>
              <a:t>downto</a:t>
            </a:r>
            <a:r>
              <a:rPr lang="en-US" altLang="zh-CN" sz="2400">
                <a:solidFill>
                  <a:schemeClr val="tx1"/>
                </a:solidFill>
                <a:latin typeface="华文新魏" panose="02010800040101010101" pitchFamily="2" charset="-122"/>
                <a:ea typeface="华文新魏" panose="02010800040101010101" pitchFamily="2" charset="-122"/>
              </a:rPr>
              <a:t> 0);</a:t>
            </a:r>
          </a:p>
          <a:p>
            <a:pPr algn="just" eaLnBrk="1" hangingPunct="1">
              <a:lnSpc>
                <a:spcPct val="110000"/>
              </a:lnSpc>
            </a:pPr>
            <a:r>
              <a:rPr lang="en-US" altLang="zh-CN" sz="2400">
                <a:solidFill>
                  <a:schemeClr val="tx1"/>
                </a:solidFill>
                <a:latin typeface="华文新魏" panose="02010800040101010101" pitchFamily="2" charset="-122"/>
                <a:ea typeface="华文新魏" panose="02010800040101010101" pitchFamily="2" charset="-122"/>
              </a:rPr>
              <a:t>                  Co:   </a:t>
            </a:r>
            <a:r>
              <a:rPr lang="en-US" altLang="zh-CN" sz="2400">
                <a:solidFill>
                  <a:srgbClr val="0000CC"/>
                </a:solidFill>
                <a:latin typeface="华文新魏" panose="02010800040101010101" pitchFamily="2" charset="-122"/>
                <a:ea typeface="华文新魏" panose="02010800040101010101" pitchFamily="2" charset="-122"/>
              </a:rPr>
              <a:t>OUT</a:t>
            </a:r>
            <a:r>
              <a:rPr lang="en-US" altLang="zh-CN" sz="2400">
                <a:solidFill>
                  <a:schemeClr val="tx1"/>
                </a:solidFill>
                <a:latin typeface="华文新魏" panose="02010800040101010101" pitchFamily="2" charset="-122"/>
                <a:ea typeface="华文新魏" panose="02010800040101010101" pitchFamily="2" charset="-122"/>
              </a:rPr>
              <a:t> STD_LOGIC);</a:t>
            </a:r>
          </a:p>
          <a:p>
            <a:pPr algn="just" eaLnBrk="1" hangingPunct="1">
              <a:lnSpc>
                <a:spcPct val="110000"/>
              </a:lnSpc>
            </a:pPr>
            <a:r>
              <a:rPr lang="en-US" altLang="zh-CN" sz="2400">
                <a:solidFill>
                  <a:srgbClr val="0000CC"/>
                </a:solidFill>
                <a:latin typeface="华文新魏" panose="02010800040101010101" pitchFamily="2" charset="-122"/>
                <a:ea typeface="华文新魏" panose="02010800040101010101" pitchFamily="2" charset="-122"/>
              </a:rPr>
              <a:t>END </a:t>
            </a:r>
            <a:r>
              <a:rPr lang="en-US" altLang="zh-CN" sz="2400">
                <a:solidFill>
                  <a:schemeClr val="tx1"/>
                </a:solidFill>
                <a:latin typeface="华文新魏" panose="02010800040101010101" pitchFamily="2" charset="-122"/>
                <a:ea typeface="华文新魏" panose="02010800040101010101" pitchFamily="2" charset="-122"/>
              </a:rPr>
              <a:t>add4;</a:t>
            </a:r>
          </a:p>
          <a:p>
            <a:pPr algn="just" eaLnBrk="1" hangingPunct="1">
              <a:lnSpc>
                <a:spcPct val="110000"/>
              </a:lnSpc>
            </a:pPr>
            <a:r>
              <a:rPr lang="zh-CN" altLang="en-US" sz="2400" dirty="0">
                <a:solidFill>
                  <a:schemeClr val="tx1"/>
                </a:solidFill>
                <a:latin typeface="华文新魏" panose="02010800040101010101" pitchFamily="2" charset="-122"/>
                <a:ea typeface="华文新魏" panose="02010800040101010101" pitchFamily="2" charset="-122"/>
              </a:rPr>
              <a:t>由实体说明可以画出四位加法器</a:t>
            </a:r>
            <a:r>
              <a:rPr lang="en-US" altLang="zh-CN" sz="2400">
                <a:solidFill>
                  <a:schemeClr val="tx1"/>
                </a:solidFill>
                <a:latin typeface="华文新魏" panose="02010800040101010101" pitchFamily="2" charset="-122"/>
                <a:ea typeface="华文新魏" panose="02010800040101010101" pitchFamily="2" charset="-122"/>
              </a:rPr>
              <a:t>add4</a:t>
            </a:r>
            <a:r>
              <a:rPr lang="zh-CN" altLang="en-US" sz="2400" dirty="0">
                <a:solidFill>
                  <a:schemeClr val="tx1"/>
                </a:solidFill>
                <a:latin typeface="华文新魏" panose="02010800040101010101" pitchFamily="2" charset="-122"/>
                <a:ea typeface="华文新魏" panose="02010800040101010101" pitchFamily="2" charset="-122"/>
              </a:rPr>
              <a:t>的电路图如下所示：</a:t>
            </a:r>
          </a:p>
        </p:txBody>
      </p:sp>
      <p:grpSp>
        <p:nvGrpSpPr>
          <p:cNvPr id="2" name="Group 3"/>
          <p:cNvGrpSpPr/>
          <p:nvPr/>
        </p:nvGrpSpPr>
        <p:grpSpPr>
          <a:xfrm>
            <a:off x="2486025" y="3837940"/>
            <a:ext cx="3980180" cy="1292860"/>
            <a:chOff x="1392" y="2832"/>
            <a:chExt cx="2880" cy="733"/>
          </a:xfrm>
        </p:grpSpPr>
        <p:sp>
          <p:nvSpPr>
            <p:cNvPr id="163845" name="Rectangle 4"/>
            <p:cNvSpPr/>
            <p:nvPr/>
          </p:nvSpPr>
          <p:spPr>
            <a:xfrm>
              <a:off x="2118" y="2890"/>
              <a:ext cx="1169" cy="675"/>
            </a:xfrm>
            <a:prstGeom prst="rect">
              <a:avLst/>
            </a:prstGeom>
            <a:solidFill>
              <a:schemeClr val="tx1"/>
            </a:solidFill>
            <a:ln w="28575" cap="flat" cmpd="sng">
              <a:solidFill>
                <a:schemeClr val="tx1"/>
              </a:solidFill>
              <a:prstDash val="solid"/>
              <a:miter/>
              <a:headEnd type="none" w="med" len="med"/>
              <a:tailEnd type="none" w="med" len="med"/>
            </a:ln>
          </p:spPr>
          <p:txBody>
            <a:bodyPr anchor="ctr"/>
            <a:lstStyle/>
            <a:p>
              <a:pPr algn="ctr" eaLnBrk="1" hangingPunct="1"/>
              <a:r>
                <a:rPr lang="en-US" altLang="zh-CN" sz="1800">
                  <a:solidFill>
                    <a:srgbClr val="FF0000"/>
                  </a:solidFill>
                  <a:latin typeface="华文新魏" panose="02010800040101010101" pitchFamily="2" charset="-122"/>
                  <a:ea typeface="华文新魏" panose="02010800040101010101" pitchFamily="2" charset="-122"/>
                </a:rPr>
                <a:t>add4</a:t>
              </a:r>
            </a:p>
          </p:txBody>
        </p:sp>
        <p:sp>
          <p:nvSpPr>
            <p:cNvPr id="163846" name="Line 5"/>
            <p:cNvSpPr/>
            <p:nvPr/>
          </p:nvSpPr>
          <p:spPr>
            <a:xfrm>
              <a:off x="1477" y="3024"/>
              <a:ext cx="641" cy="0"/>
            </a:xfrm>
            <a:prstGeom prst="line">
              <a:avLst/>
            </a:prstGeom>
            <a:ln w="19050" cap="flat" cmpd="sng">
              <a:solidFill>
                <a:schemeClr val="tx1"/>
              </a:solidFill>
              <a:prstDash val="solid"/>
              <a:headEnd type="none" w="med" len="med"/>
              <a:tailEnd type="triangle" w="med" len="med"/>
            </a:ln>
          </p:spPr>
        </p:sp>
        <p:sp>
          <p:nvSpPr>
            <p:cNvPr id="163847" name="Line 6"/>
            <p:cNvSpPr/>
            <p:nvPr/>
          </p:nvSpPr>
          <p:spPr>
            <a:xfrm>
              <a:off x="1477" y="3216"/>
              <a:ext cx="641" cy="0"/>
            </a:xfrm>
            <a:prstGeom prst="line">
              <a:avLst/>
            </a:prstGeom>
            <a:ln w="19050" cap="flat" cmpd="sng">
              <a:solidFill>
                <a:schemeClr val="tx1"/>
              </a:solidFill>
              <a:prstDash val="solid"/>
              <a:headEnd type="none" w="med" len="med"/>
              <a:tailEnd type="triangle" w="med" len="med"/>
            </a:ln>
          </p:spPr>
        </p:sp>
        <p:sp>
          <p:nvSpPr>
            <p:cNvPr id="163848" name="Line 7"/>
            <p:cNvSpPr/>
            <p:nvPr/>
          </p:nvSpPr>
          <p:spPr>
            <a:xfrm>
              <a:off x="1477" y="3420"/>
              <a:ext cx="641" cy="0"/>
            </a:xfrm>
            <a:prstGeom prst="line">
              <a:avLst/>
            </a:prstGeom>
            <a:ln w="19050" cap="flat" cmpd="sng">
              <a:solidFill>
                <a:schemeClr val="tx1"/>
              </a:solidFill>
              <a:prstDash val="solid"/>
              <a:headEnd type="none" w="med" len="med"/>
              <a:tailEnd type="triangle" w="med" len="med"/>
            </a:ln>
          </p:spPr>
        </p:sp>
        <p:sp>
          <p:nvSpPr>
            <p:cNvPr id="163849" name="Line 8"/>
            <p:cNvSpPr/>
            <p:nvPr/>
          </p:nvSpPr>
          <p:spPr>
            <a:xfrm>
              <a:off x="3287" y="3075"/>
              <a:ext cx="746" cy="0"/>
            </a:xfrm>
            <a:prstGeom prst="line">
              <a:avLst/>
            </a:prstGeom>
            <a:ln w="19050" cap="flat" cmpd="sng">
              <a:solidFill>
                <a:schemeClr val="tx1"/>
              </a:solidFill>
              <a:prstDash val="solid"/>
              <a:headEnd type="none" w="med" len="med"/>
              <a:tailEnd type="triangle" w="med" len="med"/>
            </a:ln>
          </p:spPr>
        </p:sp>
        <p:sp>
          <p:nvSpPr>
            <p:cNvPr id="163850" name="Line 9"/>
            <p:cNvSpPr/>
            <p:nvPr/>
          </p:nvSpPr>
          <p:spPr>
            <a:xfrm>
              <a:off x="3287" y="3407"/>
              <a:ext cx="746" cy="0"/>
            </a:xfrm>
            <a:prstGeom prst="line">
              <a:avLst/>
            </a:prstGeom>
            <a:ln w="19050" cap="flat" cmpd="sng">
              <a:solidFill>
                <a:schemeClr val="tx1"/>
              </a:solidFill>
              <a:prstDash val="solid"/>
              <a:headEnd type="none" w="med" len="med"/>
              <a:tailEnd type="triangle" w="med" len="med"/>
            </a:ln>
          </p:spPr>
        </p:sp>
        <p:sp>
          <p:nvSpPr>
            <p:cNvPr id="23563" name="Text Box 10"/>
            <p:cNvSpPr txBox="1">
              <a:spLocks noChangeArrowheads="1"/>
            </p:cNvSpPr>
            <p:nvPr/>
          </p:nvSpPr>
          <p:spPr bwMode="auto">
            <a:xfrm>
              <a:off x="1392" y="2832"/>
              <a:ext cx="50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000" tIns="0" rIns="27000" bIns="27000"/>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1350" b="0"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a[3..0]</a:t>
              </a:r>
            </a:p>
          </p:txBody>
        </p:sp>
        <p:sp>
          <p:nvSpPr>
            <p:cNvPr id="23564" name="Text Box 11"/>
            <p:cNvSpPr txBox="1">
              <a:spLocks noChangeArrowheads="1"/>
            </p:cNvSpPr>
            <p:nvPr/>
          </p:nvSpPr>
          <p:spPr bwMode="auto">
            <a:xfrm>
              <a:off x="1392" y="3040"/>
              <a:ext cx="50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000" tIns="0" rIns="27000" bIns="27000"/>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1350" b="0"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b[3..0]</a:t>
              </a:r>
            </a:p>
          </p:txBody>
        </p:sp>
        <p:sp>
          <p:nvSpPr>
            <p:cNvPr id="23565" name="Text Box 12"/>
            <p:cNvSpPr txBox="1">
              <a:spLocks noChangeArrowheads="1"/>
            </p:cNvSpPr>
            <p:nvPr/>
          </p:nvSpPr>
          <p:spPr bwMode="auto">
            <a:xfrm>
              <a:off x="3493" y="2851"/>
              <a:ext cx="77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000" tIns="0" rIns="27000" bIns="27000"/>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1350" b="0"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Sum[3..0]</a:t>
              </a:r>
            </a:p>
          </p:txBody>
        </p:sp>
        <p:sp>
          <p:nvSpPr>
            <p:cNvPr id="23566" name="Text Box 13"/>
            <p:cNvSpPr txBox="1">
              <a:spLocks noChangeArrowheads="1"/>
            </p:cNvSpPr>
            <p:nvPr/>
          </p:nvSpPr>
          <p:spPr bwMode="auto">
            <a:xfrm>
              <a:off x="1520" y="3238"/>
              <a:ext cx="259"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000" tIns="0" rIns="27000" bIns="27000"/>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1350" b="0"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Ci</a:t>
              </a:r>
            </a:p>
          </p:txBody>
        </p:sp>
        <p:sp>
          <p:nvSpPr>
            <p:cNvPr id="23567" name="Text Box 14"/>
            <p:cNvSpPr txBox="1">
              <a:spLocks noChangeArrowheads="1"/>
            </p:cNvSpPr>
            <p:nvPr/>
          </p:nvSpPr>
          <p:spPr bwMode="auto">
            <a:xfrm>
              <a:off x="3601" y="3229"/>
              <a:ext cx="259"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000" tIns="0" rIns="27000" bIns="27000"/>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1350" b="0"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Co</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43">
                                            <p:txEl>
                                              <p:pRg st="8" end="8"/>
                                            </p:txEl>
                                          </p:spTgt>
                                        </p:tgtEl>
                                        <p:attrNameLst>
                                          <p:attrName>style.visibility</p:attrName>
                                        </p:attrNameLst>
                                      </p:cBhvr>
                                      <p:to>
                                        <p:strVal val="visible"/>
                                      </p:to>
                                    </p:set>
                                    <p:anim calcmode="lin" valueType="num">
                                      <p:cBhvr additive="base">
                                        <p:cTn id="7" dur="500" fill="hold"/>
                                        <p:tgtEl>
                                          <p:spTgt spid="16384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4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矩形 1"/>
          <p:cNvSpPr/>
          <p:nvPr/>
        </p:nvSpPr>
        <p:spPr>
          <a:xfrm>
            <a:off x="395288" y="555625"/>
            <a:ext cx="3702050" cy="461963"/>
          </a:xfrm>
          <a:prstGeom prst="rect">
            <a:avLst/>
          </a:prstGeom>
          <a:noFill/>
          <a:ln w="9525">
            <a:noFill/>
          </a:ln>
        </p:spPr>
        <p:txBody>
          <a:bodyPr wrap="none">
            <a:spAutoFit/>
          </a:bodyPr>
          <a:lstStyle/>
          <a:p>
            <a:r>
              <a:rPr lang="en-US" altLang="zh-CN" sz="2400" b="1">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结构体（</a:t>
            </a:r>
            <a:r>
              <a:rPr lang="en-US" altLang="zh-CN" sz="2400" b="1">
                <a:solidFill>
                  <a:srgbClr val="FF0000"/>
                </a:solidFill>
                <a:latin typeface="华文新魏" panose="02010800040101010101" pitchFamily="2" charset="-122"/>
                <a:ea typeface="华文新魏" panose="02010800040101010101" pitchFamily="2" charset="-122"/>
              </a:rPr>
              <a:t>architecture</a:t>
            </a:r>
            <a:r>
              <a:rPr lang="zh-CN" altLang="en-US" sz="2400" b="1" dirty="0">
                <a:solidFill>
                  <a:srgbClr val="FF0000"/>
                </a:solidFill>
                <a:latin typeface="华文新魏" panose="02010800040101010101" pitchFamily="2" charset="-122"/>
                <a:ea typeface="华文新魏" panose="02010800040101010101" pitchFamily="2" charset="-122"/>
              </a:rPr>
              <a:t>）</a:t>
            </a:r>
            <a:endParaRPr lang="zh-CN" altLang="en-US" sz="2400" dirty="0">
              <a:solidFill>
                <a:srgbClr val="FF0000"/>
              </a:solidFill>
              <a:latin typeface="华文新魏" panose="02010800040101010101" pitchFamily="2" charset="-122"/>
              <a:ea typeface="华文新魏" panose="02010800040101010101" pitchFamily="2" charset="-122"/>
            </a:endParaRPr>
          </a:p>
        </p:txBody>
      </p:sp>
      <p:sp>
        <p:nvSpPr>
          <p:cNvPr id="164867" name="矩形 2"/>
          <p:cNvSpPr/>
          <p:nvPr/>
        </p:nvSpPr>
        <p:spPr>
          <a:xfrm>
            <a:off x="855663" y="1058863"/>
            <a:ext cx="5957887" cy="45720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结构体用于描述设计实体内部的特性。</a:t>
            </a:r>
          </a:p>
        </p:txBody>
      </p:sp>
      <p:sp>
        <p:nvSpPr>
          <p:cNvPr id="164868" name="矩形 3"/>
          <p:cNvSpPr/>
          <p:nvPr/>
        </p:nvSpPr>
        <p:spPr>
          <a:xfrm>
            <a:off x="909638" y="1563688"/>
            <a:ext cx="8124825" cy="2678112"/>
          </a:xfrm>
          <a:prstGeom prst="rect">
            <a:avLst/>
          </a:prstGeom>
          <a:noFill/>
          <a:ln w="9525">
            <a:noFill/>
          </a:ln>
        </p:spPr>
        <p:txBody>
          <a:bodyPr wrap="none">
            <a:spAutoFit/>
          </a:bodyPr>
          <a:lstStyle/>
          <a:p>
            <a:r>
              <a:rPr lang="zh-CN" altLang="en-US" sz="2400" dirty="0">
                <a:solidFill>
                  <a:srgbClr val="FF0000"/>
                </a:solidFill>
                <a:latin typeface="华文新魏" panose="02010800040101010101" pitchFamily="2" charset="-122"/>
                <a:ea typeface="华文新魏" panose="02010800040101010101" pitchFamily="2" charset="-122"/>
              </a:rPr>
              <a:t>结构体的格式：</a:t>
            </a:r>
            <a:endParaRPr lang="en-US" altLang="zh-CN" sz="2400" dirty="0">
              <a:solidFill>
                <a:srgbClr val="FF0000"/>
              </a:solidFill>
              <a:latin typeface="华文新魏" panose="02010800040101010101" pitchFamily="2" charset="-122"/>
              <a:ea typeface="华文新魏" panose="02010800040101010101" pitchFamily="2" charset="-122"/>
            </a:endParaRPr>
          </a:p>
          <a:p>
            <a:pPr lvl="4"/>
            <a:r>
              <a:rPr lang="en-US" altLang="zh-CN" sz="2400" dirty="0">
                <a:solidFill>
                  <a:srgbClr val="0000FF"/>
                </a:solidFill>
                <a:latin typeface="华文新魏" panose="02010800040101010101" pitchFamily="2" charset="-122"/>
                <a:ea typeface="华文新魏" panose="02010800040101010101" pitchFamily="2" charset="-122"/>
              </a:rPr>
              <a:t>architecture</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rgbClr val="00B050"/>
                </a:solidFill>
                <a:latin typeface="华文新魏" panose="02010800040101010101" pitchFamily="2" charset="-122"/>
                <a:ea typeface="华文新魏" panose="02010800040101010101" pitchFamily="2" charset="-122"/>
              </a:rPr>
              <a:t>结构体名</a:t>
            </a: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of</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rgbClr val="FF0066"/>
                </a:solidFill>
                <a:latin typeface="华文新魏" panose="02010800040101010101" pitchFamily="2" charset="-122"/>
                <a:ea typeface="华文新魏" panose="02010800040101010101" pitchFamily="2" charset="-122"/>
              </a:rPr>
              <a:t>实体名</a:t>
            </a: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is</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内部信号，常量，数据类型，函数等的定义</a:t>
            </a:r>
            <a:r>
              <a:rPr lang="en-US" altLang="zh-CN" sz="2400" dirty="0">
                <a:solidFill>
                  <a:schemeClr val="tx1"/>
                </a:solidFill>
                <a:latin typeface="华文新魏" panose="02010800040101010101" pitchFamily="2" charset="-122"/>
                <a:ea typeface="华文新魏" panose="02010800040101010101" pitchFamily="2" charset="-122"/>
              </a:rPr>
              <a:t>;</a:t>
            </a:r>
          </a:p>
          <a:p>
            <a:pPr lvl="4"/>
            <a:r>
              <a:rPr lang="en-US" altLang="zh-CN" sz="2400" dirty="0">
                <a:solidFill>
                  <a:srgbClr val="0000FF"/>
                </a:solidFill>
                <a:latin typeface="华文新魏" panose="02010800040101010101" pitchFamily="2" charset="-122"/>
                <a:ea typeface="华文新魏" panose="02010800040101010101" pitchFamily="2" charset="-122"/>
              </a:rPr>
              <a:t>begin</a:t>
            </a:r>
          </a:p>
          <a:p>
            <a:pPr lvl="4"/>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若干</a:t>
            </a:r>
            <a:r>
              <a:rPr lang="zh-CN" altLang="en-US" sz="2400" dirty="0">
                <a:solidFill>
                  <a:srgbClr val="FF0000"/>
                </a:solidFill>
                <a:latin typeface="华文新魏" panose="02010800040101010101" pitchFamily="2" charset="-122"/>
                <a:ea typeface="华文新魏" panose="02010800040101010101" pitchFamily="2" charset="-122"/>
              </a:rPr>
              <a:t>并行</a:t>
            </a:r>
            <a:r>
              <a:rPr lang="zh-CN" altLang="en-US" sz="2400" dirty="0">
                <a:solidFill>
                  <a:schemeClr val="tx1"/>
                </a:solidFill>
                <a:latin typeface="华文新魏" panose="02010800040101010101" pitchFamily="2" charset="-122"/>
                <a:ea typeface="华文新魏" panose="02010800040101010101" pitchFamily="2" charset="-122"/>
              </a:rPr>
              <a:t>执行语句</a:t>
            </a:r>
            <a:r>
              <a:rPr lang="en-US" altLang="zh-CN" sz="2400" dirty="0">
                <a:solidFill>
                  <a:schemeClr val="tx1"/>
                </a:solidFill>
                <a:latin typeface="华文新魏" panose="02010800040101010101" pitchFamily="2" charset="-122"/>
                <a:ea typeface="华文新魏" panose="02010800040101010101" pitchFamily="2" charset="-122"/>
              </a:rPr>
              <a:t>;</a:t>
            </a:r>
          </a:p>
          <a:p>
            <a:pPr lvl="4"/>
            <a:r>
              <a:rPr lang="en-US" altLang="zh-CN" sz="2400" dirty="0">
                <a:solidFill>
                  <a:srgbClr val="0000FF"/>
                </a:solidFill>
                <a:latin typeface="华文新魏" panose="02010800040101010101" pitchFamily="2" charset="-122"/>
                <a:ea typeface="华文新魏" panose="02010800040101010101" pitchFamily="2" charset="-122"/>
              </a:rPr>
              <a:t>end</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rgbClr val="00B050"/>
                </a:solidFill>
                <a:latin typeface="华文新魏" panose="02010800040101010101" pitchFamily="2" charset="-122"/>
                <a:ea typeface="华文新魏" panose="02010800040101010101" pitchFamily="2" charset="-122"/>
              </a:rPr>
              <a:t>结构体名</a:t>
            </a:r>
            <a:r>
              <a:rPr lang="en-US" altLang="zh-CN" sz="2400" dirty="0">
                <a:solidFill>
                  <a:schemeClr val="tx1"/>
                </a:solidFill>
                <a:latin typeface="华文新魏" panose="02010800040101010101" pitchFamily="2" charset="-122"/>
                <a:ea typeface="华文新魏" panose="02010800040101010101" pitchFamily="2" charset="-122"/>
              </a:rPr>
              <a:t>;</a:t>
            </a:r>
          </a:p>
          <a:p>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64869" name="矩形 4"/>
          <p:cNvSpPr/>
          <p:nvPr/>
        </p:nvSpPr>
        <p:spPr>
          <a:xfrm>
            <a:off x="857250" y="3956050"/>
            <a:ext cx="7891463" cy="120015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结构体中的实体名一定要与对应实体的实体名完全一致。</a:t>
            </a:r>
            <a:r>
              <a:rPr lang="en-US" altLang="zh-CN" sz="2400" dirty="0">
                <a:solidFill>
                  <a:schemeClr val="tx1"/>
                </a:solidFill>
                <a:latin typeface="华文新魏" panose="02010800040101010101" pitchFamily="2" charset="-122"/>
                <a:ea typeface="华文新魏" panose="02010800040101010101" pitchFamily="2" charset="-122"/>
              </a:rPr>
              <a:t>architecture</a:t>
            </a:r>
            <a:r>
              <a:rPr lang="zh-CN" altLang="en-US" sz="2400" dirty="0">
                <a:solidFill>
                  <a:schemeClr val="tx1"/>
                </a:solidFill>
                <a:latin typeface="华文新魏" panose="02010800040101010101" pitchFamily="2" charset="-122"/>
                <a:ea typeface="华文新魏" panose="02010800040101010101" pitchFamily="2" charset="-122"/>
              </a:rPr>
              <a:t>后面的结构体名要与</a:t>
            </a:r>
            <a:r>
              <a:rPr lang="en-US" altLang="zh-CN" sz="2400" dirty="0">
                <a:solidFill>
                  <a:schemeClr val="tx1"/>
                </a:solidFill>
                <a:latin typeface="华文新魏" panose="02010800040101010101" pitchFamily="2" charset="-122"/>
                <a:ea typeface="华文新魏" panose="02010800040101010101" pitchFamily="2" charset="-122"/>
              </a:rPr>
              <a:t>end</a:t>
            </a:r>
            <a:r>
              <a:rPr lang="zh-CN" altLang="en-US" sz="2400" dirty="0">
                <a:solidFill>
                  <a:schemeClr val="tx1"/>
                </a:solidFill>
                <a:latin typeface="华文新魏" panose="02010800040101010101" pitchFamily="2" charset="-122"/>
                <a:ea typeface="华文新魏" panose="02010800040101010101" pitchFamily="2" charset="-122"/>
              </a:rPr>
              <a:t>后的结构体名完全一致，而不是与实体名一致</a:t>
            </a:r>
            <a:r>
              <a:rPr lang="zh-CN" altLang="en-US" sz="2400" dirty="0">
                <a:solidFill>
                  <a:schemeClr val="tx1"/>
                </a:solidFill>
                <a:latin typeface="Calibri" panose="020F050202020403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 calcmode="lin" valueType="num">
                                      <p:cBhvr additive="base">
                                        <p:cTn id="7" dur="500" fill="hold"/>
                                        <p:tgtEl>
                                          <p:spTgt spid="164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4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4868"/>
                                        </p:tgtEl>
                                        <p:attrNameLst>
                                          <p:attrName>style.visibility</p:attrName>
                                        </p:attrNameLst>
                                      </p:cBhvr>
                                      <p:to>
                                        <p:strVal val="visible"/>
                                      </p:to>
                                    </p:set>
                                    <p:anim calcmode="lin" valueType="num">
                                      <p:cBhvr additive="base">
                                        <p:cTn id="13" dur="500" fill="hold"/>
                                        <p:tgtEl>
                                          <p:spTgt spid="164868"/>
                                        </p:tgtEl>
                                        <p:attrNameLst>
                                          <p:attrName>ppt_x</p:attrName>
                                        </p:attrNameLst>
                                      </p:cBhvr>
                                      <p:tavLst>
                                        <p:tav tm="0">
                                          <p:val>
                                            <p:strVal val="#ppt_x"/>
                                          </p:val>
                                        </p:tav>
                                        <p:tav tm="100000">
                                          <p:val>
                                            <p:strVal val="#ppt_x"/>
                                          </p:val>
                                        </p:tav>
                                      </p:tavLst>
                                    </p:anim>
                                    <p:anim calcmode="lin" valueType="num">
                                      <p:cBhvr additive="base">
                                        <p:cTn id="14" dur="500" fill="hold"/>
                                        <p:tgtEl>
                                          <p:spTgt spid="16486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4869">
                                            <p:txEl>
                                              <p:pRg st="0" end="0"/>
                                            </p:txEl>
                                          </p:spTgt>
                                        </p:tgtEl>
                                        <p:attrNameLst>
                                          <p:attrName>style.visibility</p:attrName>
                                        </p:attrNameLst>
                                      </p:cBhvr>
                                      <p:to>
                                        <p:strVal val="visible"/>
                                      </p:to>
                                    </p:set>
                                    <p:anim calcmode="lin" valueType="num">
                                      <p:cBhvr additive="base">
                                        <p:cTn id="19" dur="500" fill="hold"/>
                                        <p:tgtEl>
                                          <p:spTgt spid="16486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486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p:bldP spid="164868"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eaLnBrk="0" hangingPunct="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eaLnBrk="0" hangingPunct="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eaLnBrk="0" hangingPunct="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5B8F231-0866-42CE-892D-7C3A6EF1184F}" type="slidenum">
              <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44</a:t>
            </a:fld>
            <a:endParaRPr kumimoji="0" lang="en-US" altLang="zh-CN" sz="105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165891" name="Rectangle 2"/>
          <p:cNvSpPr/>
          <p:nvPr/>
        </p:nvSpPr>
        <p:spPr>
          <a:xfrm>
            <a:off x="543243" y="700405"/>
            <a:ext cx="5486400" cy="457200"/>
          </a:xfrm>
          <a:prstGeom prst="rect">
            <a:avLst/>
          </a:prstGeom>
          <a:noFill/>
          <a:ln w="9525">
            <a:noFill/>
          </a:ln>
        </p:spPr>
        <p:txBody>
          <a:bodyPr/>
          <a:lstStyle/>
          <a:p>
            <a:pPr marL="342900" indent="-342900" eaLnBrk="1" hangingPunct="1">
              <a:spcBef>
                <a:spcPct val="20000"/>
              </a:spcBef>
              <a:buClr>
                <a:srgbClr val="FF9900"/>
              </a:buClr>
              <a:buSzPct val="80000"/>
              <a:buFont typeface="Wingdings" panose="05000000000000000000" pitchFamily="2" charset="2"/>
            </a:pPr>
            <a:r>
              <a:rPr lang="zh-CN" altLang="en-US" sz="2400" dirty="0">
                <a:solidFill>
                  <a:srgbClr val="0000FF"/>
                </a:solidFill>
                <a:latin typeface="华文新魏" panose="02010800040101010101" pitchFamily="2" charset="-122"/>
                <a:ea typeface="华文新魏" panose="02010800040101010101" pitchFamily="2" charset="-122"/>
              </a:rPr>
              <a:t>结构体</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rgbClr val="FF0000"/>
                </a:solidFill>
                <a:latin typeface="华文新魏" panose="02010800040101010101" pitchFamily="2" charset="-122"/>
                <a:ea typeface="华文新魏" panose="02010800040101010101" pitchFamily="2" charset="-122"/>
              </a:rPr>
              <a:t>ARCHITECTURE</a:t>
            </a:r>
            <a:r>
              <a:rPr lang="en-US" altLang="zh-CN" sz="2400">
                <a:solidFill>
                  <a:srgbClr val="FFCC00"/>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a:t>
            </a:r>
          </a:p>
        </p:txBody>
      </p:sp>
      <p:sp>
        <p:nvSpPr>
          <p:cNvPr id="165892" name="Text Box 3"/>
          <p:cNvSpPr txBox="1"/>
          <p:nvPr/>
        </p:nvSpPr>
        <p:spPr>
          <a:xfrm>
            <a:off x="628650" y="1564640"/>
            <a:ext cx="8109585" cy="3230245"/>
          </a:xfrm>
          <a:prstGeom prst="rect">
            <a:avLst/>
          </a:prstGeom>
          <a:noFill/>
          <a:ln w="9525" cap="flat" cmpd="sng">
            <a:solidFill>
              <a:schemeClr val="tx1"/>
            </a:solidFill>
            <a:prstDash val="solid"/>
            <a:miter/>
            <a:headEnd type="none" w="med" len="med"/>
            <a:tailEnd type="none" w="med" len="med"/>
          </a:ln>
        </p:spPr>
        <p:txBody>
          <a:bodyPr wrap="square" lIns="13500">
            <a:spAutoFit/>
          </a:bodyPr>
          <a:lstStyle/>
          <a:p>
            <a:pPr algn="just" eaLnBrk="1" hangingPunct="1">
              <a:spcBef>
                <a:spcPct val="50000"/>
              </a:spcBef>
            </a:pPr>
            <a:r>
              <a:rPr lang="zh-CN" altLang="en-US" sz="2400" dirty="0">
                <a:solidFill>
                  <a:srgbClr val="FF0000"/>
                </a:solidFill>
                <a:latin typeface="华文新魏" panose="02010800040101010101" pitchFamily="2" charset="-122"/>
                <a:ea typeface="华文新魏" panose="02010800040101010101" pitchFamily="2" charset="-122"/>
              </a:rPr>
              <a:t>结构体的一般格式如下：</a:t>
            </a:r>
          </a:p>
          <a:p>
            <a:pPr algn="just" eaLnBrk="1" hangingPunct="1">
              <a:spcBef>
                <a:spcPct val="50000"/>
              </a:spcBef>
            </a:pPr>
            <a:r>
              <a:rPr lang="zh-CN" altLang="en-US" sz="2400" dirty="0">
                <a:solidFill>
                  <a:srgbClr val="FF9900"/>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ARCHITECTURE</a:t>
            </a: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结构体名</a:t>
            </a:r>
            <a:r>
              <a:rPr lang="en-US" altLang="zh-CN" sz="240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OF</a:t>
            </a: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实体名</a:t>
            </a:r>
            <a:r>
              <a:rPr lang="en-US" altLang="zh-CN" sz="240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FF99FF"/>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IS</a:t>
            </a:r>
          </a:p>
          <a:p>
            <a:pPr algn="just" eaLnBrk="1" hangingPunct="1">
              <a:spcBef>
                <a:spcPct val="5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结构体说明部分</a:t>
            </a:r>
            <a:r>
              <a:rPr lang="en-US" altLang="zh-CN" sz="2400">
                <a:solidFill>
                  <a:schemeClr val="tx1"/>
                </a:solidFill>
                <a:latin typeface="华文新魏" panose="02010800040101010101" pitchFamily="2" charset="-122"/>
                <a:ea typeface="华文新魏" panose="02010800040101010101" pitchFamily="2" charset="-122"/>
              </a:rPr>
              <a:t>];</a:t>
            </a:r>
          </a:p>
          <a:p>
            <a:pPr algn="just" eaLnBrk="1" hangingPunct="1">
              <a:spcBef>
                <a:spcPct val="50000"/>
              </a:spcBef>
            </a:pP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BEGIN</a:t>
            </a:r>
          </a:p>
          <a:p>
            <a:pPr algn="just" eaLnBrk="1" hangingPunct="1">
              <a:spcBef>
                <a:spcPct val="5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并发处理语句</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p>
          <a:p>
            <a:pPr algn="just" eaLnBrk="1" hangingPunct="1">
              <a:spcBef>
                <a:spcPct val="50000"/>
              </a:spcBef>
            </a:pP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END</a:t>
            </a: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CC"/>
                </a:solidFill>
                <a:latin typeface="华文新魏" panose="02010800040101010101" pitchFamily="2" charset="-122"/>
                <a:ea typeface="华文新魏" panose="02010800040101010101" pitchFamily="2" charset="-122"/>
              </a:rPr>
              <a:t>ARCHITECTURE</a:t>
            </a:r>
            <a:r>
              <a:rPr lang="en-US" altLang="zh-CN" sz="2400">
                <a:solidFill>
                  <a:schemeClr val="tx1"/>
                </a:solidFill>
                <a:latin typeface="华文新魏" panose="02010800040101010101" pitchFamily="2" charset="-122"/>
                <a:ea typeface="华文新魏" panose="02010800040101010101" pitchFamily="2" charset="-122"/>
              </a:rPr>
              <a:t>]</a:t>
            </a:r>
            <a:r>
              <a:rPr lang="en-US" altLang="zh-CN" sz="240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结构体名</a:t>
            </a:r>
            <a:r>
              <a:rPr lang="en-US" altLang="zh-CN" sz="2400">
                <a:solidFill>
                  <a:srgbClr val="FF0000"/>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 </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矩形 5"/>
          <p:cNvSpPr/>
          <p:nvPr/>
        </p:nvSpPr>
        <p:spPr>
          <a:xfrm>
            <a:off x="1567815" y="843280"/>
            <a:ext cx="6553835" cy="829945"/>
          </a:xfrm>
          <a:prstGeom prst="rect">
            <a:avLst/>
          </a:prstGeom>
          <a:noFill/>
          <a:ln w="9525">
            <a:noFill/>
          </a:ln>
        </p:spPr>
        <p:txBody>
          <a:bodyPr wrap="square">
            <a:spAutoFit/>
          </a:bodyPr>
          <a:lstStyle/>
          <a:p>
            <a:r>
              <a:rPr lang="zh-CN" altLang="en-US" sz="2400" dirty="0">
                <a:solidFill>
                  <a:schemeClr val="tx1"/>
                </a:solidFill>
                <a:latin typeface="华文新魏" panose="02010800040101010101" pitchFamily="2" charset="-122"/>
                <a:ea typeface="华文新魏" panose="02010800040101010101" pitchFamily="2" charset="-122"/>
              </a:rPr>
              <a:t>结构体有</a:t>
            </a:r>
            <a:r>
              <a:rPr lang="en-US" altLang="zh-CN" sz="2400">
                <a:solidFill>
                  <a:schemeClr val="tx1"/>
                </a:solidFill>
                <a:latin typeface="华文新魏" panose="02010800040101010101" pitchFamily="2" charset="-122"/>
                <a:ea typeface="华文新魏" panose="02010800040101010101" pitchFamily="2" charset="-122"/>
              </a:rPr>
              <a:t>3</a:t>
            </a:r>
            <a:r>
              <a:rPr lang="zh-CN" altLang="en-US" sz="2400" dirty="0">
                <a:solidFill>
                  <a:schemeClr val="tx1"/>
                </a:solidFill>
                <a:latin typeface="华文新魏" panose="02010800040101010101" pitchFamily="2" charset="-122"/>
                <a:ea typeface="华文新魏" panose="02010800040101010101" pitchFamily="2" charset="-122"/>
              </a:rPr>
              <a:t>种描述方式：</a:t>
            </a:r>
            <a:r>
              <a:rPr lang="zh-CN" altLang="en-US" sz="2400" dirty="0">
                <a:solidFill>
                  <a:srgbClr val="FF0000"/>
                </a:solidFill>
                <a:latin typeface="华文新魏" panose="02010800040101010101" pitchFamily="2" charset="-122"/>
                <a:ea typeface="华文新魏" panose="02010800040101010101" pitchFamily="2" charset="-122"/>
              </a:rPr>
              <a:t>行为描述、结构描述</a:t>
            </a:r>
            <a:r>
              <a:rPr lang="zh-CN" altLang="en-US" sz="2400" dirty="0">
                <a:solidFill>
                  <a:schemeClr val="tx1"/>
                </a:solidFill>
                <a:latin typeface="华文新魏" panose="02010800040101010101" pitchFamily="2" charset="-122"/>
                <a:ea typeface="华文新魏" panose="02010800040101010101" pitchFamily="2" charset="-122"/>
              </a:rPr>
              <a:t>和</a:t>
            </a:r>
            <a:r>
              <a:rPr lang="zh-CN" altLang="en-US" sz="2400" dirty="0">
                <a:solidFill>
                  <a:srgbClr val="FF0000"/>
                </a:solidFill>
                <a:latin typeface="华文新魏" panose="02010800040101010101" pitchFamily="2" charset="-122"/>
                <a:ea typeface="华文新魏" panose="02010800040101010101" pitchFamily="2" charset="-122"/>
              </a:rPr>
              <a:t>数据流描述</a:t>
            </a:r>
            <a:r>
              <a:rPr lang="zh-CN" altLang="en-US" sz="2400" dirty="0">
                <a:solidFill>
                  <a:schemeClr val="tx1"/>
                </a:solidFill>
                <a:latin typeface="华文新魏" panose="02010800040101010101" pitchFamily="2" charset="-122"/>
                <a:ea typeface="华文新魏" panose="02010800040101010101" pitchFamily="2" charset="-122"/>
              </a:rPr>
              <a:t>。</a:t>
            </a:r>
          </a:p>
        </p:txBody>
      </p:sp>
      <p:sp>
        <p:nvSpPr>
          <p:cNvPr id="166915" name="矩形 6"/>
          <p:cNvSpPr/>
          <p:nvPr/>
        </p:nvSpPr>
        <p:spPr>
          <a:xfrm>
            <a:off x="1476375" y="2066925"/>
            <a:ext cx="7343775" cy="1753235"/>
          </a:xfrm>
          <a:prstGeom prst="rect">
            <a:avLst/>
          </a:prstGeom>
          <a:noFill/>
          <a:ln w="9525">
            <a:noFill/>
          </a:ln>
        </p:spPr>
        <p:txBody>
          <a:bodyPr>
            <a:spAutoFit/>
          </a:bodyPr>
          <a:lstStyle/>
          <a:p>
            <a:pPr marL="342900" indent="-342900">
              <a:lnSpc>
                <a:spcPct val="150000"/>
              </a:lnSpc>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行为描述：    描述该设计实体的功能。</a:t>
            </a:r>
          </a:p>
          <a:p>
            <a:pPr marL="342900" indent="-342900">
              <a:lnSpc>
                <a:spcPct val="150000"/>
              </a:lnSpc>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结构描述：    描述该设计实体硬件结构的构成。</a:t>
            </a:r>
            <a:endParaRPr lang="en-US" altLang="zh-CN" sz="2400">
              <a:solidFill>
                <a:schemeClr val="tx1"/>
              </a:solidFill>
              <a:latin typeface="华文新魏" panose="02010800040101010101" pitchFamily="2" charset="-122"/>
              <a:ea typeface="华文新魏" panose="02010800040101010101" pitchFamily="2" charset="-122"/>
            </a:endParaRPr>
          </a:p>
          <a:p>
            <a:pPr marL="342900" indent="-342900">
              <a:lnSpc>
                <a:spcPct val="150000"/>
              </a:lnSpc>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数据流描述：描述数据的传输和变换，如</a:t>
            </a:r>
            <a:r>
              <a:rPr lang="en-US" altLang="zh-CN" sz="2400" dirty="0">
                <a:solidFill>
                  <a:schemeClr val="tx1"/>
                </a:solidFill>
                <a:latin typeface="华文新魏" panose="02010800040101010101" pitchFamily="2" charset="-122"/>
                <a:ea typeface="华文新魏" panose="02010800040101010101" pitchFamily="2" charset="-122"/>
              </a:rPr>
              <a:t>rtl</a:t>
            </a:r>
            <a:r>
              <a:rPr lang="zh-CN" altLang="en-US" sz="2400" dirty="0">
                <a:solidFill>
                  <a:schemeClr val="tx1"/>
                </a:solidFill>
                <a:latin typeface="华文新魏" panose="02010800040101010101" pitchFamily="2" charset="-122"/>
                <a:ea typeface="华文新魏" panose="02010800040101010101" pitchFamily="2" charset="-122"/>
              </a:rPr>
              <a:t>。</a:t>
            </a:r>
          </a:p>
        </p:txBody>
      </p:sp>
      <p:sp>
        <p:nvSpPr>
          <p:cNvPr id="2" name="对话气泡: 圆角矩形 1">
            <a:extLst>
              <a:ext uri="{FF2B5EF4-FFF2-40B4-BE49-F238E27FC236}">
                <a16:creationId xmlns:a16="http://schemas.microsoft.com/office/drawing/2014/main" id="{48815656-09FE-4FB5-B06E-39F578E4C593}"/>
              </a:ext>
            </a:extLst>
          </p:cNvPr>
          <p:cNvSpPr/>
          <p:nvPr/>
        </p:nvSpPr>
        <p:spPr bwMode="auto">
          <a:xfrm>
            <a:off x="7365566" y="3867894"/>
            <a:ext cx="1310890" cy="360040"/>
          </a:xfrm>
          <a:prstGeom prst="wedgeRoundRectCallout">
            <a:avLst>
              <a:gd name="adj1" fmla="val -35548"/>
              <a:gd name="adj2" fmla="val -95870"/>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寄存器传输级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6915">
                                            <p:txEl>
                                              <p:pRg st="0" end="0"/>
                                            </p:txEl>
                                          </p:spTgt>
                                        </p:tgtEl>
                                        <p:attrNameLst>
                                          <p:attrName>style.visibility</p:attrName>
                                        </p:attrNameLst>
                                      </p:cBhvr>
                                      <p:to>
                                        <p:strVal val="visible"/>
                                      </p:to>
                                    </p:set>
                                    <p:anim calcmode="lin" valueType="num">
                                      <p:cBhvr additive="base">
                                        <p:cTn id="7" dur="500" fill="hold"/>
                                        <p:tgtEl>
                                          <p:spTgt spid="166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6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6915">
                                            <p:txEl>
                                              <p:pRg st="1" end="1"/>
                                            </p:txEl>
                                          </p:spTgt>
                                        </p:tgtEl>
                                        <p:attrNameLst>
                                          <p:attrName>style.visibility</p:attrName>
                                        </p:attrNameLst>
                                      </p:cBhvr>
                                      <p:to>
                                        <p:strVal val="visible"/>
                                      </p:to>
                                    </p:set>
                                    <p:anim calcmode="lin" valueType="num">
                                      <p:cBhvr additive="base">
                                        <p:cTn id="13" dur="500" fill="hold"/>
                                        <p:tgtEl>
                                          <p:spTgt spid="1669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6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6915">
                                            <p:txEl>
                                              <p:pRg st="2" end="2"/>
                                            </p:txEl>
                                          </p:spTgt>
                                        </p:tgtEl>
                                        <p:attrNameLst>
                                          <p:attrName>style.visibility</p:attrName>
                                        </p:attrNameLst>
                                      </p:cBhvr>
                                      <p:to>
                                        <p:strVal val="visible"/>
                                      </p:to>
                                    </p:set>
                                    <p:anim calcmode="lin" valueType="num">
                                      <p:cBhvr additive="base">
                                        <p:cTn id="19" dur="500" fill="hold"/>
                                        <p:tgtEl>
                                          <p:spTgt spid="1669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6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矩形 1"/>
          <p:cNvSpPr/>
          <p:nvPr/>
        </p:nvSpPr>
        <p:spPr>
          <a:xfrm>
            <a:off x="454025" y="859155"/>
            <a:ext cx="1692275" cy="1014730"/>
          </a:xfrm>
          <a:prstGeom prst="rect">
            <a:avLst/>
          </a:prstGeom>
          <a:noFill/>
          <a:ln w="9525">
            <a:noFill/>
          </a:ln>
        </p:spPr>
        <p:txBody>
          <a:bodyPr wrap="square">
            <a:spAutoFit/>
          </a:bodyPr>
          <a:lstStyle/>
          <a:p>
            <a:r>
              <a:rPr lang="zh-CN" altLang="en-US" dirty="0">
                <a:solidFill>
                  <a:schemeClr val="tx1"/>
                </a:solidFill>
                <a:latin typeface="华文新魏" panose="02010800040101010101" pitchFamily="2" charset="-122"/>
                <a:ea typeface="华文新魏" panose="02010800040101010101" pitchFamily="2" charset="-122"/>
              </a:rPr>
              <a:t>一个</a:t>
            </a:r>
            <a:r>
              <a:rPr lang="en-US" altLang="zh-CN">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位寄存器的行为描述方式</a:t>
            </a:r>
          </a:p>
        </p:txBody>
      </p:sp>
      <p:pic>
        <p:nvPicPr>
          <p:cNvPr id="167939" name="图片 2"/>
          <p:cNvPicPr>
            <a:picLocks noChangeAspect="1"/>
          </p:cNvPicPr>
          <p:nvPr/>
        </p:nvPicPr>
        <p:blipFill>
          <a:blip r:embed="rId3"/>
          <a:stretch>
            <a:fillRect/>
          </a:stretch>
        </p:blipFill>
        <p:spPr>
          <a:xfrm>
            <a:off x="2484755" y="389890"/>
            <a:ext cx="6121400" cy="4753610"/>
          </a:xfrm>
          <a:prstGeom prst="rect">
            <a:avLst/>
          </a:prstGeom>
          <a:noFill/>
          <a:ln w="9525">
            <a:noFill/>
          </a:ln>
        </p:spPr>
      </p:pic>
      <p:sp>
        <p:nvSpPr>
          <p:cNvPr id="2" name="矩形 1"/>
          <p:cNvSpPr/>
          <p:nvPr/>
        </p:nvSpPr>
        <p:spPr>
          <a:xfrm>
            <a:off x="501650" y="2541905"/>
            <a:ext cx="1692275" cy="1014730"/>
          </a:xfrm>
          <a:prstGeom prst="rect">
            <a:avLst/>
          </a:prstGeom>
          <a:noFill/>
          <a:ln w="9525">
            <a:noFill/>
          </a:ln>
        </p:spPr>
        <p:txBody>
          <a:bodyPr wrap="square">
            <a:spAutoFit/>
          </a:bodyPr>
          <a:lstStyle/>
          <a:p>
            <a:r>
              <a:rPr lang="zh-CN" altLang="en-US" dirty="0">
                <a:solidFill>
                  <a:schemeClr val="tx1"/>
                </a:solidFill>
                <a:latin typeface="华文新魏" panose="02010800040101010101" pitchFamily="2" charset="-122"/>
                <a:ea typeface="华文新魏" panose="02010800040101010101" pitchFamily="2" charset="-122"/>
              </a:rPr>
              <a:t>我们首先要想到寄存器的功能是啥</a:t>
            </a:r>
          </a:p>
        </p:txBody>
      </p:sp>
      <p:sp>
        <p:nvSpPr>
          <p:cNvPr id="5" name="椭圆 4"/>
          <p:cNvSpPr/>
          <p:nvPr/>
        </p:nvSpPr>
        <p:spPr>
          <a:xfrm>
            <a:off x="4283710" y="2571750"/>
            <a:ext cx="144145" cy="215900"/>
          </a:xfrm>
          <a:prstGeom prst="ellipse">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cxnSp>
        <p:nvCxnSpPr>
          <p:cNvPr id="6" name="直接连接符 5"/>
          <p:cNvCxnSpPr/>
          <p:nvPr/>
        </p:nvCxnSpPr>
        <p:spPr>
          <a:xfrm>
            <a:off x="3780155" y="3652520"/>
            <a:ext cx="1152525" cy="0"/>
          </a:xfrm>
          <a:prstGeom prst="line">
            <a:avLst/>
          </a:prstGeom>
          <a:solidFill>
            <a:schemeClr val="accent1"/>
          </a:solidFill>
          <a:ln w="9525" cap="flat" cmpd="sng" algn="ctr">
            <a:solidFill>
              <a:srgbClr val="FF0000"/>
            </a:solidFill>
            <a:prstDash val="solid"/>
            <a:round/>
            <a:headEnd type="none" w="med" len="med"/>
            <a:tailEnd type="none" w="med" len="med"/>
          </a:ln>
        </p:spPr>
      </p:cxnSp>
      <p:sp>
        <p:nvSpPr>
          <p:cNvPr id="3" name="矩形 2"/>
          <p:cNvSpPr/>
          <p:nvPr/>
        </p:nvSpPr>
        <p:spPr>
          <a:xfrm>
            <a:off x="6088380" y="2284095"/>
            <a:ext cx="2433320" cy="706755"/>
          </a:xfrm>
          <a:prstGeom prst="rect">
            <a:avLst/>
          </a:prstGeom>
          <a:noFill/>
          <a:ln w="9525">
            <a:noFill/>
          </a:ln>
        </p:spPr>
        <p:txBody>
          <a:bodyPr wrap="square">
            <a:spAutoFit/>
          </a:bodyPr>
          <a:lstStyle/>
          <a:p>
            <a:r>
              <a:rPr lang="zh-CN" altLang="en-US" dirty="0">
                <a:solidFill>
                  <a:schemeClr val="tx1"/>
                </a:solidFill>
                <a:latin typeface="华文新魏" panose="02010800040101010101" pitchFamily="2" charset="-122"/>
                <a:ea typeface="华文新魏" panose="02010800040101010101" pitchFamily="2" charset="-122"/>
              </a:rPr>
              <a:t>该寄存器是异步清零还是同步清零？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7939"/>
                                        </p:tgtEl>
                                        <p:attrNameLst>
                                          <p:attrName>style.visibility</p:attrName>
                                        </p:attrNameLst>
                                      </p:cBhvr>
                                      <p:to>
                                        <p:strVal val="visible"/>
                                      </p:to>
                                    </p:set>
                                    <p:anim calcmode="lin" valueType="num">
                                      <p:cBhvr additive="base">
                                        <p:cTn id="13" dur="500" fill="hold"/>
                                        <p:tgtEl>
                                          <p:spTgt spid="167939"/>
                                        </p:tgtEl>
                                        <p:attrNameLst>
                                          <p:attrName>ppt_x</p:attrName>
                                        </p:attrNameLst>
                                      </p:cBhvr>
                                      <p:tavLst>
                                        <p:tav tm="0">
                                          <p:val>
                                            <p:strVal val="#ppt_x"/>
                                          </p:val>
                                        </p:tav>
                                        <p:tav tm="100000">
                                          <p:val>
                                            <p:strVal val="#ppt_x"/>
                                          </p:val>
                                        </p:tav>
                                      </p:tavLst>
                                    </p:anim>
                                    <p:anim calcmode="lin" valueType="num">
                                      <p:cBhvr additive="base">
                                        <p:cTn id="14" dur="500" fill="hold"/>
                                        <p:tgtEl>
                                          <p:spTgt spid="1679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animBg="1"/>
      <p:bldP spid="5" grpId="1" animBg="1"/>
      <p:bldP spid="3" grpId="0"/>
      <p:bldP spid="3"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850" y="627063"/>
            <a:ext cx="5274945" cy="460375"/>
          </a:xfrm>
          <a:prstGeom prst="rect">
            <a:avLst/>
          </a:prstGeom>
          <a:ln>
            <a:noFill/>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3.  </a:t>
            </a:r>
            <a:r>
              <a:rPr kumimoji="0" lang="zh-CN" altLang="en-US" sz="2400" b="1" i="0" u="none" strike="noStrike" kern="1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库（</a:t>
            </a:r>
            <a:r>
              <a:rPr kumimoji="0" lang="en-US" altLang="zh-CN" sz="2400" b="1" i="0" u="none" strike="noStrike" kern="1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library</a:t>
            </a:r>
            <a:r>
              <a:rPr kumimoji="0" lang="zh-CN" altLang="en-US" sz="2400" b="1" i="0" u="none" strike="noStrike" kern="1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）和程序包（</a:t>
            </a:r>
            <a:r>
              <a:rPr kumimoji="0" lang="en-US" altLang="zh-CN" sz="2400" b="1" i="0" u="none" strike="noStrike" kern="1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package</a:t>
            </a:r>
            <a:r>
              <a:rPr kumimoji="0" lang="zh-CN" altLang="en-US" sz="2400" b="1" i="0" u="none" strike="noStrike" kern="1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p:txBody>
      </p:sp>
      <p:sp>
        <p:nvSpPr>
          <p:cNvPr id="168963" name="矩形 2"/>
          <p:cNvSpPr/>
          <p:nvPr/>
        </p:nvSpPr>
        <p:spPr>
          <a:xfrm>
            <a:off x="325438" y="1634490"/>
            <a:ext cx="7991475" cy="2984500"/>
          </a:xfrm>
          <a:prstGeom prst="rect">
            <a:avLst/>
          </a:prstGeom>
          <a:noFill/>
          <a:ln w="9525">
            <a:noFill/>
          </a:ln>
        </p:spPr>
        <p:txBody>
          <a:bodyPr>
            <a:spAutoFit/>
          </a:bodyPr>
          <a:lstStyle/>
          <a:p>
            <a:pPr>
              <a:spcBef>
                <a:spcPts val="600"/>
              </a:spcBef>
              <a:spcAft>
                <a:spcPts val="600"/>
              </a:spcAft>
            </a:pPr>
            <a:r>
              <a:rPr lang="zh-CN" altLang="en-US" sz="2400" dirty="0">
                <a:solidFill>
                  <a:srgbClr val="0000FF"/>
                </a:solidFill>
                <a:latin typeface="华文新魏" panose="02010800040101010101" pitchFamily="2" charset="-122"/>
                <a:ea typeface="华文新魏" panose="02010800040101010101" pitchFamily="2" charset="-122"/>
              </a:rPr>
              <a:t>库和程序包</a:t>
            </a:r>
            <a:r>
              <a:rPr lang="zh-CN" altLang="en-US" sz="2400" dirty="0">
                <a:solidFill>
                  <a:schemeClr val="tx1"/>
                </a:solidFill>
                <a:latin typeface="华文新魏" panose="02010800040101010101" pitchFamily="2" charset="-122"/>
                <a:ea typeface="华文新魏" panose="02010800040101010101" pitchFamily="2" charset="-122"/>
              </a:rPr>
              <a:t>是一些可以公用的资源，是设计实体的一个重要组成部分，任何一种设计都应该充分利用。</a:t>
            </a:r>
          </a:p>
          <a:p>
            <a:pPr>
              <a:spcBef>
                <a:spcPts val="600"/>
              </a:spcBef>
              <a:spcAft>
                <a:spcPts val="600"/>
              </a:spcAft>
            </a:pP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的库用来存储可编译的设计实体和程序包，包括实体说明、结构体、配置说明、程序包说明和程序包体等，都可以作为</a:t>
            </a: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设计的资源而被调用。</a:t>
            </a:r>
            <a:endParaRPr lang="en-US" altLang="zh-CN" sz="2400">
              <a:solidFill>
                <a:schemeClr val="tx1"/>
              </a:solidFill>
              <a:latin typeface="华文新魏" panose="02010800040101010101" pitchFamily="2" charset="-122"/>
              <a:ea typeface="华文新魏" panose="02010800040101010101" pitchFamily="2" charset="-122"/>
            </a:endParaRPr>
          </a:p>
          <a:p>
            <a:pPr>
              <a:spcBef>
                <a:spcPts val="600"/>
              </a:spcBef>
              <a:spcAft>
                <a:spcPts val="600"/>
              </a:spcAft>
            </a:pPr>
            <a:r>
              <a:rPr lang="en-US" altLang="zh-CN" sz="2400">
                <a:solidFill>
                  <a:schemeClr val="tx1"/>
                </a:solidFill>
                <a:latin typeface="华文新魏" panose="02010800040101010101" pitchFamily="2" charset="-122"/>
                <a:ea typeface="华文新魏" panose="02010800040101010101" pitchFamily="2" charset="-122"/>
              </a:rPr>
              <a:t>VHDL</a:t>
            </a:r>
            <a:r>
              <a:rPr lang="zh-CN" altLang="en-US" sz="2400" dirty="0">
                <a:solidFill>
                  <a:schemeClr val="tx1"/>
                </a:solidFill>
                <a:latin typeface="华文新魏" panose="02010800040101010101" pitchFamily="2" charset="-122"/>
                <a:ea typeface="华文新魏" panose="02010800040101010101" pitchFamily="2" charset="-122"/>
              </a:rPr>
              <a:t>的库分为两种，一种是设计库，一种是资源库。设计库只有</a:t>
            </a:r>
            <a:r>
              <a:rPr lang="en-US" altLang="zh-CN" sz="2400">
                <a:solidFill>
                  <a:schemeClr val="tx1"/>
                </a:solidFill>
                <a:latin typeface="华文新魏" panose="02010800040101010101" pitchFamily="2" charset="-122"/>
                <a:ea typeface="华文新魏" panose="02010800040101010101" pitchFamily="2" charset="-122"/>
              </a:rPr>
              <a:t>std</a:t>
            </a:r>
            <a:r>
              <a:rPr lang="zh-CN" altLang="en-US" sz="2400" dirty="0">
                <a:solidFill>
                  <a:schemeClr val="tx1"/>
                </a:solidFill>
                <a:latin typeface="华文新魏" panose="02010800040101010101" pitchFamily="2" charset="-122"/>
                <a:ea typeface="华文新魏" panose="02010800040101010101" pitchFamily="2" charset="-122"/>
              </a:rPr>
              <a:t>库和</a:t>
            </a:r>
            <a:r>
              <a:rPr lang="en-US" altLang="zh-CN" sz="2400">
                <a:solidFill>
                  <a:srgbClr val="FF0000"/>
                </a:solidFill>
                <a:latin typeface="华文新魏" panose="02010800040101010101" pitchFamily="2" charset="-122"/>
                <a:ea typeface="华文新魏" panose="02010800040101010101" pitchFamily="2" charset="-122"/>
              </a:rPr>
              <a:t>work</a:t>
            </a:r>
            <a:r>
              <a:rPr lang="zh-CN" altLang="en-US" sz="2400" dirty="0">
                <a:solidFill>
                  <a:srgbClr val="FF0000"/>
                </a:solidFill>
                <a:latin typeface="华文新魏" panose="02010800040101010101" pitchFamily="2" charset="-122"/>
                <a:ea typeface="华文新魏" panose="02010800040101010101" pitchFamily="2" charset="-122"/>
              </a:rPr>
              <a:t>库</a:t>
            </a:r>
            <a:r>
              <a:rPr lang="zh-CN" altLang="en-US" sz="2400" dirty="0">
                <a:solidFill>
                  <a:schemeClr val="tx1"/>
                </a:solidFill>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 calcmode="lin" valueType="num">
                                      <p:cBhvr additive="base">
                                        <p:cTn id="7" dur="500" fill="hold"/>
                                        <p:tgtEl>
                                          <p:spTgt spid="168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8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8963">
                                            <p:txEl>
                                              <p:pRg st="1" end="1"/>
                                            </p:txEl>
                                          </p:spTgt>
                                        </p:tgtEl>
                                        <p:attrNameLst>
                                          <p:attrName>style.visibility</p:attrName>
                                        </p:attrNameLst>
                                      </p:cBhvr>
                                      <p:to>
                                        <p:strVal val="visible"/>
                                      </p:to>
                                    </p:set>
                                    <p:anim calcmode="lin" valueType="num">
                                      <p:cBhvr additive="base">
                                        <p:cTn id="13" dur="500" fill="hold"/>
                                        <p:tgtEl>
                                          <p:spTgt spid="1689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8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8963">
                                            <p:txEl>
                                              <p:pRg st="2" end="2"/>
                                            </p:txEl>
                                          </p:spTgt>
                                        </p:tgtEl>
                                        <p:attrNameLst>
                                          <p:attrName>style.visibility</p:attrName>
                                        </p:attrNameLst>
                                      </p:cBhvr>
                                      <p:to>
                                        <p:strVal val="visible"/>
                                      </p:to>
                                    </p:set>
                                    <p:anim calcmode="lin" valueType="num">
                                      <p:cBhvr additive="base">
                                        <p:cTn id="19" dur="500" fill="hold"/>
                                        <p:tgtEl>
                                          <p:spTgt spid="1689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896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矩形 2"/>
          <p:cNvSpPr/>
          <p:nvPr/>
        </p:nvSpPr>
        <p:spPr>
          <a:xfrm>
            <a:off x="684213" y="628968"/>
            <a:ext cx="8135937" cy="4231005"/>
          </a:xfrm>
          <a:prstGeom prst="rect">
            <a:avLst/>
          </a:prstGeom>
          <a:noFill/>
          <a:ln w="9525">
            <a:noFill/>
          </a:ln>
        </p:spPr>
        <p:txBody>
          <a:bodyPr>
            <a:spAutoFit/>
          </a:bodyPr>
          <a:lstStyle/>
          <a:p>
            <a:pPr>
              <a:lnSpc>
                <a:spcPct val="150000"/>
              </a:lnSpc>
              <a:spcBef>
                <a:spcPts val="600"/>
              </a:spcBef>
            </a:pPr>
            <a:r>
              <a:rPr lang="en-US" altLang="zh-CN" sz="2400" u="sng" err="1">
                <a:solidFill>
                  <a:srgbClr val="FF0000"/>
                </a:solidFill>
                <a:latin typeface="华文新魏" panose="02010800040101010101" pitchFamily="2" charset="-122"/>
                <a:ea typeface="华文新魏" panose="02010800040101010101" pitchFamily="2" charset="-122"/>
              </a:rPr>
              <a:t>ieee</a:t>
            </a:r>
            <a:r>
              <a:rPr lang="zh-CN" altLang="en-US" sz="2400" u="sng" dirty="0">
                <a:solidFill>
                  <a:srgbClr val="FF0000"/>
                </a:solidFill>
                <a:latin typeface="华文新魏" panose="02010800040101010101" pitchFamily="2" charset="-122"/>
                <a:ea typeface="华文新魏" panose="02010800040101010101" pitchFamily="2" charset="-122"/>
              </a:rPr>
              <a:t>库</a:t>
            </a:r>
            <a:r>
              <a:rPr lang="zh-CN" altLang="en-US" sz="2400" dirty="0">
                <a:solidFill>
                  <a:schemeClr val="tx1"/>
                </a:solidFill>
                <a:latin typeface="华文新魏" panose="02010800040101010101" pitchFamily="2" charset="-122"/>
                <a:ea typeface="华文新魏" panose="02010800040101010101" pitchFamily="2" charset="-122"/>
              </a:rPr>
              <a:t>是最常用的资源库，其中包含的程序包有：</a:t>
            </a:r>
          </a:p>
          <a:p>
            <a:pPr>
              <a:lnSpc>
                <a:spcPct val="150000"/>
              </a:lnSpc>
              <a:spcBef>
                <a:spcPts val="600"/>
              </a:spcBef>
            </a:pPr>
            <a:r>
              <a:rPr lang="en-US" altLang="zh-CN" sz="2400">
                <a:solidFill>
                  <a:srgbClr val="FF0000"/>
                </a:solidFill>
                <a:latin typeface="华文新魏" panose="02010800040101010101" pitchFamily="2" charset="-122"/>
                <a:ea typeface="华文新魏" panose="02010800040101010101" pitchFamily="2" charset="-122"/>
              </a:rPr>
              <a:t>std_logic_1164</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一些常用函数和数据类型程序包；</a:t>
            </a:r>
          </a:p>
          <a:p>
            <a:r>
              <a:rPr lang="en-US" altLang="zh-CN" sz="2400" err="1">
                <a:solidFill>
                  <a:srgbClr val="FF0000"/>
                </a:solidFill>
                <a:latin typeface="华文新魏" panose="02010800040101010101" pitchFamily="2" charset="-122"/>
                <a:ea typeface="华文新魏" panose="02010800040101010101" pitchFamily="2" charset="-122"/>
              </a:rPr>
              <a:t>numeric_bit</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bit</a:t>
            </a:r>
            <a:r>
              <a:rPr lang="zh-CN" altLang="en-US" sz="2400" dirty="0">
                <a:solidFill>
                  <a:schemeClr val="tx1"/>
                </a:solidFill>
                <a:latin typeface="华文新魏" panose="02010800040101010101" pitchFamily="2" charset="-122"/>
                <a:ea typeface="华文新魏" panose="02010800040101010101" pitchFamily="2" charset="-122"/>
              </a:rPr>
              <a:t>类型程序包；</a:t>
            </a:r>
          </a:p>
          <a:p>
            <a:r>
              <a:rPr lang="en-US" altLang="zh-CN" sz="2400" err="1">
                <a:solidFill>
                  <a:srgbClr val="FF0000"/>
                </a:solidFill>
                <a:latin typeface="华文新魏" panose="02010800040101010101" pitchFamily="2" charset="-122"/>
                <a:ea typeface="华文新魏" panose="02010800040101010101" pitchFamily="2" charset="-122"/>
              </a:rPr>
              <a:t>numeric_Std</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用于综合的数值类型和算术函数程序包</a:t>
            </a:r>
            <a:r>
              <a:rPr lang="en-US" altLang="zh-CN" sz="2400">
                <a:solidFill>
                  <a:schemeClr val="tx1"/>
                </a:solidFill>
                <a:latin typeface="华文新魏" panose="02010800040101010101" pitchFamily="2" charset="-122"/>
                <a:ea typeface="华文新魏" panose="02010800040101010101" pitchFamily="2" charset="-122"/>
              </a:rPr>
              <a:t>;</a:t>
            </a:r>
          </a:p>
          <a:p>
            <a:r>
              <a:rPr lang="en-US" altLang="zh-CN" sz="2400" err="1">
                <a:solidFill>
                  <a:srgbClr val="FF0000"/>
                </a:solidFill>
                <a:latin typeface="华文新魏" panose="02010800040101010101" pitchFamily="2" charset="-122"/>
                <a:ea typeface="华文新魏" panose="02010800040101010101" pitchFamily="2" charset="-122"/>
              </a:rPr>
              <a:t>Math_Real</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实数的算术函数程序包；</a:t>
            </a:r>
          </a:p>
          <a:p>
            <a:r>
              <a:rPr lang="en-US" altLang="zh-CN" sz="2400" err="1">
                <a:solidFill>
                  <a:srgbClr val="FF0000"/>
                </a:solidFill>
                <a:latin typeface="华文新魏" panose="02010800040101010101" pitchFamily="2" charset="-122"/>
                <a:ea typeface="华文新魏" panose="02010800040101010101" pitchFamily="2" charset="-122"/>
              </a:rPr>
              <a:t>Math_Complex</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复数的算术函数程序包；</a:t>
            </a:r>
          </a:p>
          <a:p>
            <a:r>
              <a:rPr lang="en-US" altLang="zh-CN" sz="2400" err="1">
                <a:solidFill>
                  <a:srgbClr val="FF0000"/>
                </a:solidFill>
                <a:latin typeface="华文新魏" panose="02010800040101010101" pitchFamily="2" charset="-122"/>
                <a:ea typeface="华文新魏" panose="02010800040101010101" pitchFamily="2" charset="-122"/>
              </a:rPr>
              <a:t>std_logic_unsigned</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err="1">
                <a:solidFill>
                  <a:srgbClr val="FF0000"/>
                </a:solidFill>
                <a:latin typeface="华文新魏" panose="02010800040101010101" pitchFamily="2" charset="-122"/>
                <a:ea typeface="华文新魏" panose="02010800040101010101" pitchFamily="2" charset="-122"/>
              </a:rPr>
              <a:t>std_logic_arith</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用于</a:t>
            </a:r>
            <a:r>
              <a:rPr lang="en-US" altLang="zh-CN" sz="2400" err="1">
                <a:solidFill>
                  <a:schemeClr val="tx1"/>
                </a:solidFill>
                <a:latin typeface="华文新魏" panose="02010800040101010101" pitchFamily="2" charset="-122"/>
                <a:ea typeface="华文新魏" panose="02010800040101010101" pitchFamily="2" charset="-122"/>
              </a:rPr>
              <a:t>std_logic_vector</a:t>
            </a:r>
            <a:r>
              <a:rPr lang="zh-CN" altLang="en-US" sz="2400" dirty="0">
                <a:solidFill>
                  <a:schemeClr val="tx1"/>
                </a:solidFill>
                <a:latin typeface="华文新魏" panose="02010800040101010101" pitchFamily="2" charset="-122"/>
                <a:ea typeface="华文新魏" panose="02010800040101010101" pitchFamily="2" charset="-122"/>
              </a:rPr>
              <a:t>数据类型的加、减运算；</a:t>
            </a:r>
          </a:p>
          <a:p>
            <a:r>
              <a:rPr lang="en-US" altLang="zh-CN" sz="2400" err="1">
                <a:solidFill>
                  <a:srgbClr val="FF0000"/>
                </a:solidFill>
                <a:latin typeface="华文新魏" panose="02010800040101010101" pitchFamily="2" charset="-122"/>
                <a:ea typeface="华文新魏" panose="02010800040101010101" pitchFamily="2" charset="-122"/>
              </a:rPr>
              <a:t>Vital_Timing</a:t>
            </a:r>
            <a:r>
              <a:rPr lang="en-US" altLang="zh-CN" sz="2400">
                <a:solidFill>
                  <a:srgbClr val="FF0000"/>
                </a:solidFill>
                <a:latin typeface="华文新魏" panose="02010800040101010101" pitchFamily="2" charset="-122"/>
                <a:ea typeface="华文新魏" panose="02010800040101010101" pitchFamily="2" charset="-122"/>
              </a:rPr>
              <a:t> Vital</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rgbClr val="FF0000"/>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时序程序包；</a:t>
            </a:r>
          </a:p>
          <a:p>
            <a:r>
              <a:rPr lang="en-US" altLang="zh-CN" sz="2400" err="1">
                <a:solidFill>
                  <a:srgbClr val="FF0000"/>
                </a:solidFill>
                <a:latin typeface="华文新魏" panose="02010800040101010101" pitchFamily="2" charset="-122"/>
                <a:ea typeface="华文新魏" panose="02010800040101010101" pitchFamily="2" charset="-122"/>
              </a:rPr>
              <a:t>Vital_Primitives</a:t>
            </a:r>
            <a:r>
              <a:rPr lang="en-US" altLang="zh-CN" sz="2400">
                <a:solidFill>
                  <a:srgbClr val="FF0000"/>
                </a:solidFill>
                <a:latin typeface="华文新魏" panose="02010800040101010101" pitchFamily="2" charset="-122"/>
                <a:ea typeface="华文新魏" panose="02010800040101010101" pitchFamily="2" charset="-122"/>
              </a:rPr>
              <a:t> Vital</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a:solidFill>
                  <a:srgbClr val="FF0000"/>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元件程序包。</a:t>
            </a:r>
          </a:p>
        </p:txBody>
      </p:sp>
      <p:pic>
        <p:nvPicPr>
          <p:cNvPr id="397314" name="Picture 4" descr="p1005"/>
          <p:cNvPicPr>
            <a:picLocks noChangeAspect="1"/>
          </p:cNvPicPr>
          <p:nvPr>
            <p:custDataLst>
              <p:tags r:id="rId1"/>
            </p:custDataLst>
          </p:nvPr>
        </p:nvPicPr>
        <p:blipFill>
          <a:blip r:embed="rId3"/>
          <a:stretch>
            <a:fillRect/>
          </a:stretch>
        </p:blipFill>
        <p:spPr>
          <a:xfrm>
            <a:off x="313662" y="17145"/>
            <a:ext cx="8757285" cy="51092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9986">
                                            <p:txEl>
                                              <p:pRg st="1" end="1"/>
                                            </p:txEl>
                                          </p:spTgt>
                                        </p:tgtEl>
                                        <p:attrNameLst>
                                          <p:attrName>style.visibility</p:attrName>
                                        </p:attrNameLst>
                                      </p:cBhvr>
                                      <p:to>
                                        <p:strVal val="visible"/>
                                      </p:to>
                                    </p:set>
                                    <p:anim calcmode="lin" valueType="num">
                                      <p:cBhvr additive="base">
                                        <p:cTn id="7" dur="500" fill="hold"/>
                                        <p:tgtEl>
                                          <p:spTgt spid="16998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998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9986">
                                            <p:txEl>
                                              <p:pRg st="2" end="2"/>
                                            </p:txEl>
                                          </p:spTgt>
                                        </p:tgtEl>
                                        <p:attrNameLst>
                                          <p:attrName>style.visibility</p:attrName>
                                        </p:attrNameLst>
                                      </p:cBhvr>
                                      <p:to>
                                        <p:strVal val="visible"/>
                                      </p:to>
                                    </p:set>
                                    <p:anim calcmode="lin" valueType="num">
                                      <p:cBhvr additive="base">
                                        <p:cTn id="11" dur="500" fill="hold"/>
                                        <p:tgtEl>
                                          <p:spTgt spid="16998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998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9986">
                                            <p:txEl>
                                              <p:pRg st="3" end="3"/>
                                            </p:txEl>
                                          </p:spTgt>
                                        </p:tgtEl>
                                        <p:attrNameLst>
                                          <p:attrName>style.visibility</p:attrName>
                                        </p:attrNameLst>
                                      </p:cBhvr>
                                      <p:to>
                                        <p:strVal val="visible"/>
                                      </p:to>
                                    </p:set>
                                    <p:anim calcmode="lin" valueType="num">
                                      <p:cBhvr additive="base">
                                        <p:cTn id="15" dur="500" fill="hold"/>
                                        <p:tgtEl>
                                          <p:spTgt spid="16998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99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69986">
                                            <p:txEl>
                                              <p:pRg st="4" end="4"/>
                                            </p:txEl>
                                          </p:spTgt>
                                        </p:tgtEl>
                                        <p:attrNameLst>
                                          <p:attrName>style.visibility</p:attrName>
                                        </p:attrNameLst>
                                      </p:cBhvr>
                                      <p:to>
                                        <p:strVal val="visible"/>
                                      </p:to>
                                    </p:set>
                                    <p:anim calcmode="lin" valueType="num">
                                      <p:cBhvr additive="base">
                                        <p:cTn id="21" dur="500" fill="hold"/>
                                        <p:tgtEl>
                                          <p:spTgt spid="16998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9986">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9986">
                                            <p:txEl>
                                              <p:pRg st="5" end="5"/>
                                            </p:txEl>
                                          </p:spTgt>
                                        </p:tgtEl>
                                        <p:attrNameLst>
                                          <p:attrName>style.visibility</p:attrName>
                                        </p:attrNameLst>
                                      </p:cBhvr>
                                      <p:to>
                                        <p:strVal val="visible"/>
                                      </p:to>
                                    </p:set>
                                    <p:anim calcmode="lin" valueType="num">
                                      <p:cBhvr additive="base">
                                        <p:cTn id="25" dur="500" fill="hold"/>
                                        <p:tgtEl>
                                          <p:spTgt spid="16998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9986">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9986">
                                            <p:txEl>
                                              <p:pRg st="6" end="6"/>
                                            </p:txEl>
                                          </p:spTgt>
                                        </p:tgtEl>
                                        <p:attrNameLst>
                                          <p:attrName>style.visibility</p:attrName>
                                        </p:attrNameLst>
                                      </p:cBhvr>
                                      <p:to>
                                        <p:strVal val="visible"/>
                                      </p:to>
                                    </p:set>
                                    <p:anim calcmode="lin" valueType="num">
                                      <p:cBhvr additive="base">
                                        <p:cTn id="29" dur="500" fill="hold"/>
                                        <p:tgtEl>
                                          <p:spTgt spid="16998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998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69986">
                                            <p:txEl>
                                              <p:pRg st="7" end="7"/>
                                            </p:txEl>
                                          </p:spTgt>
                                        </p:tgtEl>
                                        <p:attrNameLst>
                                          <p:attrName>style.visibility</p:attrName>
                                        </p:attrNameLst>
                                      </p:cBhvr>
                                      <p:to>
                                        <p:strVal val="visible"/>
                                      </p:to>
                                    </p:set>
                                    <p:anim calcmode="lin" valueType="num">
                                      <p:cBhvr additive="base">
                                        <p:cTn id="35" dur="500" fill="hold"/>
                                        <p:tgtEl>
                                          <p:spTgt spid="16998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9986">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9986">
                                            <p:txEl>
                                              <p:pRg st="8" end="8"/>
                                            </p:txEl>
                                          </p:spTgt>
                                        </p:tgtEl>
                                        <p:attrNameLst>
                                          <p:attrName>style.visibility</p:attrName>
                                        </p:attrNameLst>
                                      </p:cBhvr>
                                      <p:to>
                                        <p:strVal val="visible"/>
                                      </p:to>
                                    </p:set>
                                    <p:anim calcmode="lin" valueType="num">
                                      <p:cBhvr additive="base">
                                        <p:cTn id="39" dur="500" fill="hold"/>
                                        <p:tgtEl>
                                          <p:spTgt spid="16998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998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97314"/>
                                        </p:tgtEl>
                                        <p:attrNameLst>
                                          <p:attrName>style.visibility</p:attrName>
                                        </p:attrNameLst>
                                      </p:cBhvr>
                                      <p:to>
                                        <p:strVal val="visible"/>
                                      </p:to>
                                    </p:set>
                                    <p:anim calcmode="lin" valueType="num">
                                      <p:cBhvr additive="base">
                                        <p:cTn id="45" dur="500" fill="hold"/>
                                        <p:tgtEl>
                                          <p:spTgt spid="397314"/>
                                        </p:tgtEl>
                                        <p:attrNameLst>
                                          <p:attrName>ppt_x</p:attrName>
                                        </p:attrNameLst>
                                      </p:cBhvr>
                                      <p:tavLst>
                                        <p:tav tm="0">
                                          <p:val>
                                            <p:strVal val="#ppt_x"/>
                                          </p:val>
                                        </p:tav>
                                        <p:tav tm="100000">
                                          <p:val>
                                            <p:strVal val="#ppt_x"/>
                                          </p:val>
                                        </p:tav>
                                      </p:tavLst>
                                    </p:anim>
                                    <p:anim calcmode="lin" valueType="num">
                                      <p:cBhvr additive="base">
                                        <p:cTn id="46" dur="500" fill="hold"/>
                                        <p:tgtEl>
                                          <p:spTgt spid="397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矩形 2"/>
          <p:cNvSpPr/>
          <p:nvPr/>
        </p:nvSpPr>
        <p:spPr>
          <a:xfrm>
            <a:off x="179388" y="700088"/>
            <a:ext cx="8785225" cy="1198880"/>
          </a:xfrm>
          <a:prstGeom prst="rect">
            <a:avLst/>
          </a:prstGeom>
          <a:noFill/>
          <a:ln w="9525">
            <a:noFill/>
          </a:ln>
        </p:spPr>
        <p:txBody>
          <a:bodyPr>
            <a:spAutoFit/>
          </a:bodyPr>
          <a:lstStyle/>
          <a:p>
            <a:r>
              <a:rPr lang="zh-CN" altLang="en-US" sz="2400" dirty="0">
                <a:solidFill>
                  <a:srgbClr val="FF0000"/>
                </a:solidFill>
                <a:latin typeface="华文新魏" panose="02010800040101010101" pitchFamily="2" charset="-122"/>
                <a:ea typeface="华文新魏" panose="02010800040101010101" pitchFamily="2" charset="-122"/>
              </a:rPr>
              <a:t>程序包（</a:t>
            </a:r>
            <a:r>
              <a:rPr lang="en-US" altLang="zh-CN" sz="2400">
                <a:solidFill>
                  <a:srgbClr val="FF0000"/>
                </a:solidFill>
                <a:latin typeface="华文新魏" panose="02010800040101010101" pitchFamily="2" charset="-122"/>
                <a:ea typeface="华文新魏" panose="02010800040101010101" pitchFamily="2" charset="-122"/>
              </a:rPr>
              <a:t>package</a:t>
            </a:r>
            <a:r>
              <a:rPr lang="zh-CN" altLang="en-US"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是公用资源的存储区，在程序包内说明的数据，包体中的类型、常量、元件和函数对其他模块或文件可见，即是可以被其他设计实体中的模块和文件调用的设计实体。</a:t>
            </a:r>
          </a:p>
        </p:txBody>
      </p:sp>
      <p:sp>
        <p:nvSpPr>
          <p:cNvPr id="172035" name="矩形 4"/>
          <p:cNvSpPr/>
          <p:nvPr/>
        </p:nvSpPr>
        <p:spPr>
          <a:xfrm>
            <a:off x="3419475" y="1995488"/>
            <a:ext cx="5437188" cy="3046095"/>
          </a:xfrm>
          <a:prstGeom prst="rect">
            <a:avLst/>
          </a:prstGeom>
          <a:noFill/>
          <a:ln w="9525">
            <a:noFill/>
          </a:ln>
        </p:spPr>
        <p:txBody>
          <a:bodyPr>
            <a:spAutoFit/>
          </a:bodyPr>
          <a:lstStyle/>
          <a:p>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FF"/>
                </a:solidFill>
                <a:latin typeface="华文新魏" panose="02010800040101010101" pitchFamily="2" charset="-122"/>
                <a:ea typeface="华文新魏" panose="02010800040101010101" pitchFamily="2" charset="-122"/>
              </a:rPr>
              <a:t>package</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程序包名 </a:t>
            </a:r>
            <a:r>
              <a:rPr lang="en-US" altLang="zh-CN" sz="2400">
                <a:solidFill>
                  <a:srgbClr val="0000FF"/>
                </a:solidFill>
                <a:latin typeface="华文新魏" panose="02010800040101010101" pitchFamily="2" charset="-122"/>
                <a:ea typeface="华文新魏" panose="02010800040101010101" pitchFamily="2" charset="-122"/>
              </a:rPr>
              <a:t>is</a:t>
            </a:r>
          </a:p>
          <a:p>
            <a:pPr lvl="3"/>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外部函数说明</a:t>
            </a:r>
            <a:r>
              <a:rPr lang="en-US" altLang="zh-CN" sz="2400">
                <a:solidFill>
                  <a:schemeClr val="tx1"/>
                </a:solidFill>
                <a:latin typeface="华文新魏" panose="02010800040101010101" pitchFamily="2" charset="-122"/>
                <a:ea typeface="华文新魏" panose="02010800040101010101" pitchFamily="2" charset="-122"/>
              </a:rPr>
              <a:t>]</a:t>
            </a:r>
          </a:p>
          <a:p>
            <a:pPr lvl="3"/>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外部常量说明</a:t>
            </a:r>
            <a:r>
              <a:rPr lang="en-US" altLang="zh-CN" sz="2400">
                <a:solidFill>
                  <a:schemeClr val="tx1"/>
                </a:solidFill>
                <a:latin typeface="华文新魏" panose="02010800040101010101" pitchFamily="2" charset="-122"/>
                <a:ea typeface="华文新魏" panose="02010800040101010101" pitchFamily="2" charset="-122"/>
              </a:rPr>
              <a:t>]</a:t>
            </a:r>
          </a:p>
          <a:p>
            <a:pPr lvl="3"/>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外部元件模板</a:t>
            </a:r>
            <a:r>
              <a:rPr lang="en-US" altLang="zh-CN" sz="2400">
                <a:solidFill>
                  <a:schemeClr val="tx1"/>
                </a:solidFill>
                <a:latin typeface="华文新魏" panose="02010800040101010101" pitchFamily="2" charset="-122"/>
                <a:ea typeface="华文新魏" panose="02010800040101010101" pitchFamily="2" charset="-122"/>
              </a:rPr>
              <a:t>]</a:t>
            </a:r>
          </a:p>
          <a:p>
            <a:pPr lvl="3"/>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外部类型说明</a:t>
            </a:r>
            <a:r>
              <a:rPr lang="en-US" altLang="zh-CN" sz="2400">
                <a:solidFill>
                  <a:schemeClr val="tx1"/>
                </a:solidFill>
                <a:latin typeface="华文新魏" panose="02010800040101010101" pitchFamily="2" charset="-122"/>
                <a:ea typeface="华文新魏" panose="02010800040101010101" pitchFamily="2" charset="-122"/>
              </a:rPr>
              <a:t>]</a:t>
            </a:r>
          </a:p>
          <a:p>
            <a:pPr lvl="3"/>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属性说明</a:t>
            </a:r>
            <a:r>
              <a:rPr lang="en-US" altLang="zh-CN" sz="2400">
                <a:solidFill>
                  <a:schemeClr val="tx1"/>
                </a:solidFill>
                <a:latin typeface="华文新魏" panose="02010800040101010101" pitchFamily="2" charset="-122"/>
                <a:ea typeface="华文新魏" panose="02010800040101010101" pitchFamily="2" charset="-122"/>
              </a:rPr>
              <a:t>]</a:t>
            </a:r>
          </a:p>
          <a:p>
            <a:pPr lvl="3"/>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属性指定</a:t>
            </a:r>
            <a:r>
              <a:rPr lang="en-US" altLang="zh-CN" sz="2400">
                <a:solidFill>
                  <a:schemeClr val="tx1"/>
                </a:solidFill>
                <a:latin typeface="华文新魏" panose="02010800040101010101" pitchFamily="2" charset="-122"/>
                <a:ea typeface="华文新魏" panose="02010800040101010101" pitchFamily="2" charset="-122"/>
              </a:rPr>
              <a:t>]</a:t>
            </a:r>
          </a:p>
          <a:p>
            <a:pPr lvl="3"/>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0000FF"/>
                </a:solidFill>
                <a:latin typeface="华文新魏" panose="02010800040101010101" pitchFamily="2" charset="-122"/>
                <a:ea typeface="华文新魏" panose="02010800040101010101" pitchFamily="2" charset="-122"/>
              </a:rPr>
              <a:t>end</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程序包名</a:t>
            </a:r>
            <a:r>
              <a:rPr lang="en-US" altLang="zh-CN" sz="2400">
                <a:solidFill>
                  <a:schemeClr val="tx1"/>
                </a:solidFill>
                <a:latin typeface="华文新魏" panose="02010800040101010101" pitchFamily="2" charset="-122"/>
                <a:ea typeface="华文新魏" panose="02010800040101010101" pitchFamily="2" charset="-122"/>
              </a:rPr>
              <a:t>];</a:t>
            </a:r>
            <a:endParaRPr lang="zh-CN" altLang="en-US" sz="2400" dirty="0">
              <a:latin typeface="Calibri" panose="020F0502020204030204" pitchFamily="34" charset="0"/>
            </a:endParaRPr>
          </a:p>
        </p:txBody>
      </p:sp>
      <p:sp>
        <p:nvSpPr>
          <p:cNvPr id="172036" name="Rectangle 5"/>
          <p:cNvSpPr/>
          <p:nvPr/>
        </p:nvSpPr>
        <p:spPr>
          <a:xfrm>
            <a:off x="971550" y="2500313"/>
            <a:ext cx="3095625" cy="1200150"/>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程序包由</a:t>
            </a:r>
            <a:r>
              <a:rPr lang="zh-CN" altLang="en-US" sz="2400" dirty="0">
                <a:solidFill>
                  <a:srgbClr val="FF0000"/>
                </a:solidFill>
                <a:latin typeface="华文新魏" panose="02010800040101010101" pitchFamily="2" charset="-122"/>
                <a:ea typeface="华文新魏" panose="02010800040101010101" pitchFamily="2" charset="-122"/>
              </a:rPr>
              <a:t>包头</a:t>
            </a:r>
            <a:r>
              <a:rPr lang="zh-CN" altLang="en-US" sz="2400" dirty="0">
                <a:solidFill>
                  <a:schemeClr val="tx1"/>
                </a:solidFill>
                <a:latin typeface="华文新魏" panose="02010800040101010101" pitchFamily="2" charset="-122"/>
                <a:ea typeface="华文新魏" panose="02010800040101010101" pitchFamily="2" charset="-122"/>
              </a:rPr>
              <a:t>和</a:t>
            </a:r>
            <a:r>
              <a:rPr lang="zh-CN" altLang="en-US" sz="2400" dirty="0">
                <a:solidFill>
                  <a:srgbClr val="FF0000"/>
                </a:solidFill>
                <a:latin typeface="华文新魏" panose="02010800040101010101" pitchFamily="2" charset="-122"/>
                <a:ea typeface="华文新魏" panose="02010800040101010101" pitchFamily="2" charset="-122"/>
              </a:rPr>
              <a:t>包体</a:t>
            </a:r>
            <a:r>
              <a:rPr lang="en-US" altLang="zh-CN" sz="240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部分组成。</a:t>
            </a:r>
            <a:r>
              <a:rPr lang="zh-CN" altLang="en-US" sz="2400" dirty="0">
                <a:solidFill>
                  <a:srgbClr val="FF0000"/>
                </a:solidFill>
                <a:latin typeface="华文新魏" panose="02010800040101010101" pitchFamily="2" charset="-122"/>
                <a:ea typeface="华文新魏" panose="02010800040101010101" pitchFamily="2" charset="-122"/>
              </a:rPr>
              <a:t>格式：</a:t>
            </a:r>
            <a:endParaRPr lang="zh-CN" altLang="en-US" sz="2400" dirty="0">
              <a:solidFill>
                <a:schemeClr val="tx1"/>
              </a:solidFill>
              <a:latin typeface="华文新魏" panose="02010800040101010101" pitchFamily="2" charset="-122"/>
              <a:ea typeface="华文新魏" panose="02010800040101010101" pitchFamily="2" charset="-122"/>
            </a:endParaRPr>
          </a:p>
          <a:p>
            <a:endParaRPr lang="zh-CN" altLang="en-US" sz="2400" dirty="0">
              <a:solidFill>
                <a:srgbClr val="FF0000"/>
              </a:solidFill>
              <a:latin typeface="华文新魏" panose="02010800040101010101" pitchFamily="2" charset="-122"/>
              <a:ea typeface="华文新魏" panose="02010800040101010101" pitchFamily="2" charset="-122"/>
            </a:endParaRPr>
          </a:p>
        </p:txBody>
      </p:sp>
      <p:cxnSp>
        <p:nvCxnSpPr>
          <p:cNvPr id="2" name="直接连接符 1"/>
          <p:cNvCxnSpPr/>
          <p:nvPr/>
        </p:nvCxnSpPr>
        <p:spPr>
          <a:xfrm>
            <a:off x="5219700" y="2766695"/>
            <a:ext cx="1944370" cy="0"/>
          </a:xfrm>
          <a:prstGeom prst="line">
            <a:avLst/>
          </a:prstGeom>
          <a:solidFill>
            <a:schemeClr val="accent1"/>
          </a:solidFill>
          <a:ln w="9525" cap="flat" cmpd="sng" algn="ctr">
            <a:solidFill>
              <a:srgbClr val="FF0066"/>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36"/>
                                        </p:tgtEl>
                                        <p:attrNameLst>
                                          <p:attrName>style.visibility</p:attrName>
                                        </p:attrNameLst>
                                      </p:cBhvr>
                                      <p:to>
                                        <p:strVal val="visible"/>
                                      </p:to>
                                    </p:set>
                                    <p:anim calcmode="lin" valueType="num">
                                      <p:cBhvr additive="base">
                                        <p:cTn id="7" dur="500" fill="hold"/>
                                        <p:tgtEl>
                                          <p:spTgt spid="172036"/>
                                        </p:tgtEl>
                                        <p:attrNameLst>
                                          <p:attrName>ppt_x</p:attrName>
                                        </p:attrNameLst>
                                      </p:cBhvr>
                                      <p:tavLst>
                                        <p:tav tm="0">
                                          <p:val>
                                            <p:strVal val="#ppt_x"/>
                                          </p:val>
                                        </p:tav>
                                        <p:tav tm="100000">
                                          <p:val>
                                            <p:strVal val="#ppt_x"/>
                                          </p:val>
                                        </p:tav>
                                      </p:tavLst>
                                    </p:anim>
                                    <p:anim calcmode="lin" valueType="num">
                                      <p:cBhvr additive="base">
                                        <p:cTn id="8" dur="500" fill="hold"/>
                                        <p:tgtEl>
                                          <p:spTgt spid="172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2035"/>
                                        </p:tgtEl>
                                        <p:attrNameLst>
                                          <p:attrName>style.visibility</p:attrName>
                                        </p:attrNameLst>
                                      </p:cBhvr>
                                      <p:to>
                                        <p:strVal val="visible"/>
                                      </p:to>
                                    </p:set>
                                    <p:anim calcmode="lin" valueType="num">
                                      <p:cBhvr additive="base">
                                        <p:cTn id="13" dur="500" fill="hold"/>
                                        <p:tgtEl>
                                          <p:spTgt spid="172035"/>
                                        </p:tgtEl>
                                        <p:attrNameLst>
                                          <p:attrName>ppt_x</p:attrName>
                                        </p:attrNameLst>
                                      </p:cBhvr>
                                      <p:tavLst>
                                        <p:tav tm="0">
                                          <p:val>
                                            <p:strVal val="#ppt_x"/>
                                          </p:val>
                                        </p:tav>
                                        <p:tav tm="100000">
                                          <p:val>
                                            <p:strVal val="#ppt_x"/>
                                          </p:val>
                                        </p:tav>
                                      </p:tavLst>
                                    </p:anim>
                                    <p:anim calcmode="lin" valueType="num">
                                      <p:cBhvr additive="base">
                                        <p:cTn id="14" dur="500" fill="hold"/>
                                        <p:tgtEl>
                                          <p:spTgt spid="1720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P spid="172035" grpId="1"/>
      <p:bldP spid="172036" grpId="0"/>
      <p:bldP spid="172036"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7"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50</a:t>
            </a:fld>
            <a:endParaRPr lang="en-US" altLang="zh-CN" sz="1050" b="0" dirty="0">
              <a:latin typeface="Arial" panose="020B0604020202020204" pitchFamily="34" charset="0"/>
            </a:endParaRPr>
          </a:p>
        </p:txBody>
      </p:sp>
      <p:sp>
        <p:nvSpPr>
          <p:cNvPr id="398338" name="Rectangle 2"/>
          <p:cNvSpPr>
            <a:spLocks noGrp="1"/>
          </p:cNvSpPr>
          <p:nvPr>
            <p:ph type="title"/>
          </p:nvPr>
        </p:nvSpPr>
        <p:spPr/>
        <p:txBody>
          <a:bodyPr vert="horz" wrap="square" lIns="68580" tIns="34290" rIns="68580" bIns="34290" anchor="ctr"/>
          <a:lstStyle/>
          <a:p>
            <a:pPr eaLnBrk="1" hangingPunct="1"/>
            <a:r>
              <a:rPr lang="zh-CN" altLang="en-US" dirty="0"/>
              <a:t>程序包主体</a:t>
            </a:r>
          </a:p>
        </p:txBody>
      </p:sp>
      <p:sp>
        <p:nvSpPr>
          <p:cNvPr id="398339" name="Rectangle 3"/>
          <p:cNvSpPr>
            <a:spLocks noGrp="1"/>
          </p:cNvSpPr>
          <p:nvPr>
            <p:ph idx="1"/>
          </p:nvPr>
        </p:nvSpPr>
        <p:spPr>
          <a:xfrm>
            <a:off x="1485900" y="2233613"/>
            <a:ext cx="6172200" cy="1537097"/>
          </a:xfrm>
        </p:spPr>
        <p:txBody>
          <a:bodyPr vert="horz" wrap="square" lIns="68580" tIns="34290" rIns="68580" bIns="34290" anchor="t"/>
          <a:lstStyle/>
          <a:p>
            <a:pPr eaLnBrk="1" hangingPunct="1">
              <a:buNone/>
            </a:pPr>
            <a:r>
              <a:rPr lang="en-US" altLang="zh-CN" dirty="0">
                <a:solidFill>
                  <a:srgbClr val="CC3300"/>
                </a:solidFill>
              </a:rPr>
              <a:t>PACKAGE  body</a:t>
            </a:r>
            <a:r>
              <a:rPr lang="en-US" altLang="zh-CN" dirty="0"/>
              <a:t> </a:t>
            </a:r>
            <a:r>
              <a:rPr lang="zh-CN" altLang="en-US" dirty="0"/>
              <a:t>程序包名称</a:t>
            </a:r>
            <a:r>
              <a:rPr lang="zh-CN" altLang="en-US" dirty="0">
                <a:solidFill>
                  <a:srgbClr val="CC3300"/>
                </a:solidFill>
              </a:rPr>
              <a:t> </a:t>
            </a:r>
            <a:r>
              <a:rPr lang="en-US" altLang="zh-CN" dirty="0">
                <a:solidFill>
                  <a:srgbClr val="CC3300"/>
                </a:solidFill>
              </a:rPr>
              <a:t>is</a:t>
            </a:r>
          </a:p>
          <a:p>
            <a:pPr eaLnBrk="1" hangingPunct="1">
              <a:buNone/>
            </a:pPr>
            <a:r>
              <a:rPr lang="en-US" altLang="zh-CN" dirty="0"/>
              <a:t>       </a:t>
            </a:r>
            <a:r>
              <a:rPr lang="zh-CN" altLang="en-US" dirty="0"/>
              <a:t>主体内容语句区；</a:t>
            </a:r>
          </a:p>
          <a:p>
            <a:pPr eaLnBrk="1" hangingPunct="1">
              <a:buNone/>
            </a:pPr>
            <a:r>
              <a:rPr lang="en-US" altLang="zh-CN" dirty="0">
                <a:solidFill>
                  <a:srgbClr val="CC3300"/>
                </a:solidFill>
              </a:rPr>
              <a:t>End</a:t>
            </a:r>
            <a:r>
              <a:rPr lang="en-US" altLang="zh-CN" dirty="0"/>
              <a:t>  </a:t>
            </a:r>
            <a:r>
              <a:rPr lang="zh-CN" altLang="en-US" dirty="0"/>
              <a:t>程序包名称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1"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51</a:t>
            </a:fld>
            <a:endParaRPr lang="en-US" altLang="zh-CN" sz="1050" b="0" dirty="0">
              <a:latin typeface="Arial" panose="020B0604020202020204" pitchFamily="34" charset="0"/>
            </a:endParaRPr>
          </a:p>
        </p:txBody>
      </p:sp>
      <p:sp>
        <p:nvSpPr>
          <p:cNvPr id="399362" name="Rectangle 2"/>
          <p:cNvSpPr>
            <a:spLocks noGrp="1"/>
          </p:cNvSpPr>
          <p:nvPr>
            <p:ph type="title"/>
          </p:nvPr>
        </p:nvSpPr>
        <p:spPr/>
        <p:txBody>
          <a:bodyPr vert="horz" wrap="square" lIns="68580" tIns="34290" rIns="68580" bIns="34290" anchor="ctr"/>
          <a:lstStyle/>
          <a:p>
            <a:pPr eaLnBrk="1" hangingPunct="1"/>
            <a:r>
              <a:rPr lang="en-US" altLang="zh-CN" dirty="0"/>
              <a:t>Std_logic_arith</a:t>
            </a:r>
            <a:r>
              <a:rPr lang="zh-CN" altLang="en-US" dirty="0"/>
              <a:t>包体的部分内容</a:t>
            </a:r>
          </a:p>
        </p:txBody>
      </p:sp>
      <p:pic>
        <p:nvPicPr>
          <p:cNvPr id="399363" name="Picture 4" descr="p1007"/>
          <p:cNvPicPr>
            <a:picLocks noChangeAspect="1"/>
          </p:cNvPicPr>
          <p:nvPr/>
        </p:nvPicPr>
        <p:blipFill>
          <a:blip r:embed="rId2"/>
          <a:stretch>
            <a:fillRect/>
          </a:stretch>
        </p:blipFill>
        <p:spPr>
          <a:xfrm>
            <a:off x="1370410" y="1348979"/>
            <a:ext cx="6397228" cy="3149203"/>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6146" name="Ink 5"/>
              <p14:cNvContentPartPr/>
              <p14:nvPr/>
            </p14:nvContentPartPr>
            <p14:xfrm>
              <a:off x="2182416" y="1671637"/>
              <a:ext cx="1034653" cy="145256"/>
            </p14:xfrm>
          </p:contentPart>
        </mc:Choice>
        <mc:Fallback xmlns="">
          <p:pic>
            <p:nvPicPr>
              <p:cNvPr id="6146" name="Ink 5"/>
            </p:nvPicPr>
            <p:blipFill>
              <a:blip r:embed="rId4"/>
            </p:blipFill>
            <p:spPr>
              <a:xfrm>
                <a:off x="2182416" y="1671637"/>
                <a:ext cx="1034653" cy="145256"/>
              </a:xfrm>
              <a:prstGeom prst="rect"/>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矩形 2"/>
          <p:cNvSpPr/>
          <p:nvPr/>
        </p:nvSpPr>
        <p:spPr>
          <a:xfrm>
            <a:off x="971550" y="771843"/>
            <a:ext cx="6840538" cy="3969385"/>
          </a:xfrm>
          <a:prstGeom prst="rect">
            <a:avLst/>
          </a:prstGeom>
          <a:noFill/>
          <a:ln w="9525">
            <a:noFill/>
          </a:ln>
        </p:spPr>
        <p:txBody>
          <a:bodyPr wrap="square">
            <a:spAutoFit/>
          </a:bodyPr>
          <a:lstStyle/>
          <a:p>
            <a:pPr>
              <a:spcBef>
                <a:spcPts val="600"/>
              </a:spcBef>
              <a:spcAft>
                <a:spcPts val="600"/>
              </a:spcAft>
            </a:pPr>
            <a:r>
              <a:rPr lang="en-US" altLang="zh-CN" sz="2400">
                <a:solidFill>
                  <a:srgbClr val="0000FF"/>
                </a:solidFill>
                <a:latin typeface="华文新魏" panose="02010800040101010101" pitchFamily="2" charset="-122"/>
                <a:ea typeface="华文新魏" panose="02010800040101010101" pitchFamily="2" charset="-122"/>
              </a:rPr>
              <a:t>library</a:t>
            </a:r>
            <a:r>
              <a:rPr lang="zh-CN" altLang="en-US" sz="2400" dirty="0">
                <a:solidFill>
                  <a:schemeClr val="tx1"/>
                </a:solidFill>
                <a:latin typeface="华文新魏" panose="02010800040101010101" pitchFamily="2" charset="-122"/>
                <a:ea typeface="华文新魏" panose="02010800040101010101" pitchFamily="2" charset="-122"/>
              </a:rPr>
              <a:t>子句说明了使用哪个库</a:t>
            </a:r>
            <a:endParaRPr lang="en-US" altLang="zh-CN" sz="2400">
              <a:solidFill>
                <a:schemeClr val="tx1"/>
              </a:solidFill>
              <a:latin typeface="华文新魏" panose="02010800040101010101" pitchFamily="2" charset="-122"/>
              <a:ea typeface="华文新魏" panose="02010800040101010101" pitchFamily="2" charset="-122"/>
            </a:endParaRPr>
          </a:p>
          <a:p>
            <a:pPr>
              <a:spcBef>
                <a:spcPts val="600"/>
              </a:spcBef>
              <a:spcAft>
                <a:spcPts val="600"/>
              </a:spcAft>
            </a:pPr>
            <a:r>
              <a:rPr lang="zh-CN" altLang="en-US" sz="2400" dirty="0">
                <a:solidFill>
                  <a:srgbClr val="FF0000"/>
                </a:solidFill>
                <a:latin typeface="华文新魏" panose="02010800040101010101" pitchFamily="2" charset="-122"/>
                <a:ea typeface="华文新魏" panose="02010800040101010101" pitchFamily="2" charset="-122"/>
              </a:rPr>
              <a:t>格式为</a:t>
            </a:r>
            <a:r>
              <a:rPr lang="zh-CN" altLang="en-US" sz="2400" dirty="0">
                <a:solidFill>
                  <a:schemeClr val="tx1"/>
                </a:solidFill>
                <a:latin typeface="华文新魏" panose="02010800040101010101" pitchFamily="2" charset="-122"/>
                <a:ea typeface="华文新魏" panose="02010800040101010101" pitchFamily="2" charset="-122"/>
              </a:rPr>
              <a:t>：</a:t>
            </a:r>
          </a:p>
          <a:p>
            <a:pPr>
              <a:spcBef>
                <a:spcPts val="600"/>
              </a:spcBef>
              <a:spcAft>
                <a:spcPts val="600"/>
              </a:spcAft>
            </a:pP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FF0000"/>
                </a:solidFill>
                <a:latin typeface="华文新魏" panose="02010800040101010101" pitchFamily="2" charset="-122"/>
                <a:ea typeface="华文新魏" panose="02010800040101010101" pitchFamily="2" charset="-122"/>
              </a:rPr>
              <a:t>library</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库名</a:t>
            </a:r>
            <a:r>
              <a:rPr lang="en-US" altLang="zh-CN" sz="240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，库名</a:t>
            </a:r>
            <a:r>
              <a:rPr lang="en-US" altLang="zh-CN" sz="240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，库名</a:t>
            </a:r>
            <a:r>
              <a:rPr lang="en-US" altLang="zh-CN" sz="2400">
                <a:solidFill>
                  <a:schemeClr val="tx1"/>
                </a:solidFill>
                <a:latin typeface="华文新魏" panose="02010800040101010101" pitchFamily="2" charset="-122"/>
                <a:ea typeface="华文新魏" panose="02010800040101010101" pitchFamily="2" charset="-122"/>
              </a:rPr>
              <a:t>n;</a:t>
            </a:r>
          </a:p>
          <a:p>
            <a:pPr>
              <a:spcBef>
                <a:spcPts val="600"/>
              </a:spcBef>
              <a:spcAft>
                <a:spcPts val="600"/>
              </a:spcAft>
            </a:pPr>
            <a:endParaRPr lang="en-US" altLang="zh-CN" sz="2400">
              <a:solidFill>
                <a:schemeClr val="tx1"/>
              </a:solidFill>
              <a:latin typeface="华文新魏" panose="02010800040101010101" pitchFamily="2" charset="-122"/>
              <a:ea typeface="华文新魏" panose="02010800040101010101" pitchFamily="2" charset="-122"/>
            </a:endParaRPr>
          </a:p>
          <a:p>
            <a:pPr>
              <a:spcBef>
                <a:spcPts val="600"/>
              </a:spcBef>
              <a:spcAft>
                <a:spcPts val="600"/>
              </a:spcAft>
            </a:pPr>
            <a:r>
              <a:rPr lang="en-US" altLang="zh-CN" sz="2400">
                <a:solidFill>
                  <a:srgbClr val="0000FF"/>
                </a:solidFill>
                <a:latin typeface="华文新魏" panose="02010800040101010101" pitchFamily="2" charset="-122"/>
                <a:ea typeface="华文新魏" panose="02010800040101010101" pitchFamily="2" charset="-122"/>
              </a:rPr>
              <a:t>use</a:t>
            </a:r>
            <a:r>
              <a:rPr lang="zh-CN" altLang="en-US" sz="2400" dirty="0">
                <a:solidFill>
                  <a:schemeClr val="tx1"/>
                </a:solidFill>
                <a:latin typeface="华文新魏" panose="02010800040101010101" pitchFamily="2" charset="-122"/>
                <a:ea typeface="华文新魏" panose="02010800040101010101" pitchFamily="2" charset="-122"/>
              </a:rPr>
              <a:t>子句说明了使用哪个库中的哪个程序包中的元件或者函数。</a:t>
            </a:r>
            <a:endParaRPr lang="en-US" altLang="zh-CN" sz="2400">
              <a:solidFill>
                <a:schemeClr val="tx1"/>
              </a:solidFill>
              <a:latin typeface="华文新魏" panose="02010800040101010101" pitchFamily="2" charset="-122"/>
              <a:ea typeface="华文新魏" panose="02010800040101010101" pitchFamily="2" charset="-122"/>
            </a:endParaRPr>
          </a:p>
          <a:p>
            <a:pPr>
              <a:spcBef>
                <a:spcPts val="600"/>
              </a:spcBef>
              <a:spcAft>
                <a:spcPts val="600"/>
              </a:spcAft>
            </a:pPr>
            <a:r>
              <a:rPr lang="zh-CN" altLang="en-US" sz="2400" dirty="0">
                <a:solidFill>
                  <a:srgbClr val="FF0000"/>
                </a:solidFill>
                <a:latin typeface="华文新魏" panose="02010800040101010101" pitchFamily="2" charset="-122"/>
                <a:ea typeface="华文新魏" panose="02010800040101010101" pitchFamily="2" charset="-122"/>
              </a:rPr>
              <a:t>格式为</a:t>
            </a:r>
            <a:r>
              <a:rPr lang="zh-CN" altLang="en-US" sz="2400" dirty="0">
                <a:solidFill>
                  <a:schemeClr val="tx1"/>
                </a:solidFill>
                <a:latin typeface="华文新魏" panose="02010800040101010101" pitchFamily="2" charset="-122"/>
                <a:ea typeface="华文新魏" panose="02010800040101010101" pitchFamily="2" charset="-122"/>
              </a:rPr>
              <a:t>：</a:t>
            </a:r>
          </a:p>
          <a:p>
            <a:pPr>
              <a:spcBef>
                <a:spcPts val="600"/>
              </a:spcBef>
              <a:spcAft>
                <a:spcPts val="600"/>
              </a:spcAft>
            </a:pP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rgbClr val="FF0000"/>
                </a:solidFill>
                <a:latin typeface="华文新魏" panose="02010800040101010101" pitchFamily="2" charset="-122"/>
                <a:ea typeface="华文新魏" panose="02010800040101010101" pitchFamily="2" charset="-122"/>
              </a:rPr>
              <a:t>use </a:t>
            </a:r>
            <a:r>
              <a:rPr lang="zh-CN" altLang="en-US" sz="2400" dirty="0">
                <a:solidFill>
                  <a:schemeClr val="tx1"/>
                </a:solidFill>
                <a:latin typeface="华文新魏" panose="02010800040101010101" pitchFamily="2" charset="-122"/>
                <a:ea typeface="华文新魏" panose="02010800040101010101" pitchFamily="2" charset="-122"/>
              </a:rPr>
              <a:t>库名</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程序包名</a:t>
            </a:r>
            <a:r>
              <a:rPr lang="en-US" altLang="zh-CN" sz="2400">
                <a:solidFill>
                  <a:srgbClr val="0000FF"/>
                </a:solidFill>
                <a:latin typeface="华文新魏" panose="02010800040101010101" pitchFamily="2" charset="-122"/>
                <a:ea typeface="华文新魏" panose="02010800040101010101" pitchFamily="2" charset="-122"/>
              </a:rPr>
              <a:t>.all</a:t>
            </a:r>
            <a:r>
              <a:rPr lang="en-US" altLang="zh-CN" sz="2400">
                <a:solidFill>
                  <a:schemeClr val="tx1"/>
                </a:solidFill>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1010">
                                            <p:txEl>
                                              <p:pRg st="0" end="0"/>
                                            </p:txEl>
                                          </p:spTgt>
                                        </p:tgtEl>
                                        <p:attrNameLst>
                                          <p:attrName>style.visibility</p:attrName>
                                        </p:attrNameLst>
                                      </p:cBhvr>
                                      <p:to>
                                        <p:strVal val="visible"/>
                                      </p:to>
                                    </p:set>
                                    <p:anim calcmode="lin" valueType="num">
                                      <p:cBhvr additive="base">
                                        <p:cTn id="7" dur="500" fill="hold"/>
                                        <p:tgtEl>
                                          <p:spTgt spid="1710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10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1010">
                                            <p:txEl>
                                              <p:pRg st="1" end="1"/>
                                            </p:txEl>
                                          </p:spTgt>
                                        </p:tgtEl>
                                        <p:attrNameLst>
                                          <p:attrName>style.visibility</p:attrName>
                                        </p:attrNameLst>
                                      </p:cBhvr>
                                      <p:to>
                                        <p:strVal val="visible"/>
                                      </p:to>
                                    </p:set>
                                    <p:anim calcmode="lin" valueType="num">
                                      <p:cBhvr additive="base">
                                        <p:cTn id="11" dur="500" fill="hold"/>
                                        <p:tgtEl>
                                          <p:spTgt spid="1710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101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1010">
                                            <p:txEl>
                                              <p:pRg st="2" end="2"/>
                                            </p:txEl>
                                          </p:spTgt>
                                        </p:tgtEl>
                                        <p:attrNameLst>
                                          <p:attrName>style.visibility</p:attrName>
                                        </p:attrNameLst>
                                      </p:cBhvr>
                                      <p:to>
                                        <p:strVal val="visible"/>
                                      </p:to>
                                    </p:set>
                                    <p:anim calcmode="lin" valueType="num">
                                      <p:cBhvr additive="base">
                                        <p:cTn id="15" dur="500" fill="hold"/>
                                        <p:tgtEl>
                                          <p:spTgt spid="1710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10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1010">
                                            <p:txEl>
                                              <p:pRg st="4" end="4"/>
                                            </p:txEl>
                                          </p:spTgt>
                                        </p:tgtEl>
                                        <p:attrNameLst>
                                          <p:attrName>style.visibility</p:attrName>
                                        </p:attrNameLst>
                                      </p:cBhvr>
                                      <p:to>
                                        <p:strVal val="visible"/>
                                      </p:to>
                                    </p:set>
                                    <p:anim calcmode="lin" valueType="num">
                                      <p:cBhvr additive="base">
                                        <p:cTn id="21" dur="500" fill="hold"/>
                                        <p:tgtEl>
                                          <p:spTgt spid="171010">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1010">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71010">
                                            <p:txEl>
                                              <p:pRg st="5" end="5"/>
                                            </p:txEl>
                                          </p:spTgt>
                                        </p:tgtEl>
                                        <p:attrNameLst>
                                          <p:attrName>style.visibility</p:attrName>
                                        </p:attrNameLst>
                                      </p:cBhvr>
                                      <p:to>
                                        <p:strVal val="visible"/>
                                      </p:to>
                                    </p:set>
                                    <p:anim calcmode="lin" valueType="num">
                                      <p:cBhvr additive="base">
                                        <p:cTn id="25" dur="500" fill="hold"/>
                                        <p:tgtEl>
                                          <p:spTgt spid="171010">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1010">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71010">
                                            <p:txEl>
                                              <p:pRg st="6" end="6"/>
                                            </p:txEl>
                                          </p:spTgt>
                                        </p:tgtEl>
                                        <p:attrNameLst>
                                          <p:attrName>style.visibility</p:attrName>
                                        </p:attrNameLst>
                                      </p:cBhvr>
                                      <p:to>
                                        <p:strVal val="visible"/>
                                      </p:to>
                                    </p:set>
                                    <p:anim calcmode="lin" valueType="num">
                                      <p:cBhvr additive="base">
                                        <p:cTn id="29" dur="500" fill="hold"/>
                                        <p:tgtEl>
                                          <p:spTgt spid="171010">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10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09"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53</a:t>
            </a:fld>
            <a:endParaRPr lang="en-US" altLang="zh-CN" sz="1050" b="0" dirty="0">
              <a:latin typeface="Arial" panose="020B0604020202020204" pitchFamily="34" charset="0"/>
            </a:endParaRPr>
          </a:p>
        </p:txBody>
      </p:sp>
      <p:sp>
        <p:nvSpPr>
          <p:cNvPr id="401410" name="Rectangle 2"/>
          <p:cNvSpPr>
            <a:spLocks noGrp="1"/>
          </p:cNvSpPr>
          <p:nvPr>
            <p:ph type="title"/>
          </p:nvPr>
        </p:nvSpPr>
        <p:spPr/>
        <p:txBody>
          <a:bodyPr vert="horz" wrap="square" lIns="68580" tIns="34290" rIns="68580" bIns="34290" anchor="ctr"/>
          <a:lstStyle/>
          <a:p>
            <a:pPr algn="l" eaLnBrk="1" hangingPunct="1"/>
            <a:r>
              <a:rPr lang="zh-CN" altLang="en-US" sz="2100" b="1" dirty="0">
                <a:latin typeface="华文新魏" panose="02010800040101010101" pitchFamily="2" charset="-122"/>
                <a:ea typeface="华文新魏" panose="02010800040101010101" pitchFamily="2" charset="-122"/>
              </a:rPr>
              <a:t>程序包例： </a:t>
            </a:r>
            <a:r>
              <a:rPr lang="zh-CN" altLang="en-US" sz="2100" b="1" u="sng" dirty="0">
                <a:latin typeface="华文新魏" panose="02010800040101010101" pitchFamily="2" charset="-122"/>
                <a:ea typeface="华文新魏" panose="02010800040101010101" pitchFamily="2" charset="-122"/>
              </a:rPr>
              <a:t>设计一个</a:t>
            </a:r>
            <a:r>
              <a:rPr lang="zh-CN" altLang="en-US" sz="2100" b="1" u="sng" dirty="0">
                <a:solidFill>
                  <a:srgbClr val="0000FF"/>
                </a:solidFill>
                <a:latin typeface="华文新魏" panose="02010800040101010101" pitchFamily="2" charset="-122"/>
                <a:ea typeface="华文新魏" panose="02010800040101010101" pitchFamily="2" charset="-122"/>
              </a:rPr>
              <a:t>半加器</a:t>
            </a:r>
            <a:r>
              <a:rPr lang="zh-CN" altLang="en-US" sz="2100" b="1" u="sng" dirty="0">
                <a:latin typeface="华文新魏" panose="02010800040101010101" pitchFamily="2" charset="-122"/>
                <a:ea typeface="华文新魏" panose="02010800040101010101" pitchFamily="2" charset="-122"/>
              </a:rPr>
              <a:t>和</a:t>
            </a:r>
            <a:r>
              <a:rPr lang="zh-CN" altLang="en-US" sz="2100" b="1" u="sng" dirty="0">
                <a:solidFill>
                  <a:srgbClr val="0000FF"/>
                </a:solidFill>
                <a:latin typeface="华文新魏" panose="02010800040101010101" pitchFamily="2" charset="-122"/>
                <a:ea typeface="华文新魏" panose="02010800040101010101" pitchFamily="2" charset="-122"/>
              </a:rPr>
              <a:t>或门</a:t>
            </a:r>
            <a:r>
              <a:rPr lang="zh-CN" altLang="en-US" sz="2100" b="1" u="sng" dirty="0">
                <a:latin typeface="华文新魏" panose="02010800040101010101" pitchFamily="2" charset="-122"/>
                <a:ea typeface="华文新魏" panose="02010800040101010101" pitchFamily="2" charset="-122"/>
              </a:rPr>
              <a:t>元件，并以程序包方式将其扩展成</a:t>
            </a:r>
            <a:r>
              <a:rPr lang="en-US" altLang="zh-CN" sz="2100" b="1" u="sng" dirty="0">
                <a:solidFill>
                  <a:srgbClr val="0000FF"/>
                </a:solidFill>
                <a:latin typeface="华文新魏" panose="02010800040101010101" pitchFamily="2" charset="-122"/>
                <a:ea typeface="华文新魏" panose="02010800040101010101" pitchFamily="2" charset="-122"/>
              </a:rPr>
              <a:t>1</a:t>
            </a:r>
            <a:r>
              <a:rPr lang="zh-CN" altLang="en-US" sz="2100" b="1" u="sng" dirty="0">
                <a:solidFill>
                  <a:srgbClr val="0000FF"/>
                </a:solidFill>
                <a:latin typeface="华文新魏" panose="02010800040101010101" pitchFamily="2" charset="-122"/>
                <a:ea typeface="华文新魏" panose="02010800040101010101" pitchFamily="2" charset="-122"/>
              </a:rPr>
              <a:t>位全加器</a:t>
            </a:r>
          </a:p>
        </p:txBody>
      </p:sp>
      <p:sp>
        <p:nvSpPr>
          <p:cNvPr id="401411" name="Rectangle 3"/>
          <p:cNvSpPr>
            <a:spLocks noGrp="1"/>
          </p:cNvSpPr>
          <p:nvPr>
            <p:ph idx="1"/>
          </p:nvPr>
        </p:nvSpPr>
        <p:spPr/>
        <p:txBody>
          <a:bodyPr vert="horz" wrap="square" lIns="68580" tIns="34290" rIns="68580" bIns="34290" anchor="t"/>
          <a:lstStyle/>
          <a:p>
            <a:pPr eaLnBrk="1" hangingPunct="1">
              <a:lnSpc>
                <a:spcPct val="90000"/>
              </a:lnSpc>
            </a:pPr>
            <a:r>
              <a:rPr lang="zh-CN" altLang="en-US" sz="1500" b="1" dirty="0">
                <a:latin typeface="华文新魏" panose="02010800040101010101" pitchFamily="2" charset="-122"/>
                <a:ea typeface="华文新魏" panose="02010800040101010101" pitchFamily="2" charset="-122"/>
              </a:rPr>
              <a:t>步骤</a:t>
            </a:r>
            <a:r>
              <a:rPr lang="en-US" altLang="zh-CN" sz="1500" b="1" dirty="0">
                <a:latin typeface="华文新魏" panose="02010800040101010101" pitchFamily="2" charset="-122"/>
                <a:ea typeface="华文新魏" panose="02010800040101010101" pitchFamily="2" charset="-122"/>
              </a:rPr>
              <a:t>1</a:t>
            </a:r>
            <a:r>
              <a:rPr lang="zh-CN" altLang="en-US" sz="1500" b="1" dirty="0">
                <a:latin typeface="华文新魏" panose="02010800040101010101" pitchFamily="2" charset="-122"/>
                <a:ea typeface="华文新魏" panose="02010800040101010101" pitchFamily="2" charset="-122"/>
              </a:rPr>
              <a:t>：建立一个名为</a:t>
            </a:r>
            <a:r>
              <a:rPr lang="en-US" altLang="zh-CN" sz="1500" b="1" dirty="0">
                <a:latin typeface="华文新魏" panose="02010800040101010101" pitchFamily="2" charset="-122"/>
                <a:ea typeface="华文新魏" panose="02010800040101010101" pitchFamily="2" charset="-122"/>
              </a:rPr>
              <a:t>PACK_COM</a:t>
            </a:r>
            <a:r>
              <a:rPr lang="zh-CN" altLang="en-US" sz="1500" b="1" dirty="0">
                <a:latin typeface="华文新魏" panose="02010800040101010101" pitchFamily="2" charset="-122"/>
                <a:ea typeface="华文新魏" panose="02010800040101010101" pitchFamily="2" charset="-122"/>
              </a:rPr>
              <a:t>的项目（</a:t>
            </a:r>
            <a:r>
              <a:rPr lang="zh-CN" altLang="en-US" sz="1500" b="1" dirty="0">
                <a:solidFill>
                  <a:srgbClr val="FF0000"/>
                </a:solidFill>
                <a:latin typeface="华文新魏" panose="02010800040101010101" pitchFamily="2" charset="-122"/>
                <a:ea typeface="华文新魏" panose="02010800040101010101" pitchFamily="2" charset="-122"/>
              </a:rPr>
              <a:t>工程，</a:t>
            </a:r>
            <a:r>
              <a:rPr lang="en-US" altLang="zh-CN" sz="1500" b="1" dirty="0">
                <a:solidFill>
                  <a:srgbClr val="FF0000"/>
                </a:solidFill>
                <a:latin typeface="华文新魏" panose="02010800040101010101" pitchFamily="2" charset="-122"/>
                <a:ea typeface="华文新魏" panose="02010800040101010101" pitchFamily="2" charset="-122"/>
              </a:rPr>
              <a:t>project</a:t>
            </a:r>
            <a:r>
              <a:rPr lang="zh-CN" altLang="en-US" sz="1500" b="1" dirty="0">
                <a:latin typeface="华文新魏" panose="02010800040101010101" pitchFamily="2" charset="-122"/>
                <a:ea typeface="华文新魏" panose="02010800040101010101" pitchFamily="2" charset="-122"/>
              </a:rPr>
              <a:t>）</a:t>
            </a:r>
          </a:p>
          <a:p>
            <a:pPr eaLnBrk="1" hangingPunct="1">
              <a:lnSpc>
                <a:spcPct val="90000"/>
              </a:lnSpc>
            </a:pPr>
            <a:r>
              <a:rPr lang="zh-CN" altLang="en-US" sz="1500" b="1" dirty="0">
                <a:latin typeface="华文新魏" panose="02010800040101010101" pitchFamily="2" charset="-122"/>
                <a:ea typeface="华文新魏" panose="02010800040101010101" pitchFamily="2" charset="-122"/>
              </a:rPr>
              <a:t>步骤</a:t>
            </a:r>
            <a:r>
              <a:rPr lang="en-US" altLang="zh-CN" sz="1500" b="1" dirty="0">
                <a:latin typeface="华文新魏" panose="02010800040101010101" pitchFamily="2" charset="-122"/>
                <a:ea typeface="华文新魏" panose="02010800040101010101" pitchFamily="2" charset="-122"/>
              </a:rPr>
              <a:t>2</a:t>
            </a:r>
            <a:r>
              <a:rPr lang="zh-CN" altLang="en-US" sz="1500" b="1" dirty="0">
                <a:latin typeface="华文新魏" panose="02010800040101010101" pitchFamily="2" charset="-122"/>
                <a:ea typeface="华文新魏" panose="02010800040101010101" pitchFamily="2" charset="-122"/>
              </a:rPr>
              <a:t>：编辑一个</a:t>
            </a:r>
            <a:r>
              <a:rPr lang="zh-CN" altLang="en-US" sz="1500" b="1" dirty="0">
                <a:solidFill>
                  <a:srgbClr val="FF0000"/>
                </a:solidFill>
                <a:latin typeface="华文新魏" panose="02010800040101010101" pitchFamily="2" charset="-122"/>
                <a:ea typeface="华文新魏" panose="02010800040101010101" pitchFamily="2" charset="-122"/>
              </a:rPr>
              <a:t>程序包声明文件</a:t>
            </a:r>
            <a:r>
              <a:rPr lang="zh-CN" altLang="en-US" sz="1500" b="1" dirty="0">
                <a:latin typeface="华文新魏" panose="02010800040101010101" pitchFamily="2" charset="-122"/>
                <a:ea typeface="华文新魏" panose="02010800040101010101" pitchFamily="2" charset="-122"/>
              </a:rPr>
              <a:t>，经语法测试无误后以</a:t>
            </a:r>
            <a:r>
              <a:rPr lang="en-US" altLang="zh-CN" sz="1500" b="1" dirty="0">
                <a:latin typeface="华文新魏" panose="02010800040101010101" pitchFamily="2" charset="-122"/>
                <a:ea typeface="华文新魏" panose="02010800040101010101" pitchFamily="2" charset="-122"/>
              </a:rPr>
              <a:t>PACK_COM</a:t>
            </a:r>
            <a:r>
              <a:rPr lang="zh-CN" altLang="en-US" sz="1500" b="1" dirty="0">
                <a:latin typeface="华文新魏" panose="02010800040101010101" pitchFamily="2" charset="-122"/>
                <a:ea typeface="华文新魏" panose="02010800040101010101" pitchFamily="2" charset="-122"/>
              </a:rPr>
              <a:t>名称存入</a:t>
            </a:r>
            <a:r>
              <a:rPr lang="en-US" altLang="zh-CN" sz="1500" b="1" dirty="0">
                <a:latin typeface="华文新魏" panose="02010800040101010101" pitchFamily="2" charset="-122"/>
                <a:ea typeface="华文新魏" panose="02010800040101010101" pitchFamily="2" charset="-122"/>
              </a:rPr>
              <a:t>work</a:t>
            </a:r>
            <a:r>
              <a:rPr lang="zh-CN" altLang="en-US" sz="1500" b="1" dirty="0">
                <a:latin typeface="华文新魏" panose="02010800040101010101" pitchFamily="2" charset="-122"/>
                <a:ea typeface="华文新魏" panose="02010800040101010101" pitchFamily="2" charset="-122"/>
              </a:rPr>
              <a:t>库的项目中。</a:t>
            </a:r>
          </a:p>
          <a:p>
            <a:pPr eaLnBrk="1" hangingPunct="1">
              <a:lnSpc>
                <a:spcPct val="90000"/>
              </a:lnSpc>
            </a:pPr>
            <a:endParaRPr lang="zh-CN" altLang="en-US" sz="1500" b="1" dirty="0">
              <a:latin typeface="华文新魏" panose="02010800040101010101" pitchFamily="2" charset="-122"/>
              <a:ea typeface="华文新魏" panose="02010800040101010101" pitchFamily="2" charset="-122"/>
            </a:endParaRP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  PACKAGE DECLARATION (COMPONENT)   *</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 Component :Half Adder And OR_Gate  *</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       Filename : PACK_COM          *</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 </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library IEEE;</a:t>
            </a:r>
          </a:p>
          <a:p>
            <a:pPr lvl="1" eaLnBrk="1" hangingPunct="1">
              <a:lnSpc>
                <a:spcPct val="90000"/>
              </a:lnSpc>
              <a:buNone/>
            </a:pPr>
            <a:r>
              <a:rPr lang="en-US" altLang="zh-CN" sz="1800" b="1" dirty="0">
                <a:latin typeface="华文新魏" panose="02010800040101010101" pitchFamily="2" charset="-122"/>
                <a:ea typeface="华文新魏" panose="02010800040101010101" pitchFamily="2" charset="-122"/>
              </a:rPr>
              <a:t>use IEEE.std_logic_1164.all;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3"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54</a:t>
            </a:fld>
            <a:endParaRPr lang="en-US" altLang="zh-CN" sz="1050" b="0" dirty="0">
              <a:latin typeface="Arial" panose="020B0604020202020204" pitchFamily="34" charset="0"/>
            </a:endParaRPr>
          </a:p>
        </p:txBody>
      </p:sp>
      <p:sp>
        <p:nvSpPr>
          <p:cNvPr id="402434" name="Rectangle 3"/>
          <p:cNvSpPr>
            <a:spLocks noGrp="1"/>
          </p:cNvSpPr>
          <p:nvPr>
            <p:ph idx="1"/>
          </p:nvPr>
        </p:nvSpPr>
        <p:spPr>
          <a:xfrm>
            <a:off x="1485900" y="578485"/>
            <a:ext cx="6381750" cy="4400550"/>
          </a:xfrm>
        </p:spPr>
        <p:txBody>
          <a:bodyPr vert="horz" wrap="square" lIns="68580" tIns="34290" rIns="68580" bIns="34290" anchor="t"/>
          <a:lstStyle/>
          <a:p>
            <a:pPr eaLnBrk="1" hangingPunct="1">
              <a:lnSpc>
                <a:spcPct val="60000"/>
              </a:lnSpc>
              <a:buNone/>
            </a:pPr>
            <a:r>
              <a:rPr lang="en-US" altLang="zh-CN" sz="1800" b="1" dirty="0">
                <a:solidFill>
                  <a:srgbClr val="0000FF"/>
                </a:solidFill>
              </a:rPr>
              <a:t>PACKAGE</a:t>
            </a:r>
            <a:r>
              <a:rPr lang="en-US" altLang="zh-CN" sz="1800" b="1" dirty="0"/>
              <a:t> PACK_COM  </a:t>
            </a:r>
            <a:r>
              <a:rPr lang="en-US" altLang="zh-CN" sz="1800" b="1" dirty="0">
                <a:solidFill>
                  <a:srgbClr val="0000FF"/>
                </a:solidFill>
              </a:rPr>
              <a:t>IS</a:t>
            </a:r>
          </a:p>
          <a:p>
            <a:pPr eaLnBrk="1" hangingPunct="1">
              <a:lnSpc>
                <a:spcPct val="60000"/>
              </a:lnSpc>
              <a:buNone/>
            </a:pPr>
            <a:r>
              <a:rPr lang="en-US" altLang="zh-CN" sz="1800" b="1" dirty="0">
                <a:solidFill>
                  <a:srgbClr val="0000FF"/>
                </a:solidFill>
              </a:rPr>
              <a:t>  component</a:t>
            </a:r>
            <a:r>
              <a:rPr lang="en-US" altLang="zh-CN" sz="1800" b="1" dirty="0"/>
              <a:t> HA_COM</a:t>
            </a:r>
          </a:p>
          <a:p>
            <a:pPr eaLnBrk="1" hangingPunct="1">
              <a:lnSpc>
                <a:spcPct val="60000"/>
              </a:lnSpc>
              <a:buNone/>
            </a:pPr>
            <a:r>
              <a:rPr lang="en-US" altLang="zh-CN" sz="1800" b="1" dirty="0"/>
              <a:t>      port(</a:t>
            </a:r>
          </a:p>
          <a:p>
            <a:pPr eaLnBrk="1" hangingPunct="1">
              <a:lnSpc>
                <a:spcPct val="60000"/>
              </a:lnSpc>
              <a:buNone/>
            </a:pPr>
            <a:r>
              <a:rPr lang="en-US" altLang="zh-CN" sz="1800" b="1" dirty="0"/>
              <a:t>            X0: in STD_LOGIC;</a:t>
            </a:r>
          </a:p>
          <a:p>
            <a:pPr eaLnBrk="1" hangingPunct="1">
              <a:lnSpc>
                <a:spcPct val="60000"/>
              </a:lnSpc>
              <a:buNone/>
            </a:pPr>
            <a:r>
              <a:rPr lang="en-US" altLang="zh-CN" sz="1800" b="1" dirty="0"/>
              <a:t>            Y0: in STD_LOGIC;</a:t>
            </a:r>
          </a:p>
          <a:p>
            <a:pPr eaLnBrk="1" hangingPunct="1">
              <a:lnSpc>
                <a:spcPct val="60000"/>
              </a:lnSpc>
              <a:buNone/>
            </a:pPr>
            <a:r>
              <a:rPr lang="en-US" altLang="zh-CN" sz="1800" b="1" dirty="0"/>
              <a:t>            So: out STD_LOGIC; </a:t>
            </a:r>
          </a:p>
          <a:p>
            <a:pPr eaLnBrk="1" hangingPunct="1">
              <a:lnSpc>
                <a:spcPct val="60000"/>
              </a:lnSpc>
              <a:buNone/>
            </a:pPr>
            <a:r>
              <a:rPr lang="en-US" altLang="zh-CN" sz="1800" b="1" dirty="0"/>
              <a:t>            Co: out STD_LOGIC</a:t>
            </a:r>
          </a:p>
          <a:p>
            <a:pPr eaLnBrk="1" hangingPunct="1">
              <a:lnSpc>
                <a:spcPct val="60000"/>
              </a:lnSpc>
              <a:buNone/>
            </a:pPr>
            <a:r>
              <a:rPr lang="en-US" altLang="zh-CN" sz="1800" b="1" dirty="0"/>
              <a:t>            );</a:t>
            </a:r>
          </a:p>
          <a:p>
            <a:pPr eaLnBrk="1" hangingPunct="1">
              <a:lnSpc>
                <a:spcPct val="60000"/>
              </a:lnSpc>
              <a:buNone/>
            </a:pPr>
            <a:r>
              <a:rPr lang="en-US" altLang="zh-CN" sz="1800" b="1" dirty="0"/>
              <a:t>      end component; </a:t>
            </a:r>
          </a:p>
          <a:p>
            <a:pPr eaLnBrk="1" hangingPunct="1">
              <a:lnSpc>
                <a:spcPct val="60000"/>
              </a:lnSpc>
              <a:buNone/>
            </a:pPr>
            <a:r>
              <a:rPr lang="en-US" altLang="zh-CN" sz="1800" b="1" dirty="0">
                <a:solidFill>
                  <a:srgbClr val="0000FF"/>
                </a:solidFill>
              </a:rPr>
              <a:t>  component</a:t>
            </a:r>
            <a:r>
              <a:rPr lang="en-US" altLang="zh-CN" sz="1800" b="1" dirty="0"/>
              <a:t> OR_GATE</a:t>
            </a:r>
          </a:p>
          <a:p>
            <a:pPr eaLnBrk="1" hangingPunct="1">
              <a:lnSpc>
                <a:spcPct val="60000"/>
              </a:lnSpc>
              <a:buNone/>
            </a:pPr>
            <a:r>
              <a:rPr lang="en-US" altLang="zh-CN" sz="1800" b="1" dirty="0"/>
              <a:t>      port (</a:t>
            </a:r>
          </a:p>
          <a:p>
            <a:pPr eaLnBrk="1" hangingPunct="1">
              <a:lnSpc>
                <a:spcPct val="60000"/>
              </a:lnSpc>
              <a:buNone/>
            </a:pPr>
            <a:r>
              <a:rPr lang="en-US" altLang="zh-CN" sz="1800" b="1" dirty="0"/>
              <a:t>              A: in STD_LOGIC;</a:t>
            </a:r>
          </a:p>
          <a:p>
            <a:pPr eaLnBrk="1" hangingPunct="1">
              <a:lnSpc>
                <a:spcPct val="60000"/>
              </a:lnSpc>
              <a:buNone/>
            </a:pPr>
            <a:r>
              <a:rPr lang="en-US" altLang="zh-CN" sz="1800" b="1" dirty="0"/>
              <a:t>              B: in STD_LOGIC;</a:t>
            </a:r>
          </a:p>
          <a:p>
            <a:pPr eaLnBrk="1" hangingPunct="1">
              <a:lnSpc>
                <a:spcPct val="60000"/>
              </a:lnSpc>
              <a:buNone/>
            </a:pPr>
            <a:r>
              <a:rPr lang="en-US" altLang="zh-CN" sz="1800" b="1" dirty="0"/>
              <a:t>              F: out STD_LOGIC</a:t>
            </a:r>
          </a:p>
          <a:p>
            <a:pPr eaLnBrk="1" hangingPunct="1">
              <a:lnSpc>
                <a:spcPct val="60000"/>
              </a:lnSpc>
              <a:buNone/>
            </a:pPr>
            <a:r>
              <a:rPr lang="en-US" altLang="zh-CN" sz="1800" b="1" dirty="0"/>
              <a:t>              );</a:t>
            </a:r>
          </a:p>
          <a:p>
            <a:pPr eaLnBrk="1" hangingPunct="1">
              <a:lnSpc>
                <a:spcPct val="60000"/>
              </a:lnSpc>
              <a:buNone/>
            </a:pPr>
            <a:r>
              <a:rPr lang="en-US" altLang="zh-CN" sz="1800" b="1" dirty="0"/>
              <a:t>      end component;</a:t>
            </a:r>
          </a:p>
          <a:p>
            <a:pPr eaLnBrk="1" hangingPunct="1">
              <a:lnSpc>
                <a:spcPct val="60000"/>
              </a:lnSpc>
              <a:buNone/>
            </a:pPr>
            <a:r>
              <a:rPr lang="en-US" altLang="zh-CN" sz="1800" b="1" dirty="0"/>
              <a:t>end PACK_COM;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7"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55</a:t>
            </a:fld>
            <a:endParaRPr lang="en-US" altLang="zh-CN" sz="1050" b="0" dirty="0">
              <a:latin typeface="Arial" panose="020B0604020202020204" pitchFamily="34" charset="0"/>
            </a:endParaRPr>
          </a:p>
        </p:txBody>
      </p:sp>
      <p:sp>
        <p:nvSpPr>
          <p:cNvPr id="403458" name="Rectangle 2"/>
          <p:cNvSpPr>
            <a:spLocks noGrp="1"/>
          </p:cNvSpPr>
          <p:nvPr>
            <p:ph type="title"/>
          </p:nvPr>
        </p:nvSpPr>
        <p:spPr>
          <a:xfrm>
            <a:off x="628650" y="346393"/>
            <a:ext cx="7886700" cy="993775"/>
          </a:xfrm>
        </p:spPr>
        <p:txBody>
          <a:bodyPr vert="horz" wrap="square" lIns="68580" tIns="34290" rIns="68580" bIns="34290" anchor="ctr"/>
          <a:lstStyle/>
          <a:p>
            <a:pPr eaLnBrk="1" hangingPunct="1"/>
            <a:r>
              <a:rPr lang="zh-CN" altLang="en-US" sz="2400" b="1" dirty="0">
                <a:latin typeface="华文新魏" panose="02010800040101010101" pitchFamily="2" charset="-122"/>
                <a:ea typeface="华文新魏" panose="02010800040101010101" pitchFamily="2" charset="-122"/>
              </a:rPr>
              <a:t>步骤</a:t>
            </a:r>
            <a:r>
              <a:rPr lang="en-US" altLang="zh-CN" sz="2400" b="1" dirty="0">
                <a:latin typeface="华文新魏" panose="02010800040101010101" pitchFamily="2" charset="-122"/>
                <a:ea typeface="华文新魏" panose="02010800040101010101" pitchFamily="2" charset="-122"/>
              </a:rPr>
              <a:t>3</a:t>
            </a:r>
            <a:r>
              <a:rPr lang="zh-CN" altLang="en-US" sz="2400" b="1" dirty="0">
                <a:latin typeface="华文新魏" panose="02010800040101010101" pitchFamily="2" charset="-122"/>
                <a:ea typeface="华文新魏" panose="02010800040101010101" pitchFamily="2" charset="-122"/>
              </a:rPr>
              <a:t>：设计一个或门程序，经测试无误后以</a:t>
            </a:r>
            <a:r>
              <a:rPr lang="en-US" altLang="zh-CN" sz="2400" b="1" dirty="0">
                <a:latin typeface="华文新魏" panose="02010800040101010101" pitchFamily="2" charset="-122"/>
                <a:ea typeface="华文新魏" panose="02010800040101010101" pitchFamily="2" charset="-122"/>
              </a:rPr>
              <a:t>OR_GATE</a:t>
            </a:r>
            <a:r>
              <a:rPr lang="zh-CN" altLang="en-US" sz="2400" b="1" dirty="0">
                <a:latin typeface="华文新魏" panose="02010800040101010101" pitchFamily="2" charset="-122"/>
                <a:ea typeface="华文新魏" panose="02010800040101010101" pitchFamily="2" charset="-122"/>
              </a:rPr>
              <a:t>名称存入项目中。</a:t>
            </a:r>
          </a:p>
        </p:txBody>
      </p:sp>
      <p:sp>
        <p:nvSpPr>
          <p:cNvPr id="403459" name="Rectangle 3"/>
          <p:cNvSpPr>
            <a:spLocks noGrp="1"/>
          </p:cNvSpPr>
          <p:nvPr>
            <p:ph idx="1"/>
          </p:nvPr>
        </p:nvSpPr>
        <p:spPr>
          <a:xfrm>
            <a:off x="1485900" y="1271905"/>
            <a:ext cx="6172200" cy="3943350"/>
          </a:xfrm>
        </p:spPr>
        <p:txBody>
          <a:bodyPr vert="horz" wrap="square" lIns="68580" tIns="34290" rIns="68580" bIns="34290" anchor="t"/>
          <a:lstStyle/>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Filename : OR_GATE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library IEEE;</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use IEEE.std_logic_1164.all;</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entity </a:t>
            </a:r>
            <a:r>
              <a:rPr lang="en-US" altLang="zh-CN" sz="1600" b="1" dirty="0">
                <a:solidFill>
                  <a:srgbClr val="FF0000"/>
                </a:solidFill>
                <a:latin typeface="华文新魏" panose="02010800040101010101" pitchFamily="2" charset="-122"/>
                <a:ea typeface="华文新魏" panose="02010800040101010101" pitchFamily="2" charset="-122"/>
              </a:rPr>
              <a:t>OR_GATE </a:t>
            </a:r>
            <a:r>
              <a:rPr lang="en-US" altLang="zh-CN" sz="1600" b="1" dirty="0">
                <a:latin typeface="华文新魏" panose="02010800040101010101" pitchFamily="2" charset="-122"/>
                <a:ea typeface="华文新魏" panose="02010800040101010101" pitchFamily="2" charset="-122"/>
              </a:rPr>
              <a:t>is</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port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A: in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B: in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F: out STD_LOGIC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end OR_GATE;</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architecture OR_GATE_arch of OR_GATE is</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begin</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F &lt;= A </a:t>
            </a:r>
            <a:r>
              <a:rPr lang="en-US" altLang="zh-CN" sz="1600" b="1" dirty="0">
                <a:solidFill>
                  <a:srgbClr val="FF0000"/>
                </a:solidFill>
                <a:latin typeface="华文新魏" panose="02010800040101010101" pitchFamily="2" charset="-122"/>
                <a:ea typeface="华文新魏" panose="02010800040101010101" pitchFamily="2" charset="-122"/>
              </a:rPr>
              <a:t>or</a:t>
            </a:r>
            <a:r>
              <a:rPr lang="en-US" altLang="zh-CN" sz="1600" b="1" dirty="0">
                <a:latin typeface="华文新魏" panose="02010800040101010101" pitchFamily="2" charset="-122"/>
                <a:ea typeface="华文新魏" panose="02010800040101010101" pitchFamily="2" charset="-122"/>
              </a:rPr>
              <a:t> B;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end OR_GATE_arch;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1"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56</a:t>
            </a:fld>
            <a:endParaRPr lang="en-US" altLang="zh-CN" sz="1050" b="0" dirty="0">
              <a:latin typeface="Arial" panose="020B0604020202020204" pitchFamily="34" charset="0"/>
            </a:endParaRPr>
          </a:p>
        </p:txBody>
      </p:sp>
      <p:sp>
        <p:nvSpPr>
          <p:cNvPr id="404482" name="Rectangle 3"/>
          <p:cNvSpPr>
            <a:spLocks noGrp="1"/>
          </p:cNvSpPr>
          <p:nvPr>
            <p:ph idx="1"/>
          </p:nvPr>
        </p:nvSpPr>
        <p:spPr>
          <a:xfrm>
            <a:off x="1485900" y="747125"/>
            <a:ext cx="6172200" cy="4184650"/>
          </a:xfrm>
        </p:spPr>
        <p:txBody>
          <a:bodyPr vert="horz" wrap="square" lIns="68580" tIns="34290" rIns="68580" bIns="34290" anchor="t"/>
          <a:lstStyle/>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Filename : HA_COM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library IEEE;</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use IEEE.std_logic_1164.all;</a:t>
            </a:r>
          </a:p>
          <a:p>
            <a:pPr eaLnBrk="1" hangingPunct="1">
              <a:lnSpc>
                <a:spcPct val="80000"/>
              </a:lnSpc>
              <a:buNone/>
            </a:pPr>
            <a:r>
              <a:rPr lang="en-US" altLang="zh-CN" sz="1600" b="1" dirty="0">
                <a:solidFill>
                  <a:srgbClr val="FF0000"/>
                </a:solidFill>
                <a:latin typeface="华文新魏" panose="02010800040101010101" pitchFamily="2" charset="-122"/>
                <a:ea typeface="华文新魏" panose="02010800040101010101" pitchFamily="2" charset="-122"/>
              </a:rPr>
              <a:t>entity</a:t>
            </a:r>
            <a:r>
              <a:rPr lang="en-US" altLang="zh-CN" sz="1600" b="1" dirty="0">
                <a:latin typeface="华文新魏" panose="02010800040101010101" pitchFamily="2" charset="-122"/>
                <a:ea typeface="华文新魏" panose="02010800040101010101" pitchFamily="2" charset="-122"/>
              </a:rPr>
              <a:t> </a:t>
            </a:r>
            <a:r>
              <a:rPr lang="en-US" altLang="zh-CN" sz="1600" b="1" dirty="0">
                <a:solidFill>
                  <a:srgbClr val="0000FF"/>
                </a:solidFill>
                <a:latin typeface="华文新魏" panose="02010800040101010101" pitchFamily="2" charset="-122"/>
                <a:ea typeface="华文新魏" panose="02010800040101010101" pitchFamily="2" charset="-122"/>
              </a:rPr>
              <a:t>HA_COM  </a:t>
            </a:r>
            <a:r>
              <a:rPr lang="en-US" altLang="zh-CN" sz="1600" b="1" dirty="0">
                <a:solidFill>
                  <a:srgbClr val="FF0000"/>
                </a:solidFill>
                <a:latin typeface="华文新魏" panose="02010800040101010101" pitchFamily="2" charset="-122"/>
                <a:ea typeface="华文新魏" panose="02010800040101010101" pitchFamily="2" charset="-122"/>
              </a:rPr>
              <a:t>is</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port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X0: in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Y0: in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So: out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Co: out STD_LOGIC</a:t>
            </a:r>
            <a:r>
              <a:rPr lang="en-US" altLang="zh-CN" sz="1600" b="1" dirty="0">
                <a:latin typeface="华文新魏" panose="02010800040101010101" pitchFamily="2" charset="-122"/>
                <a:ea typeface="华文新魏" panose="02010800040101010101" pitchFamily="2" charset="-122"/>
                <a:sym typeface="+mn-ea"/>
              </a:rPr>
              <a:t>);</a:t>
            </a:r>
            <a:endParaRPr lang="en-US" altLang="zh-CN" sz="1600" b="1" dirty="0">
              <a:latin typeface="华文新魏" panose="02010800040101010101" pitchFamily="2" charset="-122"/>
              <a:ea typeface="华文新魏" panose="02010800040101010101" pitchFamily="2" charset="-122"/>
            </a:endParaRP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end HA_COM;</a:t>
            </a:r>
          </a:p>
          <a:p>
            <a:pPr eaLnBrk="1" hangingPunct="1">
              <a:lnSpc>
                <a:spcPct val="80000"/>
              </a:lnSpc>
              <a:buNone/>
            </a:pPr>
            <a:r>
              <a:rPr lang="en-US" altLang="zh-CN" sz="1600" b="1" dirty="0">
                <a:solidFill>
                  <a:srgbClr val="FF0000"/>
                </a:solidFill>
                <a:latin typeface="华文新魏" panose="02010800040101010101" pitchFamily="2" charset="-122"/>
                <a:ea typeface="华文新魏" panose="02010800040101010101" pitchFamily="2" charset="-122"/>
              </a:rPr>
              <a:t>architecture</a:t>
            </a:r>
            <a:r>
              <a:rPr lang="en-US" altLang="zh-CN" sz="1600" b="1" dirty="0">
                <a:latin typeface="华文新魏" panose="02010800040101010101" pitchFamily="2" charset="-122"/>
                <a:ea typeface="华文新魏" panose="02010800040101010101" pitchFamily="2" charset="-122"/>
              </a:rPr>
              <a:t>  HA_COM_arch </a:t>
            </a:r>
            <a:r>
              <a:rPr lang="en-US" altLang="zh-CN" sz="1600" b="1" dirty="0">
                <a:solidFill>
                  <a:srgbClr val="0000FF"/>
                </a:solidFill>
                <a:latin typeface="华文新魏" panose="02010800040101010101" pitchFamily="2" charset="-122"/>
                <a:ea typeface="华文新魏" panose="02010800040101010101" pitchFamily="2" charset="-122"/>
              </a:rPr>
              <a:t>of HA_COM  </a:t>
            </a:r>
            <a:r>
              <a:rPr lang="en-US" altLang="zh-CN" sz="1600" b="1" dirty="0">
                <a:solidFill>
                  <a:srgbClr val="FF0000"/>
                </a:solidFill>
                <a:latin typeface="华文新魏" panose="02010800040101010101" pitchFamily="2" charset="-122"/>
                <a:ea typeface="华文新魏" panose="02010800040101010101" pitchFamily="2" charset="-122"/>
              </a:rPr>
              <a:t>is</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begin</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So  &lt;= X0 xor Y0;</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Co  &lt;= X0 and Y0;</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end HA_COM_arch;</a:t>
            </a:r>
          </a:p>
        </p:txBody>
      </p:sp>
      <p:sp>
        <p:nvSpPr>
          <p:cNvPr id="404483" name="Rectangle 4"/>
          <p:cNvSpPr>
            <a:spLocks noGrp="1"/>
          </p:cNvSpPr>
          <p:nvPr>
            <p:ph type="title"/>
          </p:nvPr>
        </p:nvSpPr>
        <p:spPr>
          <a:xfrm>
            <a:off x="323528" y="339502"/>
            <a:ext cx="8404860" cy="572135"/>
          </a:xfrm>
        </p:spPr>
        <p:txBody>
          <a:bodyPr vert="horz" wrap="square" lIns="68580" tIns="34290" rIns="68580" bIns="34290" anchor="ctr"/>
          <a:lstStyle/>
          <a:p>
            <a:pPr algn="l" eaLnBrk="1" hangingPunct="1"/>
            <a:r>
              <a:rPr lang="zh-CN" altLang="en-US" sz="2100" b="1" dirty="0">
                <a:latin typeface="华文新魏" panose="02010800040101010101" pitchFamily="2" charset="-122"/>
                <a:ea typeface="华文新魏" panose="02010800040101010101" pitchFamily="2" charset="-122"/>
              </a:rPr>
              <a:t>步骤</a:t>
            </a:r>
            <a:r>
              <a:rPr lang="en-US" altLang="zh-CN" sz="2100" b="1" dirty="0">
                <a:latin typeface="华文新魏" panose="02010800040101010101" pitchFamily="2" charset="-122"/>
                <a:ea typeface="华文新魏" panose="02010800040101010101" pitchFamily="2" charset="-122"/>
              </a:rPr>
              <a:t>4</a:t>
            </a:r>
            <a:r>
              <a:rPr lang="zh-CN" altLang="en-US" sz="2100" b="1" dirty="0">
                <a:latin typeface="华文新魏" panose="02010800040101010101" pitchFamily="2" charset="-122"/>
                <a:ea typeface="华文新魏" panose="02010800040101010101" pitchFamily="2" charset="-122"/>
              </a:rPr>
              <a:t>：设计一个半加器，经测试无误后以</a:t>
            </a:r>
            <a:r>
              <a:rPr lang="en-US" altLang="zh-CN" sz="2100" b="1" dirty="0">
                <a:latin typeface="华文新魏" panose="02010800040101010101" pitchFamily="2" charset="-122"/>
                <a:ea typeface="华文新魏" panose="02010800040101010101" pitchFamily="2" charset="-122"/>
              </a:rPr>
              <a:t>HA_COM</a:t>
            </a:r>
            <a:r>
              <a:rPr lang="zh-CN" altLang="en-US" sz="2100" b="1" dirty="0">
                <a:latin typeface="华文新魏" panose="02010800040101010101" pitchFamily="2" charset="-122"/>
                <a:ea typeface="华文新魏" panose="02010800040101010101" pitchFamily="2" charset="-122"/>
              </a:rPr>
              <a:t>名称存入项目中。</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5" name="灯片编号占位符 5"/>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t>57</a:t>
            </a:fld>
            <a:endParaRPr lang="en-US" altLang="zh-CN" sz="1050" b="0" dirty="0">
              <a:latin typeface="Arial" panose="020B0604020202020204" pitchFamily="34" charset="0"/>
            </a:endParaRPr>
          </a:p>
        </p:txBody>
      </p:sp>
      <p:sp>
        <p:nvSpPr>
          <p:cNvPr id="405506" name="Rectangle 2"/>
          <p:cNvSpPr>
            <a:spLocks noGrp="1"/>
          </p:cNvSpPr>
          <p:nvPr>
            <p:ph type="title"/>
          </p:nvPr>
        </p:nvSpPr>
        <p:spPr>
          <a:xfrm>
            <a:off x="1302772" y="339502"/>
            <a:ext cx="6172200" cy="323850"/>
          </a:xfrm>
        </p:spPr>
        <p:txBody>
          <a:bodyPr vert="horz" wrap="square" lIns="68580" tIns="34290" rIns="68580" bIns="34290" anchor="ctr"/>
          <a:lstStyle/>
          <a:p>
            <a:pPr algn="l" eaLnBrk="1" hangingPunct="1"/>
            <a:r>
              <a:rPr lang="zh-CN" altLang="en-US" sz="2000" b="1" dirty="0">
                <a:latin typeface="华文新魏" panose="02010800040101010101" pitchFamily="2" charset="-122"/>
                <a:ea typeface="华文新魏" panose="02010800040101010101" pitchFamily="2" charset="-122"/>
              </a:rPr>
              <a:t>步骤</a:t>
            </a:r>
            <a:r>
              <a:rPr lang="en-US" altLang="zh-CN" sz="2000" b="1" dirty="0">
                <a:latin typeface="华文新魏" panose="02010800040101010101" pitchFamily="2" charset="-122"/>
                <a:ea typeface="华文新魏" panose="02010800040101010101" pitchFamily="2" charset="-122"/>
              </a:rPr>
              <a:t>5</a:t>
            </a:r>
            <a:r>
              <a:rPr lang="zh-CN" altLang="en-US" sz="2000" b="1" dirty="0">
                <a:latin typeface="华文新魏" panose="02010800040101010101" pitchFamily="2" charset="-122"/>
                <a:ea typeface="华文新魏" panose="02010800040101010101" pitchFamily="2" charset="-122"/>
              </a:rPr>
              <a:t>：设计一个调用程序，将它们连接成</a:t>
            </a: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位加法器。</a:t>
            </a:r>
          </a:p>
        </p:txBody>
      </p:sp>
      <p:sp>
        <p:nvSpPr>
          <p:cNvPr id="405507" name="Rectangle 3"/>
          <p:cNvSpPr>
            <a:spLocks noGrp="1"/>
          </p:cNvSpPr>
          <p:nvPr>
            <p:ph idx="1"/>
          </p:nvPr>
        </p:nvSpPr>
        <p:spPr>
          <a:xfrm>
            <a:off x="1547664" y="699542"/>
            <a:ext cx="6172200" cy="4237434"/>
          </a:xfrm>
        </p:spPr>
        <p:txBody>
          <a:bodyPr vert="horz" wrap="square" lIns="68580" tIns="34290" rIns="68580" bIns="34290" anchor="t"/>
          <a:lstStyle/>
          <a:p>
            <a:pPr eaLnBrk="1" hangingPunct="1">
              <a:lnSpc>
                <a:spcPct val="80000"/>
              </a:lnSpc>
              <a:buNone/>
            </a:pPr>
            <a:r>
              <a:rPr lang="en-US" altLang="zh-CN" sz="1500" b="1" dirty="0">
                <a:latin typeface="华文新魏" panose="02010800040101010101" pitchFamily="2" charset="-122"/>
                <a:ea typeface="华文新魏" panose="02010800040101010101" pitchFamily="2" charset="-122"/>
              </a:rPr>
              <a:t>--Filename : </a:t>
            </a:r>
            <a:r>
              <a:rPr lang="en-US" altLang="zh-CN" sz="1500" b="1" dirty="0">
                <a:solidFill>
                  <a:srgbClr val="FF0000"/>
                </a:solidFill>
                <a:latin typeface="华文新魏" panose="02010800040101010101" pitchFamily="2" charset="-122"/>
                <a:ea typeface="华文新魏" panose="02010800040101010101" pitchFamily="2" charset="-122"/>
              </a:rPr>
              <a:t>FA_PACK</a:t>
            </a:r>
            <a:r>
              <a:rPr lang="en-US" altLang="zh-CN" sz="1500" b="1" dirty="0">
                <a:latin typeface="华文新魏" panose="02010800040101010101" pitchFamily="2" charset="-122"/>
                <a:ea typeface="华文新魏" panose="02010800040101010101" pitchFamily="2" charset="-122"/>
              </a:rPr>
              <a:t>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library IEEE;</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use IEEE.std_logic_1164.all;</a:t>
            </a:r>
          </a:p>
          <a:p>
            <a:pPr eaLnBrk="1" hangingPunct="1">
              <a:lnSpc>
                <a:spcPct val="80000"/>
              </a:lnSpc>
              <a:buNone/>
            </a:pPr>
            <a:r>
              <a:rPr lang="en-US" altLang="zh-CN" sz="1600" b="1" dirty="0">
                <a:solidFill>
                  <a:srgbClr val="FF0000"/>
                </a:solidFill>
                <a:latin typeface="华文新魏" panose="02010800040101010101" pitchFamily="2" charset="-122"/>
                <a:ea typeface="华文新魏" panose="02010800040101010101" pitchFamily="2" charset="-122"/>
              </a:rPr>
              <a:t>use work.pack_com.all</a:t>
            </a:r>
            <a:r>
              <a:rPr lang="en-US" altLang="zh-CN" sz="1600" b="1" dirty="0">
                <a:latin typeface="华文新魏" panose="02010800040101010101" pitchFamily="2" charset="-122"/>
                <a:ea typeface="华文新魏" panose="02010800040101010101" pitchFamily="2" charset="-122"/>
              </a:rPr>
              <a:t>;</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Entity  </a:t>
            </a:r>
            <a:r>
              <a:rPr lang="en-US" altLang="zh-CN" sz="1600" b="1" dirty="0">
                <a:solidFill>
                  <a:srgbClr val="0000FF"/>
                </a:solidFill>
                <a:latin typeface="华文新魏" panose="02010800040101010101" pitchFamily="2" charset="-122"/>
                <a:ea typeface="华文新魏" panose="02010800040101010101" pitchFamily="2" charset="-122"/>
              </a:rPr>
              <a:t>FA_PACK  </a:t>
            </a:r>
            <a:r>
              <a:rPr lang="en-US" altLang="zh-CN" sz="1600" b="1" dirty="0">
                <a:latin typeface="华文新魏" panose="02010800040101010101" pitchFamily="2" charset="-122"/>
                <a:ea typeface="华文新魏" panose="02010800040101010101" pitchFamily="2" charset="-122"/>
              </a:rPr>
              <a:t>is</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port ( Xi,Yi ,Ci : in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So ,Co : out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end  FA_PACK;</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architecture FA_PACK_arch of FA_PACK </a:t>
            </a:r>
            <a:r>
              <a:rPr lang="en-US" altLang="zh-CN" sz="1600" b="1" dirty="0">
                <a:solidFill>
                  <a:srgbClr val="FF0000"/>
                </a:solidFill>
                <a:latin typeface="华文新魏" panose="02010800040101010101" pitchFamily="2" charset="-122"/>
                <a:ea typeface="华文新魏" panose="02010800040101010101" pitchFamily="2" charset="-122"/>
              </a:rPr>
              <a:t>is</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signal CT, ST, CA :STD_LOGIC;</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begin</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element1: HA_COM  port map (Xi,Yi,ST,CT);</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element2: HA_COM  port map (ST,Ci,So,CA);</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           element3: OR_GATE port map (CA,CT,Co);      </a:t>
            </a:r>
          </a:p>
          <a:p>
            <a:pPr eaLnBrk="1" hangingPunct="1">
              <a:lnSpc>
                <a:spcPct val="80000"/>
              </a:lnSpc>
              <a:buNone/>
            </a:pPr>
            <a:r>
              <a:rPr lang="en-US" altLang="zh-CN" sz="1600" b="1" dirty="0">
                <a:latin typeface="华文新魏" panose="02010800040101010101" pitchFamily="2" charset="-122"/>
                <a:ea typeface="华文新魏" panose="02010800040101010101" pitchFamily="2" charset="-122"/>
              </a:rPr>
              <a:t>end FA_PACK_arch;</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矩形 3"/>
          <p:cNvSpPr/>
          <p:nvPr/>
        </p:nvSpPr>
        <p:spPr>
          <a:xfrm>
            <a:off x="755650" y="700088"/>
            <a:ext cx="2879725" cy="511175"/>
          </a:xfrm>
          <a:prstGeom prst="rect">
            <a:avLst/>
          </a:prstGeom>
          <a:noFill/>
          <a:ln w="9525">
            <a:noFill/>
          </a:ln>
        </p:spPr>
        <p:txBody>
          <a:bodyPr>
            <a:spAutoFit/>
          </a:bodyPr>
          <a:lstStyle/>
          <a:p>
            <a:pPr eaLnBrk="1" hangingPunct="1">
              <a:lnSpc>
                <a:spcPct val="120000"/>
              </a:lnSpc>
              <a:buFont typeface="Arial" panose="020B0604020202020204" pitchFamily="34" charset="0"/>
            </a:pPr>
            <a:r>
              <a:rPr lang="en-US" altLang="zh-CN" sz="2400" b="1">
                <a:solidFill>
                  <a:srgbClr val="FF0000"/>
                </a:solidFill>
                <a:latin typeface="华文新魏" panose="02010800040101010101" pitchFamily="2" charset="-122"/>
                <a:ea typeface="华文新魏" panose="02010800040101010101" pitchFamily="2" charset="-122"/>
              </a:rPr>
              <a:t>4.4.4  </a:t>
            </a:r>
            <a:r>
              <a:rPr lang="zh-CN" altLang="en-US" sz="2400" b="1" dirty="0">
                <a:solidFill>
                  <a:srgbClr val="FF0000"/>
                </a:solidFill>
                <a:latin typeface="华文新魏" panose="02010800040101010101" pitchFamily="2" charset="-122"/>
                <a:ea typeface="华文新魏" panose="02010800040101010101" pitchFamily="2" charset="-122"/>
              </a:rPr>
              <a:t>层次结构设计</a:t>
            </a:r>
            <a:endParaRPr lang="en-US" altLang="zh-CN" sz="2400">
              <a:solidFill>
                <a:srgbClr val="FF0000"/>
              </a:solidFill>
              <a:latin typeface="华文新魏" panose="02010800040101010101" pitchFamily="2" charset="-122"/>
              <a:ea typeface="华文新魏" panose="02010800040101010101" pitchFamily="2" charset="-122"/>
            </a:endParaRPr>
          </a:p>
        </p:txBody>
      </p:sp>
      <p:sp>
        <p:nvSpPr>
          <p:cNvPr id="173059" name="矩形 1"/>
          <p:cNvSpPr/>
          <p:nvPr/>
        </p:nvSpPr>
        <p:spPr>
          <a:xfrm>
            <a:off x="370205" y="1419225"/>
            <a:ext cx="8234045" cy="3046095"/>
          </a:xfrm>
          <a:prstGeom prst="rect">
            <a:avLst/>
          </a:prstGeom>
          <a:noFill/>
          <a:ln w="9525">
            <a:noFill/>
          </a:ln>
        </p:spPr>
        <p:txBody>
          <a:bodyPr wrap="square">
            <a:spAutoFit/>
          </a:bodyPr>
          <a:lstStyle/>
          <a:p>
            <a:r>
              <a:rPr lang="zh-CN" altLang="en-US" sz="2400" dirty="0">
                <a:solidFill>
                  <a:srgbClr val="0000FF"/>
                </a:solidFill>
                <a:latin typeface="华文新魏" panose="02010800040101010101" pitchFamily="2" charset="-122"/>
                <a:ea typeface="华文新魏" panose="02010800040101010101" pitchFamily="2" charset="-122"/>
              </a:rPr>
              <a:t>层次结构设计是</a:t>
            </a:r>
            <a:r>
              <a:rPr lang="en-US" altLang="zh-CN" sz="2400">
                <a:solidFill>
                  <a:srgbClr val="0000FF"/>
                </a:solidFill>
                <a:latin typeface="华文新魏" panose="02010800040101010101" pitchFamily="2" charset="-122"/>
                <a:ea typeface="华文新魏" panose="02010800040101010101" pitchFamily="2" charset="-122"/>
              </a:rPr>
              <a:t>VHDL</a:t>
            </a:r>
            <a:r>
              <a:rPr lang="zh-CN" altLang="en-US" sz="2400" dirty="0">
                <a:solidFill>
                  <a:srgbClr val="0000FF"/>
                </a:solidFill>
                <a:latin typeface="华文新魏" panose="02010800040101010101" pitchFamily="2" charset="-122"/>
                <a:ea typeface="华文新魏" panose="02010800040101010101" pitchFamily="2" charset="-122"/>
              </a:rPr>
              <a:t>的主要优势，也是描述较大规模硬件的必要手段。</a:t>
            </a:r>
            <a:r>
              <a:rPr lang="zh-CN" altLang="en-US" sz="2400" dirty="0">
                <a:solidFill>
                  <a:srgbClr val="FF0000"/>
                </a:solidFill>
                <a:latin typeface="华文新魏" panose="02010800040101010101" pitchFamily="2" charset="-122"/>
                <a:ea typeface="华文新魏" panose="02010800040101010101" pitchFamily="2" charset="-122"/>
              </a:rPr>
              <a:t>层次结构设计的方法是结构化设计方法的一种体现。</a:t>
            </a:r>
          </a:p>
          <a:p>
            <a:r>
              <a:rPr lang="zh-CN" altLang="en-US" sz="2400" dirty="0">
                <a:solidFill>
                  <a:schemeClr val="tx1"/>
                </a:solidFill>
                <a:latin typeface="华文新魏" panose="02010800040101010101" pitchFamily="2" charset="-122"/>
                <a:ea typeface="华文新魏" panose="02010800040101010101" pitchFamily="2" charset="-122"/>
              </a:rPr>
              <a:t>层次化设计的概念和原理图层次化设计的概念相似，即在较高层设计中引用低层的或外部的元件。</a:t>
            </a:r>
          </a:p>
          <a:p>
            <a:r>
              <a:rPr lang="zh-CN" altLang="en-US" sz="2400" dirty="0">
                <a:solidFill>
                  <a:schemeClr val="tx1"/>
                </a:solidFill>
                <a:latin typeface="华文新魏" panose="02010800040101010101" pitchFamily="2" charset="-122"/>
                <a:ea typeface="华文新魏" panose="02010800040101010101" pitchFamily="2" charset="-122"/>
              </a:rPr>
              <a:t>较高层设计实体往往把较低层设计实体当一个元件处理，即元件（</a:t>
            </a:r>
            <a:r>
              <a:rPr lang="en-US" altLang="zh-CN" sz="2400">
                <a:solidFill>
                  <a:schemeClr val="tx1"/>
                </a:solidFill>
                <a:latin typeface="华文新魏" panose="02010800040101010101" pitchFamily="2" charset="-122"/>
                <a:ea typeface="华文新魏" panose="02010800040101010101" pitchFamily="2" charset="-122"/>
              </a:rPr>
              <a:t>component</a:t>
            </a:r>
            <a:r>
              <a:rPr lang="zh-CN" altLang="en-US" sz="2400" dirty="0">
                <a:solidFill>
                  <a:schemeClr val="tx1"/>
                </a:solidFill>
                <a:latin typeface="华文新魏" panose="02010800040101010101" pitchFamily="2" charset="-122"/>
                <a:ea typeface="华文新魏" panose="02010800040101010101" pitchFamily="2" charset="-122"/>
              </a:rPr>
              <a:t>）与低层的“实体</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结构体对”相对应。元件除了可以表示基本的元件外，也可以表示一个子系统。</a:t>
            </a:r>
          </a:p>
        </p:txBody>
      </p:sp>
      <p:sp>
        <p:nvSpPr>
          <p:cNvPr id="3" name="矩形 2"/>
          <p:cNvSpPr/>
          <p:nvPr/>
        </p:nvSpPr>
        <p:spPr>
          <a:xfrm>
            <a:off x="3931920" y="483870"/>
            <a:ext cx="5311140" cy="706755"/>
          </a:xfrm>
          <a:prstGeom prst="rect">
            <a:avLst/>
          </a:prstGeom>
          <a:noFill/>
          <a:ln w="9525">
            <a:noFill/>
          </a:ln>
        </p:spPr>
        <p:txBody>
          <a:bodyPr wrap="square">
            <a:spAutoFit/>
          </a:bodyPr>
          <a:lstStyle/>
          <a:p>
            <a:r>
              <a:rPr lang="zh-CN" altLang="en-US" dirty="0">
                <a:solidFill>
                  <a:schemeClr val="tx1"/>
                </a:solidFill>
                <a:latin typeface="华文新魏" panose="02010800040101010101" pitchFamily="2" charset="-122"/>
                <a:ea typeface="华文新魏" panose="02010800040101010101" pitchFamily="2" charset="-122"/>
              </a:rPr>
              <a:t>与行为描述设计方法</a:t>
            </a:r>
            <a:r>
              <a:rPr lang="en-US" altLang="zh-CN" dirty="0" err="1">
                <a:solidFill>
                  <a:schemeClr val="tx1"/>
                </a:solidFill>
                <a:latin typeface="华文新魏" panose="02010800040101010101" pitchFamily="2" charset="-122"/>
                <a:ea typeface="华文新魏" panose="02010800040101010101" pitchFamily="2" charset="-122"/>
              </a:rPr>
              <a:t>rtl</a:t>
            </a:r>
            <a:r>
              <a:rPr lang="zh-CN" altLang="en-US" dirty="0">
                <a:solidFill>
                  <a:schemeClr val="tx1"/>
                </a:solidFill>
                <a:latin typeface="华文新魏" panose="02010800040101010101" pitchFamily="2" charset="-122"/>
                <a:ea typeface="华文新魏" panose="02010800040101010101" pitchFamily="2" charset="-122"/>
              </a:rPr>
              <a:t>的不同：按设计需要编译生成电路，而后者生成电路由</a:t>
            </a:r>
            <a:r>
              <a:rPr lang="en-US" altLang="zh-CN" dirty="0">
                <a:solidFill>
                  <a:schemeClr val="tx1"/>
                </a:solidFill>
                <a:latin typeface="华文新魏" panose="02010800040101010101" pitchFamily="2" charset="-122"/>
                <a:ea typeface="华文新魏" panose="02010800040101010101" pitchFamily="2" charset="-122"/>
              </a:rPr>
              <a:t>EDA</a:t>
            </a:r>
            <a:r>
              <a:rPr lang="zh-CN" altLang="en-US" dirty="0">
                <a:solidFill>
                  <a:schemeClr val="tx1"/>
                </a:solidFill>
                <a:latin typeface="华文新魏" panose="02010800040101010101" pitchFamily="2" charset="-122"/>
                <a:ea typeface="华文新魏" panose="02010800040101010101" pitchFamily="2" charset="-122"/>
              </a:rPr>
              <a:t>决定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3059">
                                            <p:txEl>
                                              <p:pRg st="0" end="0"/>
                                            </p:txEl>
                                          </p:spTgt>
                                        </p:tgtEl>
                                        <p:attrNameLst>
                                          <p:attrName>style.visibility</p:attrName>
                                        </p:attrNameLst>
                                      </p:cBhvr>
                                      <p:to>
                                        <p:strVal val="visible"/>
                                      </p:to>
                                    </p:set>
                                    <p:anim calcmode="lin" valueType="num">
                                      <p:cBhvr additive="base">
                                        <p:cTn id="7" dur="500" fill="hold"/>
                                        <p:tgtEl>
                                          <p:spTgt spid="173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3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3059">
                                            <p:txEl>
                                              <p:pRg st="1" end="1"/>
                                            </p:txEl>
                                          </p:spTgt>
                                        </p:tgtEl>
                                        <p:attrNameLst>
                                          <p:attrName>style.visibility</p:attrName>
                                        </p:attrNameLst>
                                      </p:cBhvr>
                                      <p:to>
                                        <p:strVal val="visible"/>
                                      </p:to>
                                    </p:set>
                                    <p:anim calcmode="lin" valueType="num">
                                      <p:cBhvr additive="base">
                                        <p:cTn id="13" dur="500" fill="hold"/>
                                        <p:tgtEl>
                                          <p:spTgt spid="173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3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3059">
                                            <p:txEl>
                                              <p:pRg st="2" end="2"/>
                                            </p:txEl>
                                          </p:spTgt>
                                        </p:tgtEl>
                                        <p:attrNameLst>
                                          <p:attrName>style.visibility</p:attrName>
                                        </p:attrNameLst>
                                      </p:cBhvr>
                                      <p:to>
                                        <p:strVal val="visible"/>
                                      </p:to>
                                    </p:set>
                                    <p:anim calcmode="lin" valueType="num">
                                      <p:cBhvr additive="base">
                                        <p:cTn id="19" dur="500" fill="hold"/>
                                        <p:tgtEl>
                                          <p:spTgt spid="1730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3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矩形 1"/>
          <p:cNvSpPr/>
          <p:nvPr/>
        </p:nvSpPr>
        <p:spPr>
          <a:xfrm>
            <a:off x="468313" y="771525"/>
            <a:ext cx="2320925" cy="457200"/>
          </a:xfrm>
          <a:prstGeom prst="rect">
            <a:avLst/>
          </a:prstGeom>
          <a:noFill/>
          <a:ln w="9525">
            <a:noFill/>
          </a:ln>
        </p:spPr>
        <p:txBody>
          <a:bodyPr wrap="none">
            <a:spAutoFit/>
          </a:bodyPr>
          <a:lstStyle/>
          <a:p>
            <a:r>
              <a:rPr lang="en-US" altLang="zh-CN" sz="2400" b="1">
                <a:solidFill>
                  <a:srgbClr val="FF0000"/>
                </a:solidFill>
                <a:latin typeface="华文新魏" panose="02010800040101010101" pitchFamily="2" charset="-122"/>
                <a:ea typeface="华文新魏" panose="02010800040101010101" pitchFamily="2" charset="-122"/>
              </a:rPr>
              <a:t>component</a:t>
            </a:r>
            <a:r>
              <a:rPr lang="zh-CN" altLang="en-US" sz="2400" b="1" dirty="0">
                <a:solidFill>
                  <a:srgbClr val="FF0000"/>
                </a:solidFill>
                <a:latin typeface="华文新魏" panose="02010800040101010101" pitchFamily="2" charset="-122"/>
                <a:ea typeface="华文新魏" panose="02010800040101010101" pitchFamily="2" charset="-122"/>
              </a:rPr>
              <a:t>语句</a:t>
            </a:r>
            <a:endParaRPr lang="zh-CN" altLang="en-US" sz="2400" dirty="0">
              <a:solidFill>
                <a:srgbClr val="FF0000"/>
              </a:solidFill>
              <a:latin typeface="华文新魏" panose="02010800040101010101" pitchFamily="2" charset="-122"/>
              <a:ea typeface="华文新魏" panose="02010800040101010101" pitchFamily="2" charset="-122"/>
            </a:endParaRPr>
          </a:p>
        </p:txBody>
      </p:sp>
      <p:sp>
        <p:nvSpPr>
          <p:cNvPr id="174083" name="矩形 2"/>
          <p:cNvSpPr/>
          <p:nvPr/>
        </p:nvSpPr>
        <p:spPr>
          <a:xfrm>
            <a:off x="1389063" y="1276350"/>
            <a:ext cx="6711950" cy="1568450"/>
          </a:xfrm>
          <a:prstGeom prst="rect">
            <a:avLst/>
          </a:prstGeom>
          <a:noFill/>
          <a:ln w="9525">
            <a:noFill/>
          </a:ln>
        </p:spPr>
        <p:txBody>
          <a:bodyPr>
            <a:spAutoFit/>
          </a:bodyPr>
          <a:lstStyle/>
          <a:p>
            <a:r>
              <a:rPr lang="en-US" altLang="zh-CN" sz="2400">
                <a:solidFill>
                  <a:schemeClr val="tx1"/>
                </a:solidFill>
                <a:latin typeface="华文新魏" panose="02010800040101010101" pitchFamily="2" charset="-122"/>
                <a:ea typeface="华文新魏" panose="02010800040101010101" pitchFamily="2" charset="-122"/>
              </a:rPr>
              <a:t>component</a:t>
            </a:r>
            <a:r>
              <a:rPr lang="zh-CN" altLang="en-US" sz="2400" dirty="0">
                <a:solidFill>
                  <a:schemeClr val="tx1"/>
                </a:solidFill>
                <a:latin typeface="华文新魏" panose="02010800040101010101" pitchFamily="2" charset="-122"/>
                <a:ea typeface="华文新魏" panose="02010800040101010101" pitchFamily="2" charset="-122"/>
              </a:rPr>
              <a:t>语句指明了结构体中引用的是哪一个元件，这些被引用的元件被放在元件库或者较低层设计实体中。在结构体中，无须对引用的元件进行详细描述。</a:t>
            </a:r>
          </a:p>
        </p:txBody>
      </p:sp>
      <p:sp>
        <p:nvSpPr>
          <p:cNvPr id="174084" name="矩形 3"/>
          <p:cNvSpPr/>
          <p:nvPr/>
        </p:nvSpPr>
        <p:spPr>
          <a:xfrm>
            <a:off x="1448435" y="2860675"/>
            <a:ext cx="6341745" cy="2306955"/>
          </a:xfrm>
          <a:prstGeom prst="rect">
            <a:avLst/>
          </a:prstGeom>
          <a:noFill/>
          <a:ln w="9525">
            <a:noFill/>
          </a:ln>
        </p:spPr>
        <p:txBody>
          <a:bodyPr wrap="square">
            <a:spAutoFit/>
          </a:bodyPr>
          <a:lstStyle/>
          <a:p>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lvl="2"/>
            <a:r>
              <a:rPr lang="en-US" altLang="zh-CN" sz="2400">
                <a:solidFill>
                  <a:srgbClr val="0000FF"/>
                </a:solidFill>
                <a:latin typeface="华文新魏" panose="02010800040101010101" pitchFamily="2" charset="-122"/>
                <a:ea typeface="华文新魏" panose="02010800040101010101" pitchFamily="2" charset="-122"/>
              </a:rPr>
              <a:t>component </a:t>
            </a:r>
            <a:r>
              <a:rPr lang="zh-CN" altLang="en-US" sz="2400" dirty="0">
                <a:solidFill>
                  <a:schemeClr val="tx1"/>
                </a:solidFill>
                <a:latin typeface="华文新魏" panose="02010800040101010101" pitchFamily="2" charset="-122"/>
                <a:ea typeface="华文新魏" panose="02010800040101010101" pitchFamily="2" charset="-122"/>
              </a:rPr>
              <a:t>元件名   </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指定引用元件</a:t>
            </a:r>
            <a:endParaRPr lang="en-US" altLang="zh-CN" sz="2400">
              <a:solidFill>
                <a:schemeClr val="tx1"/>
              </a:solidFill>
              <a:latin typeface="华文新魏" panose="02010800040101010101" pitchFamily="2" charset="-122"/>
              <a:ea typeface="华文新魏" panose="02010800040101010101" pitchFamily="2" charset="-122"/>
            </a:endParaRPr>
          </a:p>
          <a:p>
            <a:pPr lvl="2"/>
            <a:r>
              <a:rPr lang="en-US" altLang="zh-CN" sz="2400">
                <a:solidFill>
                  <a:schemeClr val="tx1"/>
                </a:solidFill>
                <a:latin typeface="华文新魏" panose="02010800040101010101" pitchFamily="2" charset="-122"/>
                <a:ea typeface="华文新魏" panose="02010800040101010101" pitchFamily="2" charset="-122"/>
              </a:rPr>
              <a:t>[</a:t>
            </a:r>
            <a:r>
              <a:rPr lang="en-US" altLang="zh-CN" sz="2400">
                <a:solidFill>
                  <a:srgbClr val="0000FF"/>
                </a:solidFill>
                <a:latin typeface="华文新魏" panose="02010800040101010101" pitchFamily="2" charset="-122"/>
                <a:ea typeface="华文新魏" panose="02010800040101010101" pitchFamily="2" charset="-122"/>
              </a:rPr>
              <a:t>generic</a:t>
            </a:r>
            <a:r>
              <a:rPr lang="zh-CN" altLang="en-US" sz="2400" dirty="0">
                <a:solidFill>
                  <a:schemeClr val="tx1"/>
                </a:solidFill>
                <a:latin typeface="华文新魏" panose="02010800040101010101" pitchFamily="2" charset="-122"/>
                <a:ea typeface="华文新魏" panose="02010800040101010101" pitchFamily="2" charset="-122"/>
              </a:rPr>
              <a:t>说明</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参数传递说明</a:t>
            </a:r>
            <a:endParaRPr lang="en-US" altLang="zh-CN" sz="2400">
              <a:solidFill>
                <a:schemeClr val="tx1"/>
              </a:solidFill>
              <a:latin typeface="华文新魏" panose="02010800040101010101" pitchFamily="2" charset="-122"/>
              <a:ea typeface="华文新魏" panose="02010800040101010101" pitchFamily="2" charset="-122"/>
            </a:endParaRPr>
          </a:p>
          <a:p>
            <a:pPr lvl="2"/>
            <a:r>
              <a:rPr lang="en-US" altLang="zh-CN" sz="2400">
                <a:solidFill>
                  <a:schemeClr val="tx1"/>
                </a:solidFill>
                <a:latin typeface="华文新魏" panose="02010800040101010101" pitchFamily="2" charset="-122"/>
                <a:ea typeface="华文新魏" panose="02010800040101010101" pitchFamily="2" charset="-122"/>
              </a:rPr>
              <a:t>[</a:t>
            </a:r>
            <a:r>
              <a:rPr lang="en-US" altLang="zh-CN" sz="2400">
                <a:solidFill>
                  <a:srgbClr val="0000FF"/>
                </a:solidFill>
                <a:latin typeface="华文新魏" panose="02010800040101010101" pitchFamily="2" charset="-122"/>
                <a:ea typeface="华文新魏" panose="02010800040101010101" pitchFamily="2" charset="-122"/>
              </a:rPr>
              <a:t>port</a:t>
            </a:r>
            <a:r>
              <a:rPr lang="zh-CN" altLang="en-US" sz="2400" dirty="0">
                <a:solidFill>
                  <a:schemeClr val="tx1"/>
                </a:solidFill>
                <a:latin typeface="华文新魏" panose="02010800040101010101" pitchFamily="2" charset="-122"/>
                <a:ea typeface="华文新魏" panose="02010800040101010101" pitchFamily="2" charset="-122"/>
              </a:rPr>
              <a:t>说明</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元件端口说明</a:t>
            </a:r>
            <a:endParaRPr lang="en-US" altLang="zh-CN" sz="2400">
              <a:solidFill>
                <a:schemeClr val="tx1"/>
              </a:solidFill>
              <a:latin typeface="华文新魏" panose="02010800040101010101" pitchFamily="2" charset="-122"/>
              <a:ea typeface="华文新魏" panose="02010800040101010101" pitchFamily="2" charset="-122"/>
            </a:endParaRPr>
          </a:p>
          <a:p>
            <a:pPr lvl="2"/>
            <a:r>
              <a:rPr lang="en-US" altLang="zh-CN" sz="2400">
                <a:solidFill>
                  <a:srgbClr val="0000FF"/>
                </a:solidFill>
                <a:latin typeface="华文新魏" panose="02010800040101010101" pitchFamily="2" charset="-122"/>
                <a:ea typeface="华文新魏" panose="02010800040101010101" pitchFamily="2" charset="-122"/>
              </a:rPr>
              <a:t>end</a:t>
            </a:r>
            <a:r>
              <a:rPr lang="en-US" altLang="zh-CN" sz="2400">
                <a:solidFill>
                  <a:schemeClr val="tx1"/>
                </a:solidFill>
                <a:latin typeface="华文新魏" panose="02010800040101010101" pitchFamily="2" charset="-122"/>
                <a:ea typeface="华文新魏" panose="02010800040101010101" pitchFamily="2" charset="-122"/>
              </a:rPr>
              <a:t> component;</a:t>
            </a:r>
          </a:p>
          <a:p>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 calcmode="lin" valueType="num">
                                      <p:cBhvr additive="base">
                                        <p:cTn id="7" dur="500" fill="hold"/>
                                        <p:tgtEl>
                                          <p:spTgt spid="174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084"/>
                                        </p:tgtEl>
                                        <p:attrNameLst>
                                          <p:attrName>style.visibility</p:attrName>
                                        </p:attrNameLst>
                                      </p:cBhvr>
                                      <p:to>
                                        <p:strVal val="visible"/>
                                      </p:to>
                                    </p:set>
                                    <p:anim calcmode="lin" valueType="num">
                                      <p:cBhvr additive="base">
                                        <p:cTn id="13" dur="500" fill="hold"/>
                                        <p:tgtEl>
                                          <p:spTgt spid="174084"/>
                                        </p:tgtEl>
                                        <p:attrNameLst>
                                          <p:attrName>ppt_x</p:attrName>
                                        </p:attrNameLst>
                                      </p:cBhvr>
                                      <p:tavLst>
                                        <p:tav tm="0">
                                          <p:val>
                                            <p:strVal val="#ppt_x"/>
                                          </p:val>
                                        </p:tav>
                                        <p:tav tm="100000">
                                          <p:val>
                                            <p:strVal val="#ppt_x"/>
                                          </p:val>
                                        </p:tav>
                                      </p:tavLst>
                                    </p:anim>
                                    <p:anim calcmode="lin" valueType="num">
                                      <p:cBhvr additive="base">
                                        <p:cTn id="14" dur="500" fill="hold"/>
                                        <p:tgtEl>
                                          <p:spTgt spid="1740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4" grpId="0"/>
      <p:bldP spid="174084"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矩形 1"/>
          <p:cNvSpPr/>
          <p:nvPr/>
        </p:nvSpPr>
        <p:spPr>
          <a:xfrm>
            <a:off x="396558" y="628015"/>
            <a:ext cx="2032000" cy="457200"/>
          </a:xfrm>
          <a:prstGeom prst="rect">
            <a:avLst/>
          </a:prstGeom>
          <a:noFill/>
          <a:ln w="9525">
            <a:noFill/>
          </a:ln>
        </p:spPr>
        <p:txBody>
          <a:bodyPr wrap="none">
            <a:spAutoFit/>
          </a:bodyPr>
          <a:lstStyle/>
          <a:p>
            <a:r>
              <a:rPr lang="en-US" altLang="zh-CN" sz="2400" b="1">
                <a:solidFill>
                  <a:srgbClr val="FF0000"/>
                </a:solidFill>
                <a:latin typeface="华文新魏" panose="02010800040101010101" pitchFamily="2" charset="-122"/>
                <a:ea typeface="华文新魏" panose="02010800040101010101" pitchFamily="2" charset="-122"/>
              </a:rPr>
              <a:t>port map</a:t>
            </a:r>
            <a:r>
              <a:rPr lang="zh-CN" altLang="en-US" sz="2400" b="1" dirty="0">
                <a:solidFill>
                  <a:srgbClr val="FF0000"/>
                </a:solidFill>
                <a:latin typeface="华文新魏" panose="02010800040101010101" pitchFamily="2" charset="-122"/>
                <a:ea typeface="华文新魏" panose="02010800040101010101" pitchFamily="2" charset="-122"/>
              </a:rPr>
              <a:t>语句</a:t>
            </a:r>
            <a:endParaRPr lang="zh-CN" altLang="en-US" sz="2400" dirty="0">
              <a:solidFill>
                <a:srgbClr val="FF0000"/>
              </a:solidFill>
              <a:latin typeface="华文新魏" panose="02010800040101010101" pitchFamily="2" charset="-122"/>
              <a:ea typeface="华文新魏" panose="02010800040101010101" pitchFamily="2" charset="-122"/>
            </a:endParaRPr>
          </a:p>
        </p:txBody>
      </p:sp>
      <p:sp>
        <p:nvSpPr>
          <p:cNvPr id="175107" name="矩形 2"/>
          <p:cNvSpPr/>
          <p:nvPr/>
        </p:nvSpPr>
        <p:spPr>
          <a:xfrm>
            <a:off x="765810" y="1276350"/>
            <a:ext cx="7983855" cy="1198880"/>
          </a:xfrm>
          <a:prstGeom prst="rect">
            <a:avLst/>
          </a:prstGeom>
          <a:noFill/>
          <a:ln w="9525">
            <a:noFill/>
          </a:ln>
        </p:spPr>
        <p:txBody>
          <a:bodyPr wrap="square">
            <a:spAutoFit/>
          </a:bodyPr>
          <a:lstStyle/>
          <a:p>
            <a:r>
              <a:rPr lang="en-US" altLang="zh-CN" sz="2400" dirty="0">
                <a:solidFill>
                  <a:schemeClr val="tx1"/>
                </a:solidFill>
                <a:latin typeface="华文新魏" panose="02010800040101010101" pitchFamily="2" charset="-122"/>
                <a:ea typeface="华文新魏" panose="02010800040101010101" pitchFamily="2" charset="-122"/>
              </a:rPr>
              <a:t>port map</a:t>
            </a:r>
            <a:r>
              <a:rPr lang="zh-CN" altLang="en-US" sz="2400" dirty="0">
                <a:solidFill>
                  <a:schemeClr val="tx1"/>
                </a:solidFill>
                <a:latin typeface="华文新魏" panose="02010800040101010101" pitchFamily="2" charset="-122"/>
                <a:ea typeface="华文新魏" panose="02010800040101010101" pitchFamily="2" charset="-122"/>
              </a:rPr>
              <a:t>语句是将较低层设计实体即元件的端口映射成较高层设计实体中的信号。元件的端口名相当于原理图中元件的引脚；信号相当于原理图中各元件之间连线。</a:t>
            </a:r>
          </a:p>
        </p:txBody>
      </p:sp>
      <p:sp>
        <p:nvSpPr>
          <p:cNvPr id="175108" name="矩形 3"/>
          <p:cNvSpPr/>
          <p:nvPr/>
        </p:nvSpPr>
        <p:spPr>
          <a:xfrm>
            <a:off x="466090" y="2643505"/>
            <a:ext cx="8642350" cy="2306955"/>
          </a:xfrm>
          <a:prstGeom prst="rect">
            <a:avLst/>
          </a:prstGeom>
          <a:noFill/>
          <a:ln w="9525">
            <a:noFill/>
          </a:ln>
        </p:spPr>
        <p:txBody>
          <a:bodyPr wrap="square">
            <a:spAutoFit/>
          </a:bodyPr>
          <a:lstStyle/>
          <a:p>
            <a:r>
              <a:rPr lang="zh-CN" altLang="en-US" sz="2400" dirty="0">
                <a:solidFill>
                  <a:srgbClr val="FF0000"/>
                </a:solidFill>
                <a:latin typeface="华文新魏" panose="02010800040101010101" pitchFamily="2" charset="-122"/>
                <a:ea typeface="华文新魏" panose="02010800040101010101" pitchFamily="2" charset="-122"/>
              </a:rPr>
              <a:t>格式</a:t>
            </a:r>
            <a:r>
              <a:rPr lang="zh-CN" altLang="en-US" sz="2400" dirty="0">
                <a:solidFill>
                  <a:schemeClr val="tx1"/>
                </a:solidFill>
                <a:latin typeface="华文新魏" panose="02010800040101010101" pitchFamily="2" charset="-122"/>
                <a:ea typeface="华文新魏" panose="02010800040101010101" pitchFamily="2" charset="-122"/>
              </a:rPr>
              <a:t>：</a:t>
            </a:r>
          </a:p>
          <a:p>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标号</a:t>
            </a:r>
            <a:r>
              <a:rPr lang="en-US" altLang="zh-CN" sz="2400" dirty="0">
                <a:solidFill>
                  <a:schemeClr val="tx1"/>
                </a:solidFill>
                <a:latin typeface="华文新魏" panose="02010800040101010101" pitchFamily="2" charset="-122"/>
                <a:ea typeface="华文新魏" panose="02010800040101010101" pitchFamily="2" charset="-122"/>
              </a:rPr>
              <a:t>]:</a:t>
            </a:r>
            <a:r>
              <a:rPr lang="en-US" altLang="zh-CN" sz="2400" dirty="0" err="1">
                <a:solidFill>
                  <a:schemeClr val="tx1"/>
                </a:solidFill>
                <a:latin typeface="华文新魏" panose="02010800040101010101" pitchFamily="2" charset="-122"/>
                <a:ea typeface="华文新魏" panose="02010800040101010101" pitchFamily="2" charset="-122"/>
              </a:rPr>
              <a:t>component_name</a:t>
            </a:r>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port map</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dirty="0">
                <a:solidFill>
                  <a:schemeClr val="tx1"/>
                </a:solidFill>
                <a:latin typeface="华文新魏" panose="02010800040101010101" pitchFamily="2" charset="-122"/>
                <a:ea typeface="华文新魏" panose="02010800040101010101" pitchFamily="2" charset="-122"/>
              </a:rPr>
              <a:t>l</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dirty="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dirty="0">
                <a:solidFill>
                  <a:schemeClr val="tx1"/>
                </a:solidFill>
                <a:latin typeface="华文新魏" panose="02010800040101010101" pitchFamily="2" charset="-122"/>
                <a:ea typeface="华文新魏" panose="02010800040101010101" pitchFamily="2" charset="-122"/>
              </a:rPr>
              <a:t>n</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a:t>
            </a:r>
          </a:p>
          <a:p>
            <a:r>
              <a:rPr lang="zh-CN" altLang="en-US" sz="2400" dirty="0">
                <a:solidFill>
                  <a:srgbClr val="0000FF"/>
                </a:solidFill>
                <a:latin typeface="华文新魏" panose="02010800040101010101" pitchFamily="2" charset="-122"/>
                <a:ea typeface="华文新魏" panose="02010800040101010101" pitchFamily="2" charset="-122"/>
              </a:rPr>
              <a:t>或者：</a:t>
            </a:r>
          </a:p>
          <a:p>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标号</a:t>
            </a:r>
            <a:r>
              <a:rPr lang="en-US" altLang="zh-CN" sz="2400" dirty="0">
                <a:solidFill>
                  <a:schemeClr val="tx1"/>
                </a:solidFill>
                <a:latin typeface="华文新魏" panose="02010800040101010101" pitchFamily="2" charset="-122"/>
                <a:ea typeface="华文新魏" panose="02010800040101010101" pitchFamily="2" charset="-122"/>
              </a:rPr>
              <a:t>]:</a:t>
            </a:r>
            <a:r>
              <a:rPr lang="en-US" altLang="zh-CN" sz="2400" dirty="0" err="1">
                <a:solidFill>
                  <a:schemeClr val="tx1"/>
                </a:solidFill>
                <a:latin typeface="华文新魏" panose="02010800040101010101" pitchFamily="2" charset="-122"/>
                <a:ea typeface="华文新魏" panose="02010800040101010101" pitchFamily="2" charset="-122"/>
              </a:rPr>
              <a:t>component_name</a:t>
            </a:r>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0000FF"/>
                </a:solidFill>
                <a:latin typeface="华文新魏" panose="02010800040101010101" pitchFamily="2" charset="-122"/>
                <a:ea typeface="华文新魏" panose="02010800040101010101" pitchFamily="2" charset="-122"/>
              </a:rPr>
              <a:t>port map</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dirty="0">
                <a:solidFill>
                  <a:schemeClr val="tx1"/>
                </a:solidFill>
                <a:latin typeface="华文新魏" panose="02010800040101010101" pitchFamily="2" charset="-122"/>
                <a:ea typeface="华文新魏" panose="02010800040101010101" pitchFamily="2" charset="-122"/>
              </a:rPr>
              <a:t>l=&gt;</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dirty="0">
                <a:solidFill>
                  <a:schemeClr val="tx1"/>
                </a:solidFill>
                <a:latin typeface="华文新魏" panose="02010800040101010101" pitchFamily="2" charset="-122"/>
                <a:ea typeface="华文新魏" panose="02010800040101010101" pitchFamily="2" charset="-122"/>
              </a:rPr>
              <a:t>l</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dirty="0">
                <a:solidFill>
                  <a:schemeClr val="tx1"/>
                </a:solidFill>
                <a:latin typeface="华文新魏" panose="02010800040101010101" pitchFamily="2" charset="-122"/>
                <a:ea typeface="华文新魏" panose="02010800040101010101" pitchFamily="2" charset="-122"/>
              </a:rPr>
              <a:t>2=&gt;</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dirty="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，端口名</a:t>
            </a:r>
            <a:r>
              <a:rPr lang="en-US" altLang="zh-CN" sz="2400" dirty="0">
                <a:solidFill>
                  <a:schemeClr val="tx1"/>
                </a:solidFill>
                <a:latin typeface="华文新魏" panose="02010800040101010101" pitchFamily="2" charset="-122"/>
                <a:ea typeface="华文新魏" panose="02010800040101010101" pitchFamily="2" charset="-122"/>
              </a:rPr>
              <a:t>n=&gt;</a:t>
            </a:r>
            <a:r>
              <a:rPr lang="zh-CN" altLang="en-US" sz="2400" dirty="0">
                <a:solidFill>
                  <a:schemeClr val="tx1"/>
                </a:solidFill>
                <a:latin typeface="华文新魏" panose="02010800040101010101" pitchFamily="2" charset="-122"/>
                <a:ea typeface="华文新魏" panose="02010800040101010101" pitchFamily="2" charset="-122"/>
              </a:rPr>
              <a:t>信号名</a:t>
            </a:r>
            <a:r>
              <a:rPr lang="en-US" altLang="zh-CN" sz="2400" dirty="0">
                <a:solidFill>
                  <a:schemeClr val="tx1"/>
                </a:solidFill>
                <a:latin typeface="华文新魏" panose="02010800040101010101" pitchFamily="2" charset="-122"/>
                <a:ea typeface="华文新魏" panose="02010800040101010101" pitchFamily="2" charset="-122"/>
              </a:rPr>
              <a:t>n</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 name="对话气泡: 圆角矩形 1">
            <a:extLst>
              <a:ext uri="{FF2B5EF4-FFF2-40B4-BE49-F238E27FC236}">
                <a16:creationId xmlns:a16="http://schemas.microsoft.com/office/drawing/2014/main" id="{CF924853-DF6B-4D56-A642-D8E1307774F0}"/>
              </a:ext>
            </a:extLst>
          </p:cNvPr>
          <p:cNvSpPr/>
          <p:nvPr/>
        </p:nvSpPr>
        <p:spPr bwMode="auto">
          <a:xfrm>
            <a:off x="6156176" y="2643505"/>
            <a:ext cx="1008112" cy="288285"/>
          </a:xfrm>
          <a:prstGeom prst="wedgeRoundRectCallout">
            <a:avLst>
              <a:gd name="adj1" fmla="val 9862"/>
              <a:gd name="adj2" fmla="val 126420"/>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位置映射</a:t>
            </a:r>
          </a:p>
        </p:txBody>
      </p:sp>
      <p:sp>
        <p:nvSpPr>
          <p:cNvPr id="6" name="对话气泡: 圆角矩形 5">
            <a:extLst>
              <a:ext uri="{FF2B5EF4-FFF2-40B4-BE49-F238E27FC236}">
                <a16:creationId xmlns:a16="http://schemas.microsoft.com/office/drawing/2014/main" id="{0E97D16A-7ECB-4001-AC58-F4F9E47D3365}"/>
              </a:ext>
            </a:extLst>
          </p:cNvPr>
          <p:cNvSpPr/>
          <p:nvPr/>
        </p:nvSpPr>
        <p:spPr bwMode="auto">
          <a:xfrm>
            <a:off x="6300192" y="3612004"/>
            <a:ext cx="1008112" cy="288285"/>
          </a:xfrm>
          <a:prstGeom prst="wedgeRoundRectCallout">
            <a:avLst>
              <a:gd name="adj1" fmla="val 9862"/>
              <a:gd name="adj2" fmla="val 126420"/>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显式映射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 calcmode="lin" valueType="num">
                                      <p:cBhvr additive="base">
                                        <p:cTn id="7" dur="500" fill="hold"/>
                                        <p:tgtEl>
                                          <p:spTgt spid="175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5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5108">
                                            <p:txEl>
                                              <p:pRg st="0" end="0"/>
                                            </p:txEl>
                                          </p:spTgt>
                                        </p:tgtEl>
                                        <p:attrNameLst>
                                          <p:attrName>style.visibility</p:attrName>
                                        </p:attrNameLst>
                                      </p:cBhvr>
                                      <p:to>
                                        <p:strVal val="visible"/>
                                      </p:to>
                                    </p:set>
                                    <p:anim calcmode="lin" valueType="num">
                                      <p:cBhvr additive="base">
                                        <p:cTn id="13" dur="500" fill="hold"/>
                                        <p:tgtEl>
                                          <p:spTgt spid="17510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510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5108">
                                            <p:txEl>
                                              <p:pRg st="1" end="1"/>
                                            </p:txEl>
                                          </p:spTgt>
                                        </p:tgtEl>
                                        <p:attrNameLst>
                                          <p:attrName>style.visibility</p:attrName>
                                        </p:attrNameLst>
                                      </p:cBhvr>
                                      <p:to>
                                        <p:strVal val="visible"/>
                                      </p:to>
                                    </p:set>
                                    <p:anim calcmode="lin" valueType="num">
                                      <p:cBhvr additive="base">
                                        <p:cTn id="17" dur="500" fill="hold"/>
                                        <p:tgtEl>
                                          <p:spTgt spid="17510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51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5108">
                                            <p:txEl>
                                              <p:pRg st="2" end="2"/>
                                            </p:txEl>
                                          </p:spTgt>
                                        </p:tgtEl>
                                        <p:attrNameLst>
                                          <p:attrName>style.visibility</p:attrName>
                                        </p:attrNameLst>
                                      </p:cBhvr>
                                      <p:to>
                                        <p:strVal val="visible"/>
                                      </p:to>
                                    </p:set>
                                    <p:anim calcmode="lin" valueType="num">
                                      <p:cBhvr additive="base">
                                        <p:cTn id="27" dur="500" fill="hold"/>
                                        <p:tgtEl>
                                          <p:spTgt spid="175108">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5108">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75108">
                                            <p:txEl>
                                              <p:pRg st="3" end="3"/>
                                            </p:txEl>
                                          </p:spTgt>
                                        </p:tgtEl>
                                        <p:attrNameLst>
                                          <p:attrName>style.visibility</p:attrName>
                                        </p:attrNameLst>
                                      </p:cBhvr>
                                      <p:to>
                                        <p:strVal val="visible"/>
                                      </p:to>
                                    </p:set>
                                    <p:anim calcmode="lin" valueType="num">
                                      <p:cBhvr additive="base">
                                        <p:cTn id="31" dur="500" fill="hold"/>
                                        <p:tgtEl>
                                          <p:spTgt spid="17510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510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8" grpId="1"/>
      <p:bldP spid="2" grpId="0" animBg="1"/>
      <p:bldP spid="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矩形 2"/>
          <p:cNvSpPr/>
          <p:nvPr/>
        </p:nvSpPr>
        <p:spPr>
          <a:xfrm>
            <a:off x="250825" y="627063"/>
            <a:ext cx="8569325" cy="822325"/>
          </a:xfrm>
          <a:prstGeom prst="rect">
            <a:avLst/>
          </a:prstGeom>
          <a:noFill/>
          <a:ln w="9525">
            <a:noFill/>
          </a:ln>
        </p:spPr>
        <p:txBody>
          <a:bodyPr>
            <a:spAutoFit/>
          </a:bodyPr>
          <a:lstStyle/>
          <a:p>
            <a:r>
              <a:rPr lang="zh-CN" altLang="en-US" sz="2400" dirty="0">
                <a:solidFill>
                  <a:schemeClr val="tx1"/>
                </a:solidFill>
                <a:latin typeface="华文新魏" panose="02010800040101010101" pitchFamily="2" charset="-122"/>
                <a:ea typeface="华文新魏" panose="02010800040101010101" pitchFamily="2" charset="-122"/>
              </a:rPr>
              <a:t>例如，一个顶层设计实体 </a:t>
            </a:r>
            <a:r>
              <a:rPr lang="en-US" altLang="zh-CN" sz="2400" err="1">
                <a:solidFill>
                  <a:srgbClr val="0000FF"/>
                </a:solidFill>
                <a:latin typeface="华文新魏" panose="02010800040101010101" pitchFamily="2" charset="-122"/>
                <a:ea typeface="华文新魏" panose="02010800040101010101" pitchFamily="2" charset="-122"/>
              </a:rPr>
              <a:t>regf</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对前面</a:t>
            </a:r>
            <a:r>
              <a:rPr lang="en-US" altLang="zh-CN" sz="240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位寄存器的</a:t>
            </a:r>
            <a:r>
              <a:rPr lang="en-US" altLang="zh-CN" sz="240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个例化的描述如下：</a:t>
            </a:r>
          </a:p>
        </p:txBody>
      </p:sp>
      <p:pic>
        <p:nvPicPr>
          <p:cNvPr id="176131" name="图片 4"/>
          <p:cNvPicPr>
            <a:picLocks noChangeAspect="1"/>
          </p:cNvPicPr>
          <p:nvPr/>
        </p:nvPicPr>
        <p:blipFill>
          <a:blip r:embed="rId2"/>
          <a:stretch>
            <a:fillRect/>
          </a:stretch>
        </p:blipFill>
        <p:spPr>
          <a:xfrm>
            <a:off x="1692593" y="1089025"/>
            <a:ext cx="6624637" cy="39909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131"/>
                                        </p:tgtEl>
                                        <p:attrNameLst>
                                          <p:attrName>style.visibility</p:attrName>
                                        </p:attrNameLst>
                                      </p:cBhvr>
                                      <p:to>
                                        <p:strVal val="visible"/>
                                      </p:to>
                                    </p:set>
                                    <p:anim calcmode="lin" valueType="num">
                                      <p:cBhvr additive="base">
                                        <p:cTn id="7" dur="500" fill="hold"/>
                                        <p:tgtEl>
                                          <p:spTgt spid="176131"/>
                                        </p:tgtEl>
                                        <p:attrNameLst>
                                          <p:attrName>ppt_x</p:attrName>
                                        </p:attrNameLst>
                                      </p:cBhvr>
                                      <p:tavLst>
                                        <p:tav tm="0">
                                          <p:val>
                                            <p:strVal val="#ppt_x"/>
                                          </p:val>
                                        </p:tav>
                                        <p:tav tm="100000">
                                          <p:val>
                                            <p:strVal val="#ppt_x"/>
                                          </p:val>
                                        </p:tav>
                                      </p:tavLst>
                                    </p:anim>
                                    <p:anim calcmode="lin" valueType="num">
                                      <p:cBhvr additive="base">
                                        <p:cTn id="8" dur="500" fill="hold"/>
                                        <p:tgtEl>
                                          <p:spTgt spid="176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4" name="图片 1"/>
          <p:cNvPicPr>
            <a:picLocks noChangeAspect="1"/>
          </p:cNvPicPr>
          <p:nvPr/>
        </p:nvPicPr>
        <p:blipFill>
          <a:blip r:embed="rId3"/>
          <a:stretch>
            <a:fillRect/>
          </a:stretch>
        </p:blipFill>
        <p:spPr>
          <a:xfrm>
            <a:off x="1187450" y="585788"/>
            <a:ext cx="7416800" cy="4470400"/>
          </a:xfrm>
          <a:prstGeom prst="rect">
            <a:avLst/>
          </a:prstGeom>
          <a:noFill/>
          <a:ln w="9525">
            <a:noFill/>
          </a:ln>
        </p:spPr>
      </p:pic>
      <p:sp>
        <p:nvSpPr>
          <p:cNvPr id="177155" name="文本框 1"/>
          <p:cNvSpPr txBox="1"/>
          <p:nvPr/>
        </p:nvSpPr>
        <p:spPr>
          <a:xfrm>
            <a:off x="3059832" y="1347614"/>
            <a:ext cx="792162" cy="338137"/>
          </a:xfrm>
          <a:prstGeom prst="rect">
            <a:avLst/>
          </a:prstGeom>
          <a:solidFill>
            <a:schemeClr val="bg1"/>
          </a:solidFill>
          <a:ln w="9525">
            <a:noFill/>
          </a:ln>
        </p:spPr>
        <p:txBody>
          <a:bodyPr>
            <a:spAutoFit/>
          </a:bodyPr>
          <a:lstStyle/>
          <a:p>
            <a:r>
              <a:rPr lang="en-US" altLang="zh-CN" sz="1600" dirty="0">
                <a:solidFill>
                  <a:srgbClr val="0000FF"/>
                </a:solidFill>
                <a:latin typeface="Calibri" panose="020F0502020204030204" pitchFamily="34" charset="0"/>
              </a:rPr>
              <a:t>data</a:t>
            </a:r>
            <a:r>
              <a:rPr lang="zh-CN" altLang="en-US" sz="1600" dirty="0">
                <a:solidFill>
                  <a:srgbClr val="0000FF"/>
                </a:solidFill>
                <a:latin typeface="Calibri" panose="020F0502020204030204" pitchFamily="34" charset="0"/>
              </a:rPr>
              <a:t>，</a:t>
            </a:r>
          </a:p>
        </p:txBody>
      </p:sp>
      <p:sp>
        <p:nvSpPr>
          <p:cNvPr id="177156" name="文本框 3"/>
          <p:cNvSpPr txBox="1"/>
          <p:nvPr/>
        </p:nvSpPr>
        <p:spPr>
          <a:xfrm>
            <a:off x="2924175" y="2755900"/>
            <a:ext cx="576263" cy="307975"/>
          </a:xfrm>
          <a:prstGeom prst="rect">
            <a:avLst/>
          </a:prstGeom>
          <a:solidFill>
            <a:schemeClr val="bg1"/>
          </a:solidFill>
          <a:ln w="9525">
            <a:noFill/>
          </a:ln>
        </p:spPr>
        <p:txBody>
          <a:bodyPr>
            <a:spAutoFit/>
          </a:bodyPr>
          <a:lstStyle/>
          <a:p>
            <a:r>
              <a:rPr lang="en-US" altLang="zh-CN" sz="1400">
                <a:solidFill>
                  <a:srgbClr val="0000FF"/>
                </a:solidFill>
                <a:latin typeface="Calibri" panose="020F0502020204030204" pitchFamily="34" charset="0"/>
              </a:rPr>
              <a:t>port</a:t>
            </a:r>
            <a:endParaRPr lang="zh-CN" altLang="en-US" sz="1400" dirty="0">
              <a:solidFill>
                <a:srgbClr val="0000FF"/>
              </a:solidFill>
              <a:latin typeface="Calibri" panose="020F050202020403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E0293E1-C025-43E6-AC6F-7FABD913E59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63</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6243" name="Text Box 2"/>
          <p:cNvSpPr txBox="1">
            <a:spLocks noChangeArrowheads="1"/>
          </p:cNvSpPr>
          <p:nvPr/>
        </p:nvSpPr>
        <p:spPr bwMode="auto">
          <a:xfrm>
            <a:off x="334963" y="1168400"/>
            <a:ext cx="6124575"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rPr>
              <a:t>半加器</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5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ENTITY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h_adder</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IS</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PORT(a, b	: IN	STD_LOGIC;</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s, c 	: OUT	STD_LOGIC);</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END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h_adder</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ARCHITECTURE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rtl</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OF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h_adder</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IS</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BEGIN</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c&lt;=a AND b;</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s&lt;=a XOR b;</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END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rtl</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p:txBody>
      </p:sp>
      <p:grpSp>
        <p:nvGrpSpPr>
          <p:cNvPr id="2" name="Group 4"/>
          <p:cNvGrpSpPr/>
          <p:nvPr/>
        </p:nvGrpSpPr>
        <p:grpSpPr>
          <a:xfrm>
            <a:off x="6227763" y="1058863"/>
            <a:ext cx="2725737" cy="2808287"/>
            <a:chOff x="3228" y="2218"/>
            <a:chExt cx="1873" cy="1865"/>
          </a:xfrm>
        </p:grpSpPr>
        <p:sp>
          <p:nvSpPr>
            <p:cNvPr id="179206" name="Rectangle 5"/>
            <p:cNvSpPr/>
            <p:nvPr/>
          </p:nvSpPr>
          <p:spPr>
            <a:xfrm>
              <a:off x="3228" y="2460"/>
              <a:ext cx="1839" cy="1344"/>
            </a:xfrm>
            <a:prstGeom prst="rect">
              <a:avLst/>
            </a:prstGeom>
            <a:solidFill>
              <a:schemeClr val="accent1"/>
            </a:solidFill>
            <a:ln w="12700" cap="flat" cmpd="sng">
              <a:solidFill>
                <a:srgbClr val="66FF66"/>
              </a:solidFill>
              <a:prstDash val="lgDashDot"/>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grpSp>
          <p:nvGrpSpPr>
            <p:cNvPr id="179207" name="Group 6"/>
            <p:cNvGrpSpPr/>
            <p:nvPr/>
          </p:nvGrpSpPr>
          <p:grpSpPr>
            <a:xfrm>
              <a:off x="3348" y="2218"/>
              <a:ext cx="1464" cy="1865"/>
              <a:chOff x="3024" y="2458"/>
              <a:chExt cx="1464" cy="1865"/>
            </a:xfrm>
          </p:grpSpPr>
          <p:grpSp>
            <p:nvGrpSpPr>
              <p:cNvPr id="179210" name="Group 7"/>
              <p:cNvGrpSpPr/>
              <p:nvPr/>
            </p:nvGrpSpPr>
            <p:grpSpPr>
              <a:xfrm>
                <a:off x="3084" y="2532"/>
                <a:ext cx="1404" cy="1680"/>
                <a:chOff x="3084" y="2460"/>
                <a:chExt cx="1404" cy="1680"/>
              </a:xfrm>
            </p:grpSpPr>
            <p:sp>
              <p:nvSpPr>
                <p:cNvPr id="179219" name="Line 8"/>
                <p:cNvSpPr/>
                <p:nvPr/>
              </p:nvSpPr>
              <p:spPr>
                <a:xfrm>
                  <a:off x="3252" y="3876"/>
                  <a:ext cx="0" cy="264"/>
                </a:xfrm>
                <a:prstGeom prst="line">
                  <a:avLst/>
                </a:prstGeom>
                <a:ln w="12700" cap="sq" cmpd="sng">
                  <a:solidFill>
                    <a:schemeClr val="tx1"/>
                  </a:solidFill>
                  <a:prstDash val="solid"/>
                  <a:headEnd type="none" w="sm" len="sm"/>
                  <a:tailEnd type="none" w="sm" len="sm"/>
                </a:ln>
              </p:spPr>
            </p:sp>
            <p:sp>
              <p:nvSpPr>
                <p:cNvPr id="179220" name="Line 9"/>
                <p:cNvSpPr/>
                <p:nvPr/>
              </p:nvSpPr>
              <p:spPr>
                <a:xfrm>
                  <a:off x="3600" y="3876"/>
                  <a:ext cx="0" cy="264"/>
                </a:xfrm>
                <a:prstGeom prst="line">
                  <a:avLst/>
                </a:prstGeom>
                <a:ln w="12700" cap="sq" cmpd="sng">
                  <a:solidFill>
                    <a:schemeClr val="tx1"/>
                  </a:solidFill>
                  <a:prstDash val="solid"/>
                  <a:headEnd type="none" w="sm" len="sm"/>
                  <a:tailEnd type="none" w="sm" len="sm"/>
                </a:ln>
              </p:spPr>
            </p:sp>
            <p:grpSp>
              <p:nvGrpSpPr>
                <p:cNvPr id="179221" name="Group 10"/>
                <p:cNvGrpSpPr/>
                <p:nvPr/>
              </p:nvGrpSpPr>
              <p:grpSpPr>
                <a:xfrm>
                  <a:off x="3084" y="3480"/>
                  <a:ext cx="684" cy="414"/>
                  <a:chOff x="3084" y="3480"/>
                  <a:chExt cx="684" cy="414"/>
                </a:xfrm>
              </p:grpSpPr>
              <p:sp>
                <p:nvSpPr>
                  <p:cNvPr id="179242" name="Rectangle 11"/>
                  <p:cNvSpPr/>
                  <p:nvPr/>
                </p:nvSpPr>
                <p:spPr>
                  <a:xfrm>
                    <a:off x="3084" y="3516"/>
                    <a:ext cx="684" cy="360"/>
                  </a:xfrm>
                  <a:prstGeom prst="rect">
                    <a:avLst/>
                  </a:prstGeom>
                  <a:solidFill>
                    <a:schemeClr val="hlink"/>
                  </a:solidFill>
                  <a:ln w="12700" cap="sq" cmpd="sng">
                    <a:solidFill>
                      <a:schemeClr val="tx1"/>
                    </a:solidFill>
                    <a:prstDash val="solid"/>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66284" name="Text Box 12"/>
                  <p:cNvSpPr txBox="1">
                    <a:spLocks noChangeArrowheads="1"/>
                  </p:cNvSpPr>
                  <p:nvPr/>
                </p:nvSpPr>
                <p:spPr bwMode="auto">
                  <a:xfrm>
                    <a:off x="3108" y="3722"/>
                    <a:ext cx="2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p>
                </p:txBody>
              </p:sp>
              <p:sp>
                <p:nvSpPr>
                  <p:cNvPr id="266285" name="Text Box 13"/>
                  <p:cNvSpPr txBox="1">
                    <a:spLocks noChangeArrowheads="1"/>
                  </p:cNvSpPr>
                  <p:nvPr/>
                </p:nvSpPr>
                <p:spPr bwMode="auto">
                  <a:xfrm>
                    <a:off x="3468" y="3722"/>
                    <a:ext cx="2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266286" name="Text Box 14"/>
                  <p:cNvSpPr txBox="1">
                    <a:spLocks noChangeArrowheads="1"/>
                  </p:cNvSpPr>
                  <p:nvPr/>
                </p:nvSpPr>
                <p:spPr bwMode="auto">
                  <a:xfrm>
                    <a:off x="3108" y="3480"/>
                    <a:ext cx="2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p>
                </p:txBody>
              </p:sp>
              <p:sp>
                <p:nvSpPr>
                  <p:cNvPr id="266287" name="Text Box 15"/>
                  <p:cNvSpPr txBox="1">
                    <a:spLocks noChangeArrowheads="1"/>
                  </p:cNvSpPr>
                  <p:nvPr/>
                </p:nvSpPr>
                <p:spPr bwMode="auto">
                  <a:xfrm>
                    <a:off x="3456" y="3492"/>
                    <a:ext cx="27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a:t>
                    </a:r>
                  </a:p>
                </p:txBody>
              </p:sp>
              <p:sp>
                <p:nvSpPr>
                  <p:cNvPr id="179247" name="Text Box 16"/>
                  <p:cNvSpPr txBox="1"/>
                  <p:nvPr/>
                </p:nvSpPr>
                <p:spPr>
                  <a:xfrm>
                    <a:off x="3120" y="3624"/>
                    <a:ext cx="588" cy="116"/>
                  </a:xfrm>
                  <a:prstGeom prst="rect">
                    <a:avLst/>
                  </a:prstGeom>
                  <a:noFill/>
                  <a:ln w="12700">
                    <a:noFill/>
                  </a:ln>
                </p:spPr>
                <p:txBody>
                  <a:bodyPr lIns="0" tIns="0" rIns="0" bIns="0">
                    <a:spAutoFit/>
                  </a:bodyPr>
                  <a:lstStyle/>
                  <a:p>
                    <a:pPr algn="ctr" eaLnBrk="1" hangingPunct="1">
                      <a:spcBef>
                        <a:spcPct val="50000"/>
                      </a:spcBef>
                    </a:pPr>
                    <a:r>
                      <a:rPr lang="en-US" altLang="zh-CN" sz="900" err="1">
                        <a:solidFill>
                          <a:schemeClr val="tx1"/>
                        </a:solidFill>
                        <a:latin typeface="Times New Roman" panose="02020603050405020304" pitchFamily="18" charset="0"/>
                      </a:rPr>
                      <a:t>h_adder</a:t>
                    </a:r>
                    <a:endParaRPr lang="en-US" altLang="zh-CN" sz="900">
                      <a:solidFill>
                        <a:schemeClr val="tx1"/>
                      </a:solidFill>
                      <a:latin typeface="Times New Roman" panose="02020603050405020304" pitchFamily="18" charset="0"/>
                    </a:endParaRPr>
                  </a:p>
                </p:txBody>
              </p:sp>
            </p:grpSp>
            <p:grpSp>
              <p:nvGrpSpPr>
                <p:cNvPr id="179222" name="Group 17"/>
                <p:cNvGrpSpPr/>
                <p:nvPr/>
              </p:nvGrpSpPr>
              <p:grpSpPr>
                <a:xfrm>
                  <a:off x="3804" y="2784"/>
                  <a:ext cx="684" cy="414"/>
                  <a:chOff x="3084" y="3480"/>
                  <a:chExt cx="684" cy="414"/>
                </a:xfrm>
              </p:grpSpPr>
              <p:sp>
                <p:nvSpPr>
                  <p:cNvPr id="179236" name="Rectangle 18"/>
                  <p:cNvSpPr/>
                  <p:nvPr/>
                </p:nvSpPr>
                <p:spPr>
                  <a:xfrm>
                    <a:off x="3084" y="3516"/>
                    <a:ext cx="684" cy="360"/>
                  </a:xfrm>
                  <a:prstGeom prst="rect">
                    <a:avLst/>
                  </a:prstGeom>
                  <a:solidFill>
                    <a:schemeClr val="hlink"/>
                  </a:solidFill>
                  <a:ln w="12700" cap="sq" cmpd="sng">
                    <a:solidFill>
                      <a:schemeClr val="tx1"/>
                    </a:solidFill>
                    <a:prstDash val="solid"/>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66278" name="Text Box 19"/>
                  <p:cNvSpPr txBox="1">
                    <a:spLocks noChangeArrowheads="1"/>
                  </p:cNvSpPr>
                  <p:nvPr/>
                </p:nvSpPr>
                <p:spPr bwMode="auto">
                  <a:xfrm>
                    <a:off x="3108" y="3720"/>
                    <a:ext cx="2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p>
                </p:txBody>
              </p:sp>
              <p:sp>
                <p:nvSpPr>
                  <p:cNvPr id="266279" name="Text Box 20"/>
                  <p:cNvSpPr txBox="1">
                    <a:spLocks noChangeArrowheads="1"/>
                  </p:cNvSpPr>
                  <p:nvPr/>
                </p:nvSpPr>
                <p:spPr bwMode="auto">
                  <a:xfrm>
                    <a:off x="3468" y="3720"/>
                    <a:ext cx="2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266280" name="Text Box 21"/>
                  <p:cNvSpPr txBox="1">
                    <a:spLocks noChangeArrowheads="1"/>
                  </p:cNvSpPr>
                  <p:nvPr/>
                </p:nvSpPr>
                <p:spPr bwMode="auto">
                  <a:xfrm>
                    <a:off x="3108" y="3478"/>
                    <a:ext cx="27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p>
                </p:txBody>
              </p:sp>
              <p:sp>
                <p:nvSpPr>
                  <p:cNvPr id="266281" name="Text Box 22"/>
                  <p:cNvSpPr txBox="1">
                    <a:spLocks noChangeArrowheads="1"/>
                  </p:cNvSpPr>
                  <p:nvPr/>
                </p:nvSpPr>
                <p:spPr bwMode="auto">
                  <a:xfrm>
                    <a:off x="3456" y="3490"/>
                    <a:ext cx="27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a:t>
                    </a:r>
                  </a:p>
                </p:txBody>
              </p:sp>
              <p:sp>
                <p:nvSpPr>
                  <p:cNvPr id="179241" name="Text Box 23"/>
                  <p:cNvSpPr txBox="1"/>
                  <p:nvPr/>
                </p:nvSpPr>
                <p:spPr>
                  <a:xfrm>
                    <a:off x="3120" y="3624"/>
                    <a:ext cx="588" cy="116"/>
                  </a:xfrm>
                  <a:prstGeom prst="rect">
                    <a:avLst/>
                  </a:prstGeom>
                  <a:noFill/>
                  <a:ln w="12700">
                    <a:noFill/>
                  </a:ln>
                </p:spPr>
                <p:txBody>
                  <a:bodyPr lIns="0" tIns="0" rIns="0" bIns="0">
                    <a:spAutoFit/>
                  </a:bodyPr>
                  <a:lstStyle/>
                  <a:p>
                    <a:pPr algn="ctr" eaLnBrk="1" hangingPunct="1">
                      <a:spcBef>
                        <a:spcPct val="50000"/>
                      </a:spcBef>
                    </a:pPr>
                    <a:r>
                      <a:rPr lang="en-US" altLang="zh-CN" sz="900" err="1">
                        <a:solidFill>
                          <a:schemeClr val="tx1"/>
                        </a:solidFill>
                        <a:latin typeface="Times New Roman" panose="02020603050405020304" pitchFamily="18" charset="0"/>
                      </a:rPr>
                      <a:t>h_adder</a:t>
                    </a:r>
                    <a:endParaRPr lang="en-US" altLang="zh-CN" sz="900">
                      <a:solidFill>
                        <a:schemeClr val="tx1"/>
                      </a:solidFill>
                      <a:latin typeface="Times New Roman" panose="02020603050405020304" pitchFamily="18" charset="0"/>
                    </a:endParaRPr>
                  </a:p>
                </p:txBody>
              </p:sp>
            </p:grpSp>
            <p:sp>
              <p:nvSpPr>
                <p:cNvPr id="179223" name="AutoShape 24"/>
                <p:cNvSpPr/>
                <p:nvPr/>
              </p:nvSpPr>
              <p:spPr>
                <a:xfrm rot="5400000">
                  <a:off x="3144" y="2772"/>
                  <a:ext cx="336" cy="336"/>
                </a:xfrm>
                <a:prstGeom prst="moon">
                  <a:avLst>
                    <a:gd name="adj" fmla="val 74824"/>
                  </a:avLst>
                </a:prstGeom>
                <a:solidFill>
                  <a:schemeClr val="hlink"/>
                </a:solidFill>
                <a:ln w="12700" cap="sq" cmpd="sng">
                  <a:solidFill>
                    <a:schemeClr val="tx1"/>
                  </a:solidFill>
                  <a:prstDash val="solid"/>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79224" name="Line 25"/>
                <p:cNvSpPr/>
                <p:nvPr/>
              </p:nvSpPr>
              <p:spPr>
                <a:xfrm flipV="1">
                  <a:off x="3240" y="3036"/>
                  <a:ext cx="0" cy="480"/>
                </a:xfrm>
                <a:prstGeom prst="line">
                  <a:avLst/>
                </a:prstGeom>
                <a:ln w="12700" cap="sq" cmpd="sng">
                  <a:solidFill>
                    <a:schemeClr val="tx1"/>
                  </a:solidFill>
                  <a:prstDash val="solid"/>
                  <a:headEnd type="none" w="sm" len="sm"/>
                  <a:tailEnd type="none" w="sm" len="sm"/>
                </a:ln>
              </p:spPr>
            </p:sp>
            <p:sp>
              <p:nvSpPr>
                <p:cNvPr id="179225" name="Line 26"/>
                <p:cNvSpPr/>
                <p:nvPr/>
              </p:nvSpPr>
              <p:spPr>
                <a:xfrm flipV="1">
                  <a:off x="3576" y="3336"/>
                  <a:ext cx="0" cy="180"/>
                </a:xfrm>
                <a:prstGeom prst="line">
                  <a:avLst/>
                </a:prstGeom>
                <a:ln w="12700" cap="sq" cmpd="sng">
                  <a:solidFill>
                    <a:schemeClr val="tx1"/>
                  </a:solidFill>
                  <a:prstDash val="solid"/>
                  <a:headEnd type="none" w="sm" len="sm"/>
                  <a:tailEnd type="none" w="sm" len="sm"/>
                </a:ln>
              </p:spPr>
            </p:sp>
            <p:sp>
              <p:nvSpPr>
                <p:cNvPr id="179226" name="Line 27"/>
                <p:cNvSpPr/>
                <p:nvPr/>
              </p:nvSpPr>
              <p:spPr>
                <a:xfrm>
                  <a:off x="3576" y="3336"/>
                  <a:ext cx="384" cy="0"/>
                </a:xfrm>
                <a:prstGeom prst="line">
                  <a:avLst/>
                </a:prstGeom>
                <a:ln w="12700" cap="sq" cmpd="sng">
                  <a:solidFill>
                    <a:schemeClr val="tx1"/>
                  </a:solidFill>
                  <a:prstDash val="solid"/>
                  <a:headEnd type="none" w="sm" len="sm"/>
                  <a:tailEnd type="none" w="sm" len="sm"/>
                </a:ln>
              </p:spPr>
            </p:sp>
            <p:sp>
              <p:nvSpPr>
                <p:cNvPr id="179227" name="Line 28"/>
                <p:cNvSpPr/>
                <p:nvPr/>
              </p:nvSpPr>
              <p:spPr>
                <a:xfrm flipV="1">
                  <a:off x="3960" y="3168"/>
                  <a:ext cx="0" cy="168"/>
                </a:xfrm>
                <a:prstGeom prst="line">
                  <a:avLst/>
                </a:prstGeom>
                <a:ln w="12700" cap="sq" cmpd="sng">
                  <a:solidFill>
                    <a:schemeClr val="tx1"/>
                  </a:solidFill>
                  <a:prstDash val="solid"/>
                  <a:headEnd type="none" w="sm" len="sm"/>
                  <a:tailEnd type="none" w="sm" len="sm"/>
                </a:ln>
              </p:spPr>
            </p:sp>
            <p:sp>
              <p:nvSpPr>
                <p:cNvPr id="179228" name="Line 29"/>
                <p:cNvSpPr/>
                <p:nvPr/>
              </p:nvSpPr>
              <p:spPr>
                <a:xfrm>
                  <a:off x="4296" y="3180"/>
                  <a:ext cx="0" cy="948"/>
                </a:xfrm>
                <a:prstGeom prst="line">
                  <a:avLst/>
                </a:prstGeom>
                <a:ln w="12700" cap="sq" cmpd="sng">
                  <a:solidFill>
                    <a:schemeClr val="tx1"/>
                  </a:solidFill>
                  <a:prstDash val="solid"/>
                  <a:headEnd type="none" w="sm" len="sm"/>
                  <a:tailEnd type="none" w="sm" len="sm"/>
                </a:ln>
              </p:spPr>
            </p:sp>
            <p:sp>
              <p:nvSpPr>
                <p:cNvPr id="179229" name="Line 30"/>
                <p:cNvSpPr/>
                <p:nvPr/>
              </p:nvSpPr>
              <p:spPr>
                <a:xfrm flipV="1">
                  <a:off x="4296" y="2460"/>
                  <a:ext cx="0" cy="360"/>
                </a:xfrm>
                <a:prstGeom prst="line">
                  <a:avLst/>
                </a:prstGeom>
                <a:ln w="12700" cap="sq" cmpd="sng">
                  <a:solidFill>
                    <a:schemeClr val="tx1"/>
                  </a:solidFill>
                  <a:prstDash val="solid"/>
                  <a:headEnd type="none" w="sm" len="sm"/>
                  <a:tailEnd type="none" w="sm" len="sm"/>
                </a:ln>
              </p:spPr>
            </p:sp>
            <p:sp>
              <p:nvSpPr>
                <p:cNvPr id="179230" name="Line 31"/>
                <p:cNvSpPr/>
                <p:nvPr/>
              </p:nvSpPr>
              <p:spPr>
                <a:xfrm flipV="1">
                  <a:off x="3960" y="2700"/>
                  <a:ext cx="0" cy="120"/>
                </a:xfrm>
                <a:prstGeom prst="line">
                  <a:avLst/>
                </a:prstGeom>
                <a:ln w="12700" cap="sq" cmpd="sng">
                  <a:solidFill>
                    <a:schemeClr val="tx1"/>
                  </a:solidFill>
                  <a:prstDash val="solid"/>
                  <a:headEnd type="none" w="sm" len="sm"/>
                  <a:tailEnd type="none" w="sm" len="sm"/>
                </a:ln>
              </p:spPr>
            </p:sp>
            <p:sp>
              <p:nvSpPr>
                <p:cNvPr id="179231" name="Line 32"/>
                <p:cNvSpPr/>
                <p:nvPr/>
              </p:nvSpPr>
              <p:spPr>
                <a:xfrm flipH="1">
                  <a:off x="3660" y="2700"/>
                  <a:ext cx="300" cy="0"/>
                </a:xfrm>
                <a:prstGeom prst="line">
                  <a:avLst/>
                </a:prstGeom>
                <a:ln w="12700" cap="sq" cmpd="sng">
                  <a:solidFill>
                    <a:schemeClr val="tx1"/>
                  </a:solidFill>
                  <a:prstDash val="solid"/>
                  <a:headEnd type="none" w="sm" len="sm"/>
                  <a:tailEnd type="none" w="sm" len="sm"/>
                </a:ln>
              </p:spPr>
            </p:sp>
            <p:sp>
              <p:nvSpPr>
                <p:cNvPr id="179232" name="Line 33"/>
                <p:cNvSpPr/>
                <p:nvPr/>
              </p:nvSpPr>
              <p:spPr>
                <a:xfrm>
                  <a:off x="3660" y="2700"/>
                  <a:ext cx="0" cy="516"/>
                </a:xfrm>
                <a:prstGeom prst="line">
                  <a:avLst/>
                </a:prstGeom>
                <a:ln w="12700" cap="sq" cmpd="sng">
                  <a:solidFill>
                    <a:schemeClr val="tx1"/>
                  </a:solidFill>
                  <a:prstDash val="solid"/>
                  <a:headEnd type="none" w="sm" len="sm"/>
                  <a:tailEnd type="none" w="sm" len="sm"/>
                </a:ln>
              </p:spPr>
            </p:sp>
            <p:sp>
              <p:nvSpPr>
                <p:cNvPr id="179233" name="Line 34"/>
                <p:cNvSpPr/>
                <p:nvPr/>
              </p:nvSpPr>
              <p:spPr>
                <a:xfrm flipH="1">
                  <a:off x="3384" y="3216"/>
                  <a:ext cx="276" cy="0"/>
                </a:xfrm>
                <a:prstGeom prst="line">
                  <a:avLst/>
                </a:prstGeom>
                <a:ln w="12700" cap="sq" cmpd="sng">
                  <a:solidFill>
                    <a:schemeClr val="tx1"/>
                  </a:solidFill>
                  <a:prstDash val="solid"/>
                  <a:headEnd type="none" w="sm" len="sm"/>
                  <a:tailEnd type="none" w="sm" len="sm"/>
                </a:ln>
              </p:spPr>
            </p:sp>
            <p:sp>
              <p:nvSpPr>
                <p:cNvPr id="179234" name="Line 35"/>
                <p:cNvSpPr/>
                <p:nvPr/>
              </p:nvSpPr>
              <p:spPr>
                <a:xfrm flipV="1">
                  <a:off x="3384" y="3036"/>
                  <a:ext cx="0" cy="180"/>
                </a:xfrm>
                <a:prstGeom prst="line">
                  <a:avLst/>
                </a:prstGeom>
                <a:ln w="12700" cap="sq" cmpd="sng">
                  <a:solidFill>
                    <a:schemeClr val="tx1"/>
                  </a:solidFill>
                  <a:prstDash val="solid"/>
                  <a:headEnd type="none" w="sm" len="sm"/>
                  <a:tailEnd type="none" w="sm" len="sm"/>
                </a:ln>
              </p:spPr>
            </p:sp>
            <p:sp>
              <p:nvSpPr>
                <p:cNvPr id="179235" name="Line 36"/>
                <p:cNvSpPr/>
                <p:nvPr/>
              </p:nvSpPr>
              <p:spPr>
                <a:xfrm flipV="1">
                  <a:off x="3312" y="2484"/>
                  <a:ext cx="0" cy="300"/>
                </a:xfrm>
                <a:prstGeom prst="line">
                  <a:avLst/>
                </a:prstGeom>
                <a:ln w="12700" cap="sq" cmpd="sng">
                  <a:solidFill>
                    <a:schemeClr val="tx1"/>
                  </a:solidFill>
                  <a:prstDash val="solid"/>
                  <a:headEnd type="none" w="sm" len="sm"/>
                  <a:tailEnd type="none" w="sm" len="sm"/>
                </a:ln>
              </p:spPr>
            </p:sp>
          </p:grpSp>
          <p:sp>
            <p:nvSpPr>
              <p:cNvPr id="179211" name="Text Box 37"/>
              <p:cNvSpPr txBox="1"/>
              <p:nvPr/>
            </p:nvSpPr>
            <p:spPr>
              <a:xfrm>
                <a:off x="3024" y="4066"/>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a</a:t>
                </a:r>
              </a:p>
            </p:txBody>
          </p:sp>
          <p:sp>
            <p:nvSpPr>
              <p:cNvPr id="179212" name="Text Box 38"/>
              <p:cNvSpPr txBox="1"/>
              <p:nvPr/>
            </p:nvSpPr>
            <p:spPr>
              <a:xfrm>
                <a:off x="4044" y="4066"/>
                <a:ext cx="300" cy="233"/>
              </a:xfrm>
              <a:prstGeom prst="rect">
                <a:avLst/>
              </a:prstGeom>
              <a:noFill/>
              <a:ln w="12700">
                <a:noFill/>
              </a:ln>
            </p:spPr>
            <p:txBody>
              <a:bodyPr lIns="0" tIns="0" rIns="0" bIns="0">
                <a:spAutoFit/>
              </a:bodyPr>
              <a:lstStyle/>
              <a:p>
                <a:pPr algn="ctr" eaLnBrk="1" hangingPunct="1">
                  <a:spcBef>
                    <a:spcPct val="50000"/>
                  </a:spcBef>
                </a:pPr>
                <a:r>
                  <a:rPr lang="en-US" altLang="zh-CN" sz="1800" err="1">
                    <a:solidFill>
                      <a:schemeClr val="tx1"/>
                    </a:solidFill>
                    <a:latin typeface="Times New Roman" panose="02020603050405020304" pitchFamily="18" charset="0"/>
                  </a:rPr>
                  <a:t>ci</a:t>
                </a:r>
                <a:endParaRPr lang="en-US" altLang="zh-CN" sz="1800">
                  <a:solidFill>
                    <a:schemeClr val="tx1"/>
                  </a:solidFill>
                  <a:latin typeface="Times New Roman" panose="02020603050405020304" pitchFamily="18" charset="0"/>
                </a:endParaRPr>
              </a:p>
            </p:txBody>
          </p:sp>
          <p:sp>
            <p:nvSpPr>
              <p:cNvPr id="179213" name="Text Box 39"/>
              <p:cNvSpPr txBox="1"/>
              <p:nvPr/>
            </p:nvSpPr>
            <p:spPr>
              <a:xfrm>
                <a:off x="3396" y="4090"/>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b</a:t>
                </a:r>
              </a:p>
            </p:txBody>
          </p:sp>
          <p:sp>
            <p:nvSpPr>
              <p:cNvPr id="179214" name="Text Box 40"/>
              <p:cNvSpPr txBox="1"/>
              <p:nvPr/>
            </p:nvSpPr>
            <p:spPr>
              <a:xfrm>
                <a:off x="4068" y="2458"/>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s</a:t>
                </a:r>
              </a:p>
            </p:txBody>
          </p:sp>
          <p:sp>
            <p:nvSpPr>
              <p:cNvPr id="179215" name="Text Box 41"/>
              <p:cNvSpPr txBox="1"/>
              <p:nvPr/>
            </p:nvSpPr>
            <p:spPr>
              <a:xfrm>
                <a:off x="3060" y="2458"/>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co</a:t>
                </a:r>
              </a:p>
            </p:txBody>
          </p:sp>
          <p:sp>
            <p:nvSpPr>
              <p:cNvPr id="266257" name="Text Box 42"/>
              <p:cNvSpPr txBox="1">
                <a:spLocks noChangeArrowheads="1"/>
              </p:cNvSpPr>
              <p:nvPr/>
            </p:nvSpPr>
            <p:spPr bwMode="auto">
              <a:xfrm>
                <a:off x="3024" y="3358"/>
                <a:ext cx="3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135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p>
            </p:txBody>
          </p:sp>
          <p:sp>
            <p:nvSpPr>
              <p:cNvPr id="266258" name="Text Box 43"/>
              <p:cNvSpPr txBox="1">
                <a:spLocks noChangeArrowheads="1"/>
              </p:cNvSpPr>
              <p:nvPr/>
            </p:nvSpPr>
            <p:spPr bwMode="auto">
              <a:xfrm>
                <a:off x="3900" y="2661"/>
                <a:ext cx="30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135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p>
            </p:txBody>
          </p:sp>
          <p:sp>
            <p:nvSpPr>
              <p:cNvPr id="266259" name="Text Box 44"/>
              <p:cNvSpPr txBox="1">
                <a:spLocks noChangeArrowheads="1"/>
              </p:cNvSpPr>
              <p:nvPr/>
            </p:nvSpPr>
            <p:spPr bwMode="auto">
              <a:xfrm>
                <a:off x="3360" y="3358"/>
                <a:ext cx="3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0" lang="en-US" altLang="zh-CN" sz="135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p>
            </p:txBody>
          </p:sp>
        </p:grpSp>
        <p:sp>
          <p:nvSpPr>
            <p:cNvPr id="266249" name="Text Box 45"/>
            <p:cNvSpPr txBox="1">
              <a:spLocks noChangeArrowheads="1"/>
            </p:cNvSpPr>
            <p:nvPr/>
          </p:nvSpPr>
          <p:spPr bwMode="auto">
            <a:xfrm>
              <a:off x="4041" y="3409"/>
              <a:ext cx="3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u1</a:t>
              </a:r>
            </a:p>
          </p:txBody>
        </p:sp>
        <p:sp>
          <p:nvSpPr>
            <p:cNvPr id="266250" name="Text Box 46"/>
            <p:cNvSpPr txBox="1">
              <a:spLocks noChangeArrowheads="1"/>
            </p:cNvSpPr>
            <p:nvPr/>
          </p:nvSpPr>
          <p:spPr bwMode="auto">
            <a:xfrm>
              <a:off x="4776" y="2703"/>
              <a:ext cx="3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u2</a:t>
              </a:r>
            </a:p>
          </p:txBody>
        </p:sp>
      </p:grpSp>
      <p:sp>
        <p:nvSpPr>
          <p:cNvPr id="179205" name="矩形 2"/>
          <p:cNvSpPr/>
          <p:nvPr/>
        </p:nvSpPr>
        <p:spPr>
          <a:xfrm>
            <a:off x="6318250" y="4306888"/>
            <a:ext cx="2646363" cy="339725"/>
          </a:xfrm>
          <a:prstGeom prst="rect">
            <a:avLst/>
          </a:prstGeom>
          <a:noFill/>
          <a:ln w="9525">
            <a:noFill/>
          </a:ln>
        </p:spPr>
        <p:txBody>
          <a:bodyPr wrap="none">
            <a:spAutoFit/>
          </a:bodyPr>
          <a:lstStyle/>
          <a:p>
            <a:pPr eaLnBrk="1" hangingPunct="1"/>
            <a:r>
              <a:rPr lang="zh-CN" altLang="en-US" sz="1600" dirty="0">
                <a:solidFill>
                  <a:srgbClr val="FF0000"/>
                </a:solidFill>
                <a:latin typeface="黑体" panose="02010609060101010101" pitchFamily="2" charset="-122"/>
                <a:ea typeface="黑体" panose="02010609060101010101" pitchFamily="2" charset="-122"/>
              </a:rPr>
              <a:t>由两个半加器构成的全加器</a:t>
            </a:r>
          </a:p>
        </p:txBody>
      </p:sp>
      <p:sp>
        <p:nvSpPr>
          <p:cNvPr id="3" name="对话气泡: 圆角矩形 2">
            <a:extLst>
              <a:ext uri="{FF2B5EF4-FFF2-40B4-BE49-F238E27FC236}">
                <a16:creationId xmlns:a16="http://schemas.microsoft.com/office/drawing/2014/main" id="{8F1F0DB4-42DE-4027-8AB2-99DAA1D87A63}"/>
              </a:ext>
            </a:extLst>
          </p:cNvPr>
          <p:cNvSpPr/>
          <p:nvPr/>
        </p:nvSpPr>
        <p:spPr bwMode="auto">
          <a:xfrm>
            <a:off x="2411760" y="4476750"/>
            <a:ext cx="3616520" cy="534566"/>
          </a:xfrm>
          <a:prstGeom prst="wedgeRoundRectCallout">
            <a:avLst>
              <a:gd name="adj1" fmla="val -39772"/>
              <a:gd name="adj2" fmla="val -115058"/>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dirty="0"/>
              <a:t>添加库和包就可以编译成一个半加器的元件，存在</a:t>
            </a:r>
            <a:r>
              <a:rPr lang="en-US" altLang="zh-CN" sz="1400" dirty="0"/>
              <a:t>work</a:t>
            </a:r>
            <a:r>
              <a:rPr lang="zh-CN" altLang="en-US" sz="1400" dirty="0"/>
              <a:t>库里</a:t>
            </a:r>
            <a:endParaRPr kumimoji="0" lang="zh-CN" altLang="en-US" sz="1400" b="0" i="0" u="none" strike="noStrike" cap="none" normalizeH="0" baseline="0" dirty="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9205"/>
                                        </p:tgtEl>
                                        <p:attrNameLst>
                                          <p:attrName>style.visibility</p:attrName>
                                        </p:attrNameLst>
                                      </p:cBhvr>
                                      <p:to>
                                        <p:strVal val="visible"/>
                                      </p:to>
                                    </p:set>
                                    <p:anim calcmode="lin" valueType="num">
                                      <p:cBhvr additive="base">
                                        <p:cTn id="11" dur="500" fill="hold"/>
                                        <p:tgtEl>
                                          <p:spTgt spid="179205"/>
                                        </p:tgtEl>
                                        <p:attrNameLst>
                                          <p:attrName>ppt_x</p:attrName>
                                        </p:attrNameLst>
                                      </p:cBhvr>
                                      <p:tavLst>
                                        <p:tav tm="0">
                                          <p:val>
                                            <p:strVal val="#ppt_x"/>
                                          </p:val>
                                        </p:tav>
                                        <p:tav tm="100000">
                                          <p:val>
                                            <p:strVal val="#ppt_x"/>
                                          </p:val>
                                        </p:tav>
                                      </p:tavLst>
                                    </p:anim>
                                    <p:anim calcmode="lin" valueType="num">
                                      <p:cBhvr additive="base">
                                        <p:cTn id="12" dur="500" fill="hold"/>
                                        <p:tgtEl>
                                          <p:spTgt spid="17920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F60E572-89CF-4D70-A58F-C317E80054D6}"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64</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7267" name="Text Box 2"/>
          <p:cNvSpPr txBox="1">
            <a:spLocks noChangeArrowheads="1"/>
          </p:cNvSpPr>
          <p:nvPr/>
        </p:nvSpPr>
        <p:spPr bwMode="auto">
          <a:xfrm>
            <a:off x="395288" y="379413"/>
            <a:ext cx="6413500" cy="476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defRPr/>
            </a:pPr>
            <a:endParaRPr kumimoji="0" lang="zh-CN" altLang="en-US" sz="75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ENTITY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f_adder</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IS</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PORT(a,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b,ci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IN	STD_LOGIC;</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s, co	: OUT	STD_LOGIC);</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END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f_adder</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ARCHITECTURE arc OF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f_adder</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IS</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COMPONENT </a:t>
            </a:r>
            <a:r>
              <a:rPr kumimoji="0" lang="en-US" altLang="zh-CN" sz="1800" b="0"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mn-cs"/>
              </a:rPr>
              <a:t>h_adder</a:t>
            </a:r>
            <a:endPar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		PORT(a, b	: IN	STD_LOGIC;</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		 	s, c 	: OUT	STD_LOGIC);</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	END COMPONENT;</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SIGNAL s1,c1,c2:STD_LOGIC;</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BEGIN</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u1: </a:t>
            </a:r>
            <a:r>
              <a:rPr kumimoji="0" lang="en-US" altLang="zh-CN"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mn-cs"/>
              </a:rPr>
              <a:t>h_adder</a:t>
            </a: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PORT MAP(a,b,s1,c1);</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u2: </a:t>
            </a:r>
            <a:r>
              <a:rPr kumimoji="0" lang="en-US" altLang="zh-CN" sz="1800" b="0"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mn-cs"/>
              </a:rPr>
              <a:t>h_adder</a:t>
            </a:r>
            <a:r>
              <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PORT MAP(s1,ci,s,c2);</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co&lt;=c1 OR c2;</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END arc;</a:t>
            </a:r>
          </a:p>
        </p:txBody>
      </p:sp>
      <p:grpSp>
        <p:nvGrpSpPr>
          <p:cNvPr id="2" name="Group 4"/>
          <p:cNvGrpSpPr/>
          <p:nvPr/>
        </p:nvGrpSpPr>
        <p:grpSpPr>
          <a:xfrm>
            <a:off x="6808788" y="1635125"/>
            <a:ext cx="2230437" cy="2220913"/>
            <a:chOff x="3228" y="2218"/>
            <a:chExt cx="1873" cy="1865"/>
          </a:xfrm>
        </p:grpSpPr>
        <p:sp>
          <p:nvSpPr>
            <p:cNvPr id="180230" name="Rectangle 5"/>
            <p:cNvSpPr/>
            <p:nvPr/>
          </p:nvSpPr>
          <p:spPr>
            <a:xfrm>
              <a:off x="3228" y="2460"/>
              <a:ext cx="1839" cy="1344"/>
            </a:xfrm>
            <a:prstGeom prst="rect">
              <a:avLst/>
            </a:prstGeom>
            <a:solidFill>
              <a:schemeClr val="accent1"/>
            </a:solidFill>
            <a:ln w="12700" cap="flat" cmpd="sng">
              <a:solidFill>
                <a:srgbClr val="66FF66"/>
              </a:solidFill>
              <a:prstDash val="lgDashDot"/>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grpSp>
          <p:nvGrpSpPr>
            <p:cNvPr id="180231" name="Group 6"/>
            <p:cNvGrpSpPr/>
            <p:nvPr/>
          </p:nvGrpSpPr>
          <p:grpSpPr>
            <a:xfrm>
              <a:off x="3348" y="2218"/>
              <a:ext cx="1464" cy="1865"/>
              <a:chOff x="3024" y="2458"/>
              <a:chExt cx="1464" cy="1865"/>
            </a:xfrm>
          </p:grpSpPr>
          <p:grpSp>
            <p:nvGrpSpPr>
              <p:cNvPr id="180234" name="Group 7"/>
              <p:cNvGrpSpPr/>
              <p:nvPr/>
            </p:nvGrpSpPr>
            <p:grpSpPr>
              <a:xfrm>
                <a:off x="3084" y="2532"/>
                <a:ext cx="1404" cy="1680"/>
                <a:chOff x="3084" y="2460"/>
                <a:chExt cx="1404" cy="1680"/>
              </a:xfrm>
            </p:grpSpPr>
            <p:sp>
              <p:nvSpPr>
                <p:cNvPr id="180243" name="Line 8"/>
                <p:cNvSpPr/>
                <p:nvPr/>
              </p:nvSpPr>
              <p:spPr>
                <a:xfrm>
                  <a:off x="3252" y="3876"/>
                  <a:ext cx="0" cy="264"/>
                </a:xfrm>
                <a:prstGeom prst="line">
                  <a:avLst/>
                </a:prstGeom>
                <a:ln w="12700" cap="sq" cmpd="sng">
                  <a:solidFill>
                    <a:schemeClr val="tx1"/>
                  </a:solidFill>
                  <a:prstDash val="solid"/>
                  <a:headEnd type="none" w="sm" len="sm"/>
                  <a:tailEnd type="none" w="sm" len="sm"/>
                </a:ln>
              </p:spPr>
            </p:sp>
            <p:sp>
              <p:nvSpPr>
                <p:cNvPr id="180244" name="Line 9"/>
                <p:cNvSpPr/>
                <p:nvPr/>
              </p:nvSpPr>
              <p:spPr>
                <a:xfrm>
                  <a:off x="3600" y="3876"/>
                  <a:ext cx="0" cy="264"/>
                </a:xfrm>
                <a:prstGeom prst="line">
                  <a:avLst/>
                </a:prstGeom>
                <a:ln w="12700" cap="sq" cmpd="sng">
                  <a:solidFill>
                    <a:schemeClr val="tx1"/>
                  </a:solidFill>
                  <a:prstDash val="solid"/>
                  <a:headEnd type="none" w="sm" len="sm"/>
                  <a:tailEnd type="none" w="sm" len="sm"/>
                </a:ln>
              </p:spPr>
            </p:sp>
            <p:grpSp>
              <p:nvGrpSpPr>
                <p:cNvPr id="180245" name="Group 10"/>
                <p:cNvGrpSpPr/>
                <p:nvPr/>
              </p:nvGrpSpPr>
              <p:grpSpPr>
                <a:xfrm>
                  <a:off x="3084" y="3480"/>
                  <a:ext cx="684" cy="414"/>
                  <a:chOff x="3084" y="3480"/>
                  <a:chExt cx="684" cy="414"/>
                </a:xfrm>
              </p:grpSpPr>
              <p:sp>
                <p:nvSpPr>
                  <p:cNvPr id="180266" name="Rectangle 11"/>
                  <p:cNvSpPr/>
                  <p:nvPr/>
                </p:nvSpPr>
                <p:spPr>
                  <a:xfrm>
                    <a:off x="3084" y="3516"/>
                    <a:ext cx="684" cy="360"/>
                  </a:xfrm>
                  <a:prstGeom prst="rect">
                    <a:avLst/>
                  </a:prstGeom>
                  <a:solidFill>
                    <a:schemeClr val="hlink"/>
                  </a:solidFill>
                  <a:ln w="12700" cap="sq" cmpd="sng">
                    <a:solidFill>
                      <a:schemeClr val="tx1"/>
                    </a:solidFill>
                    <a:prstDash val="solid"/>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67307" name="Text Box 12"/>
                  <p:cNvSpPr txBox="1">
                    <a:spLocks noChangeArrowheads="1"/>
                  </p:cNvSpPr>
                  <p:nvPr/>
                </p:nvSpPr>
                <p:spPr bwMode="auto">
                  <a:xfrm>
                    <a:off x="3108" y="3720"/>
                    <a:ext cx="27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p>
                </p:txBody>
              </p:sp>
              <p:sp>
                <p:nvSpPr>
                  <p:cNvPr id="267308" name="Text Box 13"/>
                  <p:cNvSpPr txBox="1">
                    <a:spLocks noChangeArrowheads="1"/>
                  </p:cNvSpPr>
                  <p:nvPr/>
                </p:nvSpPr>
                <p:spPr bwMode="auto">
                  <a:xfrm>
                    <a:off x="3468" y="3720"/>
                    <a:ext cx="27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267309" name="Text Box 14"/>
                  <p:cNvSpPr txBox="1">
                    <a:spLocks noChangeArrowheads="1"/>
                  </p:cNvSpPr>
                  <p:nvPr/>
                </p:nvSpPr>
                <p:spPr bwMode="auto">
                  <a:xfrm>
                    <a:off x="3108" y="3480"/>
                    <a:ext cx="27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p>
                </p:txBody>
              </p:sp>
              <p:sp>
                <p:nvSpPr>
                  <p:cNvPr id="267310" name="Text Box 15"/>
                  <p:cNvSpPr txBox="1">
                    <a:spLocks noChangeArrowheads="1"/>
                  </p:cNvSpPr>
                  <p:nvPr/>
                </p:nvSpPr>
                <p:spPr bwMode="auto">
                  <a:xfrm>
                    <a:off x="3456" y="3492"/>
                    <a:ext cx="27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a:t>
                    </a:r>
                  </a:p>
                </p:txBody>
              </p:sp>
              <p:sp>
                <p:nvSpPr>
                  <p:cNvPr id="180271" name="Text Box 16"/>
                  <p:cNvSpPr txBox="1"/>
                  <p:nvPr/>
                </p:nvSpPr>
                <p:spPr>
                  <a:xfrm>
                    <a:off x="3120" y="3624"/>
                    <a:ext cx="588" cy="116"/>
                  </a:xfrm>
                  <a:prstGeom prst="rect">
                    <a:avLst/>
                  </a:prstGeom>
                  <a:noFill/>
                  <a:ln w="12700">
                    <a:noFill/>
                  </a:ln>
                </p:spPr>
                <p:txBody>
                  <a:bodyPr lIns="0" tIns="0" rIns="0" bIns="0">
                    <a:spAutoFit/>
                  </a:bodyPr>
                  <a:lstStyle/>
                  <a:p>
                    <a:pPr algn="ctr" eaLnBrk="1" hangingPunct="1">
                      <a:spcBef>
                        <a:spcPct val="50000"/>
                      </a:spcBef>
                    </a:pPr>
                    <a:r>
                      <a:rPr lang="en-US" altLang="zh-CN" sz="900" err="1">
                        <a:solidFill>
                          <a:schemeClr val="tx1"/>
                        </a:solidFill>
                        <a:latin typeface="Times New Roman" panose="02020603050405020304" pitchFamily="18" charset="0"/>
                      </a:rPr>
                      <a:t>h_adder</a:t>
                    </a:r>
                    <a:endParaRPr lang="en-US" altLang="zh-CN" sz="900">
                      <a:solidFill>
                        <a:schemeClr val="tx1"/>
                      </a:solidFill>
                      <a:latin typeface="Times New Roman" panose="02020603050405020304" pitchFamily="18" charset="0"/>
                    </a:endParaRPr>
                  </a:p>
                </p:txBody>
              </p:sp>
            </p:grpSp>
            <p:grpSp>
              <p:nvGrpSpPr>
                <p:cNvPr id="180246" name="Group 17"/>
                <p:cNvGrpSpPr/>
                <p:nvPr/>
              </p:nvGrpSpPr>
              <p:grpSpPr>
                <a:xfrm>
                  <a:off x="3804" y="2784"/>
                  <a:ext cx="684" cy="414"/>
                  <a:chOff x="3084" y="3480"/>
                  <a:chExt cx="684" cy="414"/>
                </a:xfrm>
              </p:grpSpPr>
              <p:sp>
                <p:nvSpPr>
                  <p:cNvPr id="180260" name="Rectangle 18"/>
                  <p:cNvSpPr/>
                  <p:nvPr/>
                </p:nvSpPr>
                <p:spPr>
                  <a:xfrm>
                    <a:off x="3084" y="3516"/>
                    <a:ext cx="684" cy="360"/>
                  </a:xfrm>
                  <a:prstGeom prst="rect">
                    <a:avLst/>
                  </a:prstGeom>
                  <a:solidFill>
                    <a:schemeClr val="hlink"/>
                  </a:solidFill>
                  <a:ln w="12700" cap="sq" cmpd="sng">
                    <a:solidFill>
                      <a:schemeClr val="tx1"/>
                    </a:solidFill>
                    <a:prstDash val="solid"/>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67301" name="Text Box 19"/>
                  <p:cNvSpPr txBox="1">
                    <a:spLocks noChangeArrowheads="1"/>
                  </p:cNvSpPr>
                  <p:nvPr/>
                </p:nvSpPr>
                <p:spPr bwMode="auto">
                  <a:xfrm>
                    <a:off x="3108" y="3722"/>
                    <a:ext cx="27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p>
                </p:txBody>
              </p:sp>
              <p:sp>
                <p:nvSpPr>
                  <p:cNvPr id="267302" name="Text Box 20"/>
                  <p:cNvSpPr txBox="1">
                    <a:spLocks noChangeArrowheads="1"/>
                  </p:cNvSpPr>
                  <p:nvPr/>
                </p:nvSpPr>
                <p:spPr bwMode="auto">
                  <a:xfrm>
                    <a:off x="3468" y="3722"/>
                    <a:ext cx="27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267303" name="Text Box 21"/>
                  <p:cNvSpPr txBox="1">
                    <a:spLocks noChangeArrowheads="1"/>
                  </p:cNvSpPr>
                  <p:nvPr/>
                </p:nvSpPr>
                <p:spPr bwMode="auto">
                  <a:xfrm>
                    <a:off x="3108" y="3482"/>
                    <a:ext cx="27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p>
                </p:txBody>
              </p:sp>
              <p:sp>
                <p:nvSpPr>
                  <p:cNvPr id="267304" name="Text Box 22"/>
                  <p:cNvSpPr txBox="1">
                    <a:spLocks noChangeArrowheads="1"/>
                  </p:cNvSpPr>
                  <p:nvPr/>
                </p:nvSpPr>
                <p:spPr bwMode="auto">
                  <a:xfrm>
                    <a:off x="3456" y="3494"/>
                    <a:ext cx="27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a:t>
                    </a:r>
                  </a:p>
                </p:txBody>
              </p:sp>
              <p:sp>
                <p:nvSpPr>
                  <p:cNvPr id="180265" name="Text Box 23"/>
                  <p:cNvSpPr txBox="1"/>
                  <p:nvPr/>
                </p:nvSpPr>
                <p:spPr>
                  <a:xfrm>
                    <a:off x="3120" y="3624"/>
                    <a:ext cx="588" cy="116"/>
                  </a:xfrm>
                  <a:prstGeom prst="rect">
                    <a:avLst/>
                  </a:prstGeom>
                  <a:noFill/>
                  <a:ln w="12700">
                    <a:noFill/>
                  </a:ln>
                </p:spPr>
                <p:txBody>
                  <a:bodyPr lIns="0" tIns="0" rIns="0" bIns="0">
                    <a:spAutoFit/>
                  </a:bodyPr>
                  <a:lstStyle/>
                  <a:p>
                    <a:pPr algn="ctr" eaLnBrk="1" hangingPunct="1">
                      <a:spcBef>
                        <a:spcPct val="50000"/>
                      </a:spcBef>
                    </a:pPr>
                    <a:r>
                      <a:rPr lang="en-US" altLang="zh-CN" sz="900" err="1">
                        <a:solidFill>
                          <a:schemeClr val="tx1"/>
                        </a:solidFill>
                        <a:latin typeface="Times New Roman" panose="02020603050405020304" pitchFamily="18" charset="0"/>
                      </a:rPr>
                      <a:t>h_adder</a:t>
                    </a:r>
                    <a:endParaRPr lang="en-US" altLang="zh-CN" sz="900">
                      <a:solidFill>
                        <a:schemeClr val="tx1"/>
                      </a:solidFill>
                      <a:latin typeface="Times New Roman" panose="02020603050405020304" pitchFamily="18" charset="0"/>
                    </a:endParaRPr>
                  </a:p>
                </p:txBody>
              </p:sp>
            </p:grpSp>
            <p:sp>
              <p:nvSpPr>
                <p:cNvPr id="180247" name="AutoShape 24"/>
                <p:cNvSpPr/>
                <p:nvPr/>
              </p:nvSpPr>
              <p:spPr>
                <a:xfrm rot="5400000">
                  <a:off x="3144" y="2772"/>
                  <a:ext cx="336" cy="336"/>
                </a:xfrm>
                <a:prstGeom prst="moon">
                  <a:avLst>
                    <a:gd name="adj" fmla="val 74824"/>
                  </a:avLst>
                </a:prstGeom>
                <a:solidFill>
                  <a:schemeClr val="hlink"/>
                </a:solidFill>
                <a:ln w="12700" cap="sq" cmpd="sng">
                  <a:solidFill>
                    <a:schemeClr val="tx1"/>
                  </a:solidFill>
                  <a:prstDash val="solid"/>
                  <a:miter/>
                  <a:headEnd type="none" w="sm" len="sm"/>
                  <a:tailEnd type="none" w="sm" len="sm"/>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0248" name="Line 25"/>
                <p:cNvSpPr/>
                <p:nvPr/>
              </p:nvSpPr>
              <p:spPr>
                <a:xfrm flipV="1">
                  <a:off x="3240" y="3036"/>
                  <a:ext cx="0" cy="480"/>
                </a:xfrm>
                <a:prstGeom prst="line">
                  <a:avLst/>
                </a:prstGeom>
                <a:ln w="12700" cap="sq" cmpd="sng">
                  <a:solidFill>
                    <a:schemeClr val="tx1"/>
                  </a:solidFill>
                  <a:prstDash val="solid"/>
                  <a:headEnd type="none" w="sm" len="sm"/>
                  <a:tailEnd type="none" w="sm" len="sm"/>
                </a:ln>
              </p:spPr>
            </p:sp>
            <p:sp>
              <p:nvSpPr>
                <p:cNvPr id="180249" name="Line 26"/>
                <p:cNvSpPr/>
                <p:nvPr/>
              </p:nvSpPr>
              <p:spPr>
                <a:xfrm flipV="1">
                  <a:off x="3576" y="3336"/>
                  <a:ext cx="0" cy="180"/>
                </a:xfrm>
                <a:prstGeom prst="line">
                  <a:avLst/>
                </a:prstGeom>
                <a:ln w="12700" cap="sq" cmpd="sng">
                  <a:solidFill>
                    <a:schemeClr val="tx1"/>
                  </a:solidFill>
                  <a:prstDash val="solid"/>
                  <a:headEnd type="none" w="sm" len="sm"/>
                  <a:tailEnd type="none" w="sm" len="sm"/>
                </a:ln>
              </p:spPr>
            </p:sp>
            <p:sp>
              <p:nvSpPr>
                <p:cNvPr id="180250" name="Line 27"/>
                <p:cNvSpPr/>
                <p:nvPr/>
              </p:nvSpPr>
              <p:spPr>
                <a:xfrm>
                  <a:off x="3576" y="3336"/>
                  <a:ext cx="384" cy="0"/>
                </a:xfrm>
                <a:prstGeom prst="line">
                  <a:avLst/>
                </a:prstGeom>
                <a:ln w="12700" cap="sq" cmpd="sng">
                  <a:solidFill>
                    <a:schemeClr val="tx1"/>
                  </a:solidFill>
                  <a:prstDash val="solid"/>
                  <a:headEnd type="none" w="sm" len="sm"/>
                  <a:tailEnd type="none" w="sm" len="sm"/>
                </a:ln>
              </p:spPr>
            </p:sp>
            <p:sp>
              <p:nvSpPr>
                <p:cNvPr id="180251" name="Line 28"/>
                <p:cNvSpPr/>
                <p:nvPr/>
              </p:nvSpPr>
              <p:spPr>
                <a:xfrm flipV="1">
                  <a:off x="3960" y="3168"/>
                  <a:ext cx="0" cy="168"/>
                </a:xfrm>
                <a:prstGeom prst="line">
                  <a:avLst/>
                </a:prstGeom>
                <a:ln w="12700" cap="sq" cmpd="sng">
                  <a:solidFill>
                    <a:schemeClr val="tx1"/>
                  </a:solidFill>
                  <a:prstDash val="solid"/>
                  <a:headEnd type="none" w="sm" len="sm"/>
                  <a:tailEnd type="none" w="sm" len="sm"/>
                </a:ln>
              </p:spPr>
            </p:sp>
            <p:sp>
              <p:nvSpPr>
                <p:cNvPr id="180252" name="Line 29"/>
                <p:cNvSpPr/>
                <p:nvPr/>
              </p:nvSpPr>
              <p:spPr>
                <a:xfrm>
                  <a:off x="4296" y="3180"/>
                  <a:ext cx="0" cy="948"/>
                </a:xfrm>
                <a:prstGeom prst="line">
                  <a:avLst/>
                </a:prstGeom>
                <a:ln w="12700" cap="sq" cmpd="sng">
                  <a:solidFill>
                    <a:schemeClr val="tx1"/>
                  </a:solidFill>
                  <a:prstDash val="solid"/>
                  <a:headEnd type="none" w="sm" len="sm"/>
                  <a:tailEnd type="none" w="sm" len="sm"/>
                </a:ln>
              </p:spPr>
            </p:sp>
            <p:sp>
              <p:nvSpPr>
                <p:cNvPr id="180253" name="Line 30"/>
                <p:cNvSpPr/>
                <p:nvPr/>
              </p:nvSpPr>
              <p:spPr>
                <a:xfrm flipV="1">
                  <a:off x="4296" y="2460"/>
                  <a:ext cx="0" cy="360"/>
                </a:xfrm>
                <a:prstGeom prst="line">
                  <a:avLst/>
                </a:prstGeom>
                <a:ln w="12700" cap="sq" cmpd="sng">
                  <a:solidFill>
                    <a:schemeClr val="tx1"/>
                  </a:solidFill>
                  <a:prstDash val="solid"/>
                  <a:headEnd type="none" w="sm" len="sm"/>
                  <a:tailEnd type="none" w="sm" len="sm"/>
                </a:ln>
              </p:spPr>
            </p:sp>
            <p:sp>
              <p:nvSpPr>
                <p:cNvPr id="180254" name="Line 31"/>
                <p:cNvSpPr/>
                <p:nvPr/>
              </p:nvSpPr>
              <p:spPr>
                <a:xfrm flipV="1">
                  <a:off x="3960" y="2700"/>
                  <a:ext cx="0" cy="120"/>
                </a:xfrm>
                <a:prstGeom prst="line">
                  <a:avLst/>
                </a:prstGeom>
                <a:ln w="12700" cap="sq" cmpd="sng">
                  <a:solidFill>
                    <a:schemeClr val="tx1"/>
                  </a:solidFill>
                  <a:prstDash val="solid"/>
                  <a:headEnd type="none" w="sm" len="sm"/>
                  <a:tailEnd type="none" w="sm" len="sm"/>
                </a:ln>
              </p:spPr>
            </p:sp>
            <p:sp>
              <p:nvSpPr>
                <p:cNvPr id="180255" name="Line 32"/>
                <p:cNvSpPr/>
                <p:nvPr/>
              </p:nvSpPr>
              <p:spPr>
                <a:xfrm flipH="1">
                  <a:off x="3660" y="2700"/>
                  <a:ext cx="300" cy="0"/>
                </a:xfrm>
                <a:prstGeom prst="line">
                  <a:avLst/>
                </a:prstGeom>
                <a:ln w="12700" cap="sq" cmpd="sng">
                  <a:solidFill>
                    <a:schemeClr val="tx1"/>
                  </a:solidFill>
                  <a:prstDash val="solid"/>
                  <a:headEnd type="none" w="sm" len="sm"/>
                  <a:tailEnd type="none" w="sm" len="sm"/>
                </a:ln>
              </p:spPr>
            </p:sp>
            <p:sp>
              <p:nvSpPr>
                <p:cNvPr id="180256" name="Line 33"/>
                <p:cNvSpPr/>
                <p:nvPr/>
              </p:nvSpPr>
              <p:spPr>
                <a:xfrm>
                  <a:off x="3660" y="2700"/>
                  <a:ext cx="0" cy="516"/>
                </a:xfrm>
                <a:prstGeom prst="line">
                  <a:avLst/>
                </a:prstGeom>
                <a:ln w="12700" cap="sq" cmpd="sng">
                  <a:solidFill>
                    <a:schemeClr val="tx1"/>
                  </a:solidFill>
                  <a:prstDash val="solid"/>
                  <a:headEnd type="none" w="sm" len="sm"/>
                  <a:tailEnd type="none" w="sm" len="sm"/>
                </a:ln>
              </p:spPr>
            </p:sp>
            <p:sp>
              <p:nvSpPr>
                <p:cNvPr id="180257" name="Line 34"/>
                <p:cNvSpPr/>
                <p:nvPr/>
              </p:nvSpPr>
              <p:spPr>
                <a:xfrm flipH="1">
                  <a:off x="3384" y="3216"/>
                  <a:ext cx="276" cy="0"/>
                </a:xfrm>
                <a:prstGeom prst="line">
                  <a:avLst/>
                </a:prstGeom>
                <a:ln w="12700" cap="sq" cmpd="sng">
                  <a:solidFill>
                    <a:schemeClr val="tx1"/>
                  </a:solidFill>
                  <a:prstDash val="solid"/>
                  <a:headEnd type="none" w="sm" len="sm"/>
                  <a:tailEnd type="none" w="sm" len="sm"/>
                </a:ln>
              </p:spPr>
            </p:sp>
            <p:sp>
              <p:nvSpPr>
                <p:cNvPr id="180258" name="Line 35"/>
                <p:cNvSpPr/>
                <p:nvPr/>
              </p:nvSpPr>
              <p:spPr>
                <a:xfrm flipV="1">
                  <a:off x="3384" y="3036"/>
                  <a:ext cx="0" cy="180"/>
                </a:xfrm>
                <a:prstGeom prst="line">
                  <a:avLst/>
                </a:prstGeom>
                <a:ln w="12700" cap="sq" cmpd="sng">
                  <a:solidFill>
                    <a:schemeClr val="tx1"/>
                  </a:solidFill>
                  <a:prstDash val="solid"/>
                  <a:headEnd type="none" w="sm" len="sm"/>
                  <a:tailEnd type="none" w="sm" len="sm"/>
                </a:ln>
              </p:spPr>
            </p:sp>
            <p:sp>
              <p:nvSpPr>
                <p:cNvPr id="180259" name="Line 36"/>
                <p:cNvSpPr/>
                <p:nvPr/>
              </p:nvSpPr>
              <p:spPr>
                <a:xfrm flipV="1">
                  <a:off x="3312" y="2484"/>
                  <a:ext cx="0" cy="300"/>
                </a:xfrm>
                <a:prstGeom prst="line">
                  <a:avLst/>
                </a:prstGeom>
                <a:ln w="12700" cap="sq" cmpd="sng">
                  <a:solidFill>
                    <a:schemeClr val="tx1"/>
                  </a:solidFill>
                  <a:prstDash val="solid"/>
                  <a:headEnd type="none" w="sm" len="sm"/>
                  <a:tailEnd type="none" w="sm" len="sm"/>
                </a:ln>
              </p:spPr>
            </p:sp>
          </p:grpSp>
          <p:sp>
            <p:nvSpPr>
              <p:cNvPr id="180235" name="Text Box 37"/>
              <p:cNvSpPr txBox="1"/>
              <p:nvPr/>
            </p:nvSpPr>
            <p:spPr>
              <a:xfrm>
                <a:off x="3024" y="4066"/>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a</a:t>
                </a:r>
              </a:p>
            </p:txBody>
          </p:sp>
          <p:sp>
            <p:nvSpPr>
              <p:cNvPr id="180236" name="Text Box 38"/>
              <p:cNvSpPr txBox="1"/>
              <p:nvPr/>
            </p:nvSpPr>
            <p:spPr>
              <a:xfrm>
                <a:off x="4044" y="4066"/>
                <a:ext cx="300" cy="233"/>
              </a:xfrm>
              <a:prstGeom prst="rect">
                <a:avLst/>
              </a:prstGeom>
              <a:noFill/>
              <a:ln w="12700">
                <a:noFill/>
              </a:ln>
            </p:spPr>
            <p:txBody>
              <a:bodyPr lIns="0" tIns="0" rIns="0" bIns="0">
                <a:spAutoFit/>
              </a:bodyPr>
              <a:lstStyle/>
              <a:p>
                <a:pPr algn="ctr" eaLnBrk="1" hangingPunct="1">
                  <a:spcBef>
                    <a:spcPct val="50000"/>
                  </a:spcBef>
                </a:pPr>
                <a:r>
                  <a:rPr lang="en-US" altLang="zh-CN" sz="1800" err="1">
                    <a:solidFill>
                      <a:schemeClr val="tx1"/>
                    </a:solidFill>
                    <a:latin typeface="Times New Roman" panose="02020603050405020304" pitchFamily="18" charset="0"/>
                  </a:rPr>
                  <a:t>ci</a:t>
                </a:r>
                <a:endParaRPr lang="en-US" altLang="zh-CN" sz="1800">
                  <a:solidFill>
                    <a:schemeClr val="tx1"/>
                  </a:solidFill>
                  <a:latin typeface="Times New Roman" panose="02020603050405020304" pitchFamily="18" charset="0"/>
                </a:endParaRPr>
              </a:p>
            </p:txBody>
          </p:sp>
          <p:sp>
            <p:nvSpPr>
              <p:cNvPr id="180237" name="Text Box 39"/>
              <p:cNvSpPr txBox="1"/>
              <p:nvPr/>
            </p:nvSpPr>
            <p:spPr>
              <a:xfrm>
                <a:off x="3396" y="4090"/>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b</a:t>
                </a:r>
              </a:p>
            </p:txBody>
          </p:sp>
          <p:sp>
            <p:nvSpPr>
              <p:cNvPr id="180238" name="Text Box 40"/>
              <p:cNvSpPr txBox="1"/>
              <p:nvPr/>
            </p:nvSpPr>
            <p:spPr>
              <a:xfrm>
                <a:off x="4068" y="2458"/>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s</a:t>
                </a:r>
              </a:p>
            </p:txBody>
          </p:sp>
          <p:sp>
            <p:nvSpPr>
              <p:cNvPr id="180239" name="Text Box 41"/>
              <p:cNvSpPr txBox="1"/>
              <p:nvPr/>
            </p:nvSpPr>
            <p:spPr>
              <a:xfrm>
                <a:off x="3060" y="2458"/>
                <a:ext cx="300" cy="233"/>
              </a:xfrm>
              <a:prstGeom prst="rect">
                <a:avLst/>
              </a:prstGeom>
              <a:noFill/>
              <a:ln w="12700">
                <a:noFill/>
              </a:ln>
            </p:spPr>
            <p:txBody>
              <a:bodyPr lIns="0" tIns="0" rIns="0" bIns="0">
                <a:spAutoFit/>
              </a:bodyPr>
              <a:lstStyle/>
              <a:p>
                <a:pPr algn="ctr" eaLnBrk="1" hangingPunct="1">
                  <a:spcBef>
                    <a:spcPct val="50000"/>
                  </a:spcBef>
                </a:pPr>
                <a:r>
                  <a:rPr lang="en-US" altLang="zh-CN" sz="1800">
                    <a:solidFill>
                      <a:schemeClr val="tx1"/>
                    </a:solidFill>
                    <a:latin typeface="Times New Roman" panose="02020603050405020304" pitchFamily="18" charset="0"/>
                  </a:rPr>
                  <a:t>co</a:t>
                </a:r>
              </a:p>
            </p:txBody>
          </p:sp>
          <p:sp>
            <p:nvSpPr>
              <p:cNvPr id="267280" name="Text Box 42"/>
              <p:cNvSpPr txBox="1">
                <a:spLocks noChangeArrowheads="1"/>
              </p:cNvSpPr>
              <p:nvPr/>
            </p:nvSpPr>
            <p:spPr bwMode="auto">
              <a:xfrm>
                <a:off x="3024" y="3358"/>
                <a:ext cx="30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135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p>
            </p:txBody>
          </p:sp>
          <p:sp>
            <p:nvSpPr>
              <p:cNvPr id="267281" name="Text Box 43"/>
              <p:cNvSpPr txBox="1">
                <a:spLocks noChangeArrowheads="1"/>
              </p:cNvSpPr>
              <p:nvPr/>
            </p:nvSpPr>
            <p:spPr bwMode="auto">
              <a:xfrm>
                <a:off x="3900" y="2662"/>
                <a:ext cx="30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0" lang="en-US" altLang="zh-CN" sz="135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p>
            </p:txBody>
          </p:sp>
          <p:sp>
            <p:nvSpPr>
              <p:cNvPr id="267282" name="Text Box 44"/>
              <p:cNvSpPr txBox="1">
                <a:spLocks noChangeArrowheads="1"/>
              </p:cNvSpPr>
              <p:nvPr/>
            </p:nvSpPr>
            <p:spPr bwMode="auto">
              <a:xfrm>
                <a:off x="3360" y="3358"/>
                <a:ext cx="30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0" lang="en-US" altLang="zh-CN" sz="135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p>
            </p:txBody>
          </p:sp>
        </p:grpSp>
        <p:sp>
          <p:nvSpPr>
            <p:cNvPr id="267272" name="Text Box 45"/>
            <p:cNvSpPr txBox="1">
              <a:spLocks noChangeArrowheads="1"/>
            </p:cNvSpPr>
            <p:nvPr/>
          </p:nvSpPr>
          <p:spPr bwMode="auto">
            <a:xfrm>
              <a:off x="4041" y="3408"/>
              <a:ext cx="3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u1</a:t>
              </a:r>
            </a:p>
          </p:txBody>
        </p:sp>
        <p:sp>
          <p:nvSpPr>
            <p:cNvPr id="267273" name="Text Box 46"/>
            <p:cNvSpPr txBox="1">
              <a:spLocks noChangeArrowheads="1"/>
            </p:cNvSpPr>
            <p:nvPr/>
          </p:nvSpPr>
          <p:spPr bwMode="auto">
            <a:xfrm>
              <a:off x="4776" y="2703"/>
              <a:ext cx="3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u2</a:t>
              </a:r>
            </a:p>
          </p:txBody>
        </p:sp>
      </p:grpSp>
      <p:sp>
        <p:nvSpPr>
          <p:cNvPr id="180229" name="矩形 2"/>
          <p:cNvSpPr/>
          <p:nvPr/>
        </p:nvSpPr>
        <p:spPr>
          <a:xfrm>
            <a:off x="6994525" y="4176713"/>
            <a:ext cx="954088" cy="388937"/>
          </a:xfrm>
          <a:prstGeom prst="rect">
            <a:avLst/>
          </a:prstGeom>
          <a:noFill/>
          <a:ln w="9525">
            <a:noFill/>
          </a:ln>
        </p:spPr>
        <p:txBody>
          <a:bodyPr wrap="none">
            <a:spAutoFit/>
          </a:bodyPr>
          <a:lstStyle/>
          <a:p>
            <a:pPr eaLnBrk="1" hangingPunct="1">
              <a:lnSpc>
                <a:spcPct val="110000"/>
              </a:lnSpc>
            </a:pPr>
            <a:r>
              <a:rPr lang="zh-CN" altLang="en-US" dirty="0">
                <a:solidFill>
                  <a:srgbClr val="FF0000"/>
                </a:solidFill>
                <a:latin typeface="黑体" panose="02010609060101010101" pitchFamily="2" charset="-122"/>
                <a:ea typeface="黑体" panose="02010609060101010101" pitchFamily="2" charset="-122"/>
              </a:rPr>
              <a:t>全加器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5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13AFCEE-4B9A-46F1-B2B4-9C2EABFF6569}"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65</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1251" name="Text Box 77"/>
          <p:cNvSpPr txBox="1"/>
          <p:nvPr/>
        </p:nvSpPr>
        <p:spPr>
          <a:xfrm>
            <a:off x="179388" y="915988"/>
            <a:ext cx="6518275" cy="368300"/>
          </a:xfrm>
          <a:prstGeom prst="rect">
            <a:avLst/>
          </a:prstGeom>
          <a:noFill/>
          <a:ln w="9525">
            <a:noFill/>
          </a:ln>
        </p:spPr>
        <p:txBody>
          <a:bodyPr>
            <a:spAutoFit/>
          </a:bodyPr>
          <a:lstStyle/>
          <a:p>
            <a:pPr eaLnBrk="1" hangingPunct="1">
              <a:spcBef>
                <a:spcPct val="50000"/>
              </a:spcBef>
            </a:pPr>
            <a:r>
              <a:rPr lang="zh-CN" altLang="en-US" sz="1800" b="1" dirty="0">
                <a:solidFill>
                  <a:schemeClr val="tx2"/>
                </a:solidFill>
                <a:latin typeface="黑体" panose="02010609060101010101" pitchFamily="2" charset="-122"/>
                <a:ea typeface="黑体" panose="02010609060101010101" pitchFamily="2" charset="-122"/>
              </a:rPr>
              <a:t>例：</a:t>
            </a:r>
            <a:r>
              <a:rPr lang="zh-CN" altLang="en-US" sz="1800" b="1" dirty="0">
                <a:solidFill>
                  <a:schemeClr val="tx2"/>
                </a:solidFill>
                <a:latin typeface="宋体" panose="02010600030101010101" pitchFamily="2" charset="-122"/>
              </a:rPr>
              <a:t>用反相器和</a:t>
            </a:r>
            <a:r>
              <a:rPr lang="en-US" altLang="zh-CN" sz="1800" b="1">
                <a:solidFill>
                  <a:schemeClr val="tx2"/>
                </a:solidFill>
                <a:latin typeface="宋体" panose="02010600030101010101" pitchFamily="2" charset="-122"/>
              </a:rPr>
              <a:t>3</a:t>
            </a:r>
            <a:r>
              <a:rPr lang="zh-CN" altLang="en-US" sz="1800" b="1" dirty="0">
                <a:solidFill>
                  <a:schemeClr val="tx2"/>
                </a:solidFill>
                <a:latin typeface="宋体" panose="02010600030101010101" pitchFamily="2" charset="-122"/>
              </a:rPr>
              <a:t>输入与门构成</a:t>
            </a:r>
            <a:r>
              <a:rPr lang="en-US" altLang="zh-CN" sz="1800" b="1">
                <a:solidFill>
                  <a:schemeClr val="tx2"/>
                </a:solidFill>
                <a:latin typeface="宋体" panose="02010600030101010101" pitchFamily="2" charset="-122"/>
              </a:rPr>
              <a:t>2-4</a:t>
            </a:r>
            <a:r>
              <a:rPr lang="zh-CN" altLang="en-US" sz="1800" b="1" dirty="0">
                <a:solidFill>
                  <a:schemeClr val="tx2"/>
                </a:solidFill>
                <a:latin typeface="宋体" panose="02010600030101010101" pitchFamily="2" charset="-122"/>
              </a:rPr>
              <a:t>线译码器的程序</a:t>
            </a:r>
          </a:p>
        </p:txBody>
      </p:sp>
      <p:sp>
        <p:nvSpPr>
          <p:cNvPr id="181252" name="Text Box 78"/>
          <p:cNvSpPr txBox="1"/>
          <p:nvPr/>
        </p:nvSpPr>
        <p:spPr>
          <a:xfrm>
            <a:off x="250825" y="1924050"/>
            <a:ext cx="6572250" cy="1200150"/>
          </a:xfrm>
          <a:prstGeom prst="rect">
            <a:avLst/>
          </a:prstGeom>
          <a:noFill/>
          <a:ln w="9525">
            <a:noFill/>
          </a:ln>
        </p:spPr>
        <p:txBody>
          <a:bodyPr>
            <a:spAutoFit/>
          </a:bodyPr>
          <a:lstStyle/>
          <a:p>
            <a:pPr eaLnBrk="1" hangingPunct="1"/>
            <a:r>
              <a:rPr lang="en-US" altLang="zh-CN" sz="1800">
                <a:solidFill>
                  <a:srgbClr val="0000FF"/>
                </a:solidFill>
                <a:latin typeface="Times New Roman" panose="02020603050405020304" pitchFamily="18" charset="0"/>
              </a:rPr>
              <a:t>ENTITY </a:t>
            </a:r>
            <a:r>
              <a:rPr lang="en-US" altLang="zh-CN" sz="1800">
                <a:solidFill>
                  <a:schemeClr val="tx1"/>
                </a:solidFill>
                <a:latin typeface="Times New Roman" panose="02020603050405020304" pitchFamily="18" charset="0"/>
              </a:rPr>
              <a:t>decode </a:t>
            </a:r>
            <a:r>
              <a:rPr lang="en-US" altLang="zh-CN" sz="1800">
                <a:solidFill>
                  <a:srgbClr val="0000FF"/>
                </a:solidFill>
                <a:latin typeface="Times New Roman" panose="02020603050405020304" pitchFamily="18" charset="0"/>
              </a:rPr>
              <a:t>IS</a:t>
            </a:r>
          </a:p>
          <a:p>
            <a:pPr eaLnBrk="1" hangingPunct="1"/>
            <a:r>
              <a:rPr lang="en-US" altLang="zh-CN" sz="1800">
                <a:solidFill>
                  <a:schemeClr val="tx1"/>
                </a:solidFill>
                <a:latin typeface="Times New Roman" panose="02020603050405020304" pitchFamily="18" charset="0"/>
              </a:rPr>
              <a:t>	</a:t>
            </a:r>
            <a:r>
              <a:rPr lang="en-US" altLang="zh-CN" sz="1800">
                <a:solidFill>
                  <a:srgbClr val="0000FF"/>
                </a:solidFill>
                <a:latin typeface="Times New Roman" panose="02020603050405020304" pitchFamily="18" charset="0"/>
              </a:rPr>
              <a:t>PORT</a:t>
            </a:r>
            <a:r>
              <a:rPr lang="en-US" altLang="zh-CN" sz="1800">
                <a:solidFill>
                  <a:schemeClr val="tx1"/>
                </a:solidFill>
                <a:latin typeface="Times New Roman" panose="02020603050405020304" pitchFamily="18" charset="0"/>
              </a:rPr>
              <a:t>(a0,a1,en	:</a:t>
            </a:r>
            <a:r>
              <a:rPr lang="en-US" altLang="zh-CN" sz="1800">
                <a:solidFill>
                  <a:srgbClr val="FF99FF"/>
                </a:solidFill>
                <a:latin typeface="Times New Roman" panose="02020603050405020304" pitchFamily="18" charset="0"/>
              </a:rPr>
              <a:t> </a:t>
            </a:r>
            <a:r>
              <a:rPr lang="en-US" altLang="zh-CN" sz="1800">
                <a:solidFill>
                  <a:srgbClr val="0000FF"/>
                </a:solidFill>
                <a:latin typeface="Times New Roman" panose="02020603050405020304" pitchFamily="18" charset="0"/>
              </a:rPr>
              <a:t>IN</a:t>
            </a:r>
            <a:r>
              <a:rPr lang="en-US" altLang="zh-CN" sz="1800">
                <a:solidFill>
                  <a:schemeClr val="tx1"/>
                </a:solidFill>
                <a:latin typeface="Times New Roman" panose="02020603050405020304" pitchFamily="18" charset="0"/>
              </a:rPr>
              <a:t>	STD_LOGIC;</a:t>
            </a:r>
          </a:p>
          <a:p>
            <a:pPr eaLnBrk="1" hangingPunct="1"/>
            <a:r>
              <a:rPr lang="en-US" altLang="zh-CN" sz="1800">
                <a:solidFill>
                  <a:schemeClr val="tx1"/>
                </a:solidFill>
                <a:latin typeface="Times New Roman" panose="02020603050405020304" pitchFamily="18" charset="0"/>
              </a:rPr>
              <a:t>	           y0, y1,y2,y3	: </a:t>
            </a:r>
            <a:r>
              <a:rPr lang="en-US" altLang="zh-CN" sz="1800">
                <a:solidFill>
                  <a:srgbClr val="0000FF"/>
                </a:solidFill>
                <a:latin typeface="Times New Roman" panose="02020603050405020304" pitchFamily="18" charset="0"/>
              </a:rPr>
              <a:t>OUT</a:t>
            </a:r>
            <a:r>
              <a:rPr lang="en-US" altLang="zh-CN" sz="1800">
                <a:solidFill>
                  <a:schemeClr val="tx1"/>
                </a:solidFill>
                <a:latin typeface="Times New Roman" panose="02020603050405020304" pitchFamily="18" charset="0"/>
              </a:rPr>
              <a:t>	STD_LOGIC);</a:t>
            </a:r>
          </a:p>
          <a:p>
            <a:pPr eaLnBrk="1" hangingPunct="1"/>
            <a:r>
              <a:rPr lang="en-US" altLang="zh-CN" sz="1800">
                <a:solidFill>
                  <a:srgbClr val="0000FF"/>
                </a:solidFill>
                <a:latin typeface="Times New Roman" panose="02020603050405020304" pitchFamily="18" charset="0"/>
              </a:rPr>
              <a:t>END</a:t>
            </a:r>
            <a:r>
              <a:rPr lang="en-US" altLang="zh-CN" sz="1800">
                <a:solidFill>
                  <a:schemeClr val="tx1"/>
                </a:solidFill>
                <a:latin typeface="Times New Roman" panose="02020603050405020304" pitchFamily="18" charset="0"/>
              </a:rPr>
              <a:t> decode;</a:t>
            </a:r>
          </a:p>
        </p:txBody>
      </p:sp>
      <p:sp>
        <p:nvSpPr>
          <p:cNvPr id="181254" name="Text Box 2"/>
          <p:cNvSpPr txBox="1"/>
          <p:nvPr/>
        </p:nvSpPr>
        <p:spPr>
          <a:xfrm>
            <a:off x="6750685" y="4409440"/>
            <a:ext cx="1221740" cy="322580"/>
          </a:xfrm>
          <a:prstGeom prst="rect">
            <a:avLst/>
          </a:prstGeom>
          <a:solidFill>
            <a:schemeClr val="accent2"/>
          </a:solidFill>
          <a:ln w="9525" cap="flat" cmpd="sng">
            <a:solidFill>
              <a:srgbClr val="FFFFFF"/>
            </a:solidFill>
            <a:prstDash val="solid"/>
            <a:miter/>
            <a:headEnd type="none" w="med" len="med"/>
            <a:tailEnd type="none" w="med" len="med"/>
          </a:ln>
        </p:spPr>
        <p:txBody>
          <a:bodyPr>
            <a:spAutoFit/>
          </a:bodyPr>
          <a:lstStyle/>
          <a:p>
            <a:pPr algn="ctr" eaLnBrk="1" hangingPunct="1">
              <a:spcBef>
                <a:spcPct val="50000"/>
              </a:spcBef>
            </a:pPr>
            <a:r>
              <a:rPr lang="en-US" altLang="zh-CN" sz="1500">
                <a:latin typeface="Times New Roman" panose="02020603050405020304" pitchFamily="18" charset="0"/>
              </a:rPr>
              <a:t>2-4 </a:t>
            </a:r>
            <a:r>
              <a:rPr lang="zh-CN" altLang="en-US" sz="1500" dirty="0">
                <a:latin typeface="Times New Roman" panose="02020603050405020304" pitchFamily="18" charset="0"/>
              </a:rPr>
              <a:t>译码器</a:t>
            </a:r>
          </a:p>
        </p:txBody>
      </p:sp>
      <p:grpSp>
        <p:nvGrpSpPr>
          <p:cNvPr id="181255" name="Group 69"/>
          <p:cNvGrpSpPr/>
          <p:nvPr/>
        </p:nvGrpSpPr>
        <p:grpSpPr>
          <a:xfrm>
            <a:off x="5724525" y="1011555"/>
            <a:ext cx="3200400" cy="3081655"/>
            <a:chOff x="1263" y="468"/>
            <a:chExt cx="2688" cy="2588"/>
          </a:xfrm>
        </p:grpSpPr>
        <p:sp>
          <p:nvSpPr>
            <p:cNvPr id="181256" name="AutoShape 4"/>
            <p:cNvSpPr/>
            <p:nvPr/>
          </p:nvSpPr>
          <p:spPr>
            <a:xfrm>
              <a:off x="3132" y="1484"/>
              <a:ext cx="273" cy="263"/>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57" name="AutoShape 5"/>
            <p:cNvSpPr/>
            <p:nvPr/>
          </p:nvSpPr>
          <p:spPr>
            <a:xfrm>
              <a:off x="3132" y="1845"/>
              <a:ext cx="273" cy="263"/>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58" name="AutoShape 6"/>
            <p:cNvSpPr/>
            <p:nvPr/>
          </p:nvSpPr>
          <p:spPr>
            <a:xfrm>
              <a:off x="3132" y="2215"/>
              <a:ext cx="273" cy="263"/>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59" name="Line 7"/>
            <p:cNvSpPr/>
            <p:nvPr/>
          </p:nvSpPr>
          <p:spPr>
            <a:xfrm flipH="1">
              <a:off x="2856" y="1551"/>
              <a:ext cx="276" cy="0"/>
            </a:xfrm>
            <a:prstGeom prst="line">
              <a:avLst/>
            </a:prstGeom>
            <a:ln w="9525" cap="flat" cmpd="sng">
              <a:solidFill>
                <a:schemeClr val="tx1"/>
              </a:solidFill>
              <a:prstDash val="solid"/>
              <a:headEnd type="none" w="med" len="med"/>
              <a:tailEnd type="none" w="med" len="med"/>
            </a:ln>
          </p:spPr>
        </p:sp>
        <p:sp>
          <p:nvSpPr>
            <p:cNvPr id="181260" name="Line 8"/>
            <p:cNvSpPr/>
            <p:nvPr/>
          </p:nvSpPr>
          <p:spPr>
            <a:xfrm>
              <a:off x="1603" y="743"/>
              <a:ext cx="1253" cy="0"/>
            </a:xfrm>
            <a:prstGeom prst="line">
              <a:avLst/>
            </a:prstGeom>
            <a:ln w="9525" cap="flat" cmpd="sng">
              <a:solidFill>
                <a:schemeClr val="tx1"/>
              </a:solidFill>
              <a:prstDash val="solid"/>
              <a:headEnd type="none" w="med" len="med"/>
              <a:tailEnd type="none" w="med" len="med"/>
            </a:ln>
          </p:spPr>
        </p:sp>
        <p:sp>
          <p:nvSpPr>
            <p:cNvPr id="181261" name="AutoShape 9"/>
            <p:cNvSpPr/>
            <p:nvPr/>
          </p:nvSpPr>
          <p:spPr>
            <a:xfrm rot="5400000">
              <a:off x="2098" y="619"/>
              <a:ext cx="276" cy="248"/>
            </a:xfrm>
            <a:prstGeom prst="triangle">
              <a:avLst>
                <a:gd name="adj" fmla="val 50000"/>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62" name="Oval 10"/>
            <p:cNvSpPr/>
            <p:nvPr/>
          </p:nvSpPr>
          <p:spPr>
            <a:xfrm>
              <a:off x="1860" y="715"/>
              <a:ext cx="61"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63" name="Oval 11"/>
            <p:cNvSpPr/>
            <p:nvPr/>
          </p:nvSpPr>
          <p:spPr>
            <a:xfrm>
              <a:off x="2537" y="2601"/>
              <a:ext cx="62"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64" name="Oval 12"/>
            <p:cNvSpPr/>
            <p:nvPr/>
          </p:nvSpPr>
          <p:spPr>
            <a:xfrm>
              <a:off x="2955" y="2396"/>
              <a:ext cx="61"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65" name="Oval 13"/>
            <p:cNvSpPr/>
            <p:nvPr/>
          </p:nvSpPr>
          <p:spPr>
            <a:xfrm>
              <a:off x="2952" y="2022"/>
              <a:ext cx="61"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66" name="Oval 14"/>
            <p:cNvSpPr/>
            <p:nvPr/>
          </p:nvSpPr>
          <p:spPr>
            <a:xfrm>
              <a:off x="2955" y="1674"/>
              <a:ext cx="61"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67" name="Text Box 15"/>
            <p:cNvSpPr txBox="1"/>
            <p:nvPr/>
          </p:nvSpPr>
          <p:spPr>
            <a:xfrm>
              <a:off x="3576" y="1351"/>
              <a:ext cx="345"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y0</a:t>
              </a:r>
            </a:p>
          </p:txBody>
        </p:sp>
        <p:sp>
          <p:nvSpPr>
            <p:cNvPr id="181268" name="Text Box 16"/>
            <p:cNvSpPr txBox="1"/>
            <p:nvPr/>
          </p:nvSpPr>
          <p:spPr>
            <a:xfrm>
              <a:off x="1263" y="952"/>
              <a:ext cx="444"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a1</a:t>
              </a:r>
            </a:p>
          </p:txBody>
        </p:sp>
        <p:sp>
          <p:nvSpPr>
            <p:cNvPr id="181269" name="Text Box 17"/>
            <p:cNvSpPr txBox="1"/>
            <p:nvPr/>
          </p:nvSpPr>
          <p:spPr>
            <a:xfrm>
              <a:off x="1296" y="601"/>
              <a:ext cx="408"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a0</a:t>
              </a:r>
            </a:p>
          </p:txBody>
        </p:sp>
        <p:sp>
          <p:nvSpPr>
            <p:cNvPr id="181270" name="Oval 18"/>
            <p:cNvSpPr/>
            <p:nvPr/>
          </p:nvSpPr>
          <p:spPr>
            <a:xfrm>
              <a:off x="2744" y="2677"/>
              <a:ext cx="62"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71" name="Line 19"/>
            <p:cNvSpPr/>
            <p:nvPr/>
          </p:nvSpPr>
          <p:spPr>
            <a:xfrm>
              <a:off x="1890" y="743"/>
              <a:ext cx="0" cy="171"/>
            </a:xfrm>
            <a:prstGeom prst="line">
              <a:avLst/>
            </a:prstGeom>
            <a:ln w="9525" cap="flat" cmpd="sng">
              <a:solidFill>
                <a:schemeClr val="tx1"/>
              </a:solidFill>
              <a:prstDash val="solid"/>
              <a:headEnd type="none" w="med" len="med"/>
              <a:tailEnd type="none" w="med" len="med"/>
            </a:ln>
          </p:spPr>
        </p:sp>
        <p:sp>
          <p:nvSpPr>
            <p:cNvPr id="181272" name="Line 20"/>
            <p:cNvSpPr/>
            <p:nvPr/>
          </p:nvSpPr>
          <p:spPr>
            <a:xfrm>
              <a:off x="1890" y="914"/>
              <a:ext cx="887" cy="0"/>
            </a:xfrm>
            <a:prstGeom prst="line">
              <a:avLst/>
            </a:prstGeom>
            <a:ln w="9525" cap="flat" cmpd="sng">
              <a:solidFill>
                <a:schemeClr val="tx1"/>
              </a:solidFill>
              <a:prstDash val="solid"/>
              <a:headEnd type="none" w="med" len="med"/>
              <a:tailEnd type="none" w="med" len="med"/>
            </a:ln>
          </p:spPr>
        </p:sp>
        <p:sp>
          <p:nvSpPr>
            <p:cNvPr id="181273" name="Line 21"/>
            <p:cNvSpPr/>
            <p:nvPr/>
          </p:nvSpPr>
          <p:spPr>
            <a:xfrm>
              <a:off x="1603" y="1123"/>
              <a:ext cx="1056" cy="0"/>
            </a:xfrm>
            <a:prstGeom prst="line">
              <a:avLst/>
            </a:prstGeom>
            <a:ln w="9525" cap="flat" cmpd="sng">
              <a:solidFill>
                <a:schemeClr val="tx1"/>
              </a:solidFill>
              <a:prstDash val="solid"/>
              <a:headEnd type="none" w="med" len="med"/>
              <a:tailEnd type="none" w="med" len="med"/>
            </a:ln>
          </p:spPr>
        </p:sp>
        <p:sp>
          <p:nvSpPr>
            <p:cNvPr id="181274" name="AutoShape 22"/>
            <p:cNvSpPr/>
            <p:nvPr/>
          </p:nvSpPr>
          <p:spPr>
            <a:xfrm rot="5400000">
              <a:off x="2098" y="998"/>
              <a:ext cx="275" cy="248"/>
            </a:xfrm>
            <a:prstGeom prst="triangle">
              <a:avLst>
                <a:gd name="adj" fmla="val 50000"/>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75" name="Oval 23"/>
            <p:cNvSpPr/>
            <p:nvPr/>
          </p:nvSpPr>
          <p:spPr>
            <a:xfrm>
              <a:off x="1860" y="1095"/>
              <a:ext cx="61"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76" name="Line 24"/>
            <p:cNvSpPr/>
            <p:nvPr/>
          </p:nvSpPr>
          <p:spPr>
            <a:xfrm>
              <a:off x="1890" y="1123"/>
              <a:ext cx="0" cy="171"/>
            </a:xfrm>
            <a:prstGeom prst="line">
              <a:avLst/>
            </a:prstGeom>
            <a:ln w="9525" cap="flat" cmpd="sng">
              <a:solidFill>
                <a:schemeClr val="tx1"/>
              </a:solidFill>
              <a:prstDash val="solid"/>
              <a:headEnd type="none" w="med" len="med"/>
              <a:tailEnd type="none" w="med" len="med"/>
            </a:ln>
          </p:spPr>
        </p:sp>
        <p:sp>
          <p:nvSpPr>
            <p:cNvPr id="181277" name="Line 25"/>
            <p:cNvSpPr/>
            <p:nvPr/>
          </p:nvSpPr>
          <p:spPr>
            <a:xfrm>
              <a:off x="1890" y="1294"/>
              <a:ext cx="680" cy="0"/>
            </a:xfrm>
            <a:prstGeom prst="line">
              <a:avLst/>
            </a:prstGeom>
            <a:ln w="9525" cap="flat" cmpd="sng">
              <a:solidFill>
                <a:schemeClr val="tx1"/>
              </a:solidFill>
              <a:prstDash val="solid"/>
              <a:headEnd type="none" w="med" len="med"/>
              <a:tailEnd type="none" w="med" len="med"/>
            </a:ln>
          </p:spPr>
        </p:sp>
        <p:sp>
          <p:nvSpPr>
            <p:cNvPr id="181278" name="AutoShape 26"/>
            <p:cNvSpPr/>
            <p:nvPr/>
          </p:nvSpPr>
          <p:spPr>
            <a:xfrm>
              <a:off x="3132" y="2576"/>
              <a:ext cx="273" cy="263"/>
            </a:xfrm>
            <a:prstGeom prst="flowChartDelay">
              <a:avLst/>
            </a:prstGeom>
            <a:solidFill>
              <a:srgbClr val="6699FF"/>
            </a:solidFill>
            <a:ln w="9525" cap="flat" cmpd="sng">
              <a:solidFill>
                <a:schemeClr val="tx1"/>
              </a:solidFill>
              <a:prstDash val="solid"/>
              <a:miter/>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79" name="Line 27"/>
            <p:cNvSpPr/>
            <p:nvPr/>
          </p:nvSpPr>
          <p:spPr>
            <a:xfrm>
              <a:off x="2856" y="743"/>
              <a:ext cx="0" cy="2194"/>
            </a:xfrm>
            <a:prstGeom prst="line">
              <a:avLst/>
            </a:prstGeom>
            <a:ln w="9525" cap="flat" cmpd="sng">
              <a:solidFill>
                <a:schemeClr val="tx1"/>
              </a:solidFill>
              <a:prstDash val="solid"/>
              <a:headEnd type="none" w="med" len="med"/>
              <a:tailEnd type="none" w="med" len="med"/>
            </a:ln>
          </p:spPr>
        </p:sp>
        <p:sp>
          <p:nvSpPr>
            <p:cNvPr id="181280" name="Line 28"/>
            <p:cNvSpPr/>
            <p:nvPr/>
          </p:nvSpPr>
          <p:spPr>
            <a:xfrm>
              <a:off x="2777" y="914"/>
              <a:ext cx="0" cy="2023"/>
            </a:xfrm>
            <a:prstGeom prst="line">
              <a:avLst/>
            </a:prstGeom>
            <a:ln w="9525" cap="flat" cmpd="sng">
              <a:solidFill>
                <a:schemeClr val="tx1"/>
              </a:solidFill>
              <a:prstDash val="solid"/>
              <a:headEnd type="none" w="med" len="med"/>
              <a:tailEnd type="none" w="med" len="med"/>
            </a:ln>
          </p:spPr>
        </p:sp>
        <p:sp>
          <p:nvSpPr>
            <p:cNvPr id="181281" name="Line 29"/>
            <p:cNvSpPr/>
            <p:nvPr/>
          </p:nvSpPr>
          <p:spPr>
            <a:xfrm>
              <a:off x="2659" y="1123"/>
              <a:ext cx="0" cy="1814"/>
            </a:xfrm>
            <a:prstGeom prst="line">
              <a:avLst/>
            </a:prstGeom>
            <a:ln w="9525" cap="flat" cmpd="sng">
              <a:solidFill>
                <a:schemeClr val="tx1"/>
              </a:solidFill>
              <a:prstDash val="solid"/>
              <a:headEnd type="none" w="med" len="med"/>
              <a:tailEnd type="none" w="med" len="med"/>
            </a:ln>
          </p:spPr>
        </p:sp>
        <p:sp>
          <p:nvSpPr>
            <p:cNvPr id="181282" name="Line 30"/>
            <p:cNvSpPr/>
            <p:nvPr/>
          </p:nvSpPr>
          <p:spPr>
            <a:xfrm>
              <a:off x="2570" y="1294"/>
              <a:ext cx="0" cy="1643"/>
            </a:xfrm>
            <a:prstGeom prst="line">
              <a:avLst/>
            </a:prstGeom>
            <a:ln w="9525" cap="flat" cmpd="sng">
              <a:solidFill>
                <a:schemeClr val="tx1"/>
              </a:solidFill>
              <a:prstDash val="solid"/>
              <a:headEnd type="none" w="med" len="med"/>
              <a:tailEnd type="none" w="med" len="med"/>
            </a:ln>
          </p:spPr>
        </p:sp>
        <p:sp>
          <p:nvSpPr>
            <p:cNvPr id="181283" name="Line 31"/>
            <p:cNvSpPr/>
            <p:nvPr/>
          </p:nvSpPr>
          <p:spPr>
            <a:xfrm flipH="1">
              <a:off x="2659" y="1617"/>
              <a:ext cx="473" cy="0"/>
            </a:xfrm>
            <a:prstGeom prst="line">
              <a:avLst/>
            </a:prstGeom>
            <a:ln w="9525" cap="flat" cmpd="sng">
              <a:solidFill>
                <a:schemeClr val="tx1"/>
              </a:solidFill>
              <a:prstDash val="solid"/>
              <a:headEnd type="none" w="med" len="med"/>
              <a:tailEnd type="none" w="med" len="med"/>
            </a:ln>
          </p:spPr>
        </p:sp>
        <p:sp>
          <p:nvSpPr>
            <p:cNvPr id="181284" name="Line 32"/>
            <p:cNvSpPr/>
            <p:nvPr/>
          </p:nvSpPr>
          <p:spPr>
            <a:xfrm flipH="1">
              <a:off x="1603" y="1702"/>
              <a:ext cx="1529" cy="0"/>
            </a:xfrm>
            <a:prstGeom prst="line">
              <a:avLst/>
            </a:prstGeom>
            <a:ln w="9525" cap="flat" cmpd="sng">
              <a:solidFill>
                <a:schemeClr val="tx1"/>
              </a:solidFill>
              <a:prstDash val="solid"/>
              <a:headEnd type="none" w="med" len="med"/>
              <a:tailEnd type="none" w="med" len="med"/>
            </a:ln>
          </p:spPr>
        </p:sp>
        <p:sp>
          <p:nvSpPr>
            <p:cNvPr id="181285" name="Line 33"/>
            <p:cNvSpPr/>
            <p:nvPr/>
          </p:nvSpPr>
          <p:spPr>
            <a:xfrm flipH="1">
              <a:off x="2777" y="1902"/>
              <a:ext cx="355" cy="0"/>
            </a:xfrm>
            <a:prstGeom prst="line">
              <a:avLst/>
            </a:prstGeom>
            <a:ln w="9525" cap="flat" cmpd="sng">
              <a:solidFill>
                <a:schemeClr val="tx1"/>
              </a:solidFill>
              <a:prstDash val="solid"/>
              <a:headEnd type="none" w="med" len="med"/>
              <a:tailEnd type="none" w="med" len="med"/>
            </a:ln>
          </p:spPr>
        </p:sp>
        <p:sp>
          <p:nvSpPr>
            <p:cNvPr id="181286" name="Line 34"/>
            <p:cNvSpPr/>
            <p:nvPr/>
          </p:nvSpPr>
          <p:spPr>
            <a:xfrm flipH="1">
              <a:off x="2659" y="1978"/>
              <a:ext cx="473" cy="0"/>
            </a:xfrm>
            <a:prstGeom prst="line">
              <a:avLst/>
            </a:prstGeom>
            <a:ln w="9525" cap="flat" cmpd="sng">
              <a:solidFill>
                <a:schemeClr val="tx1"/>
              </a:solidFill>
              <a:prstDash val="solid"/>
              <a:headEnd type="none" w="med" len="med"/>
              <a:tailEnd type="none" w="med" len="med"/>
            </a:ln>
          </p:spPr>
        </p:sp>
        <p:sp>
          <p:nvSpPr>
            <p:cNvPr id="181287" name="Line 35"/>
            <p:cNvSpPr/>
            <p:nvPr/>
          </p:nvSpPr>
          <p:spPr>
            <a:xfrm flipH="1">
              <a:off x="2570" y="2263"/>
              <a:ext cx="562" cy="0"/>
            </a:xfrm>
            <a:prstGeom prst="line">
              <a:avLst/>
            </a:prstGeom>
            <a:ln w="9525" cap="flat" cmpd="sng">
              <a:solidFill>
                <a:schemeClr val="tx1"/>
              </a:solidFill>
              <a:prstDash val="solid"/>
              <a:headEnd type="none" w="med" len="med"/>
              <a:tailEnd type="none" w="med" len="med"/>
            </a:ln>
          </p:spPr>
        </p:sp>
        <p:sp>
          <p:nvSpPr>
            <p:cNvPr id="181288" name="Line 36"/>
            <p:cNvSpPr/>
            <p:nvPr/>
          </p:nvSpPr>
          <p:spPr>
            <a:xfrm flipH="1">
              <a:off x="2856" y="2339"/>
              <a:ext cx="276" cy="0"/>
            </a:xfrm>
            <a:prstGeom prst="line">
              <a:avLst/>
            </a:prstGeom>
            <a:ln w="9525" cap="flat" cmpd="sng">
              <a:solidFill>
                <a:schemeClr val="tx1"/>
              </a:solidFill>
              <a:prstDash val="solid"/>
              <a:headEnd type="none" w="med" len="med"/>
              <a:tailEnd type="none" w="med" len="med"/>
            </a:ln>
          </p:spPr>
        </p:sp>
        <p:sp>
          <p:nvSpPr>
            <p:cNvPr id="181289" name="Line 37"/>
            <p:cNvSpPr/>
            <p:nvPr/>
          </p:nvSpPr>
          <p:spPr>
            <a:xfrm flipH="1">
              <a:off x="2570" y="2633"/>
              <a:ext cx="562" cy="0"/>
            </a:xfrm>
            <a:prstGeom prst="line">
              <a:avLst/>
            </a:prstGeom>
            <a:ln w="9525" cap="flat" cmpd="sng">
              <a:solidFill>
                <a:schemeClr val="tx1"/>
              </a:solidFill>
              <a:prstDash val="solid"/>
              <a:headEnd type="none" w="med" len="med"/>
              <a:tailEnd type="none" w="med" len="med"/>
            </a:ln>
          </p:spPr>
        </p:sp>
        <p:sp>
          <p:nvSpPr>
            <p:cNvPr id="181290" name="Line 38"/>
            <p:cNvSpPr/>
            <p:nvPr/>
          </p:nvSpPr>
          <p:spPr>
            <a:xfrm flipH="1">
              <a:off x="2777" y="2709"/>
              <a:ext cx="355" cy="0"/>
            </a:xfrm>
            <a:prstGeom prst="line">
              <a:avLst/>
            </a:prstGeom>
            <a:ln w="9525" cap="flat" cmpd="sng">
              <a:solidFill>
                <a:schemeClr val="tx1"/>
              </a:solidFill>
              <a:prstDash val="solid"/>
              <a:headEnd type="none" w="med" len="med"/>
              <a:tailEnd type="none" w="med" len="med"/>
            </a:ln>
          </p:spPr>
        </p:sp>
        <p:sp>
          <p:nvSpPr>
            <p:cNvPr id="181291" name="Line 39"/>
            <p:cNvSpPr/>
            <p:nvPr/>
          </p:nvSpPr>
          <p:spPr>
            <a:xfrm flipH="1">
              <a:off x="2984" y="2054"/>
              <a:ext cx="148" cy="0"/>
            </a:xfrm>
            <a:prstGeom prst="line">
              <a:avLst/>
            </a:prstGeom>
            <a:ln w="9525" cap="flat" cmpd="sng">
              <a:solidFill>
                <a:schemeClr val="tx1"/>
              </a:solidFill>
              <a:prstDash val="solid"/>
              <a:headEnd type="none" w="med" len="med"/>
              <a:tailEnd type="none" w="med" len="med"/>
            </a:ln>
          </p:spPr>
        </p:sp>
        <p:sp>
          <p:nvSpPr>
            <p:cNvPr id="181292" name="Line 40"/>
            <p:cNvSpPr/>
            <p:nvPr/>
          </p:nvSpPr>
          <p:spPr>
            <a:xfrm flipH="1">
              <a:off x="2984" y="2424"/>
              <a:ext cx="148" cy="0"/>
            </a:xfrm>
            <a:prstGeom prst="line">
              <a:avLst/>
            </a:prstGeom>
            <a:ln w="9525" cap="flat" cmpd="sng">
              <a:solidFill>
                <a:schemeClr val="tx1"/>
              </a:solidFill>
              <a:prstDash val="solid"/>
              <a:headEnd type="none" w="med" len="med"/>
              <a:tailEnd type="none" w="med" len="med"/>
            </a:ln>
          </p:spPr>
        </p:sp>
        <p:sp>
          <p:nvSpPr>
            <p:cNvPr id="181293" name="Line 41"/>
            <p:cNvSpPr/>
            <p:nvPr/>
          </p:nvSpPr>
          <p:spPr>
            <a:xfrm flipH="1">
              <a:off x="2984" y="2794"/>
              <a:ext cx="148" cy="0"/>
            </a:xfrm>
            <a:prstGeom prst="line">
              <a:avLst/>
            </a:prstGeom>
            <a:ln w="9525" cap="flat" cmpd="sng">
              <a:solidFill>
                <a:schemeClr val="tx1"/>
              </a:solidFill>
              <a:prstDash val="solid"/>
              <a:headEnd type="none" w="med" len="med"/>
              <a:tailEnd type="none" w="med" len="med"/>
            </a:ln>
          </p:spPr>
        </p:sp>
        <p:sp>
          <p:nvSpPr>
            <p:cNvPr id="181294" name="Line 42"/>
            <p:cNvSpPr/>
            <p:nvPr/>
          </p:nvSpPr>
          <p:spPr>
            <a:xfrm>
              <a:off x="2984" y="1702"/>
              <a:ext cx="0" cy="1092"/>
            </a:xfrm>
            <a:prstGeom prst="line">
              <a:avLst/>
            </a:prstGeom>
            <a:ln w="9525" cap="flat" cmpd="sng">
              <a:solidFill>
                <a:schemeClr val="tx1"/>
              </a:solidFill>
              <a:prstDash val="solid"/>
              <a:headEnd type="none" w="med" len="med"/>
              <a:tailEnd type="none" w="med" len="med"/>
            </a:ln>
          </p:spPr>
        </p:sp>
        <p:sp>
          <p:nvSpPr>
            <p:cNvPr id="181295" name="Oval 43"/>
            <p:cNvSpPr/>
            <p:nvPr/>
          </p:nvSpPr>
          <p:spPr>
            <a:xfrm>
              <a:off x="2629" y="1949"/>
              <a:ext cx="62"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96" name="Oval 44"/>
            <p:cNvSpPr/>
            <p:nvPr/>
          </p:nvSpPr>
          <p:spPr>
            <a:xfrm>
              <a:off x="2537" y="2231"/>
              <a:ext cx="62"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97" name="Oval 45"/>
            <p:cNvSpPr/>
            <p:nvPr/>
          </p:nvSpPr>
          <p:spPr>
            <a:xfrm>
              <a:off x="2748" y="1873"/>
              <a:ext cx="61"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98" name="Oval 46"/>
            <p:cNvSpPr/>
            <p:nvPr/>
          </p:nvSpPr>
          <p:spPr>
            <a:xfrm>
              <a:off x="2823" y="2307"/>
              <a:ext cx="62"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299" name="Oval 47"/>
            <p:cNvSpPr/>
            <p:nvPr/>
          </p:nvSpPr>
          <p:spPr>
            <a:xfrm>
              <a:off x="2629" y="1588"/>
              <a:ext cx="62" cy="6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300" name="Oval 48"/>
            <p:cNvSpPr/>
            <p:nvPr/>
          </p:nvSpPr>
          <p:spPr>
            <a:xfrm>
              <a:off x="2823" y="1519"/>
              <a:ext cx="62" cy="59"/>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301" name="Line 49"/>
            <p:cNvSpPr/>
            <p:nvPr/>
          </p:nvSpPr>
          <p:spPr>
            <a:xfrm>
              <a:off x="3409" y="1617"/>
              <a:ext cx="424" cy="0"/>
            </a:xfrm>
            <a:prstGeom prst="line">
              <a:avLst/>
            </a:prstGeom>
            <a:ln w="9525" cap="flat" cmpd="sng">
              <a:solidFill>
                <a:schemeClr val="tx1"/>
              </a:solidFill>
              <a:prstDash val="solid"/>
              <a:headEnd type="none" w="med" len="med"/>
              <a:tailEnd type="none" w="med" len="med"/>
            </a:ln>
          </p:spPr>
        </p:sp>
        <p:sp>
          <p:nvSpPr>
            <p:cNvPr id="181302" name="Line 50"/>
            <p:cNvSpPr/>
            <p:nvPr/>
          </p:nvSpPr>
          <p:spPr>
            <a:xfrm>
              <a:off x="3418" y="1978"/>
              <a:ext cx="425" cy="0"/>
            </a:xfrm>
            <a:prstGeom prst="line">
              <a:avLst/>
            </a:prstGeom>
            <a:ln w="9525" cap="flat" cmpd="sng">
              <a:solidFill>
                <a:schemeClr val="tx1"/>
              </a:solidFill>
              <a:prstDash val="solid"/>
              <a:headEnd type="none" w="med" len="med"/>
              <a:tailEnd type="none" w="med" len="med"/>
            </a:ln>
          </p:spPr>
        </p:sp>
        <p:sp>
          <p:nvSpPr>
            <p:cNvPr id="181303" name="Line 51"/>
            <p:cNvSpPr/>
            <p:nvPr/>
          </p:nvSpPr>
          <p:spPr>
            <a:xfrm>
              <a:off x="3418" y="2348"/>
              <a:ext cx="425" cy="0"/>
            </a:xfrm>
            <a:prstGeom prst="line">
              <a:avLst/>
            </a:prstGeom>
            <a:ln w="9525" cap="flat" cmpd="sng">
              <a:solidFill>
                <a:schemeClr val="tx1"/>
              </a:solidFill>
              <a:prstDash val="solid"/>
              <a:headEnd type="none" w="med" len="med"/>
              <a:tailEnd type="none" w="med" len="med"/>
            </a:ln>
          </p:spPr>
        </p:sp>
        <p:sp>
          <p:nvSpPr>
            <p:cNvPr id="181304" name="Line 52"/>
            <p:cNvSpPr/>
            <p:nvPr/>
          </p:nvSpPr>
          <p:spPr>
            <a:xfrm>
              <a:off x="3418" y="2709"/>
              <a:ext cx="425" cy="0"/>
            </a:xfrm>
            <a:prstGeom prst="line">
              <a:avLst/>
            </a:prstGeom>
            <a:ln w="9525" cap="flat" cmpd="sng">
              <a:solidFill>
                <a:schemeClr val="tx1"/>
              </a:solidFill>
              <a:prstDash val="solid"/>
              <a:headEnd type="none" w="med" len="med"/>
              <a:tailEnd type="none" w="med" len="med"/>
            </a:ln>
          </p:spPr>
        </p:sp>
        <p:sp>
          <p:nvSpPr>
            <p:cNvPr id="181305" name="Text Box 53"/>
            <p:cNvSpPr txBox="1"/>
            <p:nvPr/>
          </p:nvSpPr>
          <p:spPr>
            <a:xfrm>
              <a:off x="3576" y="1721"/>
              <a:ext cx="345"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y1</a:t>
              </a:r>
            </a:p>
          </p:txBody>
        </p:sp>
        <p:sp>
          <p:nvSpPr>
            <p:cNvPr id="181306" name="Text Box 54"/>
            <p:cNvSpPr txBox="1"/>
            <p:nvPr/>
          </p:nvSpPr>
          <p:spPr>
            <a:xfrm>
              <a:off x="3586" y="2082"/>
              <a:ext cx="345"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y2</a:t>
              </a:r>
            </a:p>
          </p:txBody>
        </p:sp>
        <p:sp>
          <p:nvSpPr>
            <p:cNvPr id="181307" name="Text Box 55"/>
            <p:cNvSpPr txBox="1"/>
            <p:nvPr/>
          </p:nvSpPr>
          <p:spPr>
            <a:xfrm>
              <a:off x="3606" y="2453"/>
              <a:ext cx="345"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y3</a:t>
              </a:r>
            </a:p>
          </p:txBody>
        </p:sp>
        <p:sp>
          <p:nvSpPr>
            <p:cNvPr id="64" name="Text Box 56"/>
            <p:cNvSpPr txBox="1">
              <a:spLocks noChangeArrowheads="1"/>
            </p:cNvSpPr>
            <p:nvPr/>
          </p:nvSpPr>
          <p:spPr bwMode="auto">
            <a:xfrm>
              <a:off x="2122" y="468"/>
              <a:ext cx="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i0</a:t>
              </a:r>
            </a:p>
          </p:txBody>
        </p:sp>
        <p:sp>
          <p:nvSpPr>
            <p:cNvPr id="181309" name="Text Box 57"/>
            <p:cNvSpPr txBox="1"/>
            <p:nvPr/>
          </p:nvSpPr>
          <p:spPr>
            <a:xfrm>
              <a:off x="1288" y="1541"/>
              <a:ext cx="375"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en</a:t>
              </a:r>
            </a:p>
          </p:txBody>
        </p:sp>
        <p:sp>
          <p:nvSpPr>
            <p:cNvPr id="66" name="Text Box 58"/>
            <p:cNvSpPr txBox="1">
              <a:spLocks noChangeArrowheads="1"/>
            </p:cNvSpPr>
            <p:nvPr/>
          </p:nvSpPr>
          <p:spPr bwMode="auto">
            <a:xfrm>
              <a:off x="3262" y="1979"/>
              <a:ext cx="3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u1</a:t>
              </a:r>
            </a:p>
          </p:txBody>
        </p:sp>
        <p:sp>
          <p:nvSpPr>
            <p:cNvPr id="67" name="Text Box 59"/>
            <p:cNvSpPr txBox="1">
              <a:spLocks noChangeArrowheads="1"/>
            </p:cNvSpPr>
            <p:nvPr/>
          </p:nvSpPr>
          <p:spPr bwMode="auto">
            <a:xfrm>
              <a:off x="3074" y="1285"/>
              <a:ext cx="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u0</a:t>
              </a:r>
            </a:p>
          </p:txBody>
        </p:sp>
        <p:sp>
          <p:nvSpPr>
            <p:cNvPr id="68" name="Text Box 60"/>
            <p:cNvSpPr txBox="1">
              <a:spLocks noChangeArrowheads="1"/>
            </p:cNvSpPr>
            <p:nvPr/>
          </p:nvSpPr>
          <p:spPr bwMode="auto">
            <a:xfrm>
              <a:off x="3270" y="2348"/>
              <a:ext cx="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u2</a:t>
              </a:r>
            </a:p>
          </p:txBody>
        </p:sp>
        <p:sp>
          <p:nvSpPr>
            <p:cNvPr id="69" name="Text Box 61"/>
            <p:cNvSpPr txBox="1">
              <a:spLocks noChangeArrowheads="1"/>
            </p:cNvSpPr>
            <p:nvPr/>
          </p:nvSpPr>
          <p:spPr bwMode="auto">
            <a:xfrm>
              <a:off x="3034" y="2804"/>
              <a:ext cx="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u3</a:t>
              </a:r>
            </a:p>
          </p:txBody>
        </p:sp>
        <p:sp>
          <p:nvSpPr>
            <p:cNvPr id="181314" name="Oval 62"/>
            <p:cNvSpPr/>
            <p:nvPr/>
          </p:nvSpPr>
          <p:spPr>
            <a:xfrm>
              <a:off x="2353" y="715"/>
              <a:ext cx="69" cy="66"/>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81315" name="Oval 63"/>
            <p:cNvSpPr/>
            <p:nvPr/>
          </p:nvSpPr>
          <p:spPr>
            <a:xfrm>
              <a:off x="2363" y="1095"/>
              <a:ext cx="69" cy="66"/>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eaLnBrk="1" hangingPunct="1">
                <a:spcBef>
                  <a:spcPct val="20000"/>
                </a:spcBef>
                <a:buChar char="•"/>
              </a:pP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72" name="Text Box 64"/>
            <p:cNvSpPr txBox="1">
              <a:spLocks noChangeArrowheads="1"/>
            </p:cNvSpPr>
            <p:nvPr/>
          </p:nvSpPr>
          <p:spPr bwMode="auto">
            <a:xfrm>
              <a:off x="2122" y="876"/>
              <a:ext cx="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i1</a:t>
              </a:r>
            </a:p>
          </p:txBody>
        </p:sp>
        <p:sp>
          <p:nvSpPr>
            <p:cNvPr id="181317" name="Text Box 67"/>
            <p:cNvSpPr txBox="1"/>
            <p:nvPr/>
          </p:nvSpPr>
          <p:spPr>
            <a:xfrm>
              <a:off x="2520" y="531"/>
              <a:ext cx="477"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na0</a:t>
              </a:r>
            </a:p>
          </p:txBody>
        </p:sp>
        <p:sp>
          <p:nvSpPr>
            <p:cNvPr id="181318" name="Text Box 68"/>
            <p:cNvSpPr txBox="1"/>
            <p:nvPr/>
          </p:nvSpPr>
          <p:spPr>
            <a:xfrm>
              <a:off x="2360" y="890"/>
              <a:ext cx="477" cy="271"/>
            </a:xfrm>
            <a:prstGeom prst="rect">
              <a:avLst/>
            </a:prstGeom>
            <a:noFill/>
            <a:ln w="9525">
              <a:noFill/>
            </a:ln>
          </p:spPr>
          <p:txBody>
            <a:bodyPr>
              <a:spAutoFit/>
            </a:bodyPr>
            <a:lstStyle/>
            <a:p>
              <a:pPr algn="ctr" eaLnBrk="1" hangingPunct="1">
                <a:spcBef>
                  <a:spcPct val="50000"/>
                </a:spcBef>
              </a:pPr>
              <a:r>
                <a:rPr lang="en-US" altLang="zh-CN" sz="1500">
                  <a:solidFill>
                    <a:schemeClr val="tx1"/>
                  </a:solidFill>
                  <a:latin typeface="Times New Roman" panose="02020603050405020304" pitchFamily="18" charset="0"/>
                </a:rPr>
                <a:t>na1</a:t>
              </a:r>
            </a:p>
          </p:txBody>
        </p:sp>
      </p:grpSp>
      <p:sp>
        <p:nvSpPr>
          <p:cNvPr id="2" name="矩形 1">
            <a:extLst>
              <a:ext uri="{FF2B5EF4-FFF2-40B4-BE49-F238E27FC236}">
                <a16:creationId xmlns:a16="http://schemas.microsoft.com/office/drawing/2014/main" id="{91174BB6-10C9-44E5-8E4D-32C9792B5E1B}"/>
              </a:ext>
            </a:extLst>
          </p:cNvPr>
          <p:cNvSpPr/>
          <p:nvPr/>
        </p:nvSpPr>
        <p:spPr bwMode="auto">
          <a:xfrm>
            <a:off x="6285309" y="915566"/>
            <a:ext cx="2193132" cy="3096342"/>
          </a:xfrm>
          <a:prstGeom prst="rect">
            <a:avLst/>
          </a:prstGeom>
          <a:noFill/>
          <a:ln w="9525" cap="flat" cmpd="sng" algn="ctr">
            <a:solidFill>
              <a:srgbClr val="0000FF"/>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 name="对话气泡: 圆角矩形 2">
            <a:extLst>
              <a:ext uri="{FF2B5EF4-FFF2-40B4-BE49-F238E27FC236}">
                <a16:creationId xmlns:a16="http://schemas.microsoft.com/office/drawing/2014/main" id="{D0C9A78F-F44A-41FF-AB8A-81B05977E174}"/>
              </a:ext>
            </a:extLst>
          </p:cNvPr>
          <p:cNvSpPr/>
          <p:nvPr/>
        </p:nvSpPr>
        <p:spPr bwMode="auto">
          <a:xfrm>
            <a:off x="2538425" y="3149058"/>
            <a:ext cx="1800200" cy="464392"/>
          </a:xfrm>
          <a:prstGeom prst="wedgeRoundRectCallout">
            <a:avLst>
              <a:gd name="adj1" fmla="val -39374"/>
              <a:gd name="adj2" fmla="val -119429"/>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也可以是向量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ph type="sldNum" sz="quarter" idx="12"/>
          </p:nvPr>
        </p:nvSpPr>
        <p:spPr bwMode="auto">
          <a:xfrm>
            <a:off x="7031990" y="4839018"/>
            <a:ext cx="2057400" cy="27463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EF38077-89ED-4D16-8386-18848BCC9658}"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66</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2275" name="Text Box 2"/>
          <p:cNvSpPr txBox="1"/>
          <p:nvPr/>
        </p:nvSpPr>
        <p:spPr>
          <a:xfrm>
            <a:off x="235585" y="677863"/>
            <a:ext cx="6515100" cy="2547937"/>
          </a:xfrm>
          <a:prstGeom prst="rect">
            <a:avLst/>
          </a:prstGeom>
          <a:noFill/>
          <a:ln w="9525">
            <a:noFill/>
          </a:ln>
        </p:spPr>
        <p:txBody>
          <a:bodyPr>
            <a:spAutoFit/>
          </a:bodyPr>
          <a:lstStyle/>
          <a:p>
            <a:pPr eaLnBrk="1" hangingPunct="1">
              <a:lnSpc>
                <a:spcPct val="95000"/>
              </a:lnSpc>
            </a:pPr>
            <a:r>
              <a:rPr lang="en-US" altLang="zh-CN" sz="1400">
                <a:solidFill>
                  <a:srgbClr val="0000FF"/>
                </a:solidFill>
                <a:latin typeface="Times New Roman" panose="02020603050405020304" pitchFamily="18" charset="0"/>
              </a:rPr>
              <a:t>ARCHITECTURE</a:t>
            </a:r>
            <a:r>
              <a:rPr lang="en-US" altLang="zh-CN" sz="1400">
                <a:solidFill>
                  <a:schemeClr val="tx1"/>
                </a:solidFill>
                <a:latin typeface="Times New Roman" panose="02020603050405020304" pitchFamily="18" charset="0"/>
              </a:rPr>
              <a:t> </a:t>
            </a:r>
            <a:r>
              <a:rPr lang="en-US" altLang="zh-CN" sz="1400" err="1">
                <a:solidFill>
                  <a:schemeClr val="tx1"/>
                </a:solidFill>
                <a:latin typeface="Times New Roman" panose="02020603050405020304" pitchFamily="18" charset="0"/>
              </a:rPr>
              <a:t>stru</a:t>
            </a: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OF</a:t>
            </a:r>
            <a:r>
              <a:rPr lang="en-US" altLang="zh-CN" sz="1400">
                <a:solidFill>
                  <a:schemeClr val="tx1"/>
                </a:solidFill>
                <a:latin typeface="Times New Roman" panose="02020603050405020304" pitchFamily="18" charset="0"/>
              </a:rPr>
              <a:t> decode </a:t>
            </a:r>
            <a:r>
              <a:rPr lang="en-US" altLang="zh-CN" sz="1400">
                <a:solidFill>
                  <a:srgbClr val="0000FF"/>
                </a:solidFill>
                <a:latin typeface="Times New Roman" panose="02020603050405020304" pitchFamily="18" charset="0"/>
              </a:rPr>
              <a:t>IS</a:t>
            </a: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COMPONENT</a:t>
            </a:r>
            <a:r>
              <a:rPr lang="en-US" altLang="zh-CN" sz="1400">
                <a:solidFill>
                  <a:schemeClr val="tx1"/>
                </a:solidFill>
                <a:latin typeface="Times New Roman" panose="02020603050405020304" pitchFamily="18" charset="0"/>
              </a:rPr>
              <a:t> inv</a:t>
            </a: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PORT</a:t>
            </a:r>
            <a:r>
              <a:rPr lang="en-US" altLang="zh-CN" sz="1400">
                <a:solidFill>
                  <a:schemeClr val="tx1"/>
                </a:solidFill>
                <a:latin typeface="Times New Roman" panose="02020603050405020304" pitchFamily="18" charset="0"/>
              </a:rPr>
              <a:t>(  a	: </a:t>
            </a:r>
            <a:r>
              <a:rPr lang="en-US" altLang="zh-CN" sz="1400">
                <a:solidFill>
                  <a:srgbClr val="0000FF"/>
                </a:solidFill>
                <a:latin typeface="Times New Roman" panose="02020603050405020304" pitchFamily="18" charset="0"/>
              </a:rPr>
              <a:t>IN</a:t>
            </a:r>
            <a:r>
              <a:rPr lang="en-US" altLang="zh-CN" sz="1400">
                <a:solidFill>
                  <a:schemeClr val="tx1"/>
                </a:solidFill>
                <a:latin typeface="Times New Roman" panose="02020603050405020304" pitchFamily="18" charset="0"/>
              </a:rPr>
              <a:t>	STD_LOGIC;</a:t>
            </a:r>
          </a:p>
          <a:p>
            <a:pPr eaLnBrk="1" hangingPunct="1">
              <a:lnSpc>
                <a:spcPct val="95000"/>
              </a:lnSpc>
            </a:pPr>
            <a:r>
              <a:rPr lang="en-US" altLang="zh-CN" sz="1400">
                <a:solidFill>
                  <a:schemeClr val="tx1"/>
                </a:solidFill>
                <a:latin typeface="Times New Roman" panose="02020603050405020304" pitchFamily="18" charset="0"/>
              </a:rPr>
              <a:t>			  b	: </a:t>
            </a:r>
            <a:r>
              <a:rPr lang="en-US" altLang="zh-CN" sz="1400">
                <a:solidFill>
                  <a:srgbClr val="0000FF"/>
                </a:solidFill>
                <a:latin typeface="Times New Roman" panose="02020603050405020304" pitchFamily="18" charset="0"/>
              </a:rPr>
              <a:t>OUT</a:t>
            </a:r>
            <a:r>
              <a:rPr lang="en-US" altLang="zh-CN" sz="1400">
                <a:solidFill>
                  <a:schemeClr val="tx1"/>
                </a:solidFill>
                <a:latin typeface="Times New Roman" panose="02020603050405020304" pitchFamily="18" charset="0"/>
              </a:rPr>
              <a:t>	STD_LOGIC);</a:t>
            </a: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END COMPONENT</a:t>
            </a:r>
            <a:r>
              <a:rPr lang="en-US" altLang="zh-CN" sz="1400">
                <a:solidFill>
                  <a:schemeClr val="tx1"/>
                </a:solidFill>
                <a:latin typeface="Times New Roman" panose="02020603050405020304" pitchFamily="18" charset="0"/>
              </a:rPr>
              <a:t>;</a:t>
            </a:r>
          </a:p>
          <a:p>
            <a:pPr eaLnBrk="1" hangingPunct="1">
              <a:lnSpc>
                <a:spcPct val="95000"/>
              </a:lnSpc>
            </a:pPr>
            <a:endParaRPr lang="en-US" altLang="zh-CN" sz="1400">
              <a:solidFill>
                <a:schemeClr val="tx1"/>
              </a:solidFill>
              <a:latin typeface="Times New Roman" panose="02020603050405020304" pitchFamily="18" charset="0"/>
            </a:endParaRP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COMPONENT</a:t>
            </a:r>
            <a:r>
              <a:rPr lang="en-US" altLang="zh-CN" sz="1400">
                <a:solidFill>
                  <a:schemeClr val="tx1"/>
                </a:solidFill>
                <a:latin typeface="Times New Roman" panose="02020603050405020304" pitchFamily="18" charset="0"/>
              </a:rPr>
              <a:t> and3</a:t>
            </a: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PORT</a:t>
            </a:r>
            <a:r>
              <a:rPr lang="en-US" altLang="zh-CN" sz="1400">
                <a:solidFill>
                  <a:schemeClr val="tx1"/>
                </a:solidFill>
                <a:latin typeface="Times New Roman" panose="02020603050405020304" pitchFamily="18" charset="0"/>
              </a:rPr>
              <a:t>(a1,a2,a3	: </a:t>
            </a:r>
            <a:r>
              <a:rPr lang="en-US" altLang="zh-CN" sz="1400">
                <a:solidFill>
                  <a:srgbClr val="0000FF"/>
                </a:solidFill>
                <a:latin typeface="Times New Roman" panose="02020603050405020304" pitchFamily="18" charset="0"/>
              </a:rPr>
              <a:t>IN</a:t>
            </a:r>
            <a:r>
              <a:rPr lang="en-US" altLang="zh-CN" sz="1400">
                <a:solidFill>
                  <a:schemeClr val="tx1"/>
                </a:solidFill>
                <a:latin typeface="Times New Roman" panose="02020603050405020304" pitchFamily="18" charset="0"/>
              </a:rPr>
              <a:t>	STD_LOGIC;</a:t>
            </a:r>
          </a:p>
          <a:p>
            <a:pPr eaLnBrk="1" hangingPunct="1">
              <a:lnSpc>
                <a:spcPct val="95000"/>
              </a:lnSpc>
            </a:pPr>
            <a:r>
              <a:rPr lang="en-US" altLang="zh-CN" sz="1400">
                <a:solidFill>
                  <a:schemeClr val="tx1"/>
                </a:solidFill>
                <a:latin typeface="Times New Roman" panose="02020603050405020304" pitchFamily="18" charset="0"/>
              </a:rPr>
              <a:t>			 y		: </a:t>
            </a:r>
            <a:r>
              <a:rPr lang="en-US" altLang="zh-CN" sz="1400">
                <a:solidFill>
                  <a:srgbClr val="0000FF"/>
                </a:solidFill>
                <a:latin typeface="Times New Roman" panose="02020603050405020304" pitchFamily="18" charset="0"/>
              </a:rPr>
              <a:t>OUT</a:t>
            </a:r>
            <a:r>
              <a:rPr lang="en-US" altLang="zh-CN" sz="1400">
                <a:solidFill>
                  <a:schemeClr val="tx1"/>
                </a:solidFill>
                <a:latin typeface="Times New Roman" panose="02020603050405020304" pitchFamily="18" charset="0"/>
              </a:rPr>
              <a:t>	STD_LOGIC);</a:t>
            </a: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END  COMPONENT</a:t>
            </a:r>
            <a:r>
              <a:rPr lang="en-US" altLang="zh-CN" sz="1400">
                <a:solidFill>
                  <a:schemeClr val="tx1"/>
                </a:solidFill>
                <a:latin typeface="Times New Roman" panose="02020603050405020304" pitchFamily="18" charset="0"/>
              </a:rPr>
              <a:t>;</a:t>
            </a:r>
          </a:p>
          <a:p>
            <a:pPr eaLnBrk="1" hangingPunct="1">
              <a:lnSpc>
                <a:spcPct val="95000"/>
              </a:lnSpc>
            </a:pPr>
            <a:r>
              <a:rPr lang="en-US" altLang="zh-CN" sz="1400">
                <a:solidFill>
                  <a:schemeClr val="tx1"/>
                </a:solidFill>
                <a:latin typeface="Times New Roman" panose="02020603050405020304" pitchFamily="18" charset="0"/>
              </a:rPr>
              <a:t>	</a:t>
            </a:r>
            <a:r>
              <a:rPr lang="en-US" altLang="zh-CN" sz="1400">
                <a:solidFill>
                  <a:srgbClr val="0000FF"/>
                </a:solidFill>
                <a:latin typeface="Times New Roman" panose="02020603050405020304" pitchFamily="18" charset="0"/>
              </a:rPr>
              <a:t>SIGNAL</a:t>
            </a:r>
            <a:r>
              <a:rPr lang="en-US" altLang="zh-CN" sz="1400">
                <a:solidFill>
                  <a:schemeClr val="tx1"/>
                </a:solidFill>
                <a:latin typeface="Times New Roman" panose="02020603050405020304" pitchFamily="18" charset="0"/>
              </a:rPr>
              <a:t>  na0,na1: STD_LOGIC;</a:t>
            </a:r>
          </a:p>
        </p:txBody>
      </p:sp>
      <p:sp>
        <p:nvSpPr>
          <p:cNvPr id="182276" name="Text Box 3"/>
          <p:cNvSpPr txBox="1"/>
          <p:nvPr/>
        </p:nvSpPr>
        <p:spPr>
          <a:xfrm>
            <a:off x="1186815" y="3291523"/>
            <a:ext cx="6300788" cy="1730375"/>
          </a:xfrm>
          <a:prstGeom prst="rect">
            <a:avLst/>
          </a:prstGeom>
          <a:noFill/>
          <a:ln w="9525">
            <a:noFill/>
          </a:ln>
        </p:spPr>
        <p:txBody>
          <a:bodyPr>
            <a:spAutoFit/>
          </a:bodyPr>
          <a:lstStyle/>
          <a:p>
            <a:pPr eaLnBrk="1" hangingPunct="1">
              <a:lnSpc>
                <a:spcPct val="95000"/>
              </a:lnSpc>
            </a:pPr>
            <a:r>
              <a:rPr lang="en-US" altLang="zh-CN" sz="1400">
                <a:solidFill>
                  <a:srgbClr val="0000FF"/>
                </a:solidFill>
                <a:latin typeface="Times New Roman" panose="02020603050405020304" pitchFamily="18" charset="0"/>
              </a:rPr>
              <a:t>BEGIN</a:t>
            </a:r>
          </a:p>
          <a:p>
            <a:pPr eaLnBrk="1" hangingPunct="1">
              <a:lnSpc>
                <a:spcPct val="95000"/>
              </a:lnSpc>
            </a:pPr>
            <a:r>
              <a:rPr lang="en-US" altLang="zh-CN" sz="1400">
                <a:solidFill>
                  <a:schemeClr val="tx1"/>
                </a:solidFill>
                <a:latin typeface="Times New Roman" panose="02020603050405020304" pitchFamily="18" charset="0"/>
              </a:rPr>
              <a:t>	i0: inv  </a:t>
            </a:r>
            <a:r>
              <a:rPr lang="en-US" altLang="zh-CN" sz="1400">
                <a:solidFill>
                  <a:srgbClr val="0000FF"/>
                </a:solidFill>
                <a:latin typeface="Times New Roman" panose="02020603050405020304" pitchFamily="18" charset="0"/>
              </a:rPr>
              <a:t>PORT MAP</a:t>
            </a:r>
            <a:r>
              <a:rPr lang="en-US" altLang="zh-CN" sz="1400">
                <a:solidFill>
                  <a:schemeClr val="tx1"/>
                </a:solidFill>
                <a:latin typeface="Times New Roman" panose="02020603050405020304" pitchFamily="18" charset="0"/>
              </a:rPr>
              <a:t> (a0, na0);</a:t>
            </a:r>
          </a:p>
          <a:p>
            <a:pPr eaLnBrk="1" hangingPunct="1">
              <a:lnSpc>
                <a:spcPct val="95000"/>
              </a:lnSpc>
            </a:pPr>
            <a:r>
              <a:rPr lang="en-US" altLang="zh-CN" sz="1400">
                <a:solidFill>
                  <a:schemeClr val="tx1"/>
                </a:solidFill>
                <a:latin typeface="Times New Roman" panose="02020603050405020304" pitchFamily="18" charset="0"/>
              </a:rPr>
              <a:t>	i1: inv  </a:t>
            </a:r>
            <a:r>
              <a:rPr lang="en-US" altLang="zh-CN" sz="1400">
                <a:solidFill>
                  <a:srgbClr val="0000FF"/>
                </a:solidFill>
                <a:latin typeface="Times New Roman" panose="02020603050405020304" pitchFamily="18" charset="0"/>
              </a:rPr>
              <a:t>PORT MAP</a:t>
            </a:r>
            <a:r>
              <a:rPr lang="en-US" altLang="zh-CN" sz="1400">
                <a:solidFill>
                  <a:schemeClr val="tx1"/>
                </a:solidFill>
                <a:latin typeface="Times New Roman" panose="02020603050405020304" pitchFamily="18" charset="0"/>
              </a:rPr>
              <a:t> (a1, na1);</a:t>
            </a:r>
          </a:p>
          <a:p>
            <a:pPr eaLnBrk="1" hangingPunct="1">
              <a:lnSpc>
                <a:spcPct val="95000"/>
              </a:lnSpc>
            </a:pPr>
            <a:r>
              <a:rPr lang="en-US" altLang="zh-CN" sz="1400">
                <a:solidFill>
                  <a:schemeClr val="tx1"/>
                </a:solidFill>
                <a:latin typeface="Times New Roman" panose="02020603050405020304" pitchFamily="18" charset="0"/>
              </a:rPr>
              <a:t>	u0: and3  </a:t>
            </a:r>
            <a:r>
              <a:rPr lang="en-US" altLang="zh-CN" sz="1400">
                <a:solidFill>
                  <a:srgbClr val="0000FF"/>
                </a:solidFill>
                <a:latin typeface="Times New Roman" panose="02020603050405020304" pitchFamily="18" charset="0"/>
              </a:rPr>
              <a:t>PORT MAP</a:t>
            </a:r>
            <a:r>
              <a:rPr lang="en-US" altLang="zh-CN" sz="1400">
                <a:solidFill>
                  <a:schemeClr val="tx1"/>
                </a:solidFill>
                <a:latin typeface="Times New Roman" panose="02020603050405020304" pitchFamily="18" charset="0"/>
              </a:rPr>
              <a:t> (na0,na1,en, y0);</a:t>
            </a:r>
          </a:p>
          <a:p>
            <a:pPr eaLnBrk="1" hangingPunct="1">
              <a:lnSpc>
                <a:spcPct val="95000"/>
              </a:lnSpc>
            </a:pPr>
            <a:r>
              <a:rPr lang="en-US" altLang="zh-CN" sz="1400">
                <a:solidFill>
                  <a:schemeClr val="tx1"/>
                </a:solidFill>
                <a:latin typeface="Times New Roman" panose="02020603050405020304" pitchFamily="18" charset="0"/>
              </a:rPr>
              <a:t>	u1: and3  </a:t>
            </a:r>
            <a:r>
              <a:rPr lang="en-US" altLang="zh-CN" sz="1400">
                <a:solidFill>
                  <a:srgbClr val="0000FF"/>
                </a:solidFill>
                <a:latin typeface="Times New Roman" panose="02020603050405020304" pitchFamily="18" charset="0"/>
              </a:rPr>
              <a:t>PORT MAP</a:t>
            </a:r>
            <a:r>
              <a:rPr lang="en-US" altLang="zh-CN" sz="1400">
                <a:solidFill>
                  <a:schemeClr val="tx1"/>
                </a:solidFill>
                <a:latin typeface="Times New Roman" panose="02020603050405020304" pitchFamily="18" charset="0"/>
              </a:rPr>
              <a:t> (a0,na1,en, y1);</a:t>
            </a:r>
          </a:p>
          <a:p>
            <a:pPr eaLnBrk="1" hangingPunct="1">
              <a:lnSpc>
                <a:spcPct val="95000"/>
              </a:lnSpc>
            </a:pPr>
            <a:r>
              <a:rPr lang="en-US" altLang="zh-CN" sz="1400">
                <a:solidFill>
                  <a:schemeClr val="tx1"/>
                </a:solidFill>
                <a:latin typeface="Times New Roman" panose="02020603050405020304" pitchFamily="18" charset="0"/>
              </a:rPr>
              <a:t>	u2: and3  </a:t>
            </a:r>
            <a:r>
              <a:rPr lang="en-US" altLang="zh-CN" sz="1400">
                <a:solidFill>
                  <a:srgbClr val="0000FF"/>
                </a:solidFill>
                <a:latin typeface="Times New Roman" panose="02020603050405020304" pitchFamily="18" charset="0"/>
              </a:rPr>
              <a:t>PORT MAP</a:t>
            </a:r>
            <a:r>
              <a:rPr lang="en-US" altLang="zh-CN" sz="1400">
                <a:solidFill>
                  <a:schemeClr val="tx1"/>
                </a:solidFill>
                <a:latin typeface="Times New Roman" panose="02020603050405020304" pitchFamily="18" charset="0"/>
              </a:rPr>
              <a:t> (na0,a1,en, y2);</a:t>
            </a:r>
          </a:p>
          <a:p>
            <a:pPr eaLnBrk="1" hangingPunct="1">
              <a:lnSpc>
                <a:spcPct val="95000"/>
              </a:lnSpc>
            </a:pPr>
            <a:r>
              <a:rPr lang="en-US" altLang="zh-CN" sz="1400">
                <a:solidFill>
                  <a:schemeClr val="tx1"/>
                </a:solidFill>
                <a:latin typeface="Times New Roman" panose="02020603050405020304" pitchFamily="18" charset="0"/>
              </a:rPr>
              <a:t>	u3: and3  </a:t>
            </a:r>
            <a:r>
              <a:rPr lang="en-US" altLang="zh-CN" sz="1400">
                <a:solidFill>
                  <a:srgbClr val="0000FF"/>
                </a:solidFill>
                <a:latin typeface="Times New Roman" panose="02020603050405020304" pitchFamily="18" charset="0"/>
              </a:rPr>
              <a:t>PORT MAP</a:t>
            </a:r>
            <a:r>
              <a:rPr lang="en-US" altLang="zh-CN" sz="1400">
                <a:solidFill>
                  <a:schemeClr val="tx1"/>
                </a:solidFill>
                <a:latin typeface="Times New Roman" panose="02020603050405020304" pitchFamily="18" charset="0"/>
              </a:rPr>
              <a:t> (a0,a1,en, y3);</a:t>
            </a:r>
          </a:p>
          <a:p>
            <a:pPr eaLnBrk="1" hangingPunct="1">
              <a:lnSpc>
                <a:spcPct val="95000"/>
              </a:lnSpc>
            </a:pPr>
            <a:r>
              <a:rPr lang="en-US" altLang="zh-CN" sz="1400">
                <a:solidFill>
                  <a:srgbClr val="0000FF"/>
                </a:solidFill>
                <a:latin typeface="Times New Roman" panose="02020603050405020304" pitchFamily="18" charset="0"/>
              </a:rPr>
              <a:t>END</a:t>
            </a:r>
            <a:r>
              <a:rPr lang="en-US" altLang="zh-CN" sz="1400">
                <a:solidFill>
                  <a:schemeClr val="tx1"/>
                </a:solidFill>
                <a:latin typeface="Times New Roman" panose="02020603050405020304" pitchFamily="18" charset="0"/>
              </a:rPr>
              <a:t> </a:t>
            </a:r>
            <a:r>
              <a:rPr lang="en-US" altLang="zh-CN" sz="1400" err="1">
                <a:solidFill>
                  <a:schemeClr val="tx1"/>
                </a:solidFill>
                <a:latin typeface="Times New Roman" panose="02020603050405020304" pitchFamily="18" charset="0"/>
              </a:rPr>
              <a:t>stru</a:t>
            </a:r>
            <a:r>
              <a:rPr lang="en-US" altLang="zh-CN" sz="1400">
                <a:solidFill>
                  <a:schemeClr val="tx1"/>
                </a:solidFill>
                <a:latin typeface="Times New Roman" panose="02020603050405020304" pitchFamily="18" charset="0"/>
              </a:rPr>
              <a:t>;</a:t>
            </a:r>
          </a:p>
        </p:txBody>
      </p:sp>
      <p:grpSp>
        <p:nvGrpSpPr>
          <p:cNvPr id="58378" name="Group 10"/>
          <p:cNvGrpSpPr/>
          <p:nvPr/>
        </p:nvGrpSpPr>
        <p:grpSpPr>
          <a:xfrm>
            <a:off x="6253798" y="1027113"/>
            <a:ext cx="1347787" cy="752475"/>
            <a:chOff x="5128" y="833"/>
            <a:chExt cx="941" cy="632"/>
          </a:xfrm>
        </p:grpSpPr>
        <p:sp>
          <p:nvSpPr>
            <p:cNvPr id="182281" name="AutoShape 12"/>
            <p:cNvSpPr/>
            <p:nvPr/>
          </p:nvSpPr>
          <p:spPr>
            <a:xfrm>
              <a:off x="5128" y="833"/>
              <a:ext cx="288" cy="632"/>
            </a:xfrm>
            <a:prstGeom prst="rightBrace">
              <a:avLst>
                <a:gd name="adj1" fmla="val 18287"/>
                <a:gd name="adj2" fmla="val 50000"/>
              </a:avLst>
            </a:prstGeom>
            <a:noFill/>
            <a:ln w="9525" cap="flat" cmpd="sng">
              <a:solidFill>
                <a:srgbClr val="FF0000"/>
              </a:solidFill>
              <a:prstDash val="solid"/>
              <a:headEnd type="none" w="med" len="med"/>
              <a:tailEnd type="none" w="med" len="med"/>
            </a:ln>
          </p:spPr>
          <p:txBody>
            <a:bodyPr wrap="none" anchor="ctr"/>
            <a:lstStyle/>
            <a:p>
              <a:pPr marL="342900" indent="-342900" algn="ctr" eaLnBrk="1" hangingPunct="1">
                <a:spcBef>
                  <a:spcPct val="20000"/>
                </a:spcBef>
                <a:buChar char="•"/>
              </a:pPr>
              <a:endParaRPr lang="zh-CN" altLang="zh-CN" sz="2400" dirty="0">
                <a:solidFill>
                  <a:schemeClr val="tx1"/>
                </a:solidFill>
                <a:latin typeface="华文新魏" panose="02010800040101010101" pitchFamily="2" charset="-122"/>
                <a:ea typeface="华文新魏" panose="02010800040101010101" pitchFamily="2" charset="-122"/>
              </a:endParaRPr>
            </a:p>
          </p:txBody>
        </p:sp>
        <p:sp>
          <p:nvSpPr>
            <p:cNvPr id="182282" name="Rectangle 8"/>
            <p:cNvSpPr/>
            <p:nvPr/>
          </p:nvSpPr>
          <p:spPr>
            <a:xfrm>
              <a:off x="5232" y="1014"/>
              <a:ext cx="837" cy="271"/>
            </a:xfrm>
            <a:prstGeom prst="rect">
              <a:avLst/>
            </a:prstGeom>
            <a:noFill/>
            <a:ln w="9525">
              <a:noFill/>
            </a:ln>
          </p:spPr>
          <p:txBody>
            <a:bodyPr>
              <a:spAutoFit/>
            </a:bodyPr>
            <a:lstStyle/>
            <a:p>
              <a:pPr algn="ctr" eaLnBrk="1" hangingPunct="1">
                <a:spcBef>
                  <a:spcPct val="50000"/>
                </a:spcBef>
              </a:pPr>
              <a:r>
                <a:rPr lang="zh-CN" altLang="en-US" sz="1500" dirty="0">
                  <a:solidFill>
                    <a:srgbClr val="FF0000"/>
                  </a:solidFill>
                  <a:latin typeface="Times New Roman" panose="02020603050405020304" pitchFamily="18" charset="0"/>
                  <a:ea typeface="华文新魏" panose="02010800040101010101" pitchFamily="2" charset="-122"/>
                </a:rPr>
                <a:t>    反相器</a:t>
              </a:r>
              <a:r>
                <a:rPr lang="en-US" altLang="zh-CN" sz="1500" dirty="0">
                  <a:solidFill>
                    <a:srgbClr val="FF0000"/>
                  </a:solidFill>
                  <a:latin typeface="Times New Roman" panose="02020603050405020304" pitchFamily="18" charset="0"/>
                  <a:ea typeface="华文新魏" panose="02010800040101010101" pitchFamily="2" charset="-122"/>
                </a:rPr>
                <a:t>inv</a:t>
              </a:r>
              <a:endParaRPr lang="zh-CN" altLang="en-US" sz="1500" dirty="0">
                <a:solidFill>
                  <a:srgbClr val="FF0000"/>
                </a:solidFill>
                <a:latin typeface="Times New Roman" panose="02020603050405020304" pitchFamily="18" charset="0"/>
                <a:ea typeface="华文新魏" panose="02010800040101010101" pitchFamily="2" charset="-122"/>
              </a:endParaRPr>
            </a:p>
          </p:txBody>
        </p:sp>
      </p:grpSp>
      <p:grpSp>
        <p:nvGrpSpPr>
          <p:cNvPr id="58379" name="Group 11"/>
          <p:cNvGrpSpPr/>
          <p:nvPr/>
        </p:nvGrpSpPr>
        <p:grpSpPr>
          <a:xfrm>
            <a:off x="5785485" y="2035175"/>
            <a:ext cx="1722438" cy="752475"/>
            <a:chOff x="4984" y="1709"/>
            <a:chExt cx="1446" cy="632"/>
          </a:xfrm>
        </p:grpSpPr>
        <p:sp>
          <p:nvSpPr>
            <p:cNvPr id="182279" name="AutoShape 12"/>
            <p:cNvSpPr/>
            <p:nvPr/>
          </p:nvSpPr>
          <p:spPr>
            <a:xfrm>
              <a:off x="4984" y="1709"/>
              <a:ext cx="288" cy="632"/>
            </a:xfrm>
            <a:prstGeom prst="rightBrace">
              <a:avLst>
                <a:gd name="adj1" fmla="val 18287"/>
                <a:gd name="adj2" fmla="val 37343"/>
              </a:avLst>
            </a:prstGeom>
            <a:noFill/>
            <a:ln w="9525" cap="flat" cmpd="sng">
              <a:solidFill>
                <a:srgbClr val="FF0000"/>
              </a:solidFill>
              <a:prstDash val="solid"/>
              <a:headEnd type="none" w="med" len="med"/>
              <a:tailEnd type="none" w="med" len="med"/>
            </a:ln>
          </p:spPr>
          <p:txBody>
            <a:bodyPr wrap="none" anchor="ctr"/>
            <a:lstStyle/>
            <a:p>
              <a:pPr marL="342900" indent="-342900" algn="ctr" eaLnBrk="1" hangingPunct="1">
                <a:spcBef>
                  <a:spcPct val="20000"/>
                </a:spcBef>
                <a:buChar char="•"/>
              </a:pPr>
              <a:endParaRPr lang="zh-CN" altLang="zh-CN" sz="2400" dirty="0">
                <a:solidFill>
                  <a:schemeClr val="tx1"/>
                </a:solidFill>
                <a:latin typeface="华文新魏" panose="02010800040101010101" pitchFamily="2" charset="-122"/>
                <a:ea typeface="华文新魏" panose="02010800040101010101" pitchFamily="2" charset="-122"/>
              </a:endParaRPr>
            </a:p>
          </p:txBody>
        </p:sp>
        <p:sp>
          <p:nvSpPr>
            <p:cNvPr id="182280" name="Rectangle 9"/>
            <p:cNvSpPr/>
            <p:nvPr/>
          </p:nvSpPr>
          <p:spPr>
            <a:xfrm>
              <a:off x="5306" y="1801"/>
              <a:ext cx="1124" cy="271"/>
            </a:xfrm>
            <a:prstGeom prst="rect">
              <a:avLst/>
            </a:prstGeom>
            <a:noFill/>
            <a:ln w="9525">
              <a:noFill/>
            </a:ln>
          </p:spPr>
          <p:txBody>
            <a:bodyPr wrap="none">
              <a:spAutoFit/>
            </a:bodyPr>
            <a:lstStyle/>
            <a:p>
              <a:pPr algn="ctr" eaLnBrk="1" hangingPunct="1">
                <a:spcBef>
                  <a:spcPct val="50000"/>
                </a:spcBef>
              </a:pPr>
              <a:r>
                <a:rPr lang="zh-CN" altLang="en-US" sz="1500" dirty="0">
                  <a:solidFill>
                    <a:srgbClr val="FF0000"/>
                  </a:solidFill>
                  <a:latin typeface="Times New Roman" panose="02020603050405020304" pitchFamily="18" charset="0"/>
                  <a:ea typeface="华文新魏" panose="02010800040101010101" pitchFamily="2" charset="-122"/>
                </a:rPr>
                <a:t>三输入端与门</a:t>
              </a:r>
            </a:p>
          </p:txBody>
        </p:sp>
      </p:grpSp>
      <p:pic>
        <p:nvPicPr>
          <p:cNvPr id="2" name="图片 1"/>
          <p:cNvPicPr>
            <a:picLocks noChangeAspect="1"/>
          </p:cNvPicPr>
          <p:nvPr/>
        </p:nvPicPr>
        <p:blipFill>
          <a:blip r:embed="rId3"/>
          <a:stretch>
            <a:fillRect/>
          </a:stretch>
        </p:blipFill>
        <p:spPr>
          <a:xfrm>
            <a:off x="6402756" y="2526671"/>
            <a:ext cx="2358038" cy="23360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378"/>
                                        </p:tgtEl>
                                        <p:attrNameLst>
                                          <p:attrName>style.visibility</p:attrName>
                                        </p:attrNameLst>
                                      </p:cBhvr>
                                      <p:to>
                                        <p:strVal val="visible"/>
                                      </p:to>
                                    </p:set>
                                    <p:anim calcmode="lin" valueType="num">
                                      <p:cBhvr additive="base">
                                        <p:cTn id="7" dur="500" fill="hold"/>
                                        <p:tgtEl>
                                          <p:spTgt spid="58378"/>
                                        </p:tgtEl>
                                        <p:attrNameLst>
                                          <p:attrName>ppt_x</p:attrName>
                                        </p:attrNameLst>
                                      </p:cBhvr>
                                      <p:tavLst>
                                        <p:tav tm="0">
                                          <p:val>
                                            <p:strVal val="#ppt_x"/>
                                          </p:val>
                                        </p:tav>
                                        <p:tav tm="100000">
                                          <p:val>
                                            <p:strVal val="#ppt_x"/>
                                          </p:val>
                                        </p:tav>
                                      </p:tavLst>
                                    </p:anim>
                                    <p:anim calcmode="lin" valueType="num">
                                      <p:cBhvr additive="base">
                                        <p:cTn id="8" dur="500" fill="hold"/>
                                        <p:tgtEl>
                                          <p:spTgt spid="583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58379"/>
                                        </p:tgtEl>
                                        <p:attrNameLst>
                                          <p:attrName>style.visibility</p:attrName>
                                        </p:attrNameLst>
                                      </p:cBhvr>
                                      <p:to>
                                        <p:strVal val="visible"/>
                                      </p:to>
                                    </p:set>
                                    <p:animEffect transition="in" filter="box(in)">
                                      <p:cBhvr>
                                        <p:cTn id="13" dur="500"/>
                                        <p:tgtEl>
                                          <p:spTgt spid="5837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BE98C5-C8B7-48C2-BFD0-FB6C6EB3775D}"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67</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03" name="Text Box 2"/>
          <p:cNvSpPr txBox="1"/>
          <p:nvPr/>
        </p:nvSpPr>
        <p:spPr>
          <a:xfrm>
            <a:off x="1455738" y="2082800"/>
            <a:ext cx="6644654" cy="1754326"/>
          </a:xfrm>
          <a:prstGeom prst="rect">
            <a:avLst/>
          </a:prstGeom>
          <a:noFill/>
          <a:ln w="9525">
            <a:noFill/>
          </a:ln>
        </p:spPr>
        <p:txBody>
          <a:bodyPr wrap="square">
            <a:spAutoFit/>
          </a:bodyPr>
          <a:lstStyle/>
          <a:p>
            <a:pPr eaLnBrk="1" hangingPunct="1"/>
            <a:r>
              <a:rPr lang="en-US" altLang="zh-CN" sz="1800" dirty="0">
                <a:solidFill>
                  <a:srgbClr val="0000FF"/>
                </a:solidFill>
                <a:latin typeface="华文新魏" panose="02010800040101010101" pitchFamily="2" charset="-122"/>
                <a:ea typeface="华文新魏" panose="02010800040101010101" pitchFamily="2" charset="-122"/>
              </a:rPr>
              <a:t>LIBRARY</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err="1">
                <a:solidFill>
                  <a:schemeClr val="tx1"/>
                </a:solidFill>
                <a:latin typeface="华文新魏" panose="02010800040101010101" pitchFamily="2" charset="-122"/>
                <a:ea typeface="华文新魏" panose="02010800040101010101" pitchFamily="2" charset="-122"/>
              </a:rPr>
              <a:t>ieee</a:t>
            </a:r>
            <a:r>
              <a:rPr lang="en-US" altLang="zh-CN" sz="1800" dirty="0">
                <a:solidFill>
                  <a:schemeClr val="tx1"/>
                </a:solidFill>
                <a:latin typeface="华文新魏" panose="02010800040101010101" pitchFamily="2" charset="-122"/>
                <a:ea typeface="华文新魏" panose="02010800040101010101" pitchFamily="2" charset="-122"/>
              </a:rPr>
              <a:t>;</a:t>
            </a:r>
          </a:p>
          <a:p>
            <a:pPr eaLnBrk="1" hangingPunct="1"/>
            <a:r>
              <a:rPr lang="en-US" altLang="zh-CN" sz="1800" dirty="0">
                <a:solidFill>
                  <a:srgbClr val="0000FF"/>
                </a:solidFill>
                <a:latin typeface="华文新魏" panose="02010800040101010101" pitchFamily="2" charset="-122"/>
                <a:ea typeface="华文新魏" panose="02010800040101010101" pitchFamily="2" charset="-122"/>
              </a:rPr>
              <a:t>USE</a:t>
            </a:r>
            <a:r>
              <a:rPr lang="en-US" altLang="zh-CN" sz="1800" dirty="0">
                <a:solidFill>
                  <a:schemeClr val="tx1"/>
                </a:solidFill>
                <a:latin typeface="华文新魏" panose="02010800040101010101" pitchFamily="2" charset="-122"/>
                <a:ea typeface="华文新魏" panose="02010800040101010101" pitchFamily="2" charset="-122"/>
              </a:rPr>
              <a:t> ieee.std_logic_1164.</a:t>
            </a:r>
            <a:r>
              <a:rPr lang="en-US" altLang="zh-CN" sz="1800" dirty="0">
                <a:solidFill>
                  <a:srgbClr val="0000FF"/>
                </a:solidFill>
                <a:latin typeface="华文新魏" panose="02010800040101010101" pitchFamily="2" charset="-122"/>
                <a:ea typeface="华文新魏" panose="02010800040101010101" pitchFamily="2" charset="-122"/>
              </a:rPr>
              <a:t>ALL</a:t>
            </a:r>
            <a:r>
              <a:rPr lang="en-US" altLang="zh-CN" sz="1800" dirty="0">
                <a:solidFill>
                  <a:schemeClr val="tx1"/>
                </a:solidFill>
                <a:latin typeface="华文新魏" panose="02010800040101010101" pitchFamily="2" charset="-122"/>
                <a:ea typeface="华文新魏" panose="02010800040101010101" pitchFamily="2" charset="-122"/>
              </a:rPr>
              <a:t>;</a:t>
            </a:r>
          </a:p>
          <a:p>
            <a:pPr eaLnBrk="1" hangingPunct="1"/>
            <a:r>
              <a:rPr lang="en-US" altLang="zh-CN" sz="1800" dirty="0">
                <a:solidFill>
                  <a:srgbClr val="0000FF"/>
                </a:solidFill>
                <a:latin typeface="华文新魏" panose="02010800040101010101" pitchFamily="2" charset="-122"/>
                <a:ea typeface="华文新魏" panose="02010800040101010101" pitchFamily="2" charset="-122"/>
              </a:rPr>
              <a:t>ENTITY</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err="1">
                <a:solidFill>
                  <a:schemeClr val="tx1"/>
                </a:solidFill>
                <a:latin typeface="华文新魏" panose="02010800040101010101" pitchFamily="2" charset="-122"/>
                <a:ea typeface="华文新魏" panose="02010800040101010101" pitchFamily="2" charset="-122"/>
              </a:rPr>
              <a:t>priencoder</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0000FF"/>
                </a:solidFill>
                <a:latin typeface="华文新魏" panose="02010800040101010101" pitchFamily="2" charset="-122"/>
                <a:ea typeface="华文新魏" panose="02010800040101010101" pitchFamily="2" charset="-122"/>
              </a:rPr>
              <a:t>IS</a:t>
            </a:r>
          </a:p>
          <a:p>
            <a:pPr eaLnBrk="1" hangingPunct="1"/>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0000FF"/>
                </a:solidFill>
                <a:latin typeface="华文新魏" panose="02010800040101010101" pitchFamily="2" charset="-122"/>
                <a:ea typeface="华文新魏" panose="02010800040101010101" pitchFamily="2" charset="-122"/>
              </a:rPr>
              <a:t>PORT</a:t>
            </a:r>
            <a:r>
              <a:rPr lang="en-US" altLang="zh-CN" sz="1800" dirty="0">
                <a:solidFill>
                  <a:schemeClr val="tx1"/>
                </a:solidFill>
                <a:latin typeface="华文新魏" panose="02010800040101010101" pitchFamily="2" charset="-122"/>
                <a:ea typeface="华文新魏" panose="02010800040101010101" pitchFamily="2" charset="-122"/>
              </a:rPr>
              <a:t>(input  : IN   </a:t>
            </a:r>
            <a:r>
              <a:rPr lang="en-US" altLang="zh-CN" sz="1500" dirty="0">
                <a:solidFill>
                  <a:schemeClr val="tx1"/>
                </a:solidFill>
                <a:latin typeface="华文新魏" panose="02010800040101010101" pitchFamily="2" charset="-122"/>
                <a:ea typeface="华文新魏" panose="02010800040101010101" pitchFamily="2" charset="-122"/>
              </a:rPr>
              <a:t>STD_LOGIC_VECTOR(7 DOWNTO 0);</a:t>
            </a:r>
          </a:p>
          <a:p>
            <a:pPr eaLnBrk="1" hangingPunct="1"/>
            <a:r>
              <a:rPr lang="en-US" altLang="zh-CN" sz="1800" dirty="0">
                <a:solidFill>
                  <a:schemeClr val="tx1"/>
                </a:solidFill>
                <a:latin typeface="华文新魏" panose="02010800040101010101" pitchFamily="2" charset="-122"/>
                <a:ea typeface="华文新魏" panose="02010800040101010101" pitchFamily="2" charset="-122"/>
              </a:rPr>
              <a:t>	                 y    : OUT  </a:t>
            </a:r>
            <a:r>
              <a:rPr lang="en-US" altLang="zh-CN" sz="1500" dirty="0">
                <a:solidFill>
                  <a:schemeClr val="tx1"/>
                </a:solidFill>
                <a:latin typeface="华文新魏" panose="02010800040101010101" pitchFamily="2" charset="-122"/>
                <a:ea typeface="华文新魏" panose="02010800040101010101" pitchFamily="2" charset="-122"/>
              </a:rPr>
              <a:t>STD_LOGIC_VECTOR(2 DOWNTO 0));</a:t>
            </a:r>
          </a:p>
          <a:p>
            <a:pPr eaLnBrk="1" hangingPunct="1"/>
            <a:r>
              <a:rPr lang="en-US" altLang="zh-CN" sz="1800" dirty="0">
                <a:solidFill>
                  <a:srgbClr val="0000FF"/>
                </a:solidFill>
                <a:latin typeface="华文新魏" panose="02010800040101010101" pitchFamily="2" charset="-122"/>
                <a:ea typeface="华文新魏" panose="02010800040101010101" pitchFamily="2" charset="-122"/>
              </a:rPr>
              <a:t>END</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err="1">
                <a:solidFill>
                  <a:schemeClr val="tx1"/>
                </a:solidFill>
                <a:latin typeface="华文新魏" panose="02010800040101010101" pitchFamily="2" charset="-122"/>
                <a:ea typeface="华文新魏" panose="02010800040101010101" pitchFamily="2" charset="-122"/>
              </a:rPr>
              <a:t>priencoder</a:t>
            </a:r>
            <a:r>
              <a:rPr lang="en-US" altLang="zh-CN" sz="1800" dirty="0">
                <a:solidFill>
                  <a:schemeClr val="tx1"/>
                </a:solidFill>
                <a:latin typeface="华文新魏" panose="02010800040101010101" pitchFamily="2" charset="-122"/>
                <a:ea typeface="华文新魏" panose="02010800040101010101" pitchFamily="2" charset="-122"/>
              </a:rPr>
              <a:t>;</a:t>
            </a:r>
          </a:p>
        </p:txBody>
      </p:sp>
      <p:sp>
        <p:nvSpPr>
          <p:cNvPr id="183300" name="AutoShape 3"/>
          <p:cNvSpPr/>
          <p:nvPr/>
        </p:nvSpPr>
        <p:spPr>
          <a:xfrm>
            <a:off x="6124575" y="74613"/>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Times New Roman" panose="02020603050405020304" pitchFamily="18" charset="0"/>
              </a:rPr>
              <a:t>顺序描述语句</a:t>
            </a:r>
          </a:p>
        </p:txBody>
      </p:sp>
      <p:sp>
        <p:nvSpPr>
          <p:cNvPr id="128005" name="Rectangle 6"/>
          <p:cNvSpPr>
            <a:spLocks noChangeArrowheads="1"/>
          </p:cNvSpPr>
          <p:nvPr/>
        </p:nvSpPr>
        <p:spPr bwMode="auto">
          <a:xfrm>
            <a:off x="1691680" y="939280"/>
            <a:ext cx="5619750" cy="1034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0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例  设计一个八位输入的优先权编码器</a:t>
            </a:r>
          </a:p>
          <a:p>
            <a:pPr marL="342900" marR="0" lvl="0" indent="-342900" algn="ctr" defTabSz="914400" rtl="0" eaLnBrk="1" fontAlgn="base" latinLnBrk="0" hangingPunct="1">
              <a:lnSpc>
                <a:spcPct val="100000"/>
              </a:lnSpc>
              <a:spcBef>
                <a:spcPct val="50000"/>
              </a:spcBef>
              <a:spcAft>
                <a:spcPct val="0"/>
              </a:spcAft>
              <a:buClrTx/>
              <a:buSzTx/>
              <a:buFontTx/>
              <a:buNone/>
              <a:defRPr/>
            </a:pPr>
            <a:r>
              <a:rPr kumimoji="0" lang="zh-CN" altLang="en-US" sz="20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（输入信号为低电平有效）</a:t>
            </a:r>
          </a:p>
          <a:p>
            <a:pPr marL="342900" marR="0" lvl="0" indent="-342900" algn="l" defTabSz="914400" rtl="0" eaLnBrk="1" fontAlgn="base" latinLnBrk="0" hangingPunct="1">
              <a:lnSpc>
                <a:spcPct val="100000"/>
              </a:lnSpc>
              <a:spcBef>
                <a:spcPct val="50000"/>
              </a:spcBef>
              <a:spcAft>
                <a:spcPct val="0"/>
              </a:spcAft>
              <a:buClrTx/>
              <a:buSzTx/>
              <a:buFontTx/>
              <a:buNone/>
              <a:defRPr/>
            </a:pPr>
            <a:endParaRPr kumimoji="0" lang="zh-CN" altLang="en-US" sz="75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p:txBody>
      </p:sp>
      <p:sp>
        <p:nvSpPr>
          <p:cNvPr id="2" name="文本框 1">
            <a:extLst>
              <a:ext uri="{FF2B5EF4-FFF2-40B4-BE49-F238E27FC236}">
                <a16:creationId xmlns:a16="http://schemas.microsoft.com/office/drawing/2014/main" id="{7ABAEE20-413C-4038-8499-7B850028D76D}"/>
              </a:ext>
            </a:extLst>
          </p:cNvPr>
          <p:cNvSpPr txBox="1"/>
          <p:nvPr/>
        </p:nvSpPr>
        <p:spPr>
          <a:xfrm>
            <a:off x="179512" y="491835"/>
            <a:ext cx="1800200" cy="400110"/>
          </a:xfrm>
          <a:prstGeom prst="rect">
            <a:avLst/>
          </a:prstGeom>
          <a:noFill/>
        </p:spPr>
        <p:txBody>
          <a:bodyPr wrap="square" rtlCol="0">
            <a:spAutoFit/>
          </a:bodyPr>
          <a:lstStyle/>
          <a:p>
            <a:r>
              <a:rPr lang="en-US" altLang="zh-CN" b="1" dirty="0">
                <a:solidFill>
                  <a:schemeClr val="tx1"/>
                </a:solidFill>
              </a:rPr>
              <a:t>5</a:t>
            </a:r>
            <a:r>
              <a:rPr lang="zh-CN" altLang="en-US" b="1" dirty="0">
                <a:solidFill>
                  <a:schemeClr val="tx1"/>
                </a:solidFill>
              </a:rPr>
              <a:t>种常用语句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03"/>
                                        </p:tgtEl>
                                        <p:attrNameLst>
                                          <p:attrName>style.visibility</p:attrName>
                                        </p:attrNameLst>
                                      </p:cBhvr>
                                      <p:to>
                                        <p:strVal val="visible"/>
                                      </p:to>
                                    </p:set>
                                    <p:anim calcmode="lin" valueType="num">
                                      <p:cBhvr additive="base">
                                        <p:cTn id="7" dur="500" fill="hold"/>
                                        <p:tgtEl>
                                          <p:spTgt spid="153603"/>
                                        </p:tgtEl>
                                        <p:attrNameLst>
                                          <p:attrName>ppt_x</p:attrName>
                                        </p:attrNameLst>
                                      </p:cBhvr>
                                      <p:tavLst>
                                        <p:tav tm="0">
                                          <p:val>
                                            <p:strVal val="#ppt_x"/>
                                          </p:val>
                                        </p:tav>
                                        <p:tav tm="100000">
                                          <p:val>
                                            <p:strVal val="#ppt_x"/>
                                          </p:val>
                                        </p:tav>
                                      </p:tavLst>
                                    </p:anim>
                                    <p:anim calcmode="lin" valueType="num">
                                      <p:cBhvr additive="base">
                                        <p:cTn id="8" dur="500" fill="hold"/>
                                        <p:tgtEl>
                                          <p:spTgt spid="1536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EB6660C-BF9D-44AB-A69E-512C98BCCE49}"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68</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23" name="Text Box 2"/>
          <p:cNvSpPr txBox="1"/>
          <p:nvPr/>
        </p:nvSpPr>
        <p:spPr>
          <a:xfrm>
            <a:off x="1543050" y="436563"/>
            <a:ext cx="6169025" cy="4799012"/>
          </a:xfrm>
          <a:prstGeom prst="rect">
            <a:avLst/>
          </a:prstGeom>
          <a:noFill/>
          <a:ln w="9525">
            <a:noFill/>
          </a:ln>
        </p:spPr>
        <p:txBody>
          <a:bodyPr>
            <a:spAutoFit/>
          </a:bodyPr>
          <a:lstStyle/>
          <a:p>
            <a:pPr eaLnBrk="1" hangingPunct="1">
              <a:lnSpc>
                <a:spcPct val="95000"/>
              </a:lnSpc>
            </a:pPr>
            <a:r>
              <a:rPr lang="en-US" altLang="zh-CN" sz="1400">
                <a:solidFill>
                  <a:srgbClr val="0000FF"/>
                </a:solidFill>
                <a:latin typeface="华文新魏" panose="02010800040101010101" pitchFamily="2" charset="-122"/>
                <a:ea typeface="华文新魏" panose="02010800040101010101" pitchFamily="2" charset="-122"/>
              </a:rPr>
              <a:t>ARCHITECTURE</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err="1">
                <a:solidFill>
                  <a:schemeClr val="tx1"/>
                </a:solidFill>
                <a:latin typeface="华文新魏" panose="02010800040101010101" pitchFamily="2" charset="-122"/>
                <a:ea typeface="华文新魏" panose="02010800040101010101" pitchFamily="2" charset="-122"/>
              </a:rPr>
              <a:t>rtl</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OF</a:t>
            </a:r>
            <a:r>
              <a:rPr lang="en-US" altLang="zh-CN" sz="1400">
                <a:solidFill>
                  <a:srgbClr val="FF99CC"/>
                </a:solidFill>
                <a:latin typeface="华文新魏" panose="02010800040101010101" pitchFamily="2" charset="-122"/>
                <a:ea typeface="华文新魏" panose="02010800040101010101" pitchFamily="2" charset="-122"/>
              </a:rPr>
              <a:t> </a:t>
            </a:r>
            <a:r>
              <a:rPr lang="en-US" altLang="zh-CN" sz="1400" err="1">
                <a:solidFill>
                  <a:schemeClr val="tx1"/>
                </a:solidFill>
                <a:latin typeface="华文新魏" panose="02010800040101010101" pitchFamily="2" charset="-122"/>
                <a:ea typeface="华文新魏" panose="02010800040101010101" pitchFamily="2" charset="-122"/>
              </a:rPr>
              <a:t>priencoder</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IS</a:t>
            </a:r>
          </a:p>
          <a:p>
            <a:pPr eaLnBrk="1" hangingPunct="1">
              <a:lnSpc>
                <a:spcPct val="95000"/>
              </a:lnSpc>
            </a:pPr>
            <a:r>
              <a:rPr lang="en-US" altLang="zh-CN" sz="1400">
                <a:solidFill>
                  <a:srgbClr val="0000FF"/>
                </a:solidFill>
                <a:latin typeface="华文新魏" panose="02010800040101010101" pitchFamily="2" charset="-122"/>
                <a:ea typeface="华文新魏" panose="02010800040101010101" pitchFamily="2" charset="-122"/>
              </a:rPr>
              <a:t>BEGIN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PROCESS</a:t>
            </a:r>
            <a:r>
              <a:rPr lang="en-US" altLang="zh-CN" sz="1400">
                <a:solidFill>
                  <a:schemeClr val="tx1"/>
                </a:solidFill>
                <a:latin typeface="华文新魏" panose="02010800040101010101" pitchFamily="2" charset="-122"/>
                <a:ea typeface="华文新魏" panose="02010800040101010101" pitchFamily="2" charset="-122"/>
              </a:rPr>
              <a:t> (input)</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BEGIN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IF  (</a:t>
            </a:r>
            <a:r>
              <a:rPr lang="en-US" altLang="zh-CN" sz="1400">
                <a:solidFill>
                  <a:schemeClr val="tx1"/>
                </a:solidFill>
                <a:latin typeface="华文新魏" panose="02010800040101010101" pitchFamily="2" charset="-122"/>
                <a:ea typeface="华文新魏" panose="02010800040101010101" pitchFamily="2" charset="-122"/>
              </a:rPr>
              <a:t>input(7) = </a:t>
            </a:r>
            <a:r>
              <a:rPr lang="en-US" altLang="zh-CN" sz="1400">
                <a:solidFill>
                  <a:srgbClr val="FF0000"/>
                </a:solidFill>
                <a:latin typeface="华文新魏" panose="02010800040101010101" pitchFamily="2" charset="-122"/>
                <a:ea typeface="华文新魏" panose="02010800040101010101" pitchFamily="2" charset="-122"/>
              </a:rPr>
              <a:t>'</a:t>
            </a:r>
            <a:r>
              <a:rPr lang="en-US" altLang="zh-CN" sz="1400">
                <a:solidFill>
                  <a:schemeClr val="tx1"/>
                </a:solidFill>
                <a:latin typeface="华文新魏" panose="02010800040101010101" pitchFamily="2" charset="-122"/>
                <a:ea typeface="华文新魏" panose="02010800040101010101" pitchFamily="2" charset="-122"/>
              </a:rPr>
              <a:t>0</a:t>
            </a:r>
            <a:r>
              <a:rPr lang="en-US" altLang="zh-CN" sz="1400">
                <a:solidFill>
                  <a:srgbClr val="FF0000"/>
                </a:solidFill>
                <a:latin typeface="华文新魏" panose="02010800040101010101" pitchFamily="2" charset="-122"/>
                <a:ea typeface="华文新魏" panose="02010800040101010101" pitchFamily="2" charset="-122"/>
              </a:rPr>
              <a:t>'</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a:t>
            </a:r>
            <a:r>
              <a:rPr lang="en-US" altLang="zh-CN" sz="1400">
                <a:solidFill>
                  <a:srgbClr val="FF0000"/>
                </a:solidFill>
                <a:latin typeface="华文新魏" panose="02010800040101010101" pitchFamily="2" charset="-122"/>
                <a:ea typeface="华文新魏" panose="02010800040101010101" pitchFamily="2" charset="-122"/>
              </a:rPr>
              <a:t>"</a:t>
            </a:r>
            <a:r>
              <a:rPr lang="en-US" altLang="zh-CN" sz="1400">
                <a:solidFill>
                  <a:schemeClr val="tx1"/>
                </a:solidFill>
                <a:latin typeface="华文新魏" panose="02010800040101010101" pitchFamily="2" charset="-122"/>
                <a:ea typeface="华文新魏" panose="02010800040101010101" pitchFamily="2" charset="-122"/>
              </a:rPr>
              <a:t>111</a:t>
            </a:r>
            <a:r>
              <a:rPr lang="en-US" altLang="zh-CN" sz="1400">
                <a:solidFill>
                  <a:srgbClr val="FF0000"/>
                </a:solidFill>
                <a:latin typeface="华文新魏" panose="02010800040101010101" pitchFamily="2" charset="-122"/>
                <a:ea typeface="华文新魏" panose="02010800040101010101" pitchFamily="2" charset="-122"/>
              </a:rPr>
              <a:t>"</a:t>
            </a:r>
            <a:r>
              <a:rPr lang="en-US" altLang="zh-CN" sz="1400">
                <a:solidFill>
                  <a:schemeClr val="tx1"/>
                </a:solidFill>
                <a:latin typeface="华文新魏" panose="02010800040101010101" pitchFamily="2" charset="-122"/>
                <a:ea typeface="华文新魏" panose="02010800040101010101" pitchFamily="2" charset="-122"/>
              </a:rPr>
              <a:t>;</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ELSIF</a:t>
            </a:r>
            <a:r>
              <a:rPr lang="en-US" altLang="zh-CN" sz="1400">
                <a:solidFill>
                  <a:schemeClr val="tx1"/>
                </a:solidFill>
                <a:latin typeface="华文新魏" panose="02010800040101010101" pitchFamily="2" charset="-122"/>
                <a:ea typeface="华文新魏" panose="02010800040101010101" pitchFamily="2" charset="-122"/>
              </a:rPr>
              <a:t> (input(6)= '0')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"110";</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ELSIF</a:t>
            </a:r>
            <a:r>
              <a:rPr lang="en-US" altLang="zh-CN" sz="1400">
                <a:solidFill>
                  <a:schemeClr val="tx1"/>
                </a:solidFill>
                <a:latin typeface="华文新魏" panose="02010800040101010101" pitchFamily="2" charset="-122"/>
                <a:ea typeface="华文新魏" panose="02010800040101010101" pitchFamily="2" charset="-122"/>
              </a:rPr>
              <a:t> (input(5)= '0' )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"101";</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ELSIF </a:t>
            </a:r>
            <a:r>
              <a:rPr lang="en-US" altLang="zh-CN" sz="1400">
                <a:solidFill>
                  <a:schemeClr val="tx1"/>
                </a:solidFill>
                <a:latin typeface="华文新魏" panose="02010800040101010101" pitchFamily="2" charset="-122"/>
                <a:ea typeface="华文新魏" panose="02010800040101010101" pitchFamily="2" charset="-122"/>
              </a:rPr>
              <a:t>(input(4)= '0')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"100";</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ELSIF </a:t>
            </a:r>
            <a:r>
              <a:rPr lang="en-US" altLang="zh-CN" sz="1400">
                <a:solidFill>
                  <a:schemeClr val="tx1"/>
                </a:solidFill>
                <a:latin typeface="华文新魏" panose="02010800040101010101" pitchFamily="2" charset="-122"/>
                <a:ea typeface="华文新魏" panose="02010800040101010101" pitchFamily="2" charset="-122"/>
              </a:rPr>
              <a:t>(input(3)= '0' )</a:t>
            </a:r>
            <a:r>
              <a:rPr lang="en-US" altLang="zh-CN" sz="1400">
                <a:solidFill>
                  <a:srgbClr val="FF99CC"/>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"011";</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FF99CC"/>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ELSIF </a:t>
            </a:r>
            <a:r>
              <a:rPr lang="en-US" altLang="zh-CN" sz="1400">
                <a:solidFill>
                  <a:schemeClr val="tx1"/>
                </a:solidFill>
                <a:latin typeface="华文新魏" panose="02010800040101010101" pitchFamily="2" charset="-122"/>
                <a:ea typeface="华文新魏" panose="02010800040101010101" pitchFamily="2" charset="-122"/>
              </a:rPr>
              <a:t>(input(2)= '0')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"010";</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ELSIF </a:t>
            </a:r>
            <a:r>
              <a:rPr lang="en-US" altLang="zh-CN" sz="1400">
                <a:solidFill>
                  <a:schemeClr val="tx1"/>
                </a:solidFill>
                <a:latin typeface="华文新魏" panose="02010800040101010101" pitchFamily="2" charset="-122"/>
                <a:ea typeface="华文新魏" panose="02010800040101010101" pitchFamily="2" charset="-122"/>
              </a:rPr>
              <a:t>(input(1)= '0' ) </a:t>
            </a:r>
            <a:r>
              <a:rPr lang="en-US" altLang="zh-CN" sz="1400">
                <a:solidFill>
                  <a:srgbClr val="0000FF"/>
                </a:solidFill>
                <a:latin typeface="华文新魏" panose="02010800040101010101" pitchFamily="2" charset="-122"/>
                <a:ea typeface="华文新魏" panose="02010800040101010101" pitchFamily="2" charset="-122"/>
              </a:rPr>
              <a:t>THEN</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"001";</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	ELSE</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y&lt;= "000" ;</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END IF</a:t>
            </a:r>
            <a:r>
              <a:rPr lang="en-US" altLang="zh-CN" sz="1400">
                <a:solidFill>
                  <a:schemeClr val="tx1"/>
                </a:solidFill>
                <a:latin typeface="华文新魏" panose="02010800040101010101" pitchFamily="2" charset="-122"/>
                <a:ea typeface="华文新魏" panose="02010800040101010101" pitchFamily="2" charset="-122"/>
              </a:rPr>
              <a:t>;</a:t>
            </a:r>
          </a:p>
          <a:p>
            <a:pPr eaLnBrk="1" hangingPunct="1">
              <a:lnSpc>
                <a:spcPct val="95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END PROCESS</a:t>
            </a:r>
            <a:r>
              <a:rPr lang="en-US" altLang="zh-CN" sz="1400">
                <a:solidFill>
                  <a:schemeClr val="tx1"/>
                </a:solidFill>
                <a:latin typeface="华文新魏" panose="02010800040101010101" pitchFamily="2" charset="-122"/>
                <a:ea typeface="华文新魏" panose="02010800040101010101" pitchFamily="2" charset="-122"/>
              </a:rPr>
              <a:t>;</a:t>
            </a:r>
          </a:p>
          <a:p>
            <a:pPr eaLnBrk="1" hangingPunct="1">
              <a:lnSpc>
                <a:spcPct val="95000"/>
              </a:lnSpc>
            </a:pPr>
            <a:r>
              <a:rPr lang="en-US" altLang="zh-CN" sz="1400">
                <a:solidFill>
                  <a:srgbClr val="0000FF"/>
                </a:solidFill>
                <a:latin typeface="华文新魏" panose="02010800040101010101" pitchFamily="2" charset="-122"/>
                <a:ea typeface="华文新魏" panose="02010800040101010101" pitchFamily="2" charset="-122"/>
              </a:rPr>
              <a:t>END </a:t>
            </a:r>
            <a:r>
              <a:rPr lang="en-US" altLang="zh-CN" sz="1400" err="1">
                <a:solidFill>
                  <a:schemeClr val="tx1"/>
                </a:solidFill>
                <a:latin typeface="华文新魏" panose="02010800040101010101" pitchFamily="2" charset="-122"/>
                <a:ea typeface="华文新魏" panose="02010800040101010101" pitchFamily="2" charset="-122"/>
              </a:rPr>
              <a:t>rtl</a:t>
            </a:r>
            <a:r>
              <a:rPr lang="en-US" altLang="zh-CN" sz="1400">
                <a:solidFill>
                  <a:schemeClr val="tx1"/>
                </a:solidFill>
                <a:latin typeface="华文新魏" panose="02010800040101010101" pitchFamily="2" charset="-122"/>
                <a:ea typeface="华文新魏" panose="02010800040101010101" pitchFamily="2" charset="-122"/>
              </a:rPr>
              <a:t>;</a:t>
            </a:r>
          </a:p>
        </p:txBody>
      </p:sp>
      <p:sp>
        <p:nvSpPr>
          <p:cNvPr id="184324" name="AutoShape 3"/>
          <p:cNvSpPr/>
          <p:nvPr/>
        </p:nvSpPr>
        <p:spPr>
          <a:xfrm>
            <a:off x="6124575" y="74613"/>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顺序描述语句</a:t>
            </a:r>
          </a:p>
        </p:txBody>
      </p:sp>
      <p:sp>
        <p:nvSpPr>
          <p:cNvPr id="149510" name="AutoShape 6"/>
          <p:cNvSpPr/>
          <p:nvPr/>
        </p:nvSpPr>
        <p:spPr>
          <a:xfrm>
            <a:off x="5867718" y="1347153"/>
            <a:ext cx="2095500" cy="1073150"/>
          </a:xfrm>
          <a:prstGeom prst="wedgeEllipseCallout">
            <a:avLst>
              <a:gd name="adj1" fmla="val -110075"/>
              <a:gd name="adj2" fmla="val -35828"/>
            </a:avLst>
          </a:prstGeom>
          <a:solidFill>
            <a:schemeClr val="bg1"/>
          </a:solidFill>
          <a:ln w="3175" cap="flat" cmpd="sng">
            <a:solidFill>
              <a:schemeClr val="tx1"/>
            </a:solidFill>
            <a:prstDash val="solid"/>
            <a:miter/>
            <a:headEnd type="none" w="med" len="med"/>
            <a:tailEnd type="none" w="med" len="med"/>
          </a:ln>
        </p:spPr>
        <p:txBody>
          <a:bodyPr/>
          <a:lstStyle/>
          <a:p>
            <a:pPr algn="ctr" eaLnBrk="1" hangingPunct="1"/>
            <a:r>
              <a:rPr lang="zh-CN" altLang="en-US" sz="1800" dirty="0">
                <a:solidFill>
                  <a:srgbClr val="FF0000"/>
                </a:solidFill>
                <a:latin typeface="华文新魏" panose="02010800040101010101" pitchFamily="2" charset="-122"/>
                <a:ea typeface="华文新魏" panose="02010800040101010101" pitchFamily="2" charset="-122"/>
              </a:rPr>
              <a:t>注意字符及字符串的标识方法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9510"/>
                                        </p:tgtEl>
                                        <p:attrNameLst>
                                          <p:attrName>style.visibility</p:attrName>
                                        </p:attrNameLst>
                                      </p:cBhvr>
                                      <p:to>
                                        <p:strVal val="visible"/>
                                      </p:to>
                                    </p:set>
                                    <p:anim calcmode="lin" valueType="num">
                                      <p:cBhvr additive="base">
                                        <p:cTn id="7" dur="500" fill="hold"/>
                                        <p:tgtEl>
                                          <p:spTgt spid="149510"/>
                                        </p:tgtEl>
                                        <p:attrNameLst>
                                          <p:attrName>ppt_x</p:attrName>
                                        </p:attrNameLst>
                                      </p:cBhvr>
                                      <p:tavLst>
                                        <p:tav tm="0">
                                          <p:val>
                                            <p:strVal val="#ppt_x"/>
                                          </p:val>
                                        </p:tav>
                                        <p:tav tm="100000">
                                          <p:val>
                                            <p:strVal val="#ppt_x"/>
                                          </p:val>
                                        </p:tav>
                                      </p:tavLst>
                                    </p:anim>
                                    <p:anim calcmode="lin" valueType="num">
                                      <p:cBhvr additive="base">
                                        <p:cTn id="8" dur="500" fill="hold"/>
                                        <p:tgtEl>
                                          <p:spTgt spid="1495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0"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D8087F4-D41D-449F-B8E1-F072745B4B99}"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69</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6371" name="Rectangle 2"/>
          <p:cNvSpPr>
            <a:spLocks noGrp="1"/>
          </p:cNvSpPr>
          <p:nvPr>
            <p:ph idx="1" hasCustomPrompt="1"/>
          </p:nvPr>
        </p:nvSpPr>
        <p:spPr>
          <a:xfrm>
            <a:off x="1236663" y="642938"/>
            <a:ext cx="3067050" cy="487362"/>
          </a:xfrm>
          <a:noFill/>
          <a:ln>
            <a:noFill/>
          </a:ln>
        </p:spPr>
        <p:txBody>
          <a:bodyPr/>
          <a:lstStyle/>
          <a:p>
            <a:pPr marL="0" indent="0" eaLnBrk="1" hangingPunct="1">
              <a:buNone/>
            </a:pPr>
            <a:r>
              <a:rPr lang="en-US" altLang="zh-CN" b="1">
                <a:solidFill>
                  <a:srgbClr val="0000FF"/>
                </a:solidFill>
              </a:rPr>
              <a:t>CASE</a:t>
            </a:r>
            <a:r>
              <a:rPr lang="zh-CN" altLang="en-US" b="1" dirty="0">
                <a:solidFill>
                  <a:srgbClr val="0000FF"/>
                </a:solidFill>
              </a:rPr>
              <a:t>语句  补充</a:t>
            </a:r>
          </a:p>
        </p:txBody>
      </p:sp>
      <p:sp>
        <p:nvSpPr>
          <p:cNvPr id="186372" name="Text Box 3"/>
          <p:cNvSpPr txBox="1"/>
          <p:nvPr/>
        </p:nvSpPr>
        <p:spPr>
          <a:xfrm>
            <a:off x="1500188" y="1235075"/>
            <a:ext cx="6176962" cy="2835275"/>
          </a:xfrm>
          <a:prstGeom prst="rect">
            <a:avLst/>
          </a:prstGeom>
          <a:noFill/>
          <a:ln w="12700" cap="flat" cmpd="sng">
            <a:solidFill>
              <a:srgbClr val="FFFFFF"/>
            </a:solidFill>
            <a:prstDash val="solid"/>
            <a:miter/>
            <a:headEnd type="none" w="med" len="med"/>
            <a:tailEnd type="none" w="med" len="med"/>
          </a:ln>
        </p:spPr>
        <p:txBody>
          <a:bodyPr>
            <a:spAutoFit/>
          </a:bodyPr>
          <a:lstStyle/>
          <a:p>
            <a:pPr algn="just" eaLnBrk="1" hangingPunct="1">
              <a:lnSpc>
                <a:spcPct val="80000"/>
              </a:lnSpc>
              <a:spcBef>
                <a:spcPct val="50000"/>
              </a:spcBef>
            </a:pPr>
            <a:r>
              <a:rPr lang="en-US" altLang="zh-CN" sz="1800">
                <a:solidFill>
                  <a:srgbClr val="0000FF"/>
                </a:solidFill>
                <a:latin typeface="华文新魏" panose="02010800040101010101" pitchFamily="2" charset="-122"/>
                <a:ea typeface="华文新魏" panose="02010800040101010101" pitchFamily="2" charset="-122"/>
              </a:rPr>
              <a:t>CASE</a:t>
            </a:r>
            <a:r>
              <a:rPr lang="zh-CN" altLang="en-US" sz="1800" dirty="0">
                <a:solidFill>
                  <a:srgbClr val="0000FF"/>
                </a:solidFill>
                <a:latin typeface="华文新魏" panose="02010800040101010101" pitchFamily="2" charset="-122"/>
                <a:ea typeface="华文新魏" panose="02010800040101010101" pitchFamily="2" charset="-122"/>
              </a:rPr>
              <a:t>语句的一般格式为：</a:t>
            </a:r>
          </a:p>
          <a:p>
            <a:pPr algn="just" eaLnBrk="1" hangingPunct="1">
              <a:lnSpc>
                <a:spcPct val="80000"/>
              </a:lnSpc>
              <a:spcBef>
                <a:spcPct val="50000"/>
              </a:spcBef>
            </a:pP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CASE</a:t>
            </a:r>
            <a:r>
              <a:rPr lang="en-US" altLang="zh-CN" sz="1800">
                <a:solidFill>
                  <a:srgbClr val="FFFFFF"/>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条件表达式</a:t>
            </a:r>
            <a:r>
              <a:rPr lang="zh-CN" altLang="en-US" sz="1800" dirty="0">
                <a:solidFill>
                  <a:srgbClr val="FFFFFF"/>
                </a:solidFill>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IS</a:t>
            </a:r>
          </a:p>
          <a:p>
            <a:pPr algn="just" eaLnBrk="1" hangingPunct="1">
              <a:lnSpc>
                <a:spcPct val="80000"/>
              </a:lnSpc>
              <a:spcBef>
                <a:spcPct val="50000"/>
              </a:spcBef>
            </a:pPr>
            <a:r>
              <a:rPr lang="en-US" altLang="zh-CN" sz="1800">
                <a:solidFill>
                  <a:srgbClr val="FFFFFF"/>
                </a:solidFill>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        WHEN</a:t>
            </a:r>
            <a:r>
              <a:rPr lang="en-US" altLang="zh-CN" sz="1800">
                <a:solidFill>
                  <a:srgbClr val="FFFFFF"/>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条件表达式的值</a:t>
            </a:r>
            <a:r>
              <a:rPr lang="en-US" altLang="zh-CN" sz="1800">
                <a:solidFill>
                  <a:schemeClr val="tx1"/>
                </a:solidFill>
                <a:latin typeface="华文新魏" panose="02010800040101010101" pitchFamily="2" charset="-122"/>
                <a:ea typeface="华文新魏" panose="02010800040101010101" pitchFamily="2" charset="-122"/>
              </a:rPr>
              <a:t>1 =&gt;</a:t>
            </a:r>
          </a:p>
          <a:p>
            <a:pPr algn="just" eaLnBrk="1" hangingPunct="1">
              <a:lnSpc>
                <a:spcPct val="80000"/>
              </a:lnSpc>
              <a:spcBef>
                <a:spcPct val="50000"/>
              </a:spcBef>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顺序处理语句区</a:t>
            </a:r>
            <a:r>
              <a:rPr lang="en-US" altLang="zh-CN" sz="180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a:t>
            </a:r>
            <a:r>
              <a:rPr lang="zh-CN" altLang="en-US" sz="1800" dirty="0">
                <a:solidFill>
                  <a:srgbClr val="FFFFFF"/>
                </a:solidFill>
                <a:latin typeface="华文新魏" panose="02010800040101010101" pitchFamily="2" charset="-122"/>
                <a:ea typeface="华文新魏" panose="02010800040101010101" pitchFamily="2" charset="-122"/>
              </a:rPr>
              <a:t>；</a:t>
            </a:r>
          </a:p>
          <a:p>
            <a:pPr algn="just" eaLnBrk="1" hangingPunct="1">
              <a:lnSpc>
                <a:spcPct val="80000"/>
              </a:lnSpc>
              <a:spcBef>
                <a:spcPct val="50000"/>
              </a:spcBef>
            </a:pPr>
            <a:r>
              <a:rPr lang="zh-CN" altLang="en-US" sz="1800" dirty="0">
                <a:solidFill>
                  <a:srgbClr val="FF99CC"/>
                </a:solidFill>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WHEN</a:t>
            </a:r>
            <a:r>
              <a:rPr lang="en-US" altLang="zh-CN" sz="1800">
                <a:solidFill>
                  <a:srgbClr val="FFFFFF"/>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条件表达式的值</a:t>
            </a:r>
            <a:r>
              <a:rPr lang="en-US" altLang="zh-CN" sz="1800">
                <a:solidFill>
                  <a:schemeClr val="tx1"/>
                </a:solidFill>
                <a:latin typeface="华文新魏" panose="02010800040101010101" pitchFamily="2" charset="-122"/>
                <a:ea typeface="华文新魏" panose="02010800040101010101" pitchFamily="2" charset="-122"/>
              </a:rPr>
              <a:t>2 =&gt;</a:t>
            </a:r>
          </a:p>
          <a:p>
            <a:pPr algn="just" eaLnBrk="1" hangingPunct="1">
              <a:lnSpc>
                <a:spcPct val="80000"/>
              </a:lnSpc>
              <a:spcBef>
                <a:spcPct val="50000"/>
              </a:spcBef>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顺序处理语句区</a:t>
            </a:r>
            <a:r>
              <a:rPr lang="en-US" altLang="zh-CN" sz="1800">
                <a:solidFill>
                  <a:schemeClr val="tx1"/>
                </a:solidFill>
                <a:latin typeface="华文新魏" panose="02010800040101010101" pitchFamily="2" charset="-122"/>
                <a:ea typeface="华文新魏" panose="02010800040101010101" pitchFamily="2" charset="-122"/>
              </a:rPr>
              <a:t>2</a:t>
            </a:r>
            <a:r>
              <a:rPr lang="zh-CN" altLang="en-US" sz="1800" dirty="0">
                <a:solidFill>
                  <a:schemeClr val="tx1"/>
                </a:solidFill>
                <a:latin typeface="华文新魏" panose="02010800040101010101" pitchFamily="2" charset="-122"/>
                <a:ea typeface="华文新魏" panose="02010800040101010101" pitchFamily="2" charset="-122"/>
              </a:rPr>
              <a:t>；</a:t>
            </a:r>
            <a:r>
              <a:rPr lang="zh-CN" altLang="en-US" sz="1800" dirty="0">
                <a:solidFill>
                  <a:srgbClr val="FFFFFF"/>
                </a:solidFill>
                <a:latin typeface="华文新魏" panose="02010800040101010101" pitchFamily="2" charset="-122"/>
                <a:ea typeface="华文新魏" panose="02010800040101010101" pitchFamily="2" charset="-122"/>
              </a:rPr>
              <a:t>；</a:t>
            </a:r>
          </a:p>
          <a:p>
            <a:pPr algn="just" eaLnBrk="1" hangingPunct="1">
              <a:lnSpc>
                <a:spcPct val="80000"/>
              </a:lnSpc>
              <a:spcBef>
                <a:spcPct val="50000"/>
              </a:spcBef>
            </a:pPr>
            <a:r>
              <a:rPr lang="zh-CN" altLang="en-US" sz="1800" dirty="0">
                <a:solidFill>
                  <a:srgbClr val="FFFFFF"/>
                </a:solidFill>
                <a:latin typeface="华文新魏" panose="02010800040101010101" pitchFamily="2" charset="-122"/>
                <a:ea typeface="华文新魏" panose="02010800040101010101" pitchFamily="2" charset="-122"/>
              </a:rPr>
              <a:t>                           </a:t>
            </a:r>
            <a:r>
              <a:rPr lang="en-US" altLang="zh-CN" sz="1800">
                <a:solidFill>
                  <a:schemeClr val="tx1"/>
                </a:solidFill>
                <a:latin typeface="Times New Roman" panose="02020603050405020304" pitchFamily="18" charset="0"/>
                <a:ea typeface="华文新魏" panose="02010800040101010101" pitchFamily="2" charset="-122"/>
              </a:rPr>
              <a:t>…</a:t>
            </a:r>
            <a:endParaRPr lang="en-US" altLang="zh-CN" sz="1800">
              <a:solidFill>
                <a:srgbClr val="FFFFFF"/>
              </a:solidFill>
              <a:latin typeface="华文新魏" panose="02010800040101010101" pitchFamily="2" charset="-122"/>
              <a:ea typeface="华文新魏" panose="02010800040101010101" pitchFamily="2" charset="-122"/>
            </a:endParaRPr>
          </a:p>
          <a:p>
            <a:pPr eaLnBrk="1" hangingPunct="1">
              <a:lnSpc>
                <a:spcPct val="80000"/>
              </a:lnSpc>
              <a:spcBef>
                <a:spcPct val="50000"/>
              </a:spcBef>
            </a:pPr>
            <a:r>
              <a:rPr lang="en-US" altLang="zh-CN" sz="1800">
                <a:solidFill>
                  <a:srgbClr val="FFFFFF"/>
                </a:solidFill>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END CASE</a:t>
            </a:r>
            <a:r>
              <a:rPr lang="zh-CN" altLang="en-US" sz="1800" dirty="0">
                <a:solidFill>
                  <a:srgbClr val="FFFFFF"/>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 </a:t>
            </a:r>
          </a:p>
        </p:txBody>
      </p:sp>
      <p:sp>
        <p:nvSpPr>
          <p:cNvPr id="104452" name="Text Box 4"/>
          <p:cNvSpPr txBox="1"/>
          <p:nvPr/>
        </p:nvSpPr>
        <p:spPr>
          <a:xfrm>
            <a:off x="1403350" y="3508375"/>
            <a:ext cx="6176963" cy="1454150"/>
          </a:xfrm>
          <a:prstGeom prst="rect">
            <a:avLst/>
          </a:prstGeom>
          <a:solidFill>
            <a:schemeClr val="accent1"/>
          </a:solidFill>
          <a:ln w="28575" cap="sq" cmpd="sng">
            <a:solidFill>
              <a:srgbClr val="66FF66"/>
            </a:solidFill>
            <a:prstDash val="solid"/>
            <a:miter/>
            <a:headEnd type="none" w="sm" len="sm"/>
            <a:tailEnd type="none" w="sm" len="sm"/>
          </a:ln>
        </p:spPr>
        <p:txBody>
          <a:bodyPr>
            <a:spAutoFit/>
          </a:bodyPr>
          <a:lstStyle/>
          <a:p>
            <a:pPr eaLnBrk="1" hangingPunct="1">
              <a:spcBef>
                <a:spcPct val="50000"/>
              </a:spcBef>
            </a:pPr>
            <a:r>
              <a:rPr lang="en-US" altLang="zh-CN" sz="2100" i="1">
                <a:solidFill>
                  <a:srgbClr val="FF0000"/>
                </a:solidFill>
                <a:latin typeface="华文新魏" panose="02010800040101010101" pitchFamily="2" charset="-122"/>
                <a:ea typeface="华文新魏" panose="02010800040101010101" pitchFamily="2" charset="-122"/>
              </a:rPr>
              <a:t>CASE</a:t>
            </a:r>
            <a:r>
              <a:rPr lang="zh-CN" altLang="en-US" sz="2100" i="1" dirty="0">
                <a:solidFill>
                  <a:srgbClr val="FF0000"/>
                </a:solidFill>
                <a:latin typeface="华文新魏" panose="02010800040101010101" pitchFamily="2" charset="-122"/>
                <a:ea typeface="华文新魏" panose="02010800040101010101" pitchFamily="2" charset="-122"/>
              </a:rPr>
              <a:t>语句</a:t>
            </a:r>
            <a:r>
              <a:rPr lang="zh-CN" altLang="en-US" sz="1800" dirty="0">
                <a:solidFill>
                  <a:schemeClr val="tx1"/>
                </a:solidFill>
                <a:latin typeface="华文新魏" panose="02010800040101010101" pitchFamily="2" charset="-122"/>
                <a:ea typeface="华文新魏" panose="02010800040101010101" pitchFamily="2" charset="-122"/>
              </a:rPr>
              <a:t>可以用来描述总线或编码、译码的行为，其功能是从众多不同语句的序列中选择其中之一执行之。</a:t>
            </a:r>
          </a:p>
          <a:p>
            <a:pPr eaLnBrk="1" hangingPunct="1">
              <a:spcBef>
                <a:spcPct val="50000"/>
              </a:spcBef>
            </a:pPr>
            <a:r>
              <a:rPr lang="en-US" altLang="zh-CN" sz="2100" i="1">
                <a:solidFill>
                  <a:srgbClr val="FF0000"/>
                </a:solidFill>
                <a:latin typeface="华文新魏" panose="02010800040101010101" pitchFamily="2" charset="-122"/>
                <a:ea typeface="华文新魏" panose="02010800040101010101" pitchFamily="2" charset="-122"/>
              </a:rPr>
              <a:t>IF</a:t>
            </a:r>
            <a:r>
              <a:rPr lang="zh-CN" altLang="en-US" sz="2100" i="1" dirty="0">
                <a:solidFill>
                  <a:srgbClr val="FF0000"/>
                </a:solidFill>
                <a:latin typeface="华文新魏" panose="02010800040101010101" pitchFamily="2" charset="-122"/>
                <a:ea typeface="华文新魏" panose="02010800040101010101" pitchFamily="2" charset="-122"/>
              </a:rPr>
              <a:t>语句</a:t>
            </a:r>
            <a:r>
              <a:rPr lang="zh-CN" altLang="en-US" sz="1800" dirty="0">
                <a:solidFill>
                  <a:schemeClr val="tx1"/>
                </a:solidFill>
                <a:latin typeface="华文新魏" panose="02010800040101010101" pitchFamily="2" charset="-122"/>
                <a:ea typeface="华文新魏" panose="02010800040101010101" pitchFamily="2" charset="-122"/>
              </a:rPr>
              <a:t>也具有类似的功能，但</a:t>
            </a:r>
            <a:r>
              <a:rPr lang="en-US" altLang="zh-CN" sz="1800" i="1">
                <a:solidFill>
                  <a:srgbClr val="FF0000"/>
                </a:solidFill>
                <a:latin typeface="华文新魏" panose="02010800040101010101" pitchFamily="2" charset="-122"/>
                <a:ea typeface="华文新魏" panose="02010800040101010101" pitchFamily="2" charset="-122"/>
              </a:rPr>
              <a:t>CASE</a:t>
            </a:r>
            <a:r>
              <a:rPr lang="zh-CN" altLang="en-US" sz="1800" i="1" dirty="0">
                <a:solidFill>
                  <a:srgbClr val="FF0000"/>
                </a:solidFill>
                <a:latin typeface="华文新魏" panose="02010800040101010101" pitchFamily="2" charset="-122"/>
                <a:ea typeface="华文新魏" panose="02010800040101010101" pitchFamily="2" charset="-122"/>
              </a:rPr>
              <a:t>语句</a:t>
            </a:r>
            <a:r>
              <a:rPr lang="zh-CN" altLang="en-US" sz="1800" dirty="0">
                <a:solidFill>
                  <a:schemeClr val="tx1"/>
                </a:solidFill>
                <a:latin typeface="华文新魏" panose="02010800040101010101" pitchFamily="2" charset="-122"/>
                <a:ea typeface="华文新魏" panose="02010800040101010101" pitchFamily="2" charset="-122"/>
              </a:rPr>
              <a:t>具有比</a:t>
            </a:r>
            <a:r>
              <a:rPr lang="en-US" altLang="zh-CN" sz="1800" i="1">
                <a:solidFill>
                  <a:srgbClr val="FF0000"/>
                </a:solidFill>
                <a:latin typeface="华文新魏" panose="02010800040101010101" pitchFamily="2" charset="-122"/>
                <a:ea typeface="华文新魏" panose="02010800040101010101" pitchFamily="2" charset="-122"/>
              </a:rPr>
              <a:t>IF</a:t>
            </a:r>
            <a:r>
              <a:rPr lang="zh-CN" altLang="en-US" sz="1800" i="1" dirty="0">
                <a:solidFill>
                  <a:srgbClr val="FF0000"/>
                </a:solidFill>
                <a:latin typeface="华文新魏" panose="02010800040101010101" pitchFamily="2" charset="-122"/>
                <a:ea typeface="华文新魏" panose="02010800040101010101" pitchFamily="2" charset="-122"/>
              </a:rPr>
              <a:t>语句</a:t>
            </a:r>
            <a:r>
              <a:rPr lang="zh-CN" altLang="en-US" sz="1800" dirty="0">
                <a:solidFill>
                  <a:schemeClr val="tx1"/>
                </a:solidFill>
                <a:latin typeface="华文新魏" panose="02010800040101010101" pitchFamily="2" charset="-122"/>
                <a:ea typeface="华文新魏" panose="02010800040101010101" pitchFamily="2" charset="-122"/>
              </a:rPr>
              <a:t>更强的可读性。</a:t>
            </a:r>
          </a:p>
        </p:txBody>
      </p:sp>
      <p:sp>
        <p:nvSpPr>
          <p:cNvPr id="186374" name="AutoShape 5"/>
          <p:cNvSpPr/>
          <p:nvPr/>
        </p:nvSpPr>
        <p:spPr>
          <a:xfrm>
            <a:off x="6124575" y="74613"/>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Times New Roman" panose="02020603050405020304" pitchFamily="18" charset="0"/>
              </a:rPr>
              <a:t>顺序描述语句</a:t>
            </a:r>
          </a:p>
        </p:txBody>
      </p:sp>
      <p:sp>
        <p:nvSpPr>
          <p:cNvPr id="2" name="文本框 1"/>
          <p:cNvSpPr txBox="1"/>
          <p:nvPr/>
        </p:nvSpPr>
        <p:spPr>
          <a:xfrm>
            <a:off x="5960133" y="987574"/>
            <a:ext cx="3240360" cy="400110"/>
          </a:xfrm>
          <a:prstGeom prst="rect">
            <a:avLst/>
          </a:prstGeom>
          <a:noFill/>
        </p:spPr>
        <p:txBody>
          <a:bodyPr wrap="square" rtlCol="0">
            <a:spAutoFit/>
          </a:bodyPr>
          <a:lstStyle/>
          <a:p>
            <a:r>
              <a:rPr lang="en-US" altLang="zh-CN"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case</a:t>
            </a:r>
            <a:r>
              <a:rPr lang="zh-CN" altLang="en-US"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语句和</a:t>
            </a:r>
            <a:r>
              <a:rPr lang="en-US" altLang="zh-CN"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if</a:t>
            </a:r>
            <a:r>
              <a:rPr lang="zh-CN" altLang="en-US"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语句的区别？</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animBg="1"/>
      <p:bldP spid="2" grpId="0"/>
      <p:bldP spid="2"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灯片编号占位符 3"/>
          <p:cNvSpPr txBox="1">
            <a:spLocks noGrp="1"/>
          </p:cNvSpPr>
          <p:nvPr>
            <p:ph type="sldNum" sz="quarter" idx="12"/>
          </p:nvPr>
        </p:nvSpPr>
        <p:spPr>
          <a:xfrm>
            <a:off x="6457950" y="5105400"/>
            <a:ext cx="2057400" cy="274638"/>
          </a:xfrm>
        </p:spPr>
        <p:txBody>
          <a:bodyPr anchor="ctr"/>
          <a:lstStyle>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stStyle>
          <a:p>
            <a:pPr lvl="0" algn="r" eaLnBrk="1" hangingPunct="1">
              <a:buFont typeface="Arial" panose="020B0604020202020204" pitchFamily="34" charset="0"/>
            </a:pPr>
            <a:fld id="{9A0DB2DC-4C9A-4742-B13C-FB6460FD3503}" type="slidenum">
              <a:rPr lang="en-US" altLang="zh-CN" sz="1400">
                <a:solidFill>
                  <a:schemeClr val="tx1"/>
                </a:solidFill>
                <a:latin typeface="Arial" panose="020B0604020202020204" pitchFamily="34" charset="0"/>
              </a:rPr>
              <a:t>70</a:t>
            </a:fld>
            <a:endParaRPr lang="en-US" altLang="zh-CN" sz="1400">
              <a:solidFill>
                <a:schemeClr val="tx1"/>
              </a:solidFill>
              <a:latin typeface="Arial" panose="020B0604020202020204" pitchFamily="34" charset="0"/>
            </a:endParaRPr>
          </a:p>
        </p:txBody>
      </p:sp>
      <p:sp>
        <p:nvSpPr>
          <p:cNvPr id="187395" name="Text Box 2"/>
          <p:cNvSpPr txBox="1"/>
          <p:nvPr/>
        </p:nvSpPr>
        <p:spPr>
          <a:xfrm>
            <a:off x="1365250" y="411163"/>
            <a:ext cx="6534150" cy="1504950"/>
          </a:xfrm>
          <a:prstGeom prst="rect">
            <a:avLst/>
          </a:prstGeom>
          <a:noFill/>
          <a:ln w="9525">
            <a:noFill/>
          </a:ln>
        </p:spPr>
        <p:txBody>
          <a:bodyPr>
            <a:spAutoFit/>
          </a:bodyPr>
          <a:lstStyle/>
          <a:p>
            <a:pPr eaLnBrk="1" hangingPunct="1">
              <a:lnSpc>
                <a:spcPct val="110000"/>
              </a:lnSpc>
            </a:pPr>
            <a:r>
              <a:rPr lang="zh-CN" altLang="en-US" sz="1400" dirty="0">
                <a:solidFill>
                  <a:srgbClr val="FF0000"/>
                </a:solidFill>
                <a:latin typeface="华文新魏" panose="02010800040101010101" pitchFamily="2" charset="-122"/>
                <a:ea typeface="华文新魏" panose="02010800040101010101" pitchFamily="2" charset="-122"/>
              </a:rPr>
              <a:t>例： </a:t>
            </a:r>
            <a:r>
              <a:rPr lang="en-US" altLang="zh-CN" sz="1400">
                <a:solidFill>
                  <a:srgbClr val="FF0000"/>
                </a:solidFill>
                <a:latin typeface="华文新魏" panose="02010800040101010101" pitchFamily="2" charset="-122"/>
                <a:ea typeface="华文新魏" panose="02010800040101010101" pitchFamily="2" charset="-122"/>
              </a:rPr>
              <a:t>4</a:t>
            </a:r>
            <a:r>
              <a:rPr lang="zh-CN" altLang="en-US" sz="1400" dirty="0">
                <a:solidFill>
                  <a:srgbClr val="FF0000"/>
                </a:solidFill>
                <a:latin typeface="华文新魏" panose="02010800040101010101" pitchFamily="2" charset="-122"/>
                <a:ea typeface="华文新魏" panose="02010800040101010101" pitchFamily="2" charset="-122"/>
              </a:rPr>
              <a:t>选</a:t>
            </a:r>
            <a:r>
              <a:rPr lang="en-US" altLang="zh-CN" sz="1400">
                <a:solidFill>
                  <a:srgbClr val="FF0000"/>
                </a:solidFill>
                <a:latin typeface="华文新魏" panose="02010800040101010101" pitchFamily="2" charset="-122"/>
                <a:ea typeface="华文新魏" panose="02010800040101010101" pitchFamily="2" charset="-122"/>
              </a:rPr>
              <a:t>1</a:t>
            </a:r>
            <a:r>
              <a:rPr lang="zh-CN" altLang="en-US" sz="1400" dirty="0">
                <a:solidFill>
                  <a:srgbClr val="FF0000"/>
                </a:solidFill>
                <a:latin typeface="华文新魏" panose="02010800040101010101" pitchFamily="2" charset="-122"/>
                <a:ea typeface="华文新魏" panose="02010800040101010101" pitchFamily="2" charset="-122"/>
              </a:rPr>
              <a:t>多路选择器</a:t>
            </a:r>
          </a:p>
          <a:p>
            <a:pPr eaLnBrk="1" hangingPunct="1">
              <a:lnSpc>
                <a:spcPct val="110000"/>
              </a:lnSpc>
            </a:pPr>
            <a:r>
              <a:rPr lang="en-US" altLang="zh-CN" sz="1400">
                <a:solidFill>
                  <a:srgbClr val="0000FF"/>
                </a:solidFill>
                <a:latin typeface="华文新魏" panose="02010800040101010101" pitchFamily="2" charset="-122"/>
                <a:ea typeface="华文新魏" panose="02010800040101010101" pitchFamily="2" charset="-122"/>
              </a:rPr>
              <a:t>ENTITY</a:t>
            </a:r>
            <a:r>
              <a:rPr lang="en-US" altLang="zh-CN" sz="1400">
                <a:solidFill>
                  <a:schemeClr val="tx1"/>
                </a:solidFill>
                <a:latin typeface="华文新魏" panose="02010800040101010101" pitchFamily="2" charset="-122"/>
                <a:ea typeface="华文新魏" panose="02010800040101010101" pitchFamily="2" charset="-122"/>
              </a:rPr>
              <a:t> mux4_1 </a:t>
            </a:r>
            <a:r>
              <a:rPr lang="en-US" altLang="zh-CN" sz="1400">
                <a:solidFill>
                  <a:srgbClr val="0000FF"/>
                </a:solidFill>
                <a:latin typeface="华文新魏" panose="02010800040101010101" pitchFamily="2" charset="-122"/>
                <a:ea typeface="华文新魏" panose="02010800040101010101" pitchFamily="2" charset="-122"/>
              </a:rPr>
              <a:t>IS</a:t>
            </a:r>
          </a:p>
          <a:p>
            <a:pPr eaLnBrk="1" hangingPunct="1">
              <a:lnSpc>
                <a:spcPct val="110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err="1">
                <a:solidFill>
                  <a:srgbClr val="0000FF"/>
                </a:solidFill>
                <a:latin typeface="华文新魏" panose="02010800040101010101" pitchFamily="2" charset="-122"/>
                <a:ea typeface="华文新魏" panose="02010800040101010101" pitchFamily="2" charset="-122"/>
              </a:rPr>
              <a:t>PORT</a:t>
            </a:r>
            <a:r>
              <a:rPr lang="en-US" altLang="zh-CN" sz="1400" err="1">
                <a:solidFill>
                  <a:schemeClr val="tx1"/>
                </a:solidFill>
                <a:latin typeface="华文新魏" panose="02010800040101010101" pitchFamily="2" charset="-122"/>
                <a:ea typeface="华文新魏" panose="02010800040101010101" pitchFamily="2" charset="-122"/>
              </a:rPr>
              <a:t>(d</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FF99CC"/>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IN</a:t>
            </a:r>
            <a:r>
              <a:rPr lang="en-US" altLang="zh-CN" sz="1400">
                <a:solidFill>
                  <a:schemeClr val="tx1"/>
                </a:solidFill>
                <a:latin typeface="华文新魏" panose="02010800040101010101" pitchFamily="2" charset="-122"/>
                <a:ea typeface="华文新魏" panose="02010800040101010101" pitchFamily="2" charset="-122"/>
              </a:rPr>
              <a:t>	STD_LOGIC_VECTOR(3 DOWNTO 0);</a:t>
            </a:r>
          </a:p>
          <a:p>
            <a:pPr eaLnBrk="1" hangingPunct="1">
              <a:lnSpc>
                <a:spcPct val="110000"/>
              </a:lnSpc>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err="1">
                <a:solidFill>
                  <a:schemeClr val="tx1"/>
                </a:solidFill>
                <a:latin typeface="华文新魏" panose="02010800040101010101" pitchFamily="2" charset="-122"/>
                <a:ea typeface="华文新魏" panose="02010800040101010101" pitchFamily="2" charset="-122"/>
              </a:rPr>
              <a:t>sel</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FF99CC"/>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IN</a:t>
            </a:r>
            <a:r>
              <a:rPr lang="en-US" altLang="zh-CN" sz="1400">
                <a:solidFill>
                  <a:schemeClr val="tx1"/>
                </a:solidFill>
                <a:latin typeface="华文新魏" panose="02010800040101010101" pitchFamily="2" charset="-122"/>
                <a:ea typeface="华文新魏" panose="02010800040101010101" pitchFamily="2" charset="-122"/>
              </a:rPr>
              <a:t>	STD_LOGIC_VECTOR(1 DOWNTO 0);</a:t>
            </a:r>
          </a:p>
          <a:p>
            <a:pPr eaLnBrk="1" hangingPunct="1">
              <a:lnSpc>
                <a:spcPct val="110000"/>
              </a:lnSpc>
            </a:pPr>
            <a:r>
              <a:rPr lang="en-US" altLang="zh-CN" sz="1400">
                <a:solidFill>
                  <a:schemeClr val="tx1"/>
                </a:solidFill>
                <a:latin typeface="华文新魏" panose="02010800040101010101" pitchFamily="2" charset="-122"/>
                <a:ea typeface="华文新魏" panose="02010800040101010101" pitchFamily="2" charset="-122"/>
              </a:rPr>
              <a:t>	           y	    : </a:t>
            </a:r>
            <a:r>
              <a:rPr lang="en-US" altLang="zh-CN" sz="1400">
                <a:solidFill>
                  <a:srgbClr val="0000FF"/>
                </a:solidFill>
                <a:latin typeface="华文新魏" panose="02010800040101010101" pitchFamily="2" charset="-122"/>
                <a:ea typeface="华文新魏" panose="02010800040101010101" pitchFamily="2" charset="-122"/>
              </a:rPr>
              <a:t>OUT	</a:t>
            </a:r>
            <a:r>
              <a:rPr lang="en-US" altLang="zh-CN" sz="1400">
                <a:solidFill>
                  <a:schemeClr val="tx1"/>
                </a:solidFill>
                <a:latin typeface="华文新魏" panose="02010800040101010101" pitchFamily="2" charset="-122"/>
                <a:ea typeface="华文新魏" panose="02010800040101010101" pitchFamily="2" charset="-122"/>
              </a:rPr>
              <a:t>  STD_LOGIC);</a:t>
            </a:r>
          </a:p>
          <a:p>
            <a:pPr eaLnBrk="1" hangingPunct="1">
              <a:lnSpc>
                <a:spcPct val="110000"/>
              </a:lnSpc>
            </a:pPr>
            <a:r>
              <a:rPr lang="en-US" altLang="zh-CN" sz="1400">
                <a:solidFill>
                  <a:srgbClr val="0000FF"/>
                </a:solidFill>
                <a:latin typeface="华文新魏" panose="02010800040101010101" pitchFamily="2" charset="-122"/>
                <a:ea typeface="华文新魏" panose="02010800040101010101" pitchFamily="2" charset="-122"/>
              </a:rPr>
              <a:t>END</a:t>
            </a:r>
            <a:r>
              <a:rPr lang="en-US" altLang="zh-CN" sz="1400">
                <a:solidFill>
                  <a:schemeClr val="tx1"/>
                </a:solidFill>
                <a:latin typeface="华文新魏" panose="02010800040101010101" pitchFamily="2" charset="-122"/>
                <a:ea typeface="华文新魏" panose="02010800040101010101" pitchFamily="2" charset="-122"/>
              </a:rPr>
              <a:t> mux4_1;</a:t>
            </a:r>
          </a:p>
        </p:txBody>
      </p:sp>
      <p:sp>
        <p:nvSpPr>
          <p:cNvPr id="157704" name="Rectangle 8"/>
          <p:cNvSpPr/>
          <p:nvPr/>
        </p:nvSpPr>
        <p:spPr>
          <a:xfrm>
            <a:off x="1258888" y="1779588"/>
            <a:ext cx="6391275" cy="3409950"/>
          </a:xfrm>
          <a:prstGeom prst="rect">
            <a:avLst/>
          </a:prstGeom>
          <a:noFill/>
          <a:ln w="9525">
            <a:noFill/>
          </a:ln>
        </p:spPr>
        <p:txBody>
          <a:bodyPr>
            <a:spAutoFit/>
          </a:bodyPr>
          <a:lstStyle/>
          <a:p>
            <a:pPr marL="342900" indent="-342900" eaLnBrk="1" hangingPunct="1">
              <a:spcBef>
                <a:spcPct val="20000"/>
              </a:spcBef>
            </a:pPr>
            <a:r>
              <a:rPr lang="en-US" altLang="zh-CN" sz="1400">
                <a:solidFill>
                  <a:srgbClr val="0000FF"/>
                </a:solidFill>
                <a:latin typeface="华文新魏" panose="02010800040101010101" pitchFamily="2" charset="-122"/>
                <a:ea typeface="华文新魏" panose="02010800040101010101" pitchFamily="2" charset="-122"/>
              </a:rPr>
              <a:t>ARCHITECTURE</a:t>
            </a:r>
            <a:r>
              <a:rPr lang="en-US" altLang="zh-CN" sz="1400">
                <a:solidFill>
                  <a:schemeClr val="tx1"/>
                </a:solidFill>
                <a:latin typeface="华文新魏" panose="02010800040101010101" pitchFamily="2" charset="-122"/>
                <a:ea typeface="华文新魏" panose="02010800040101010101" pitchFamily="2" charset="-122"/>
              </a:rPr>
              <a:t> arch </a:t>
            </a:r>
            <a:r>
              <a:rPr lang="en-US" altLang="zh-CN" sz="1400">
                <a:solidFill>
                  <a:srgbClr val="0000FF"/>
                </a:solidFill>
                <a:latin typeface="华文新魏" panose="02010800040101010101" pitchFamily="2" charset="-122"/>
                <a:ea typeface="华文新魏" panose="02010800040101010101" pitchFamily="2" charset="-122"/>
              </a:rPr>
              <a:t>OF </a:t>
            </a:r>
            <a:r>
              <a:rPr lang="en-US" altLang="zh-CN" sz="1400">
                <a:solidFill>
                  <a:schemeClr val="tx1"/>
                </a:solidFill>
                <a:latin typeface="华文新魏" panose="02010800040101010101" pitchFamily="2" charset="-122"/>
                <a:ea typeface="华文新魏" panose="02010800040101010101" pitchFamily="2" charset="-122"/>
              </a:rPr>
              <a:t>mux4_1 </a:t>
            </a:r>
            <a:r>
              <a:rPr lang="en-US" altLang="zh-CN" sz="1400">
                <a:solidFill>
                  <a:srgbClr val="0000FF"/>
                </a:solidFill>
                <a:latin typeface="华文新魏" panose="02010800040101010101" pitchFamily="2" charset="-122"/>
                <a:ea typeface="华文新魏" panose="02010800040101010101" pitchFamily="2" charset="-122"/>
              </a:rPr>
              <a:t>IS</a:t>
            </a:r>
          </a:p>
          <a:p>
            <a:pPr marL="342900" indent="-342900" eaLnBrk="1" hangingPunct="1">
              <a:spcBef>
                <a:spcPct val="20000"/>
              </a:spcBef>
            </a:pPr>
            <a:r>
              <a:rPr lang="en-US" altLang="zh-CN" sz="1400">
                <a:solidFill>
                  <a:srgbClr val="0000FF"/>
                </a:solidFill>
                <a:latin typeface="华文新魏" panose="02010800040101010101" pitchFamily="2" charset="-122"/>
                <a:ea typeface="华文新魏" panose="02010800040101010101" pitchFamily="2" charset="-122"/>
              </a:rPr>
              <a:t>BEGIN</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PROCESS</a:t>
            </a:r>
            <a:r>
              <a:rPr lang="en-US" altLang="zh-CN" sz="1400">
                <a:solidFill>
                  <a:schemeClr val="tx1"/>
                </a:solidFill>
                <a:latin typeface="华文新魏" panose="02010800040101010101" pitchFamily="2" charset="-122"/>
                <a:ea typeface="华文新魏" panose="02010800040101010101" pitchFamily="2" charset="-122"/>
              </a:rPr>
              <a:t> (d, </a:t>
            </a:r>
            <a:r>
              <a:rPr lang="en-US" altLang="zh-CN" sz="1400" err="1">
                <a:solidFill>
                  <a:schemeClr val="tx1"/>
                </a:solidFill>
                <a:latin typeface="华文新魏" panose="02010800040101010101" pitchFamily="2" charset="-122"/>
                <a:ea typeface="华文新魏" panose="02010800040101010101" pitchFamily="2" charset="-122"/>
              </a:rPr>
              <a:t>sel</a:t>
            </a:r>
            <a:r>
              <a:rPr lang="en-US" altLang="zh-CN" sz="1400">
                <a:solidFill>
                  <a:schemeClr val="tx1"/>
                </a:solidFill>
                <a:latin typeface="华文新魏" panose="02010800040101010101" pitchFamily="2" charset="-122"/>
                <a:ea typeface="华文新魏" panose="02010800040101010101" pitchFamily="2" charset="-122"/>
              </a:rPr>
              <a:t>)</a:t>
            </a:r>
          </a:p>
          <a:p>
            <a:pPr marL="342900" indent="-342900" eaLnBrk="1" hangingPunct="1">
              <a:spcBef>
                <a:spcPct val="20000"/>
              </a:spcBef>
            </a:pPr>
            <a:r>
              <a:rPr lang="en-US" altLang="zh-CN" sz="1400">
                <a:solidFill>
                  <a:srgbClr val="0000FF"/>
                </a:solidFill>
                <a:latin typeface="华文新魏" panose="02010800040101010101" pitchFamily="2" charset="-122"/>
                <a:ea typeface="华文新魏" panose="02010800040101010101" pitchFamily="2" charset="-122"/>
              </a:rPr>
              <a:t>	BEGIN</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CASE </a:t>
            </a:r>
            <a:r>
              <a:rPr lang="en-US" altLang="zh-CN" sz="1400" err="1">
                <a:solidFill>
                  <a:schemeClr val="tx1"/>
                </a:solidFill>
                <a:latin typeface="华文新魏" panose="02010800040101010101" pitchFamily="2" charset="-122"/>
                <a:ea typeface="华文新魏" panose="02010800040101010101" pitchFamily="2" charset="-122"/>
              </a:rPr>
              <a:t>sel</a:t>
            </a: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IS</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WHEN</a:t>
            </a:r>
            <a:r>
              <a:rPr lang="en-US" altLang="zh-CN" sz="1400">
                <a:solidFill>
                  <a:schemeClr val="tx1"/>
                </a:solidFill>
                <a:latin typeface="华文新魏" panose="02010800040101010101" pitchFamily="2" charset="-122"/>
                <a:ea typeface="华文新魏" panose="02010800040101010101" pitchFamily="2" charset="-122"/>
              </a:rPr>
              <a:t> "00"  =&gt; y&lt;=d(0);</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WHEN</a:t>
            </a:r>
            <a:r>
              <a:rPr lang="en-US" altLang="zh-CN" sz="1400">
                <a:solidFill>
                  <a:schemeClr val="tx1"/>
                </a:solidFill>
                <a:latin typeface="华文新魏" panose="02010800040101010101" pitchFamily="2" charset="-122"/>
                <a:ea typeface="华文新魏" panose="02010800040101010101" pitchFamily="2" charset="-122"/>
              </a:rPr>
              <a:t> "01"   =&gt; y&lt;=d(1);</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WHEN</a:t>
            </a:r>
            <a:r>
              <a:rPr lang="en-US" altLang="zh-CN" sz="1400">
                <a:solidFill>
                  <a:schemeClr val="tx1"/>
                </a:solidFill>
                <a:latin typeface="华文新魏" panose="02010800040101010101" pitchFamily="2" charset="-122"/>
                <a:ea typeface="华文新魏" panose="02010800040101010101" pitchFamily="2" charset="-122"/>
              </a:rPr>
              <a:t> "10"   =&gt; y&lt;=d(2);</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WHEN</a:t>
            </a:r>
            <a:r>
              <a:rPr lang="en-US" altLang="zh-CN" sz="1400">
                <a:solidFill>
                  <a:schemeClr val="tx1"/>
                </a:solidFill>
                <a:latin typeface="华文新魏" panose="02010800040101010101" pitchFamily="2" charset="-122"/>
                <a:ea typeface="华文新魏" panose="02010800040101010101" pitchFamily="2" charset="-122"/>
              </a:rPr>
              <a:t> "11” =&gt; y&lt;=d(3);</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WHEN OTHERS</a:t>
            </a:r>
            <a:r>
              <a:rPr lang="en-US" altLang="zh-CN" sz="1400">
                <a:solidFill>
                  <a:schemeClr val="tx1"/>
                </a:solidFill>
                <a:latin typeface="华文新魏" panose="02010800040101010101" pitchFamily="2" charset="-122"/>
                <a:ea typeface="华文新魏" panose="02010800040101010101" pitchFamily="2" charset="-122"/>
              </a:rPr>
              <a:t> =&gt;  y&lt;=‘X';</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END CASE</a:t>
            </a:r>
            <a:r>
              <a:rPr lang="en-US" altLang="zh-CN" sz="1400">
                <a:solidFill>
                  <a:schemeClr val="tx1"/>
                </a:solidFill>
                <a:latin typeface="华文新魏" panose="02010800040101010101" pitchFamily="2" charset="-122"/>
                <a:ea typeface="华文新魏" panose="02010800040101010101" pitchFamily="2" charset="-122"/>
              </a:rPr>
              <a:t>;</a:t>
            </a:r>
          </a:p>
          <a:p>
            <a:pPr marL="342900" indent="-342900" eaLnBrk="1" hangingPunct="1">
              <a:spcBef>
                <a:spcPct val="20000"/>
              </a:spcBef>
            </a:pPr>
            <a:r>
              <a:rPr lang="en-US" altLang="zh-CN" sz="1400">
                <a:solidFill>
                  <a:schemeClr val="tx1"/>
                </a:solidFill>
                <a:latin typeface="华文新魏" panose="02010800040101010101" pitchFamily="2" charset="-122"/>
                <a:ea typeface="华文新魏" panose="02010800040101010101" pitchFamily="2" charset="-122"/>
              </a:rPr>
              <a:t>	</a:t>
            </a:r>
            <a:r>
              <a:rPr lang="en-US" altLang="zh-CN" sz="1400">
                <a:solidFill>
                  <a:srgbClr val="0000FF"/>
                </a:solidFill>
                <a:latin typeface="华文新魏" panose="02010800040101010101" pitchFamily="2" charset="-122"/>
                <a:ea typeface="华文新魏" panose="02010800040101010101" pitchFamily="2" charset="-122"/>
              </a:rPr>
              <a:t>END PROCESS</a:t>
            </a:r>
            <a:r>
              <a:rPr lang="en-US" altLang="zh-CN" sz="1400">
                <a:solidFill>
                  <a:schemeClr val="tx1"/>
                </a:solidFill>
                <a:latin typeface="华文新魏" panose="02010800040101010101" pitchFamily="2" charset="-122"/>
                <a:ea typeface="华文新魏" panose="02010800040101010101" pitchFamily="2" charset="-122"/>
              </a:rPr>
              <a:t>;</a:t>
            </a:r>
          </a:p>
          <a:p>
            <a:pPr marL="342900" indent="-342900" eaLnBrk="1" hangingPunct="1">
              <a:spcBef>
                <a:spcPct val="20000"/>
              </a:spcBef>
            </a:pPr>
            <a:r>
              <a:rPr lang="en-US" altLang="zh-CN" sz="1400">
                <a:solidFill>
                  <a:srgbClr val="0000FF"/>
                </a:solidFill>
                <a:latin typeface="华文新魏" panose="02010800040101010101" pitchFamily="2" charset="-122"/>
                <a:ea typeface="华文新魏" panose="02010800040101010101" pitchFamily="2" charset="-122"/>
              </a:rPr>
              <a:t>END</a:t>
            </a:r>
            <a:r>
              <a:rPr lang="en-US" altLang="zh-CN" sz="1400">
                <a:solidFill>
                  <a:schemeClr val="tx1"/>
                </a:solidFill>
                <a:latin typeface="华文新魏" panose="02010800040101010101" pitchFamily="2" charset="-122"/>
                <a:ea typeface="华文新魏" panose="02010800040101010101" pitchFamily="2" charset="-122"/>
              </a:rPr>
              <a:t> arch;</a:t>
            </a:r>
          </a:p>
        </p:txBody>
      </p:sp>
      <p:sp>
        <p:nvSpPr>
          <p:cNvPr id="187397" name="Text Box 10"/>
          <p:cNvSpPr txBox="1"/>
          <p:nvPr/>
        </p:nvSpPr>
        <p:spPr>
          <a:xfrm>
            <a:off x="6172200" y="4098925"/>
            <a:ext cx="1466850" cy="307975"/>
          </a:xfrm>
          <a:prstGeom prst="rect">
            <a:avLst/>
          </a:prstGeom>
          <a:noFill/>
          <a:ln w="28575">
            <a:noFill/>
          </a:ln>
        </p:spPr>
        <p:txBody>
          <a:bodyPr>
            <a:spAutoFit/>
          </a:bodyPr>
          <a:lstStyle/>
          <a:p>
            <a:pPr eaLnBrk="1" hangingPunct="1">
              <a:spcBef>
                <a:spcPct val="50000"/>
              </a:spcBef>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3" name="矩形标注 2"/>
          <p:cNvSpPr/>
          <p:nvPr/>
        </p:nvSpPr>
        <p:spPr>
          <a:xfrm>
            <a:off x="6228080" y="3796030"/>
            <a:ext cx="871855" cy="488315"/>
          </a:xfrm>
          <a:prstGeom prst="wedgeRectCallout">
            <a:avLst>
              <a:gd name="adj1" fmla="val -115477"/>
              <a:gd name="adj2" fmla="val 3517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4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‘X’</a:t>
            </a:r>
            <a:r>
              <a:rPr kumimoji="0" lang="zh-CN" altLang="en-US" sz="14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是什么？</a:t>
            </a:r>
          </a:p>
        </p:txBody>
      </p:sp>
      <p:sp>
        <p:nvSpPr>
          <p:cNvPr id="4" name="文本框 3"/>
          <p:cNvSpPr txBox="1"/>
          <p:nvPr/>
        </p:nvSpPr>
        <p:spPr>
          <a:xfrm>
            <a:off x="7273968" y="3717021"/>
            <a:ext cx="1869122" cy="646331"/>
          </a:xfrm>
          <a:prstGeom prst="rect">
            <a:avLst/>
          </a:prstGeom>
          <a:noFill/>
        </p:spPr>
        <p:txBody>
          <a:bodyPr wrap="square" rtlCol="0">
            <a:spAutoFit/>
          </a:bodyPr>
          <a:lstStyle/>
          <a:p>
            <a:r>
              <a:rPr lang="en-US" altLang="zh-CN" sz="1800" dirty="0" err="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std_logic</a:t>
            </a: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的</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9</a:t>
            </a: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种取值之一，不定态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704"/>
                                        </p:tgtEl>
                                        <p:attrNameLst>
                                          <p:attrName>style.visibility</p:attrName>
                                        </p:attrNameLst>
                                      </p:cBhvr>
                                      <p:to>
                                        <p:strVal val="visible"/>
                                      </p:to>
                                    </p:set>
                                    <p:anim calcmode="lin" valueType="num">
                                      <p:cBhvr additive="base">
                                        <p:cTn id="7" dur="500" fill="hold"/>
                                        <p:tgtEl>
                                          <p:spTgt spid="157704"/>
                                        </p:tgtEl>
                                        <p:attrNameLst>
                                          <p:attrName>ppt_x</p:attrName>
                                        </p:attrNameLst>
                                      </p:cBhvr>
                                      <p:tavLst>
                                        <p:tav tm="0">
                                          <p:val>
                                            <p:strVal val="#ppt_x"/>
                                          </p:val>
                                        </p:tav>
                                        <p:tav tm="100000">
                                          <p:val>
                                            <p:strVal val="#ppt_x"/>
                                          </p:val>
                                        </p:tav>
                                      </p:tavLst>
                                    </p:anim>
                                    <p:anim calcmode="lin" valueType="num">
                                      <p:cBhvr additive="base">
                                        <p:cTn id="8" dur="500" fill="hold"/>
                                        <p:tgtEl>
                                          <p:spTgt spid="1577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4" grpId="0"/>
      <p:bldP spid="3" grpId="0" animBg="1"/>
      <p:bldP spid="3" grpId="1" animBg="1"/>
      <p:bldP spid="4" grpId="0"/>
      <p:bldP spid="4"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C101D4A-1E38-4D27-8C7B-BF308B425EB3}"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71</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8419" name="Text Box 2"/>
          <p:cNvSpPr txBox="1"/>
          <p:nvPr/>
        </p:nvSpPr>
        <p:spPr>
          <a:xfrm>
            <a:off x="1308100" y="777875"/>
            <a:ext cx="6635750" cy="414338"/>
          </a:xfrm>
          <a:prstGeom prst="rect">
            <a:avLst/>
          </a:prstGeom>
          <a:noFill/>
          <a:ln w="9525">
            <a:noFill/>
          </a:ln>
        </p:spPr>
        <p:txBody>
          <a:bodyPr>
            <a:spAutoFit/>
          </a:bodyPr>
          <a:lstStyle/>
          <a:p>
            <a:pPr eaLnBrk="1" hangingPunct="1"/>
            <a:r>
              <a:rPr lang="zh-CN" altLang="en-US" sz="2100" dirty="0">
                <a:solidFill>
                  <a:srgbClr val="FF0000"/>
                </a:solidFill>
                <a:latin typeface="华文新魏" panose="02010800040101010101" pitchFamily="2" charset="-122"/>
                <a:ea typeface="华文新魏" panose="02010800040101010101" pitchFamily="2" charset="-122"/>
              </a:rPr>
              <a:t>例：</a:t>
            </a:r>
            <a:r>
              <a:rPr lang="en-US" altLang="zh-CN" sz="2100">
                <a:solidFill>
                  <a:srgbClr val="FF0000"/>
                </a:solidFill>
                <a:latin typeface="华文新魏" panose="02010800040101010101" pitchFamily="2" charset="-122"/>
                <a:ea typeface="华文新魏" panose="02010800040101010101" pitchFamily="2" charset="-122"/>
              </a:rPr>
              <a:t>3-8</a:t>
            </a:r>
            <a:r>
              <a:rPr lang="zh-CN" altLang="en-US" sz="2100" dirty="0">
                <a:solidFill>
                  <a:srgbClr val="FF0000"/>
                </a:solidFill>
                <a:latin typeface="华文新魏" panose="02010800040101010101" pitchFamily="2" charset="-122"/>
                <a:ea typeface="华文新魏" panose="02010800040101010101" pitchFamily="2" charset="-122"/>
              </a:rPr>
              <a:t>译码器</a:t>
            </a:r>
          </a:p>
        </p:txBody>
      </p:sp>
      <p:sp>
        <p:nvSpPr>
          <p:cNvPr id="188420" name="AutoShape 3"/>
          <p:cNvSpPr/>
          <p:nvPr/>
        </p:nvSpPr>
        <p:spPr>
          <a:xfrm>
            <a:off x="6124575" y="74613"/>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顺序描述语句</a:t>
            </a:r>
          </a:p>
        </p:txBody>
      </p:sp>
      <p:pic>
        <p:nvPicPr>
          <p:cNvPr id="188421" name="Picture 72"/>
          <p:cNvPicPr>
            <a:picLocks noChangeAspect="1"/>
          </p:cNvPicPr>
          <p:nvPr/>
        </p:nvPicPr>
        <p:blipFill>
          <a:blip r:embed="rId3"/>
          <a:stretch>
            <a:fillRect/>
          </a:stretch>
        </p:blipFill>
        <p:spPr>
          <a:xfrm>
            <a:off x="7486650" y="744538"/>
            <a:ext cx="1581150" cy="2690812"/>
          </a:xfrm>
          <a:prstGeom prst="rect">
            <a:avLst/>
          </a:prstGeom>
          <a:noFill/>
          <a:ln w="28575">
            <a:noFill/>
          </a:ln>
        </p:spPr>
      </p:pic>
      <p:sp>
        <p:nvSpPr>
          <p:cNvPr id="153673" name="Text Box 2"/>
          <p:cNvSpPr txBox="1"/>
          <p:nvPr/>
        </p:nvSpPr>
        <p:spPr>
          <a:xfrm>
            <a:off x="539552" y="1803969"/>
            <a:ext cx="7056784" cy="2031325"/>
          </a:xfrm>
          <a:prstGeom prst="rect">
            <a:avLst/>
          </a:prstGeom>
          <a:noFill/>
          <a:ln w="9525">
            <a:noFill/>
          </a:ln>
        </p:spPr>
        <p:txBody>
          <a:bodyPr wrap="square">
            <a:spAutoFit/>
          </a:bodyPr>
          <a:lstStyle/>
          <a:p>
            <a:pPr eaLnBrk="1" hangingPunct="1"/>
            <a:r>
              <a:rPr lang="en-US" altLang="zh-CN" sz="1800" dirty="0">
                <a:solidFill>
                  <a:srgbClr val="0000FF"/>
                </a:solidFill>
                <a:latin typeface="华文新魏" panose="02010800040101010101" pitchFamily="2" charset="-122"/>
                <a:ea typeface="华文新魏" panose="02010800040101010101" pitchFamily="2" charset="-122"/>
              </a:rPr>
              <a:t>LIBRARY</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err="1">
                <a:solidFill>
                  <a:schemeClr val="tx1"/>
                </a:solidFill>
                <a:latin typeface="华文新魏" panose="02010800040101010101" pitchFamily="2" charset="-122"/>
                <a:ea typeface="华文新魏" panose="02010800040101010101" pitchFamily="2" charset="-122"/>
              </a:rPr>
              <a:t>ieee</a:t>
            </a:r>
            <a:r>
              <a:rPr lang="en-US" altLang="zh-CN" sz="1800" dirty="0">
                <a:solidFill>
                  <a:schemeClr val="tx1"/>
                </a:solidFill>
                <a:latin typeface="华文新魏" panose="02010800040101010101" pitchFamily="2" charset="-122"/>
                <a:ea typeface="华文新魏" panose="02010800040101010101" pitchFamily="2" charset="-122"/>
              </a:rPr>
              <a:t>;</a:t>
            </a:r>
          </a:p>
          <a:p>
            <a:pPr eaLnBrk="1" hangingPunct="1"/>
            <a:r>
              <a:rPr lang="en-US" altLang="zh-CN" sz="1800" dirty="0">
                <a:solidFill>
                  <a:srgbClr val="0000FF"/>
                </a:solidFill>
                <a:latin typeface="华文新魏" panose="02010800040101010101" pitchFamily="2" charset="-122"/>
                <a:ea typeface="华文新魏" panose="02010800040101010101" pitchFamily="2" charset="-122"/>
              </a:rPr>
              <a:t>USE </a:t>
            </a:r>
            <a:r>
              <a:rPr lang="en-US" altLang="zh-CN" sz="1800" dirty="0">
                <a:solidFill>
                  <a:schemeClr val="tx1"/>
                </a:solidFill>
                <a:latin typeface="华文新魏" panose="02010800040101010101" pitchFamily="2" charset="-122"/>
                <a:ea typeface="华文新魏" panose="02010800040101010101" pitchFamily="2" charset="-122"/>
              </a:rPr>
              <a:t>ieee.std_logic_1164.</a:t>
            </a:r>
            <a:r>
              <a:rPr lang="en-US" altLang="zh-CN" sz="1800" dirty="0">
                <a:solidFill>
                  <a:srgbClr val="0000FF"/>
                </a:solidFill>
                <a:latin typeface="华文新魏" panose="02010800040101010101" pitchFamily="2" charset="-122"/>
                <a:ea typeface="华文新魏" panose="02010800040101010101" pitchFamily="2" charset="-122"/>
              </a:rPr>
              <a:t>ALL</a:t>
            </a:r>
            <a:r>
              <a:rPr lang="en-US" altLang="zh-CN" sz="1800" dirty="0">
                <a:solidFill>
                  <a:schemeClr val="tx1"/>
                </a:solidFill>
                <a:latin typeface="华文新魏" panose="02010800040101010101" pitchFamily="2" charset="-122"/>
                <a:ea typeface="华文新魏" panose="02010800040101010101" pitchFamily="2" charset="-122"/>
              </a:rPr>
              <a:t>;</a:t>
            </a:r>
          </a:p>
          <a:p>
            <a:pPr eaLnBrk="1" hangingPunct="1"/>
            <a:r>
              <a:rPr lang="en-US" altLang="zh-CN" sz="1800" dirty="0">
                <a:solidFill>
                  <a:srgbClr val="0000FF"/>
                </a:solidFill>
                <a:latin typeface="华文新魏" panose="02010800040101010101" pitchFamily="2" charset="-122"/>
                <a:ea typeface="华文新魏" panose="02010800040101010101" pitchFamily="2" charset="-122"/>
              </a:rPr>
              <a:t>ENTITY </a:t>
            </a:r>
            <a:r>
              <a:rPr lang="en-US" altLang="zh-CN" sz="1800" dirty="0">
                <a:solidFill>
                  <a:schemeClr val="tx1"/>
                </a:solidFill>
                <a:latin typeface="华文新魏" panose="02010800040101010101" pitchFamily="2" charset="-122"/>
                <a:ea typeface="华文新魏" panose="02010800040101010101" pitchFamily="2" charset="-122"/>
              </a:rPr>
              <a:t>decode3_8 </a:t>
            </a:r>
            <a:r>
              <a:rPr lang="en-US" altLang="zh-CN" sz="1800" dirty="0">
                <a:solidFill>
                  <a:srgbClr val="0000FF"/>
                </a:solidFill>
                <a:latin typeface="华文新魏" panose="02010800040101010101" pitchFamily="2" charset="-122"/>
                <a:ea typeface="华文新魏" panose="02010800040101010101" pitchFamily="2" charset="-122"/>
              </a:rPr>
              <a:t>IS</a:t>
            </a:r>
          </a:p>
          <a:p>
            <a:pPr eaLnBrk="1" hangingPunct="1"/>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0000FF"/>
                </a:solidFill>
                <a:latin typeface="华文新魏" panose="02010800040101010101" pitchFamily="2" charset="-122"/>
                <a:ea typeface="华文新魏" panose="02010800040101010101" pitchFamily="2" charset="-122"/>
              </a:rPr>
              <a:t> PORT</a:t>
            </a:r>
            <a:r>
              <a:rPr lang="en-US" altLang="zh-CN" sz="1800" dirty="0">
                <a:solidFill>
                  <a:schemeClr val="tx1"/>
                </a:solidFill>
                <a:latin typeface="华文新魏" panose="02010800040101010101" pitchFamily="2" charset="-122"/>
                <a:ea typeface="华文新魏" panose="02010800040101010101" pitchFamily="2" charset="-122"/>
              </a:rPr>
              <a:t>(</a:t>
            </a:r>
            <a:r>
              <a:rPr lang="en-US" altLang="zh-CN" sz="1800" dirty="0" err="1">
                <a:solidFill>
                  <a:schemeClr val="tx1"/>
                </a:solidFill>
                <a:latin typeface="华文新魏" panose="02010800040101010101" pitchFamily="2" charset="-122"/>
                <a:ea typeface="华文新魏" panose="02010800040101010101" pitchFamily="2" charset="-122"/>
              </a:rPr>
              <a:t>a,b,c</a:t>
            </a:r>
            <a:r>
              <a:rPr lang="en-US" altLang="zh-CN" sz="1800" dirty="0">
                <a:solidFill>
                  <a:schemeClr val="tx1"/>
                </a:solidFill>
                <a:latin typeface="华文新魏" panose="02010800040101010101" pitchFamily="2" charset="-122"/>
                <a:ea typeface="华文新魏" panose="02010800040101010101" pitchFamily="2" charset="-122"/>
              </a:rPr>
              <a:t>               : </a:t>
            </a:r>
            <a:r>
              <a:rPr lang="en-US" altLang="zh-CN" sz="1800" dirty="0">
                <a:solidFill>
                  <a:srgbClr val="0000FF"/>
                </a:solidFill>
                <a:latin typeface="华文新魏" panose="02010800040101010101" pitchFamily="2" charset="-122"/>
                <a:ea typeface="华文新魏" panose="02010800040101010101" pitchFamily="2" charset="-122"/>
              </a:rPr>
              <a:t>IN	</a:t>
            </a:r>
            <a:r>
              <a:rPr lang="en-US" altLang="zh-CN" sz="1800" dirty="0">
                <a:solidFill>
                  <a:schemeClr val="tx1"/>
                </a:solidFill>
                <a:latin typeface="华文新魏" panose="02010800040101010101" pitchFamily="2" charset="-122"/>
                <a:ea typeface="华文新魏" panose="02010800040101010101" pitchFamily="2" charset="-122"/>
              </a:rPr>
              <a:t> STD_LOGIC;</a:t>
            </a:r>
          </a:p>
          <a:p>
            <a:pPr eaLnBrk="1" hangingPunct="1"/>
            <a:r>
              <a:rPr lang="en-US" altLang="zh-CN" sz="1800" dirty="0">
                <a:solidFill>
                  <a:schemeClr val="tx1"/>
                </a:solidFill>
                <a:latin typeface="华文新魏" panose="02010800040101010101" pitchFamily="2" charset="-122"/>
                <a:ea typeface="华文新魏" panose="02010800040101010101" pitchFamily="2" charset="-122"/>
              </a:rPr>
              <a:t>	     g1,g2a,g2b      :</a:t>
            </a:r>
            <a:r>
              <a:rPr lang="en-US" altLang="zh-CN" sz="1800" dirty="0">
                <a:solidFill>
                  <a:srgbClr val="0000FF"/>
                </a:solidFill>
                <a:latin typeface="华文新魏" panose="02010800040101010101" pitchFamily="2" charset="-122"/>
                <a:ea typeface="华文新魏" panose="02010800040101010101" pitchFamily="2" charset="-122"/>
              </a:rPr>
              <a:t> IN</a:t>
            </a:r>
            <a:r>
              <a:rPr lang="en-US" altLang="zh-CN" sz="1800" dirty="0">
                <a:solidFill>
                  <a:schemeClr val="tx1"/>
                </a:solidFill>
                <a:latin typeface="华文新魏" panose="02010800040101010101" pitchFamily="2" charset="-122"/>
                <a:ea typeface="华文新魏" panose="02010800040101010101" pitchFamily="2" charset="-122"/>
              </a:rPr>
              <a:t> STD_LOGIC;</a:t>
            </a:r>
          </a:p>
          <a:p>
            <a:pPr eaLnBrk="1" hangingPunct="1"/>
            <a:r>
              <a:rPr lang="en-US" altLang="zh-CN" sz="1800" dirty="0">
                <a:solidFill>
                  <a:schemeClr val="tx1"/>
                </a:solidFill>
                <a:latin typeface="华文新魏" panose="02010800040101010101" pitchFamily="2" charset="-122"/>
                <a:ea typeface="华文新魏" panose="02010800040101010101" pitchFamily="2" charset="-122"/>
              </a:rPr>
              <a:t>	     y	   : </a:t>
            </a:r>
            <a:r>
              <a:rPr lang="en-US" altLang="zh-CN" sz="1800" dirty="0">
                <a:solidFill>
                  <a:srgbClr val="0000FF"/>
                </a:solidFill>
                <a:latin typeface="华文新魏" panose="02010800040101010101" pitchFamily="2" charset="-122"/>
                <a:ea typeface="华文新魏" panose="02010800040101010101" pitchFamily="2" charset="-122"/>
              </a:rPr>
              <a:t>OUT</a:t>
            </a:r>
            <a:r>
              <a:rPr lang="en-US" altLang="zh-CN" sz="1800" dirty="0">
                <a:solidFill>
                  <a:schemeClr val="tx1"/>
                </a:solidFill>
                <a:latin typeface="华文新魏" panose="02010800040101010101" pitchFamily="2" charset="-122"/>
                <a:ea typeface="华文新魏" panose="02010800040101010101" pitchFamily="2" charset="-122"/>
              </a:rPr>
              <a:t>  STD_LOGIC_VECTOR(7 DOWNTO 0));</a:t>
            </a:r>
          </a:p>
          <a:p>
            <a:pPr eaLnBrk="1" hangingPunct="1"/>
            <a:r>
              <a:rPr lang="en-US" altLang="zh-CN" sz="1800" dirty="0">
                <a:solidFill>
                  <a:srgbClr val="0000FF"/>
                </a:solidFill>
                <a:latin typeface="华文新魏" panose="02010800040101010101" pitchFamily="2" charset="-122"/>
                <a:ea typeface="华文新魏" panose="02010800040101010101" pitchFamily="2" charset="-122"/>
              </a:rPr>
              <a:t>END</a:t>
            </a:r>
            <a:r>
              <a:rPr lang="en-US" altLang="zh-CN" sz="1800" dirty="0">
                <a:solidFill>
                  <a:schemeClr val="tx1"/>
                </a:solidFill>
                <a:latin typeface="华文新魏" panose="02010800040101010101" pitchFamily="2" charset="-122"/>
                <a:ea typeface="华文新魏" panose="02010800040101010101" pitchFamily="2" charset="-122"/>
              </a:rPr>
              <a:t> decode3_8;</a:t>
            </a:r>
          </a:p>
        </p:txBody>
      </p:sp>
      <p:sp>
        <p:nvSpPr>
          <p:cNvPr id="161800" name="Text Box 8"/>
          <p:cNvSpPr txBox="1"/>
          <p:nvPr/>
        </p:nvSpPr>
        <p:spPr>
          <a:xfrm>
            <a:off x="1809750" y="4429125"/>
            <a:ext cx="5438775" cy="369888"/>
          </a:xfrm>
          <a:prstGeom prst="rect">
            <a:avLst/>
          </a:prstGeom>
          <a:noFill/>
          <a:ln w="28575">
            <a:noFill/>
          </a:ln>
        </p:spPr>
        <p:txBody>
          <a:bodyPr>
            <a:spAutoFit/>
          </a:bodyPr>
          <a:lstStyle/>
          <a:p>
            <a:pPr algn="ctr" eaLnBrk="1" hangingPunct="1">
              <a:spcBef>
                <a:spcPct val="50000"/>
              </a:spcBef>
            </a:pPr>
            <a:r>
              <a:rPr lang="zh-CN" altLang="en-US" sz="1800" dirty="0">
                <a:solidFill>
                  <a:schemeClr val="tx1"/>
                </a:solidFill>
                <a:latin typeface="华文新魏" panose="02010800040101010101" pitchFamily="2" charset="-122"/>
                <a:ea typeface="华文新魏" panose="02010800040101010101" pitchFamily="2" charset="-122"/>
              </a:rPr>
              <a:t>请大家思考一下结构体中如何来实现要求的功能！</a:t>
            </a:r>
          </a:p>
        </p:txBody>
      </p:sp>
      <p:sp>
        <p:nvSpPr>
          <p:cNvPr id="2" name="Text Box 8"/>
          <p:cNvSpPr txBox="1"/>
          <p:nvPr/>
        </p:nvSpPr>
        <p:spPr>
          <a:xfrm>
            <a:off x="5652135" y="1924050"/>
            <a:ext cx="1801495" cy="368300"/>
          </a:xfrm>
          <a:prstGeom prst="rect">
            <a:avLst/>
          </a:prstGeom>
          <a:noFill/>
          <a:ln w="28575">
            <a:noFill/>
          </a:ln>
        </p:spPr>
        <p:txBody>
          <a:bodyPr wrap="square">
            <a:spAutoFit/>
          </a:bodyPr>
          <a:lstStyle/>
          <a:p>
            <a:pPr algn="ctr" eaLnBrk="1" hangingPunct="1">
              <a:spcBef>
                <a:spcPct val="50000"/>
              </a:spcBef>
            </a:pPr>
            <a:r>
              <a:rPr lang="zh-CN" altLang="en-US" sz="1800" dirty="0">
                <a:solidFill>
                  <a:schemeClr val="tx1"/>
                </a:solidFill>
                <a:latin typeface="华文新魏" panose="02010800040101010101" pitchFamily="2" charset="-122"/>
                <a:ea typeface="华文新魏" panose="02010800040101010101" pitchFamily="2" charset="-122"/>
              </a:rPr>
              <a:t>注意</a:t>
            </a:r>
            <a:r>
              <a:rPr lang="en-US" altLang="zh-CN" sz="1800" dirty="0">
                <a:solidFill>
                  <a:schemeClr val="tx1"/>
                </a:solidFill>
                <a:latin typeface="华文新魏" panose="02010800040101010101" pitchFamily="2" charset="-122"/>
                <a:ea typeface="华文新魏" panose="02010800040101010101" pitchFamily="2" charset="-122"/>
              </a:rPr>
              <a:t>ABC</a:t>
            </a:r>
            <a:r>
              <a:rPr lang="zh-CN" altLang="en-US" sz="1800" dirty="0">
                <a:solidFill>
                  <a:schemeClr val="tx1"/>
                </a:solidFill>
                <a:latin typeface="华文新魏" panose="02010800040101010101" pitchFamily="2" charset="-122"/>
                <a:ea typeface="华文新魏" panose="02010800040101010101" pitchFamily="2" charset="-122"/>
              </a:rPr>
              <a:t>的顺序！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73"/>
                                        </p:tgtEl>
                                        <p:attrNameLst>
                                          <p:attrName>style.visibility</p:attrName>
                                        </p:attrNameLst>
                                      </p:cBhvr>
                                      <p:to>
                                        <p:strVal val="visible"/>
                                      </p:to>
                                    </p:set>
                                    <p:anim calcmode="lin" valueType="num">
                                      <p:cBhvr additive="base">
                                        <p:cTn id="7" dur="500" fill="hold"/>
                                        <p:tgtEl>
                                          <p:spTgt spid="153673"/>
                                        </p:tgtEl>
                                        <p:attrNameLst>
                                          <p:attrName>ppt_x</p:attrName>
                                        </p:attrNameLst>
                                      </p:cBhvr>
                                      <p:tavLst>
                                        <p:tav tm="0">
                                          <p:val>
                                            <p:strVal val="#ppt_x"/>
                                          </p:val>
                                        </p:tav>
                                        <p:tav tm="100000">
                                          <p:val>
                                            <p:strVal val="#ppt_x"/>
                                          </p:val>
                                        </p:tav>
                                      </p:tavLst>
                                    </p:anim>
                                    <p:anim calcmode="lin" valueType="num">
                                      <p:cBhvr additive="base">
                                        <p:cTn id="8" dur="500" fill="hold"/>
                                        <p:tgtEl>
                                          <p:spTgt spid="1536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61800"/>
                                        </p:tgtEl>
                                        <p:attrNameLst>
                                          <p:attrName>style.visibility</p:attrName>
                                        </p:attrNameLst>
                                      </p:cBhvr>
                                      <p:to>
                                        <p:strVal val="visible"/>
                                      </p:to>
                                    </p:set>
                                    <p:animEffect transition="in" filter="blinds(horizontal)">
                                      <p:cBhvr>
                                        <p:cTn id="18" dur="500"/>
                                        <p:tgtEl>
                                          <p:spTgt spid="161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3" grpId="0"/>
      <p:bldP spid="161800" grpId="0"/>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2"/>
          <p:cNvSpPr txBox="1"/>
          <p:nvPr/>
        </p:nvSpPr>
        <p:spPr>
          <a:xfrm>
            <a:off x="1298574" y="490538"/>
            <a:ext cx="7305873" cy="4745037"/>
          </a:xfrm>
          <a:prstGeom prst="rect">
            <a:avLst/>
          </a:prstGeom>
          <a:noFill/>
          <a:ln w="9525">
            <a:noFill/>
          </a:ln>
        </p:spPr>
        <p:txBody>
          <a:bodyPr wrap="square">
            <a:spAutoFit/>
          </a:bodyPr>
          <a:lstStyle/>
          <a:p>
            <a:pPr eaLnBrk="1" hangingPunct="1">
              <a:lnSpc>
                <a:spcPct val="90000"/>
              </a:lnSpc>
            </a:pPr>
            <a:r>
              <a:rPr lang="en-US" altLang="zh-CN" sz="1400" dirty="0">
                <a:solidFill>
                  <a:srgbClr val="0000FF"/>
                </a:solidFill>
                <a:latin typeface="华文新魏" panose="02010800040101010101" pitchFamily="2" charset="-122"/>
                <a:ea typeface="华文新魏" panose="02010800040101010101" pitchFamily="2" charset="-122"/>
              </a:rPr>
              <a:t>ARCHITECTURE</a:t>
            </a: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err="1">
                <a:solidFill>
                  <a:schemeClr val="tx1"/>
                </a:solidFill>
                <a:latin typeface="华文新魏" panose="02010800040101010101" pitchFamily="2" charset="-122"/>
                <a:ea typeface="华文新魏" panose="02010800040101010101" pitchFamily="2" charset="-122"/>
              </a:rPr>
              <a:t>rtl</a:t>
            </a: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OF</a:t>
            </a:r>
            <a:r>
              <a:rPr lang="en-US" altLang="zh-CN" sz="1400" dirty="0">
                <a:solidFill>
                  <a:schemeClr val="tx1"/>
                </a:solidFill>
                <a:latin typeface="华文新魏" panose="02010800040101010101" pitchFamily="2" charset="-122"/>
                <a:ea typeface="华文新魏" panose="02010800040101010101" pitchFamily="2" charset="-122"/>
              </a:rPr>
              <a:t> decoder3_8 </a:t>
            </a:r>
            <a:r>
              <a:rPr lang="en-US" altLang="zh-CN" sz="1400" dirty="0">
                <a:solidFill>
                  <a:srgbClr val="0000FF"/>
                </a:solidFill>
                <a:latin typeface="华文新魏" panose="02010800040101010101" pitchFamily="2" charset="-122"/>
                <a:ea typeface="华文新魏" panose="02010800040101010101" pitchFamily="2" charset="-122"/>
              </a:rPr>
              <a:t>IS</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SIGNAL</a:t>
            </a:r>
            <a:r>
              <a:rPr lang="en-US" altLang="zh-CN" sz="1400" dirty="0">
                <a:solidFill>
                  <a:srgbClr val="FF99CC"/>
                </a:solidFill>
                <a:latin typeface="华文新魏" panose="02010800040101010101" pitchFamily="2" charset="-122"/>
                <a:ea typeface="华文新魏" panose="02010800040101010101" pitchFamily="2" charset="-122"/>
              </a:rPr>
              <a:t> </a:t>
            </a: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err="1">
                <a:solidFill>
                  <a:schemeClr val="tx1"/>
                </a:solidFill>
                <a:latin typeface="华文新魏" panose="02010800040101010101" pitchFamily="2" charset="-122"/>
                <a:ea typeface="华文新魏" panose="02010800040101010101" pitchFamily="2" charset="-122"/>
              </a:rPr>
              <a:t>ind</a:t>
            </a:r>
            <a:r>
              <a:rPr lang="en-US" altLang="zh-CN" sz="1400" dirty="0">
                <a:solidFill>
                  <a:schemeClr val="tx1"/>
                </a:solidFill>
                <a:latin typeface="华文新魏" panose="02010800040101010101" pitchFamily="2" charset="-122"/>
                <a:ea typeface="华文新魏" panose="02010800040101010101" pitchFamily="2" charset="-122"/>
              </a:rPr>
              <a:t>   : STD_LOGIC_VECTOR(2 </a:t>
            </a:r>
            <a:r>
              <a:rPr lang="en-US" altLang="zh-CN" sz="1400" dirty="0">
                <a:solidFill>
                  <a:srgbClr val="0000FF"/>
                </a:solidFill>
                <a:latin typeface="华文新魏" panose="02010800040101010101" pitchFamily="2" charset="-122"/>
                <a:ea typeface="华文新魏" panose="02010800040101010101" pitchFamily="2" charset="-122"/>
              </a:rPr>
              <a:t>DOWNTO</a:t>
            </a:r>
            <a:r>
              <a:rPr lang="en-US" altLang="zh-CN" sz="1400" dirty="0">
                <a:solidFill>
                  <a:schemeClr val="tx1"/>
                </a:solidFill>
                <a:latin typeface="华文新魏" panose="02010800040101010101" pitchFamily="2" charset="-122"/>
                <a:ea typeface="华文新魏" panose="02010800040101010101" pitchFamily="2" charset="-122"/>
              </a:rPr>
              <a:t> 0);</a:t>
            </a:r>
          </a:p>
          <a:p>
            <a:pPr eaLnBrk="1" hangingPunct="1">
              <a:lnSpc>
                <a:spcPct val="90000"/>
              </a:lnSpc>
            </a:pPr>
            <a:r>
              <a:rPr lang="en-US" altLang="zh-CN" sz="1400" dirty="0">
                <a:solidFill>
                  <a:srgbClr val="0000FF"/>
                </a:solidFill>
                <a:latin typeface="华文新魏" panose="02010800040101010101" pitchFamily="2" charset="-122"/>
                <a:ea typeface="华文新魏" panose="02010800040101010101" pitchFamily="2" charset="-122"/>
              </a:rPr>
              <a:t>BEGIN</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err="1">
                <a:solidFill>
                  <a:schemeClr val="tx1"/>
                </a:solidFill>
                <a:latin typeface="华文新魏" panose="02010800040101010101" pitchFamily="2" charset="-122"/>
                <a:ea typeface="华文新魏" panose="02010800040101010101" pitchFamily="2" charset="-122"/>
              </a:rPr>
              <a:t>ind</a:t>
            </a:r>
            <a:r>
              <a:rPr lang="en-US" altLang="zh-CN" sz="1400" dirty="0">
                <a:solidFill>
                  <a:schemeClr val="tx1"/>
                </a:solidFill>
                <a:latin typeface="华文新魏" panose="02010800040101010101" pitchFamily="2" charset="-122"/>
                <a:ea typeface="华文新魏" panose="02010800040101010101" pitchFamily="2" charset="-122"/>
              </a:rPr>
              <a:t>&lt;=</a:t>
            </a:r>
            <a:r>
              <a:rPr lang="en-US" altLang="zh-CN" sz="1400" dirty="0" err="1">
                <a:solidFill>
                  <a:schemeClr val="tx1"/>
                </a:solidFill>
                <a:latin typeface="华文新魏" panose="02010800040101010101" pitchFamily="2" charset="-122"/>
                <a:ea typeface="华文新魏" panose="02010800040101010101" pitchFamily="2" charset="-122"/>
              </a:rPr>
              <a:t>c</a:t>
            </a:r>
            <a:r>
              <a:rPr lang="en-US" altLang="zh-CN" sz="1400" dirty="0" err="1">
                <a:solidFill>
                  <a:srgbClr val="0000FF"/>
                </a:solidFill>
                <a:latin typeface="华文新魏" panose="02010800040101010101" pitchFamily="2" charset="-122"/>
                <a:ea typeface="华文新魏" panose="02010800040101010101" pitchFamily="2" charset="-122"/>
              </a:rPr>
              <a:t>&amp;</a:t>
            </a:r>
            <a:r>
              <a:rPr lang="en-US" altLang="zh-CN" sz="1400" dirty="0" err="1">
                <a:solidFill>
                  <a:schemeClr val="tx1"/>
                </a:solidFill>
                <a:latin typeface="华文新魏" panose="02010800040101010101" pitchFamily="2" charset="-122"/>
                <a:ea typeface="华文新魏" panose="02010800040101010101" pitchFamily="2" charset="-122"/>
              </a:rPr>
              <a:t>b</a:t>
            </a:r>
            <a:r>
              <a:rPr lang="en-US" altLang="zh-CN" sz="1400" dirty="0" err="1">
                <a:solidFill>
                  <a:srgbClr val="0000FF"/>
                </a:solidFill>
                <a:latin typeface="华文新魏" panose="02010800040101010101" pitchFamily="2" charset="-122"/>
                <a:ea typeface="华文新魏" panose="02010800040101010101" pitchFamily="2" charset="-122"/>
              </a:rPr>
              <a:t>&amp;</a:t>
            </a:r>
            <a:r>
              <a:rPr lang="en-US" altLang="zh-CN" sz="1400" dirty="0" err="1">
                <a:solidFill>
                  <a:schemeClr val="tx1"/>
                </a:solidFill>
                <a:latin typeface="华文新魏" panose="02010800040101010101" pitchFamily="2" charset="-122"/>
                <a:ea typeface="华文新魏" panose="02010800040101010101" pitchFamily="2" charset="-122"/>
              </a:rPr>
              <a:t>a</a:t>
            </a:r>
            <a:r>
              <a:rPr lang="en-US" altLang="zh-CN" sz="1400" dirty="0">
                <a:solidFill>
                  <a:schemeClr val="tx1"/>
                </a:solidFill>
                <a:latin typeface="华文新魏" panose="02010800040101010101" pitchFamily="2" charset="-122"/>
                <a:ea typeface="华文新魏" panose="02010800040101010101" pitchFamily="2" charset="-122"/>
              </a:rPr>
              <a:t>;</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PROCESS</a:t>
            </a:r>
            <a:r>
              <a:rPr lang="en-US" altLang="zh-CN" sz="1400" dirty="0">
                <a:solidFill>
                  <a:schemeClr val="tx1"/>
                </a:solidFill>
                <a:latin typeface="华文新魏" panose="02010800040101010101" pitchFamily="2" charset="-122"/>
                <a:ea typeface="华文新魏" panose="02010800040101010101" pitchFamily="2" charset="-122"/>
              </a:rPr>
              <a:t> (ind,g1,g2a,g2b)</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BEGIN</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IF </a:t>
            </a:r>
            <a:r>
              <a:rPr lang="en-US" altLang="zh-CN" sz="1400" dirty="0">
                <a:solidFill>
                  <a:schemeClr val="tx1"/>
                </a:solidFill>
                <a:latin typeface="华文新魏" panose="02010800040101010101" pitchFamily="2" charset="-122"/>
                <a:ea typeface="华文新魏" panose="02010800040101010101" pitchFamily="2" charset="-122"/>
              </a:rPr>
              <a:t>(g1='1' and g2a='0' and g2b='0') </a:t>
            </a:r>
            <a:r>
              <a:rPr lang="en-US" altLang="zh-CN" sz="1400" dirty="0">
                <a:solidFill>
                  <a:srgbClr val="0000FF"/>
                </a:solidFill>
                <a:latin typeface="华文新魏" panose="02010800040101010101" pitchFamily="2" charset="-122"/>
                <a:ea typeface="华文新魏" panose="02010800040101010101" pitchFamily="2" charset="-122"/>
              </a:rPr>
              <a:t>THEN</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CASE</a:t>
            </a: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err="1">
                <a:solidFill>
                  <a:schemeClr val="tx1"/>
                </a:solidFill>
                <a:latin typeface="华文新魏" panose="02010800040101010101" pitchFamily="2" charset="-122"/>
                <a:ea typeface="华文新魏" panose="02010800040101010101" pitchFamily="2" charset="-122"/>
              </a:rPr>
              <a:t>ind</a:t>
            </a:r>
            <a:r>
              <a:rPr lang="en-US" altLang="zh-CN" sz="1400" dirty="0">
                <a:solidFill>
                  <a:srgbClr val="0000FF"/>
                </a:solidFill>
                <a:latin typeface="华文新魏" panose="02010800040101010101" pitchFamily="2" charset="-122"/>
                <a:ea typeface="华文新魏" panose="02010800040101010101" pitchFamily="2" charset="-122"/>
              </a:rPr>
              <a:t> IS</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"000" =&gt; y&lt;=  "01111111";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"001"  =&gt; y&lt;=  "10111111";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 </a:t>
            </a:r>
            <a:r>
              <a:rPr lang="en-US" altLang="zh-CN" sz="1400" dirty="0">
                <a:solidFill>
                  <a:schemeClr val="tx1"/>
                </a:solidFill>
                <a:latin typeface="华文新魏" panose="02010800040101010101" pitchFamily="2" charset="-122"/>
                <a:ea typeface="华文新魏" panose="02010800040101010101" pitchFamily="2" charset="-122"/>
              </a:rPr>
              <a:t>"010"  =&gt; y&lt;=  "11011111";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"011"   =&gt; y&lt;=  "11101111";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"100"  =&gt; y&lt;=  "11110111";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"101"   =&gt; y&lt;=  "11111011";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"110"   =&gt; y&lt;=  "11111101";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a:t>
            </a:r>
            <a:r>
              <a:rPr lang="en-US" altLang="zh-CN" sz="1400" dirty="0">
                <a:solidFill>
                  <a:schemeClr val="tx1"/>
                </a:solidFill>
                <a:latin typeface="华文新魏" panose="02010800040101010101" pitchFamily="2" charset="-122"/>
                <a:ea typeface="华文新魏" panose="02010800040101010101" pitchFamily="2" charset="-122"/>
              </a:rPr>
              <a:t> "111"    =&gt; y&lt;=  "11111110";</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WHEN OTHERS </a:t>
            </a:r>
            <a:r>
              <a:rPr lang="en-US" altLang="zh-CN" sz="1400" dirty="0">
                <a:solidFill>
                  <a:schemeClr val="tx1"/>
                </a:solidFill>
                <a:latin typeface="华文新魏" panose="02010800040101010101" pitchFamily="2" charset="-122"/>
                <a:ea typeface="华文新魏" panose="02010800040101010101" pitchFamily="2" charset="-122"/>
              </a:rPr>
              <a:t>=&gt;                       </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y&lt;="XXXXXXXX";</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END CASE</a:t>
            </a:r>
            <a:r>
              <a:rPr lang="en-US" altLang="zh-CN" sz="1400" dirty="0">
                <a:solidFill>
                  <a:schemeClr val="tx1"/>
                </a:solidFill>
                <a:latin typeface="华文新魏" panose="02010800040101010101" pitchFamily="2" charset="-122"/>
                <a:ea typeface="华文新魏" panose="02010800040101010101" pitchFamily="2" charset="-122"/>
              </a:rPr>
              <a:t>;</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ELSE</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y&lt;= "11111111";</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END IF</a:t>
            </a:r>
            <a:r>
              <a:rPr lang="en-US" altLang="zh-CN" sz="1400" dirty="0">
                <a:solidFill>
                  <a:schemeClr val="tx1"/>
                </a:solidFill>
                <a:latin typeface="华文新魏" panose="02010800040101010101" pitchFamily="2" charset="-122"/>
                <a:ea typeface="华文新魏" panose="02010800040101010101" pitchFamily="2" charset="-122"/>
              </a:rPr>
              <a:t>;</a:t>
            </a:r>
          </a:p>
          <a:p>
            <a:pPr eaLnBrk="1" hangingPunct="1">
              <a:lnSpc>
                <a:spcPct val="90000"/>
              </a:lnSpc>
            </a:pPr>
            <a:r>
              <a:rPr lang="en-US" altLang="zh-CN" sz="1400" dirty="0">
                <a:solidFill>
                  <a:schemeClr val="tx1"/>
                </a:solidFill>
                <a:latin typeface="华文新魏" panose="02010800040101010101" pitchFamily="2" charset="-122"/>
                <a:ea typeface="华文新魏" panose="02010800040101010101" pitchFamily="2" charset="-122"/>
              </a:rPr>
              <a:t>	</a:t>
            </a:r>
            <a:r>
              <a:rPr lang="en-US" altLang="zh-CN" sz="1400" dirty="0">
                <a:solidFill>
                  <a:srgbClr val="0000FF"/>
                </a:solidFill>
                <a:latin typeface="华文新魏" panose="02010800040101010101" pitchFamily="2" charset="-122"/>
                <a:ea typeface="华文新魏" panose="02010800040101010101" pitchFamily="2" charset="-122"/>
              </a:rPr>
              <a:t>END PROCESS</a:t>
            </a:r>
            <a:r>
              <a:rPr lang="en-US" altLang="zh-CN" sz="1400" dirty="0">
                <a:solidFill>
                  <a:schemeClr val="tx1"/>
                </a:solidFill>
                <a:latin typeface="华文新魏" panose="02010800040101010101" pitchFamily="2" charset="-122"/>
                <a:ea typeface="华文新魏" panose="02010800040101010101" pitchFamily="2" charset="-122"/>
              </a:rPr>
              <a:t>;</a:t>
            </a:r>
          </a:p>
          <a:p>
            <a:pPr eaLnBrk="1" hangingPunct="1">
              <a:lnSpc>
                <a:spcPct val="90000"/>
              </a:lnSpc>
            </a:pPr>
            <a:r>
              <a:rPr lang="en-US" altLang="zh-CN" sz="1400" dirty="0">
                <a:solidFill>
                  <a:srgbClr val="0000FF"/>
                </a:solidFill>
                <a:latin typeface="华文新魏" panose="02010800040101010101" pitchFamily="2" charset="-122"/>
                <a:ea typeface="华文新魏" panose="02010800040101010101" pitchFamily="2" charset="-122"/>
              </a:rPr>
              <a:t>END </a:t>
            </a:r>
            <a:r>
              <a:rPr lang="en-US" altLang="zh-CN" sz="1400" dirty="0" err="1">
                <a:solidFill>
                  <a:schemeClr val="tx1"/>
                </a:solidFill>
                <a:latin typeface="华文新魏" panose="02010800040101010101" pitchFamily="2" charset="-122"/>
                <a:ea typeface="华文新魏" panose="02010800040101010101" pitchFamily="2" charset="-122"/>
              </a:rPr>
              <a:t>rtl</a:t>
            </a:r>
            <a:r>
              <a:rPr lang="en-US" altLang="zh-CN" sz="1400" dirty="0">
                <a:solidFill>
                  <a:schemeClr val="tx1"/>
                </a:solidFill>
                <a:latin typeface="华文新魏" panose="02010800040101010101" pitchFamily="2" charset="-122"/>
                <a:ea typeface="华文新魏" panose="02010800040101010101" pitchFamily="2" charset="-122"/>
              </a:rPr>
              <a:t>;</a:t>
            </a:r>
          </a:p>
        </p:txBody>
      </p:sp>
      <p:sp>
        <p:nvSpPr>
          <p:cNvPr id="162822" name="Text Box 6"/>
          <p:cNvSpPr txBox="1"/>
          <p:nvPr/>
        </p:nvSpPr>
        <p:spPr>
          <a:xfrm>
            <a:off x="5208905" y="987425"/>
            <a:ext cx="3533775" cy="521970"/>
          </a:xfrm>
          <a:prstGeom prst="rect">
            <a:avLst/>
          </a:prstGeom>
          <a:noFill/>
          <a:ln w="28575">
            <a:noFill/>
          </a:ln>
        </p:spPr>
        <p:txBody>
          <a:bodyPr wrap="square">
            <a:spAutoFit/>
          </a:bodyPr>
          <a:lstStyle/>
          <a:p>
            <a:pPr algn="ctr" eaLnBrk="1" hangingPunct="1">
              <a:spcBef>
                <a:spcPct val="50000"/>
              </a:spcBef>
            </a:pPr>
            <a:r>
              <a:rPr lang="zh-CN" altLang="en-US" sz="1400" dirty="0">
                <a:solidFill>
                  <a:srgbClr val="FF0000"/>
                </a:solidFill>
                <a:latin typeface="华文新魏" panose="02010800040101010101" pitchFamily="2" charset="-122"/>
                <a:ea typeface="华文新魏" panose="02010800040101010101" pitchFamily="2" charset="-122"/>
              </a:rPr>
              <a:t>此例亮点：</a:t>
            </a:r>
            <a:r>
              <a:rPr lang="en-US" altLang="zh-CN" sz="1400" err="1">
                <a:solidFill>
                  <a:srgbClr val="FF0000"/>
                </a:solidFill>
                <a:latin typeface="华文新魏" panose="02010800040101010101" pitchFamily="2" charset="-122"/>
                <a:ea typeface="华文新魏" panose="02010800040101010101" pitchFamily="2" charset="-122"/>
              </a:rPr>
              <a:t>ind</a:t>
            </a:r>
            <a:r>
              <a:rPr lang="zh-CN" altLang="en-US" sz="1400" dirty="0">
                <a:solidFill>
                  <a:srgbClr val="FF0000"/>
                </a:solidFill>
                <a:latin typeface="华文新魏" panose="02010800040101010101" pitchFamily="2" charset="-122"/>
                <a:ea typeface="华文新魏" panose="02010800040101010101" pitchFamily="2" charset="-122"/>
              </a:rPr>
              <a:t>信号的申明及</a:t>
            </a:r>
            <a:r>
              <a:rPr lang="en-US" altLang="zh-CN" sz="1400">
                <a:solidFill>
                  <a:srgbClr val="FF0000"/>
                </a:solidFill>
                <a:latin typeface="华文新魏" panose="02010800040101010101" pitchFamily="2" charset="-122"/>
                <a:ea typeface="华文新魏" panose="02010800040101010101" pitchFamily="2" charset="-122"/>
              </a:rPr>
              <a:t>if</a:t>
            </a:r>
            <a:r>
              <a:rPr lang="zh-CN" altLang="en-US" sz="1400" dirty="0">
                <a:solidFill>
                  <a:srgbClr val="FF0000"/>
                </a:solidFill>
                <a:latin typeface="华文新魏" panose="02010800040101010101" pitchFamily="2" charset="-122"/>
                <a:ea typeface="华文新魏" panose="02010800040101010101" pitchFamily="2" charset="-122"/>
              </a:rPr>
              <a:t>语句和</a:t>
            </a:r>
            <a:r>
              <a:rPr lang="en-US" altLang="zh-CN" sz="1400" dirty="0">
                <a:solidFill>
                  <a:srgbClr val="FF0000"/>
                </a:solidFill>
                <a:latin typeface="华文新魏" panose="02010800040101010101" pitchFamily="2" charset="-122"/>
                <a:ea typeface="华文新魏" panose="02010800040101010101" pitchFamily="2" charset="-122"/>
              </a:rPr>
              <a:t>case</a:t>
            </a:r>
            <a:r>
              <a:rPr lang="zh-CN" altLang="en-US" sz="1400" dirty="0">
                <a:solidFill>
                  <a:srgbClr val="FF0000"/>
                </a:solidFill>
                <a:latin typeface="华文新魏" panose="02010800040101010101" pitchFamily="2" charset="-122"/>
                <a:ea typeface="华文新魏" panose="02010800040101010101" pitchFamily="2" charset="-122"/>
              </a:rPr>
              <a:t>语句的配合使用！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2822">
                                            <p:txEl>
                                              <p:pRg st="0" end="0"/>
                                            </p:txEl>
                                          </p:spTgt>
                                        </p:tgtEl>
                                        <p:attrNameLst>
                                          <p:attrName>style.visibility</p:attrName>
                                        </p:attrNameLst>
                                      </p:cBhvr>
                                      <p:to>
                                        <p:strVal val="visible"/>
                                      </p:to>
                                    </p:set>
                                    <p:animEffect transition="in" filter="blinds(horizontal)">
                                      <p:cBhvr>
                                        <p:cTn id="7" dur="500"/>
                                        <p:tgtEl>
                                          <p:spTgt spid="1628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2822">
                                            <p:txEl>
                                              <p:charRg st="0" end="25"/>
                                            </p:txEl>
                                          </p:spTgt>
                                        </p:tgtEl>
                                        <p:attrNameLst>
                                          <p:attrName>style.visibility</p:attrName>
                                        </p:attrNameLst>
                                      </p:cBhvr>
                                      <p:to>
                                        <p:strVal val="visible"/>
                                      </p:to>
                                    </p:set>
                                    <p:anim calcmode="lin" valueType="num">
                                      <p:cBhvr additive="base">
                                        <p:cTn id="12" dur="500" fill="hold"/>
                                        <p:tgtEl>
                                          <p:spTgt spid="162822">
                                            <p:txEl>
                                              <p:charRg st="0" end="2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62822">
                                            <p:txEl>
                                              <p:charRg st="0" end="2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2" grpId="0" build="allAtOnce"/>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517617F-9282-4983-8C0E-8199F7012A7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73</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0467" name="Text Box 2"/>
          <p:cNvSpPr txBox="1"/>
          <p:nvPr/>
        </p:nvSpPr>
        <p:spPr>
          <a:xfrm>
            <a:off x="1258888" y="406400"/>
            <a:ext cx="6670675" cy="341313"/>
          </a:xfrm>
          <a:prstGeom prst="rect">
            <a:avLst/>
          </a:prstGeom>
          <a:noFill/>
          <a:ln w="9525">
            <a:noFill/>
          </a:ln>
        </p:spPr>
        <p:txBody>
          <a:bodyPr>
            <a:spAutoFit/>
          </a:bodyPr>
          <a:lstStyle/>
          <a:p>
            <a:pPr eaLnBrk="1" hangingPunct="1">
              <a:lnSpc>
                <a:spcPct val="90000"/>
              </a:lnSpc>
            </a:pPr>
            <a:r>
              <a:rPr lang="zh-CN" altLang="en-US" sz="1800" dirty="0">
                <a:solidFill>
                  <a:srgbClr val="FF0000"/>
                </a:solidFill>
                <a:latin typeface="华文新魏" panose="02010800040101010101" pitchFamily="2" charset="-122"/>
                <a:ea typeface="华文新魏" panose="02010800040101010101" pitchFamily="2" charset="-122"/>
              </a:rPr>
              <a:t>例：</a:t>
            </a:r>
            <a:r>
              <a:rPr lang="en-US" altLang="zh-CN" sz="1800">
                <a:solidFill>
                  <a:srgbClr val="FF0000"/>
                </a:solidFill>
                <a:latin typeface="华文新魏" panose="02010800040101010101" pitchFamily="2" charset="-122"/>
                <a:ea typeface="华文新魏" panose="02010800040101010101" pitchFamily="2" charset="-122"/>
              </a:rPr>
              <a:t>8-3</a:t>
            </a:r>
            <a:r>
              <a:rPr lang="zh-CN" altLang="en-US" sz="1800" dirty="0">
                <a:solidFill>
                  <a:srgbClr val="FF0000"/>
                </a:solidFill>
                <a:latin typeface="华文新魏" panose="02010800040101010101" pitchFamily="2" charset="-122"/>
                <a:ea typeface="华文新魏" panose="02010800040101010101" pitchFamily="2" charset="-122"/>
              </a:rPr>
              <a:t>编码器（用</a:t>
            </a:r>
            <a:r>
              <a:rPr lang="en-US" altLang="zh-CN" sz="1800">
                <a:solidFill>
                  <a:srgbClr val="FF0000"/>
                </a:solidFill>
                <a:latin typeface="华文新魏" panose="02010800040101010101" pitchFamily="2" charset="-122"/>
                <a:ea typeface="华文新魏" panose="02010800040101010101" pitchFamily="2" charset="-122"/>
              </a:rPr>
              <a:t>case</a:t>
            </a:r>
            <a:r>
              <a:rPr lang="zh-CN" altLang="en-US" sz="1800" dirty="0">
                <a:solidFill>
                  <a:srgbClr val="FF0000"/>
                </a:solidFill>
                <a:latin typeface="华文新魏" panose="02010800040101010101" pitchFamily="2" charset="-122"/>
                <a:ea typeface="华文新魏" panose="02010800040101010101" pitchFamily="2" charset="-122"/>
              </a:rPr>
              <a:t>语句来实现！）</a:t>
            </a:r>
          </a:p>
        </p:txBody>
      </p:sp>
      <p:sp>
        <p:nvSpPr>
          <p:cNvPr id="163847" name="Rectangle 7"/>
          <p:cNvSpPr/>
          <p:nvPr/>
        </p:nvSpPr>
        <p:spPr>
          <a:xfrm>
            <a:off x="1333500" y="823913"/>
            <a:ext cx="6667500" cy="4340225"/>
          </a:xfrm>
          <a:prstGeom prst="rect">
            <a:avLst/>
          </a:prstGeom>
          <a:noFill/>
          <a:ln w="28575">
            <a:noFill/>
          </a:ln>
        </p:spPr>
        <p:txBody>
          <a:bodyPr>
            <a:spAutoFit/>
          </a:bodyPr>
          <a:lstStyle/>
          <a:p>
            <a:pPr eaLnBrk="1" hangingPunct="1"/>
            <a:r>
              <a:rPr lang="en-US" altLang="zh-CN" sz="1200">
                <a:solidFill>
                  <a:srgbClr val="0000FF"/>
                </a:solidFill>
                <a:latin typeface="华文新魏" panose="02010800040101010101" pitchFamily="2" charset="-122"/>
                <a:ea typeface="华文新魏" panose="02010800040101010101" pitchFamily="2" charset="-122"/>
              </a:rPr>
              <a:t>LIBRARY</a:t>
            </a:r>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err="1">
                <a:solidFill>
                  <a:schemeClr val="tx1"/>
                </a:solidFill>
                <a:latin typeface="华文新魏" panose="02010800040101010101" pitchFamily="2" charset="-122"/>
                <a:ea typeface="华文新魏" panose="02010800040101010101" pitchFamily="2" charset="-122"/>
              </a:rPr>
              <a:t>ieee</a:t>
            </a:r>
            <a:r>
              <a:rPr lang="en-US" altLang="zh-CN" sz="1200">
                <a:solidFill>
                  <a:schemeClr val="tx1"/>
                </a:solidFill>
                <a:latin typeface="华文新魏" panose="02010800040101010101" pitchFamily="2" charset="-122"/>
                <a:ea typeface="华文新魏" panose="02010800040101010101" pitchFamily="2" charset="-122"/>
              </a:rPr>
              <a:t>;</a:t>
            </a:r>
          </a:p>
          <a:p>
            <a:pPr eaLnBrk="1" hangingPunct="1"/>
            <a:r>
              <a:rPr lang="en-US" altLang="zh-CN" sz="1200">
                <a:solidFill>
                  <a:srgbClr val="0000FF"/>
                </a:solidFill>
                <a:latin typeface="华文新魏" panose="02010800040101010101" pitchFamily="2" charset="-122"/>
                <a:ea typeface="华文新魏" panose="02010800040101010101" pitchFamily="2" charset="-122"/>
              </a:rPr>
              <a:t>USE</a:t>
            </a:r>
            <a:r>
              <a:rPr lang="en-US" altLang="zh-CN" sz="1200">
                <a:solidFill>
                  <a:schemeClr val="tx1"/>
                </a:solidFill>
                <a:latin typeface="华文新魏" panose="02010800040101010101" pitchFamily="2" charset="-122"/>
                <a:ea typeface="华文新魏" panose="02010800040101010101" pitchFamily="2" charset="-122"/>
              </a:rPr>
              <a:t> ieee.std_logic_1164.</a:t>
            </a:r>
            <a:r>
              <a:rPr lang="en-US" altLang="zh-CN" sz="1200">
                <a:solidFill>
                  <a:srgbClr val="0000FF"/>
                </a:solidFill>
                <a:latin typeface="华文新魏" panose="02010800040101010101" pitchFamily="2" charset="-122"/>
                <a:ea typeface="华文新魏" panose="02010800040101010101" pitchFamily="2" charset="-122"/>
              </a:rPr>
              <a:t>ALL</a:t>
            </a:r>
            <a:r>
              <a:rPr lang="en-US" altLang="zh-CN" sz="1200">
                <a:solidFill>
                  <a:schemeClr val="tx1"/>
                </a:solidFill>
                <a:latin typeface="华文新魏" panose="02010800040101010101" pitchFamily="2" charset="-122"/>
                <a:ea typeface="华文新魏" panose="02010800040101010101" pitchFamily="2" charset="-122"/>
              </a:rPr>
              <a:t>;</a:t>
            </a:r>
          </a:p>
          <a:p>
            <a:pPr eaLnBrk="1" hangingPunct="1"/>
            <a:r>
              <a:rPr lang="en-US" altLang="zh-CN" sz="1200">
                <a:solidFill>
                  <a:srgbClr val="0000FF"/>
                </a:solidFill>
                <a:latin typeface="华文新魏" panose="02010800040101010101" pitchFamily="2" charset="-122"/>
                <a:ea typeface="华文新魏" panose="02010800040101010101" pitchFamily="2" charset="-122"/>
              </a:rPr>
              <a:t>ENTITY</a:t>
            </a:r>
            <a:r>
              <a:rPr lang="en-US" altLang="zh-CN" sz="1200">
                <a:solidFill>
                  <a:schemeClr val="tx1"/>
                </a:solidFill>
                <a:latin typeface="华文新魏" panose="02010800040101010101" pitchFamily="2" charset="-122"/>
                <a:ea typeface="华文新魏" panose="02010800040101010101" pitchFamily="2" charset="-122"/>
              </a:rPr>
              <a:t> encoder8_3 </a:t>
            </a:r>
            <a:r>
              <a:rPr lang="en-US" altLang="zh-CN" sz="1200">
                <a:solidFill>
                  <a:srgbClr val="0000FF"/>
                </a:solidFill>
                <a:latin typeface="华文新魏" panose="02010800040101010101" pitchFamily="2" charset="-122"/>
                <a:ea typeface="华文新魏" panose="02010800040101010101" pitchFamily="2" charset="-122"/>
              </a:rPr>
              <a:t>IS</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err="1">
                <a:solidFill>
                  <a:srgbClr val="0000FF"/>
                </a:solidFill>
                <a:latin typeface="华文新魏" panose="02010800040101010101" pitchFamily="2" charset="-122"/>
                <a:ea typeface="华文新魏" panose="02010800040101010101" pitchFamily="2" charset="-122"/>
              </a:rPr>
              <a:t>PORT</a:t>
            </a:r>
            <a:r>
              <a:rPr lang="en-US" altLang="zh-CN" sz="1200" err="1">
                <a:solidFill>
                  <a:schemeClr val="tx1"/>
                </a:solidFill>
                <a:latin typeface="华文新魏" panose="02010800040101010101" pitchFamily="2" charset="-122"/>
                <a:ea typeface="华文新魏" panose="02010800040101010101" pitchFamily="2" charset="-122"/>
              </a:rPr>
              <a:t>(input</a:t>
            </a:r>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 IN  </a:t>
            </a:r>
            <a:r>
              <a:rPr lang="en-US" altLang="zh-CN" sz="1200">
                <a:solidFill>
                  <a:schemeClr val="tx1"/>
                </a:solidFill>
                <a:latin typeface="华文新魏" panose="02010800040101010101" pitchFamily="2" charset="-122"/>
                <a:ea typeface="华文新魏" panose="02010800040101010101" pitchFamily="2" charset="-122"/>
              </a:rPr>
              <a:t> STD_LOGIC_VECTOR(7 </a:t>
            </a:r>
            <a:r>
              <a:rPr lang="en-US" altLang="zh-CN" sz="1200">
                <a:solidFill>
                  <a:srgbClr val="0000FF"/>
                </a:solidFill>
                <a:latin typeface="华文新魏" panose="02010800040101010101" pitchFamily="2" charset="-122"/>
                <a:ea typeface="华文新魏" panose="02010800040101010101" pitchFamily="2" charset="-122"/>
              </a:rPr>
              <a:t>DOWNTO </a:t>
            </a:r>
            <a:r>
              <a:rPr lang="en-US" altLang="zh-CN" sz="1200">
                <a:solidFill>
                  <a:schemeClr val="tx1"/>
                </a:solidFill>
                <a:latin typeface="华文新魏" panose="02010800040101010101" pitchFamily="2" charset="-122"/>
                <a:ea typeface="华文新魏" panose="02010800040101010101" pitchFamily="2" charset="-122"/>
              </a:rPr>
              <a:t>0);</a:t>
            </a:r>
          </a:p>
          <a:p>
            <a:pPr eaLnBrk="1" hangingPunct="1"/>
            <a:r>
              <a:rPr lang="en-US" altLang="zh-CN" sz="1200">
                <a:solidFill>
                  <a:schemeClr val="tx1"/>
                </a:solidFill>
                <a:latin typeface="华文新魏" panose="02010800040101010101" pitchFamily="2" charset="-122"/>
                <a:ea typeface="华文新魏" panose="02010800040101010101" pitchFamily="2" charset="-122"/>
              </a:rPr>
              <a:t>	            y 	: </a:t>
            </a:r>
            <a:r>
              <a:rPr lang="en-US" altLang="zh-CN" sz="1200">
                <a:solidFill>
                  <a:srgbClr val="0000FF"/>
                </a:solidFill>
                <a:latin typeface="华文新魏" panose="02010800040101010101" pitchFamily="2" charset="-122"/>
                <a:ea typeface="华文新魏" panose="02010800040101010101" pitchFamily="2" charset="-122"/>
              </a:rPr>
              <a:t>OUT</a:t>
            </a:r>
            <a:r>
              <a:rPr lang="en-US" altLang="zh-CN" sz="1200">
                <a:solidFill>
                  <a:srgbClr val="FF99CC"/>
                </a:solidFill>
                <a:latin typeface="华文新魏" panose="02010800040101010101" pitchFamily="2" charset="-122"/>
                <a:ea typeface="华文新魏" panose="02010800040101010101" pitchFamily="2" charset="-122"/>
              </a:rPr>
              <a:t> </a:t>
            </a:r>
            <a:r>
              <a:rPr lang="en-US" altLang="zh-CN" sz="1200">
                <a:solidFill>
                  <a:schemeClr val="tx1"/>
                </a:solidFill>
                <a:latin typeface="华文新魏" panose="02010800040101010101" pitchFamily="2" charset="-122"/>
                <a:ea typeface="华文新魏" panose="02010800040101010101" pitchFamily="2" charset="-122"/>
              </a:rPr>
              <a:t> STD_LOGIC_VECTOR(2 </a:t>
            </a:r>
            <a:r>
              <a:rPr lang="en-US" altLang="zh-CN" sz="1200">
                <a:solidFill>
                  <a:srgbClr val="0000FF"/>
                </a:solidFill>
                <a:latin typeface="华文新魏" panose="02010800040101010101" pitchFamily="2" charset="-122"/>
                <a:ea typeface="华文新魏" panose="02010800040101010101" pitchFamily="2" charset="-122"/>
              </a:rPr>
              <a:t>DOWNTO</a:t>
            </a:r>
            <a:r>
              <a:rPr lang="en-US" altLang="zh-CN" sz="1200">
                <a:solidFill>
                  <a:schemeClr val="tx1"/>
                </a:solidFill>
                <a:latin typeface="华文新魏" panose="02010800040101010101" pitchFamily="2" charset="-122"/>
                <a:ea typeface="华文新魏" panose="02010800040101010101" pitchFamily="2" charset="-122"/>
              </a:rPr>
              <a:t> 0));</a:t>
            </a:r>
          </a:p>
          <a:p>
            <a:pPr eaLnBrk="1" hangingPunct="1"/>
            <a:r>
              <a:rPr lang="en-US" altLang="zh-CN" sz="1200">
                <a:solidFill>
                  <a:srgbClr val="0000FF"/>
                </a:solidFill>
                <a:latin typeface="华文新魏" panose="02010800040101010101" pitchFamily="2" charset="-122"/>
                <a:ea typeface="华文新魏" panose="02010800040101010101" pitchFamily="2" charset="-122"/>
              </a:rPr>
              <a:t>END</a:t>
            </a:r>
            <a:r>
              <a:rPr lang="en-US" altLang="zh-CN" sz="1200">
                <a:solidFill>
                  <a:schemeClr val="tx1"/>
                </a:solidFill>
                <a:latin typeface="华文新魏" panose="02010800040101010101" pitchFamily="2" charset="-122"/>
                <a:ea typeface="华文新魏" panose="02010800040101010101" pitchFamily="2" charset="-122"/>
              </a:rPr>
              <a:t> encoder8_3;</a:t>
            </a:r>
          </a:p>
          <a:p>
            <a:pPr eaLnBrk="1" hangingPunct="1"/>
            <a:r>
              <a:rPr lang="en-US" altLang="zh-CN" sz="1200">
                <a:solidFill>
                  <a:srgbClr val="0000FF"/>
                </a:solidFill>
                <a:latin typeface="华文新魏" panose="02010800040101010101" pitchFamily="2" charset="-122"/>
                <a:ea typeface="华文新魏" panose="02010800040101010101" pitchFamily="2" charset="-122"/>
              </a:rPr>
              <a:t>ARCHITECTURE</a:t>
            </a:r>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err="1">
                <a:solidFill>
                  <a:schemeClr val="tx1"/>
                </a:solidFill>
                <a:latin typeface="华文新魏" panose="02010800040101010101" pitchFamily="2" charset="-122"/>
                <a:ea typeface="华文新魏" panose="02010800040101010101" pitchFamily="2" charset="-122"/>
              </a:rPr>
              <a:t>rtl</a:t>
            </a:r>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OF</a:t>
            </a:r>
            <a:r>
              <a:rPr lang="en-US" altLang="zh-CN" sz="1200">
                <a:solidFill>
                  <a:schemeClr val="tx1"/>
                </a:solidFill>
                <a:latin typeface="华文新魏" panose="02010800040101010101" pitchFamily="2" charset="-122"/>
                <a:ea typeface="华文新魏" panose="02010800040101010101" pitchFamily="2" charset="-122"/>
              </a:rPr>
              <a:t> encoder8_3 </a:t>
            </a:r>
            <a:r>
              <a:rPr lang="en-US" altLang="zh-CN" sz="1200">
                <a:solidFill>
                  <a:srgbClr val="0000FF"/>
                </a:solidFill>
                <a:latin typeface="华文新魏" panose="02010800040101010101" pitchFamily="2" charset="-122"/>
                <a:ea typeface="华文新魏" panose="02010800040101010101" pitchFamily="2" charset="-122"/>
              </a:rPr>
              <a:t>IS</a:t>
            </a:r>
          </a:p>
          <a:p>
            <a:pPr eaLnBrk="1" hangingPunct="1"/>
            <a:r>
              <a:rPr lang="en-US" altLang="zh-CN" sz="1200">
                <a:solidFill>
                  <a:srgbClr val="0000FF"/>
                </a:solidFill>
                <a:latin typeface="华文新魏" panose="02010800040101010101" pitchFamily="2" charset="-122"/>
                <a:ea typeface="华文新魏" panose="02010800040101010101" pitchFamily="2" charset="-122"/>
              </a:rPr>
              <a:t>BEGIN</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PROCESS </a:t>
            </a:r>
            <a:r>
              <a:rPr lang="en-US" altLang="zh-CN" sz="1200">
                <a:solidFill>
                  <a:schemeClr val="tx1"/>
                </a:solidFill>
                <a:latin typeface="华文新魏" panose="02010800040101010101" pitchFamily="2" charset="-122"/>
                <a:ea typeface="华文新魏" panose="02010800040101010101" pitchFamily="2" charset="-122"/>
              </a:rPr>
              <a:t>(input)</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BEGIN</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CASE</a:t>
            </a:r>
            <a:r>
              <a:rPr lang="en-US" altLang="zh-CN" sz="1200">
                <a:solidFill>
                  <a:schemeClr val="tx1"/>
                </a:solidFill>
                <a:latin typeface="华文新魏" panose="02010800040101010101" pitchFamily="2" charset="-122"/>
                <a:ea typeface="华文新魏" panose="02010800040101010101" pitchFamily="2" charset="-122"/>
              </a:rPr>
              <a:t> input</a:t>
            </a:r>
            <a:r>
              <a:rPr lang="en-US" altLang="zh-CN" sz="1200">
                <a:solidFill>
                  <a:srgbClr val="FF99CC"/>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IS</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a:t>
            </a:r>
            <a:r>
              <a:rPr lang="en-US" altLang="zh-CN" sz="1200">
                <a:solidFill>
                  <a:schemeClr val="tx1"/>
                </a:solidFill>
                <a:latin typeface="华文新魏" panose="02010800040101010101" pitchFamily="2" charset="-122"/>
                <a:ea typeface="华文新魏" panose="02010800040101010101" pitchFamily="2" charset="-122"/>
              </a:rPr>
              <a:t> "01111111" =&gt; y&lt;="111";</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 </a:t>
            </a:r>
            <a:r>
              <a:rPr lang="en-US" altLang="zh-CN" sz="1200">
                <a:solidFill>
                  <a:schemeClr val="tx1"/>
                </a:solidFill>
                <a:latin typeface="华文新魏" panose="02010800040101010101" pitchFamily="2" charset="-122"/>
                <a:ea typeface="华文新魏" panose="02010800040101010101" pitchFamily="2" charset="-122"/>
              </a:rPr>
              <a:t>"10111111" =&gt; y&lt;="110";</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 </a:t>
            </a:r>
            <a:r>
              <a:rPr lang="en-US" altLang="zh-CN" sz="1200">
                <a:solidFill>
                  <a:schemeClr val="tx1"/>
                </a:solidFill>
                <a:latin typeface="华文新魏" panose="02010800040101010101" pitchFamily="2" charset="-122"/>
                <a:ea typeface="华文新魏" panose="02010800040101010101" pitchFamily="2" charset="-122"/>
              </a:rPr>
              <a:t>"11011111" =&gt; y&lt;="101";</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a:t>
            </a:r>
            <a:r>
              <a:rPr lang="en-US" altLang="zh-CN" sz="1200">
                <a:solidFill>
                  <a:schemeClr val="tx1"/>
                </a:solidFill>
                <a:latin typeface="华文新魏" panose="02010800040101010101" pitchFamily="2" charset="-122"/>
                <a:ea typeface="华文新魏" panose="02010800040101010101" pitchFamily="2" charset="-122"/>
              </a:rPr>
              <a:t> "11101111" =&gt; y&lt;="100";</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 </a:t>
            </a:r>
            <a:r>
              <a:rPr lang="en-US" altLang="zh-CN" sz="1200">
                <a:solidFill>
                  <a:schemeClr val="tx1"/>
                </a:solidFill>
                <a:latin typeface="华文新魏" panose="02010800040101010101" pitchFamily="2" charset="-122"/>
                <a:ea typeface="华文新魏" panose="02010800040101010101" pitchFamily="2" charset="-122"/>
              </a:rPr>
              <a:t>"11110111" =&gt; y&lt;="011";</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a:t>
            </a:r>
            <a:r>
              <a:rPr lang="en-US" altLang="zh-CN" sz="1200">
                <a:solidFill>
                  <a:schemeClr val="tx1"/>
                </a:solidFill>
                <a:latin typeface="华文新魏" panose="02010800040101010101" pitchFamily="2" charset="-122"/>
                <a:ea typeface="华文新魏" panose="02010800040101010101" pitchFamily="2" charset="-122"/>
              </a:rPr>
              <a:t> "11111011" =&gt; y&lt;="010";</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a:t>
            </a:r>
            <a:r>
              <a:rPr lang="en-US" altLang="zh-CN" sz="1200">
                <a:solidFill>
                  <a:schemeClr val="tx1"/>
                </a:solidFill>
                <a:latin typeface="华文新魏" panose="02010800040101010101" pitchFamily="2" charset="-122"/>
                <a:ea typeface="华文新魏" panose="02010800040101010101" pitchFamily="2" charset="-122"/>
              </a:rPr>
              <a:t> "11111101" =&gt; y&lt;="001";</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a:t>
            </a:r>
            <a:r>
              <a:rPr lang="en-US" altLang="zh-CN" sz="1200">
                <a:solidFill>
                  <a:schemeClr val="tx1"/>
                </a:solidFill>
                <a:latin typeface="华文新魏" panose="02010800040101010101" pitchFamily="2" charset="-122"/>
                <a:ea typeface="华文新魏" panose="02010800040101010101" pitchFamily="2" charset="-122"/>
              </a:rPr>
              <a:t> "11111110" =&gt; y&lt;="000";</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WHEN OTHERS  </a:t>
            </a:r>
            <a:r>
              <a:rPr lang="en-US" altLang="zh-CN" sz="1200">
                <a:solidFill>
                  <a:schemeClr val="tx1"/>
                </a:solidFill>
                <a:latin typeface="华文新魏" panose="02010800040101010101" pitchFamily="2" charset="-122"/>
                <a:ea typeface="华文新魏" panose="02010800040101010101" pitchFamily="2" charset="-122"/>
              </a:rPr>
              <a:t>=&gt; y&lt;=“XXX";</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END CASE</a:t>
            </a:r>
            <a:r>
              <a:rPr lang="en-US" altLang="zh-CN" sz="1200">
                <a:solidFill>
                  <a:schemeClr val="tx1"/>
                </a:solidFill>
                <a:latin typeface="华文新魏" panose="02010800040101010101" pitchFamily="2" charset="-122"/>
                <a:ea typeface="华文新魏" panose="02010800040101010101" pitchFamily="2" charset="-122"/>
              </a:rPr>
              <a:t>;</a:t>
            </a:r>
          </a:p>
          <a:p>
            <a:pPr eaLnBrk="1" hangingPunct="1"/>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END PROCESS</a:t>
            </a:r>
            <a:r>
              <a:rPr lang="en-US" altLang="zh-CN" sz="1200">
                <a:solidFill>
                  <a:schemeClr val="tx1"/>
                </a:solidFill>
                <a:latin typeface="华文新魏" panose="02010800040101010101" pitchFamily="2" charset="-122"/>
                <a:ea typeface="华文新魏" panose="02010800040101010101" pitchFamily="2" charset="-122"/>
              </a:rPr>
              <a:t>;</a:t>
            </a:r>
          </a:p>
          <a:p>
            <a:pPr eaLnBrk="1" hangingPunct="1"/>
            <a:r>
              <a:rPr lang="en-US" altLang="zh-CN" sz="1200">
                <a:solidFill>
                  <a:srgbClr val="0000FF"/>
                </a:solidFill>
                <a:latin typeface="华文新魏" panose="02010800040101010101" pitchFamily="2" charset="-122"/>
                <a:ea typeface="华文新魏" panose="02010800040101010101" pitchFamily="2" charset="-122"/>
              </a:rPr>
              <a:t>END</a:t>
            </a:r>
            <a:r>
              <a:rPr lang="en-US" altLang="zh-CN" sz="1200">
                <a:solidFill>
                  <a:schemeClr val="tx1"/>
                </a:solidFill>
                <a:latin typeface="华文新魏" panose="02010800040101010101" pitchFamily="2" charset="-122"/>
                <a:ea typeface="华文新魏" panose="02010800040101010101" pitchFamily="2" charset="-122"/>
              </a:rPr>
              <a:t> </a:t>
            </a:r>
            <a:r>
              <a:rPr lang="en-US" altLang="zh-CN" sz="1200" err="1">
                <a:solidFill>
                  <a:schemeClr val="tx1"/>
                </a:solidFill>
                <a:latin typeface="华文新魏" panose="02010800040101010101" pitchFamily="2" charset="-122"/>
                <a:ea typeface="华文新魏" panose="02010800040101010101" pitchFamily="2" charset="-122"/>
              </a:rPr>
              <a:t>rtl</a:t>
            </a:r>
            <a:r>
              <a:rPr lang="en-US" altLang="zh-CN" sz="1200">
                <a:solidFill>
                  <a:schemeClr val="tx1"/>
                </a:solidFill>
                <a:latin typeface="华文新魏" panose="02010800040101010101" pitchFamily="2" charset="-122"/>
                <a:ea typeface="华文新魏" panose="02010800040101010101" pitchFamily="2" charset="-122"/>
              </a:rPr>
              <a:t>;</a:t>
            </a:r>
          </a:p>
        </p:txBody>
      </p:sp>
      <p:sp>
        <p:nvSpPr>
          <p:cNvPr id="109571" name="Text Box 3"/>
          <p:cNvSpPr txBox="1"/>
          <p:nvPr/>
        </p:nvSpPr>
        <p:spPr>
          <a:xfrm>
            <a:off x="6521102" y="555526"/>
            <a:ext cx="2578795" cy="3416320"/>
          </a:xfrm>
          <a:prstGeom prst="rect">
            <a:avLst/>
          </a:prstGeom>
          <a:solidFill>
            <a:schemeClr val="bg1"/>
          </a:solidFill>
          <a:ln w="28575" cap="sq" cmpd="sng">
            <a:solidFill>
              <a:srgbClr val="66FF66"/>
            </a:solidFill>
            <a:prstDash val="solid"/>
            <a:miter/>
            <a:headEnd type="none" w="sm" len="sm"/>
            <a:tailEnd type="none" w="sm" len="sm"/>
          </a:ln>
        </p:spPr>
        <p:txBody>
          <a:bodyPr wrap="square">
            <a:spAutoFit/>
          </a:bodyPr>
          <a:lstStyle/>
          <a:p>
            <a:pPr eaLnBrk="1" hangingPunct="1">
              <a:spcBef>
                <a:spcPct val="50000"/>
              </a:spcBef>
            </a:pPr>
            <a:r>
              <a:rPr lang="zh-CN" altLang="en-US" sz="1800" dirty="0">
                <a:solidFill>
                  <a:schemeClr val="tx1"/>
                </a:solidFill>
                <a:latin typeface="华文新魏" panose="02010800040101010101" pitchFamily="2" charset="-122"/>
                <a:ea typeface="华文新魏" panose="02010800040101010101" pitchFamily="2" charset="-122"/>
              </a:rPr>
              <a:t>该例中，当某一项输入同时出现两个或两个以上的</a:t>
            </a:r>
            <a:r>
              <a:rPr lang="zh-CN" altLang="en-US"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0</a:t>
            </a:r>
            <a:r>
              <a:rPr lang="en-US" altLang="zh-CN" sz="1800" dirty="0">
                <a:solidFill>
                  <a:schemeClr val="tx1"/>
                </a:solidFill>
                <a:latin typeface="Times New Roman" panose="02020603050405020304" pitchFamily="18" charset="0"/>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时，</a:t>
            </a:r>
            <a:r>
              <a:rPr lang="en-US" altLang="zh-CN" sz="1800" dirty="0">
                <a:solidFill>
                  <a:schemeClr val="tx1"/>
                </a:solidFill>
                <a:latin typeface="华文新魏" panose="02010800040101010101" pitchFamily="2" charset="-122"/>
                <a:ea typeface="华文新魏" panose="02010800040101010101" pitchFamily="2" charset="-122"/>
              </a:rPr>
              <a:t>y</a:t>
            </a:r>
            <a:r>
              <a:rPr lang="zh-CN" altLang="en-US" sz="1800" dirty="0">
                <a:solidFill>
                  <a:schemeClr val="tx1"/>
                </a:solidFill>
                <a:latin typeface="华文新魏" panose="02010800040101010101" pitchFamily="2" charset="-122"/>
                <a:ea typeface="华文新魏" panose="02010800040101010101" pitchFamily="2" charset="-122"/>
              </a:rPr>
              <a:t>输出值就将变成</a:t>
            </a:r>
            <a:r>
              <a:rPr lang="zh-CN" altLang="en-US"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X</a:t>
            </a:r>
            <a:r>
              <a:rPr lang="en-US" altLang="zh-CN" sz="1800" dirty="0">
                <a:solidFill>
                  <a:schemeClr val="tx1"/>
                </a:solidFill>
                <a:latin typeface="Times New Roman" panose="02020603050405020304" pitchFamily="18" charset="0"/>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（可能是</a:t>
            </a:r>
            <a:r>
              <a:rPr lang="zh-CN" altLang="en-US"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0</a:t>
            </a:r>
            <a:r>
              <a:rPr lang="en-US" altLang="zh-CN"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也可能是</a:t>
            </a:r>
            <a:r>
              <a:rPr lang="zh-CN" altLang="en-US"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）。在逻辑综合时就认为是不可能的输出项，从而就可以大大简化逻辑电路的设计。在仿真时如果出现了不确定的</a:t>
            </a:r>
            <a:r>
              <a:rPr lang="zh-CN" altLang="en-US" sz="1800" dirty="0">
                <a:solidFill>
                  <a:schemeClr val="tx1"/>
                </a:solidFill>
                <a:latin typeface="Times New Roman" panose="02020603050405020304" pitchFamily="18" charset="0"/>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X</a:t>
            </a:r>
            <a:r>
              <a:rPr lang="en-US" altLang="zh-CN" sz="1800" dirty="0">
                <a:solidFill>
                  <a:schemeClr val="tx1"/>
                </a:solidFill>
                <a:latin typeface="Times New Roman" panose="02020603050405020304" pitchFamily="18" charset="0"/>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值，可以检查是否出现了不正确的输入。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47"/>
                                        </p:tgtEl>
                                        <p:attrNameLst>
                                          <p:attrName>style.visibility</p:attrName>
                                        </p:attrNameLst>
                                      </p:cBhvr>
                                      <p:to>
                                        <p:strVal val="visible"/>
                                      </p:to>
                                    </p:set>
                                    <p:anim calcmode="lin" valueType="num">
                                      <p:cBhvr additive="base">
                                        <p:cTn id="7" dur="500" fill="hold"/>
                                        <p:tgtEl>
                                          <p:spTgt spid="163847"/>
                                        </p:tgtEl>
                                        <p:attrNameLst>
                                          <p:attrName>ppt_x</p:attrName>
                                        </p:attrNameLst>
                                      </p:cBhvr>
                                      <p:tavLst>
                                        <p:tav tm="0">
                                          <p:val>
                                            <p:strVal val="#ppt_x"/>
                                          </p:val>
                                        </p:tav>
                                        <p:tav tm="100000">
                                          <p:val>
                                            <p:strVal val="#ppt_x"/>
                                          </p:val>
                                        </p:tav>
                                      </p:tavLst>
                                    </p:anim>
                                    <p:anim calcmode="lin" valueType="num">
                                      <p:cBhvr additive="base">
                                        <p:cTn id="8" dur="500" fill="hold"/>
                                        <p:tgtEl>
                                          <p:spTgt spid="1638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272" fill="hold" grpId="0" nodeType="clickEffect">
                                  <p:stCondLst>
                                    <p:cond delay="0"/>
                                  </p:stCondLst>
                                  <p:childTnLst>
                                    <p:set>
                                      <p:cBhvr>
                                        <p:cTn id="12" dur="1" fill="hold">
                                          <p:stCondLst>
                                            <p:cond delay="0"/>
                                          </p:stCondLst>
                                        </p:cTn>
                                        <p:tgtEl>
                                          <p:spTgt spid="109571"/>
                                        </p:tgtEl>
                                        <p:attrNameLst>
                                          <p:attrName>style.visibility</p:attrName>
                                        </p:attrNameLst>
                                      </p:cBhvr>
                                      <p:to>
                                        <p:strVal val="visible"/>
                                      </p:to>
                                    </p:set>
                                    <p:anim calcmode="lin" valueType="num">
                                      <p:cBhvr>
                                        <p:cTn id="13" dur="500" fill="hold"/>
                                        <p:tgtEl>
                                          <p:spTgt spid="109571"/>
                                        </p:tgtEl>
                                        <p:attrNameLst>
                                          <p:attrName>ppt_w</p:attrName>
                                        </p:attrNameLst>
                                      </p:cBhvr>
                                      <p:tavLst>
                                        <p:tav tm="0">
                                          <p:val>
                                            <p:strVal val="2/3*#ppt_w"/>
                                          </p:val>
                                        </p:tav>
                                        <p:tav tm="100000">
                                          <p:val>
                                            <p:strVal val="#ppt_w"/>
                                          </p:val>
                                        </p:tav>
                                      </p:tavLst>
                                    </p:anim>
                                    <p:anim calcmode="lin" valueType="num">
                                      <p:cBhvr>
                                        <p:cTn id="14" dur="500" fill="hold"/>
                                        <p:tgtEl>
                                          <p:spTgt spid="10957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p:bldP spid="10957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D8C13E-69C9-4067-8C35-EF68539C2DD5}"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74</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9747" name="Rectangle 2"/>
          <p:cNvSpPr>
            <a:spLocks noGrp="1" noChangeArrowheads="1"/>
          </p:cNvSpPr>
          <p:nvPr>
            <p:ph idx="1" hasCustomPrompt="1"/>
          </p:nvPr>
        </p:nvSpPr>
        <p:spPr>
          <a:xfrm>
            <a:off x="756285" y="699135"/>
            <a:ext cx="7689850" cy="445770"/>
          </a:xfrm>
        </p:spPr>
        <p:txBody>
          <a:bodyPr/>
          <a:lstStyle/>
          <a:p>
            <a:pPr marL="171450" marR="0" lvl="0" indent="-171450" algn="l" defTabSz="685800" rtl="0" eaLnBrk="1" fontAlgn="base" latinLnBrk="0" hangingPunct="1">
              <a:lnSpc>
                <a:spcPct val="80000"/>
              </a:lnSpc>
              <a:spcBef>
                <a:spcPts val="750"/>
              </a:spcBef>
              <a:spcAft>
                <a:spcPct val="0"/>
              </a:spcAft>
              <a:buClrTx/>
              <a:buSzTx/>
              <a:buFontTx/>
              <a:buNone/>
              <a:defRPr/>
            </a:pPr>
            <a:r>
              <a:rPr kumimoji="0" lang="zh-CN" altLang="en-US" sz="2000" b="1"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补充重要语句</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条件信号代入语句（</a:t>
            </a:r>
            <a:r>
              <a:rPr kumimoji="0" lang="en-US" altLang="zh-CN"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Conditional  Signal  Assignment</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a:t>
            </a:r>
          </a:p>
          <a:p>
            <a:pPr marL="171450" marR="0" lvl="0" indent="-171450" algn="l" defTabSz="685800" rtl="0" eaLnBrk="1" fontAlgn="base" latinLnBrk="0" hangingPunct="1">
              <a:lnSpc>
                <a:spcPct val="80000"/>
              </a:lnSpc>
              <a:spcBef>
                <a:spcPts val="750"/>
              </a:spcBef>
              <a:spcAft>
                <a:spcPct val="0"/>
              </a:spcAft>
              <a:buClrTx/>
              <a:buSzTx/>
              <a:buFontTx/>
              <a:buNone/>
              <a:defRPr/>
            </a:pPr>
            <a:endParaRPr kumimoji="0" lang="zh-CN" altLang="en-US" sz="1350" b="1" i="0" u="none" strike="noStrike" kern="1200" cap="none" spc="0" normalizeH="0" baseline="0" noProof="0" dirty="0">
              <a:ln>
                <a:noFill/>
              </a:ln>
              <a:solidFill>
                <a:srgbClr val="FFFF66"/>
              </a:solidFill>
              <a:effectLst/>
              <a:uLnTx/>
              <a:uFillTx/>
              <a:latin typeface="华文新魏" panose="02010800040101010101" pitchFamily="2" charset="-122"/>
              <a:ea typeface="华文新魏" panose="02010800040101010101" pitchFamily="2" charset="-122"/>
              <a:cs typeface="+mn-cs"/>
            </a:endParaRPr>
          </a:p>
          <a:p>
            <a:pPr marL="171450" marR="0" lvl="0" indent="-171450" algn="l" defTabSz="685800" rtl="0" eaLnBrk="1" fontAlgn="base" latinLnBrk="0" hangingPunct="1">
              <a:lnSpc>
                <a:spcPct val="80000"/>
              </a:lnSpc>
              <a:spcBef>
                <a:spcPts val="750"/>
              </a:spcBef>
              <a:spcAft>
                <a:spcPct val="0"/>
              </a:spcAft>
              <a:buClrTx/>
              <a:buSzTx/>
              <a:buFontTx/>
              <a:buNone/>
              <a:defRPr/>
            </a:pPr>
            <a:r>
              <a:rPr kumimoji="0" lang="zh-CN" altLang="en-US" sz="21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100" b="1" i="1"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条件信号代入语句也是并发描述语句</a:t>
            </a:r>
            <a:r>
              <a:rPr kumimoji="0" lang="zh-CN" altLang="en-US" sz="21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a:t>
            </a:r>
          </a:p>
        </p:txBody>
      </p:sp>
      <p:sp>
        <p:nvSpPr>
          <p:cNvPr id="192516" name="Text Box 3"/>
          <p:cNvSpPr txBox="1"/>
          <p:nvPr/>
        </p:nvSpPr>
        <p:spPr>
          <a:xfrm>
            <a:off x="1235710" y="1830070"/>
            <a:ext cx="7073900" cy="2676525"/>
          </a:xfrm>
          <a:prstGeom prst="rect">
            <a:avLst/>
          </a:prstGeom>
          <a:noFill/>
          <a:ln w="12700" cap="sq" cmpd="sng">
            <a:solidFill>
              <a:schemeClr val="tx1"/>
            </a:solidFill>
            <a:prstDash val="solid"/>
            <a:miter/>
            <a:headEnd type="none" w="sm" len="sm"/>
            <a:tailEnd type="none" w="sm" len="sm"/>
          </a:ln>
        </p:spPr>
        <p:txBody>
          <a:bodyPr wrap="square">
            <a:spAutoFit/>
          </a:bodyPr>
          <a:lstStyle/>
          <a:p>
            <a:pPr algn="just" eaLnBrk="1" hangingPunct="1">
              <a:spcBef>
                <a:spcPct val="50000"/>
              </a:spcBef>
            </a:pPr>
            <a:r>
              <a:rPr lang="zh-CN" altLang="en-US" sz="2400" dirty="0">
                <a:solidFill>
                  <a:srgbClr val="0000FF"/>
                </a:solidFill>
                <a:latin typeface="华文新魏" panose="02010800040101010101" pitchFamily="2" charset="-122"/>
                <a:ea typeface="华文新魏" panose="02010800040101010101" pitchFamily="2" charset="-122"/>
              </a:rPr>
              <a:t>条件信号赋值语句的格式为：</a:t>
            </a:r>
          </a:p>
          <a:p>
            <a:pPr algn="just" eaLnBrk="1" hangingPunct="1">
              <a:spcBef>
                <a:spcPct val="50000"/>
              </a:spcBef>
            </a:pPr>
            <a:r>
              <a:rPr lang="zh-CN" altLang="en-US" sz="2400" dirty="0">
                <a:solidFill>
                  <a:schemeClr val="tx1"/>
                </a:solidFill>
                <a:latin typeface="华文新魏" panose="02010800040101010101" pitchFamily="2" charset="-122"/>
                <a:ea typeface="华文新魏" panose="02010800040101010101" pitchFamily="2" charset="-122"/>
              </a:rPr>
              <a:t>          目标信号 </a:t>
            </a:r>
            <a:r>
              <a:rPr lang="en-US" altLang="zh-CN" sz="2400">
                <a:solidFill>
                  <a:schemeClr val="tx1"/>
                </a:solidFill>
                <a:latin typeface="华文新魏" panose="02010800040101010101" pitchFamily="2" charset="-122"/>
                <a:ea typeface="华文新魏" panose="02010800040101010101" pitchFamily="2" charset="-122"/>
              </a:rPr>
              <a:t>&lt;= </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a:solidFill>
                  <a:schemeClr val="tx1"/>
                </a:solidFill>
                <a:latin typeface="华文新魏" panose="02010800040101010101" pitchFamily="2" charset="-122"/>
                <a:ea typeface="华文新魏" panose="02010800040101010101" pitchFamily="2" charset="-122"/>
              </a:rPr>
              <a:t>1    </a:t>
            </a:r>
            <a:r>
              <a:rPr lang="en-US" altLang="zh-CN" sz="2400">
                <a:solidFill>
                  <a:srgbClr val="0000FF"/>
                </a:solidFill>
                <a:latin typeface="华文新魏" panose="02010800040101010101" pitchFamily="2" charset="-122"/>
                <a:ea typeface="华文新魏" panose="02010800040101010101" pitchFamily="2" charset="-122"/>
              </a:rPr>
              <a:t>WHEN</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条件</a:t>
            </a:r>
            <a:r>
              <a:rPr lang="en-US" altLang="zh-CN" sz="2400">
                <a:solidFill>
                  <a:schemeClr val="tx1"/>
                </a:solidFill>
                <a:latin typeface="华文新魏" panose="02010800040101010101" pitchFamily="2" charset="-122"/>
                <a:ea typeface="华文新魏" panose="02010800040101010101" pitchFamily="2" charset="-122"/>
              </a:rPr>
              <a:t>1  </a:t>
            </a:r>
            <a:r>
              <a:rPr lang="en-US" altLang="zh-CN" sz="2400">
                <a:solidFill>
                  <a:srgbClr val="0000FF"/>
                </a:solidFill>
                <a:latin typeface="华文新魏" panose="02010800040101010101" pitchFamily="2" charset="-122"/>
                <a:ea typeface="华文新魏" panose="02010800040101010101" pitchFamily="2" charset="-122"/>
              </a:rPr>
              <a:t>ELSE</a:t>
            </a:r>
          </a:p>
          <a:p>
            <a:pPr algn="just" eaLnBrk="1" hangingPunct="1">
              <a:spcBef>
                <a:spcPct val="5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a:solidFill>
                  <a:schemeClr val="tx1"/>
                </a:solidFill>
                <a:latin typeface="华文新魏" panose="02010800040101010101" pitchFamily="2" charset="-122"/>
                <a:ea typeface="华文新魏" panose="02010800040101010101" pitchFamily="2" charset="-122"/>
              </a:rPr>
              <a:t>2    </a:t>
            </a:r>
            <a:r>
              <a:rPr lang="en-US" altLang="zh-CN" sz="2400">
                <a:solidFill>
                  <a:srgbClr val="0000FF"/>
                </a:solidFill>
                <a:latin typeface="华文新魏" panose="02010800040101010101" pitchFamily="2" charset="-122"/>
                <a:ea typeface="华文新魏" panose="02010800040101010101" pitchFamily="2" charset="-122"/>
              </a:rPr>
              <a:t>WHEN</a:t>
            </a: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条件</a:t>
            </a:r>
            <a:r>
              <a:rPr lang="en-US" altLang="zh-CN" sz="2400">
                <a:solidFill>
                  <a:schemeClr val="tx1"/>
                </a:solidFill>
                <a:latin typeface="华文新魏" panose="02010800040101010101" pitchFamily="2" charset="-122"/>
                <a:ea typeface="华文新魏" panose="02010800040101010101" pitchFamily="2" charset="-122"/>
              </a:rPr>
              <a:t>2 </a:t>
            </a:r>
            <a:r>
              <a:rPr lang="en-US" altLang="zh-CN" sz="2400">
                <a:solidFill>
                  <a:srgbClr val="0000FF"/>
                </a:solidFill>
                <a:latin typeface="华文新魏" panose="02010800040101010101" pitchFamily="2" charset="-122"/>
                <a:ea typeface="华文新魏" panose="02010800040101010101" pitchFamily="2" charset="-122"/>
              </a:rPr>
              <a:t>ELSE</a:t>
            </a:r>
          </a:p>
          <a:p>
            <a:pPr algn="just" eaLnBrk="1" hangingPunct="1">
              <a:spcBef>
                <a:spcPct val="50000"/>
              </a:spcBef>
            </a:pPr>
            <a:r>
              <a:rPr lang="en-US" altLang="zh-CN" sz="2400">
                <a:solidFill>
                  <a:schemeClr val="tx1"/>
                </a:solidFill>
                <a:latin typeface="华文新魏" panose="02010800040101010101" pitchFamily="2" charset="-122"/>
                <a:ea typeface="华文新魏" panose="02010800040101010101" pitchFamily="2" charset="-122"/>
              </a:rPr>
              <a:t>                           	 </a:t>
            </a:r>
            <a:r>
              <a:rPr lang="en-US" altLang="zh-CN" sz="2400">
                <a:solidFill>
                  <a:schemeClr val="tx1"/>
                </a:solidFill>
                <a:latin typeface="Times New Roman" panose="02020603050405020304" pitchFamily="18" charset="0"/>
                <a:ea typeface="华文新魏" panose="02010800040101010101" pitchFamily="2" charset="-122"/>
              </a:rPr>
              <a:t>……</a:t>
            </a:r>
            <a:r>
              <a:rPr lang="en-US" altLang="zh-CN" sz="2400">
                <a:solidFill>
                  <a:schemeClr val="tx1"/>
                </a:solidFill>
                <a:latin typeface="华文新魏" panose="02010800040101010101" pitchFamily="2" charset="-122"/>
                <a:ea typeface="华文新魏" panose="02010800040101010101" pitchFamily="2" charset="-122"/>
              </a:rPr>
              <a:t>  </a:t>
            </a:r>
          </a:p>
          <a:p>
            <a:pPr eaLnBrk="1" hangingPunct="1">
              <a:spcBef>
                <a:spcPct val="5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表达式</a:t>
            </a:r>
            <a:r>
              <a:rPr lang="en-US" altLang="zh-CN" sz="2400">
                <a:solidFill>
                  <a:schemeClr val="tx1"/>
                </a:solidFill>
                <a:latin typeface="华文新魏" panose="02010800040101010101" pitchFamily="2" charset="-122"/>
                <a:ea typeface="华文新魏" panose="02010800040101010101" pitchFamily="2" charset="-122"/>
              </a:rPr>
              <a:t>n</a:t>
            </a:r>
            <a:r>
              <a:rPr lang="zh-CN" altLang="en-US" sz="2400" dirty="0">
                <a:solidFill>
                  <a:schemeClr val="tx1"/>
                </a:solidFill>
                <a:latin typeface="华文新魏" panose="02010800040101010101" pitchFamily="2" charset="-122"/>
                <a:ea typeface="华文新魏" panose="02010800040101010101" pitchFamily="2" charset="-122"/>
              </a:rPr>
              <a:t>； </a:t>
            </a:r>
          </a:p>
        </p:txBody>
      </p:sp>
      <p:sp>
        <p:nvSpPr>
          <p:cNvPr id="138244" name="Text Box 4"/>
          <p:cNvSpPr txBox="1"/>
          <p:nvPr/>
        </p:nvSpPr>
        <p:spPr>
          <a:xfrm>
            <a:off x="1043940" y="1059815"/>
            <a:ext cx="7236460" cy="3938270"/>
          </a:xfrm>
          <a:prstGeom prst="rect">
            <a:avLst/>
          </a:prstGeom>
          <a:solidFill>
            <a:schemeClr val="bg1"/>
          </a:solidFill>
          <a:ln w="38100" cap="sq" cmpd="sng">
            <a:solidFill>
              <a:srgbClr val="006666"/>
            </a:solidFill>
            <a:prstDash val="solid"/>
            <a:miter/>
            <a:headEnd type="none" w="sm" len="sm"/>
            <a:tailEnd type="none" w="sm" len="sm"/>
          </a:ln>
          <a:effectLst>
            <a:outerShdw dist="35921" dir="2699999" algn="ctr" rotWithShape="0">
              <a:srgbClr val="008000"/>
            </a:outerShdw>
          </a:effectLst>
        </p:spPr>
        <p:txBody>
          <a:bodyPr wrap="square">
            <a:spAutoFit/>
          </a:bodyPr>
          <a:lstStyle/>
          <a:p>
            <a:pPr eaLnBrk="1" hangingPunct="1">
              <a:spcBef>
                <a:spcPct val="50000"/>
              </a:spcBef>
              <a:buClr>
                <a:srgbClr val="FF0000"/>
              </a:buClr>
              <a:buFont typeface="Wingdings" panose="05000000000000000000" pitchFamily="2" charset="2"/>
              <a:buChar char="Ø"/>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1. </a:t>
            </a:r>
            <a:r>
              <a:rPr lang="zh-CN" altLang="en-US" dirty="0">
                <a:solidFill>
                  <a:srgbClr val="FF0000"/>
                </a:solidFill>
                <a:latin typeface="华文新魏" panose="02010800040101010101" pitchFamily="2" charset="-122"/>
                <a:ea typeface="华文新魏" panose="02010800040101010101" pitchFamily="2" charset="-122"/>
              </a:rPr>
              <a:t>条件信号代入语句与进程中的</a:t>
            </a:r>
            <a:r>
              <a:rPr lang="en-US" altLang="zh-CN" dirty="0">
                <a:solidFill>
                  <a:srgbClr val="0000FF"/>
                </a:solidFill>
                <a:latin typeface="华文新魏" panose="02010800040101010101" pitchFamily="2" charset="-122"/>
                <a:ea typeface="华文新魏" panose="02010800040101010101" pitchFamily="2" charset="-122"/>
              </a:rPr>
              <a:t>IF</a:t>
            </a:r>
            <a:r>
              <a:rPr lang="zh-CN" altLang="en-US" dirty="0">
                <a:solidFill>
                  <a:srgbClr val="0000FF"/>
                </a:solidFill>
                <a:latin typeface="华文新魏" panose="02010800040101010101" pitchFamily="2" charset="-122"/>
                <a:ea typeface="华文新魏" panose="02010800040101010101" pitchFamily="2" charset="-122"/>
              </a:rPr>
              <a:t>语句</a:t>
            </a:r>
            <a:r>
              <a:rPr lang="zh-CN" altLang="en-US" dirty="0">
                <a:solidFill>
                  <a:srgbClr val="FF0000"/>
                </a:solidFill>
                <a:latin typeface="华文新魏" panose="02010800040101010101" pitchFamily="2" charset="-122"/>
                <a:ea typeface="华文新魏" panose="02010800040101010101" pitchFamily="2" charset="-122"/>
              </a:rPr>
              <a:t>相同，具有条件测试顺序性，但</a:t>
            </a:r>
            <a:r>
              <a:rPr lang="en-US" altLang="zh-CN" i="1" u="sng" dirty="0">
                <a:solidFill>
                  <a:schemeClr val="tx2"/>
                </a:solidFill>
                <a:latin typeface="华文新魏" panose="02010800040101010101" pitchFamily="2" charset="-122"/>
                <a:ea typeface="华文新魏" panose="02010800040101010101" pitchFamily="2" charset="-122"/>
              </a:rPr>
              <a:t>ELSE</a:t>
            </a:r>
            <a:r>
              <a:rPr lang="zh-CN" altLang="en-US" i="1" u="sng" dirty="0">
                <a:solidFill>
                  <a:schemeClr val="tx2"/>
                </a:solidFill>
                <a:latin typeface="华文新魏" panose="02010800040101010101" pitchFamily="2" charset="-122"/>
                <a:ea typeface="华文新魏" panose="02010800040101010101" pitchFamily="2" charset="-122"/>
              </a:rPr>
              <a:t>不能省略</a:t>
            </a:r>
            <a:r>
              <a:rPr lang="zh-CN" altLang="en-US" dirty="0">
                <a:solidFill>
                  <a:schemeClr val="tx1"/>
                </a:solidFill>
                <a:latin typeface="华文新魏" panose="02010800040101010101" pitchFamily="2" charset="-122"/>
                <a:ea typeface="华文新魏" panose="02010800040101010101" pitchFamily="2" charset="-122"/>
              </a:rPr>
              <a:t>。</a:t>
            </a:r>
          </a:p>
          <a:p>
            <a:pPr eaLnBrk="1" hangingPunct="1">
              <a:spcBef>
                <a:spcPct val="50000"/>
              </a:spcBef>
              <a:buClr>
                <a:srgbClr val="FF0000"/>
              </a:buClr>
              <a:buFont typeface="Wingdings" panose="05000000000000000000" pitchFamily="2" charset="2"/>
              <a:buChar char="Ø"/>
            </a:pPr>
            <a:r>
              <a:rPr lang="zh-CN" altLang="en-US" dirty="0">
                <a:solidFill>
                  <a:srgbClr val="FFFFFF"/>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2. </a:t>
            </a:r>
            <a:r>
              <a:rPr lang="zh-CN" altLang="en-US" dirty="0">
                <a:solidFill>
                  <a:schemeClr val="tx1"/>
                </a:solidFill>
                <a:latin typeface="华文新魏" panose="02010800040101010101" pitchFamily="2" charset="-122"/>
                <a:ea typeface="华文新魏" panose="02010800040101010101" pitchFamily="2" charset="-122"/>
              </a:rPr>
              <a:t>执行该语句时，每一赋值条件是按书写的先后关系逐项测定的，一旦发现条件为</a:t>
            </a:r>
            <a:r>
              <a:rPr lang="zh-CN" altLang="en-US" dirty="0">
                <a:solidFill>
                  <a:schemeClr val="tx1"/>
                </a:solidFill>
                <a:latin typeface="Times New Roman" panose="02020603050405020304" pitchFamily="18" charset="0"/>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true</a:t>
            </a:r>
            <a:r>
              <a:rPr lang="zh-CN" altLang="en-US" dirty="0">
                <a:solidFill>
                  <a:schemeClr val="tx1"/>
                </a:solidFill>
                <a:latin typeface="Times New Roman" panose="02020603050405020304" pitchFamily="18" charset="0"/>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，立即将表达式的值赋予目标信号。</a:t>
            </a:r>
          </a:p>
          <a:p>
            <a:pPr eaLnBrk="1" hangingPunct="1">
              <a:spcBef>
                <a:spcPct val="50000"/>
              </a:spcBef>
              <a:buClr>
                <a:srgbClr val="FF0000"/>
              </a:buClr>
              <a:buFont typeface="Wingdings" panose="05000000000000000000" pitchFamily="2" charset="2"/>
              <a:buChar char="Ø"/>
            </a:pPr>
            <a:r>
              <a:rPr lang="zh-CN" altLang="en-US"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3. </a:t>
            </a:r>
            <a:r>
              <a:rPr lang="zh-CN" altLang="en-US" dirty="0">
                <a:solidFill>
                  <a:schemeClr val="tx1"/>
                </a:solidFill>
                <a:latin typeface="华文新魏" panose="02010800040101010101" pitchFamily="2" charset="-122"/>
                <a:ea typeface="华文新魏" panose="02010800040101010101" pitchFamily="2" charset="-122"/>
              </a:rPr>
              <a:t>赋值条件的数据类型是</a:t>
            </a:r>
            <a:r>
              <a:rPr lang="zh-CN" altLang="en-US" i="1" u="sng" dirty="0">
                <a:solidFill>
                  <a:srgbClr val="FF0000"/>
                </a:solidFill>
                <a:latin typeface="华文新魏" panose="02010800040101010101" pitchFamily="2" charset="-122"/>
                <a:ea typeface="华文新魏" panose="02010800040101010101" pitchFamily="2" charset="-122"/>
              </a:rPr>
              <a:t>布尔量</a:t>
            </a:r>
            <a:r>
              <a:rPr lang="zh-CN" altLang="en-US" dirty="0">
                <a:solidFill>
                  <a:schemeClr val="tx1"/>
                </a:solidFill>
                <a:latin typeface="华文新魏" panose="02010800040101010101" pitchFamily="2" charset="-122"/>
                <a:ea typeface="华文新魏" panose="02010800040101010101" pitchFamily="2" charset="-122"/>
              </a:rPr>
              <a:t>。</a:t>
            </a:r>
          </a:p>
          <a:p>
            <a:pPr eaLnBrk="1" hangingPunct="1">
              <a:spcBef>
                <a:spcPct val="50000"/>
              </a:spcBef>
              <a:buClr>
                <a:srgbClr val="FF0000"/>
              </a:buClr>
              <a:buFont typeface="Wingdings" panose="05000000000000000000" pitchFamily="2" charset="2"/>
              <a:buChar char="Ø"/>
            </a:pPr>
            <a:r>
              <a:rPr lang="zh-CN" altLang="en-US"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4. </a:t>
            </a:r>
            <a:r>
              <a:rPr lang="zh-CN" altLang="en-US" dirty="0">
                <a:solidFill>
                  <a:schemeClr val="tx1"/>
                </a:solidFill>
                <a:latin typeface="华文新魏" panose="02010800040101010101" pitchFamily="2" charset="-122"/>
                <a:ea typeface="华文新魏" panose="02010800040101010101" pitchFamily="2" charset="-122"/>
              </a:rPr>
              <a:t>由于条件测试的顺序性，</a:t>
            </a:r>
            <a:r>
              <a:rPr lang="zh-CN" altLang="en-US" dirty="0">
                <a:solidFill>
                  <a:srgbClr val="FF0000"/>
                </a:solidFill>
                <a:latin typeface="华文新魏" panose="02010800040101010101" pitchFamily="2" charset="-122"/>
                <a:ea typeface="华文新魏" panose="02010800040101010101" pitchFamily="2" charset="-122"/>
              </a:rPr>
              <a:t>条件信号代入语句的赋值</a:t>
            </a:r>
            <a:r>
              <a:rPr lang="zh-CN" altLang="en-US" i="1" u="sng" dirty="0">
                <a:solidFill>
                  <a:schemeClr val="tx2"/>
                </a:solidFill>
                <a:latin typeface="华文新魏" panose="02010800040101010101" pitchFamily="2" charset="-122"/>
                <a:ea typeface="华文新魏" panose="02010800040101010101" pitchFamily="2" charset="-122"/>
              </a:rPr>
              <a:t>具有优先级别</a:t>
            </a:r>
            <a:r>
              <a:rPr lang="zh-CN" altLang="en-US" dirty="0">
                <a:solidFill>
                  <a:schemeClr val="tx1"/>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其中第</a:t>
            </a:r>
            <a:r>
              <a:rPr lang="en-US" altLang="zh-CN" dirty="0">
                <a:solidFill>
                  <a:srgbClr val="FF0000"/>
                </a:solidFill>
                <a:latin typeface="华文新魏" panose="02010800040101010101" pitchFamily="2" charset="-122"/>
                <a:ea typeface="华文新魏" panose="02010800040101010101" pitchFamily="2" charset="-122"/>
              </a:rPr>
              <a:t>1</a:t>
            </a:r>
            <a:r>
              <a:rPr lang="zh-CN" altLang="en-US" dirty="0">
                <a:solidFill>
                  <a:srgbClr val="FF0000"/>
                </a:solidFill>
                <a:latin typeface="华文新魏" panose="02010800040101010101" pitchFamily="2" charset="-122"/>
                <a:ea typeface="华文新魏" panose="02010800040101010101" pitchFamily="2" charset="-122"/>
              </a:rPr>
              <a:t>子句优先级别最高，依次类推</a:t>
            </a:r>
            <a:r>
              <a:rPr lang="zh-CN" altLang="en-US" dirty="0">
                <a:solidFill>
                  <a:schemeClr val="tx1"/>
                </a:solidFill>
                <a:latin typeface="华文新魏" panose="02010800040101010101" pitchFamily="2" charset="-122"/>
                <a:ea typeface="华文新魏" panose="02010800040101010101" pitchFamily="2" charset="-122"/>
              </a:rPr>
              <a:t>。</a:t>
            </a:r>
          </a:p>
          <a:p>
            <a:pPr eaLnBrk="1" hangingPunct="1">
              <a:spcBef>
                <a:spcPct val="50000"/>
              </a:spcBef>
              <a:buClr>
                <a:srgbClr val="FF0000"/>
              </a:buClr>
              <a:buFont typeface="Wingdings" panose="05000000000000000000" pitchFamily="2" charset="2"/>
              <a:buChar char="Ø"/>
            </a:pPr>
            <a:r>
              <a:rPr lang="zh-CN" altLang="en-US"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5.</a:t>
            </a:r>
            <a:r>
              <a:rPr lang="zh-CN" altLang="en-US" dirty="0">
                <a:solidFill>
                  <a:schemeClr val="tx1"/>
                </a:solidFill>
                <a:latin typeface="华文新魏" panose="02010800040101010101" pitchFamily="2" charset="-122"/>
                <a:ea typeface="华文新魏" panose="02010800040101010101" pitchFamily="2" charset="-122"/>
              </a:rPr>
              <a:t>最后一个表达式后面</a:t>
            </a:r>
            <a:r>
              <a:rPr lang="zh-CN" altLang="en-US" dirty="0">
                <a:solidFill>
                  <a:srgbClr val="0000FF"/>
                </a:solidFill>
                <a:latin typeface="华文新魏" panose="02010800040101010101" pitchFamily="2" charset="-122"/>
                <a:ea typeface="华文新魏" panose="02010800040101010101" pitchFamily="2" charset="-122"/>
              </a:rPr>
              <a:t>不含有</a:t>
            </a:r>
            <a:r>
              <a:rPr lang="en-US" altLang="zh-CN" dirty="0">
                <a:solidFill>
                  <a:schemeClr val="tx1"/>
                </a:solidFill>
                <a:latin typeface="华文新魏" panose="02010800040101010101" pitchFamily="2" charset="-122"/>
                <a:ea typeface="华文新魏" panose="02010800040101010101" pitchFamily="2" charset="-122"/>
              </a:rPr>
              <a:t>when</a:t>
            </a:r>
            <a:r>
              <a:rPr lang="zh-CN" altLang="en-US" dirty="0">
                <a:solidFill>
                  <a:schemeClr val="tx1"/>
                </a:solidFill>
                <a:latin typeface="华文新魏" panose="02010800040101010101" pitchFamily="2" charset="-122"/>
                <a:ea typeface="华文新魏" panose="02010800040101010101" pitchFamily="2" charset="-122"/>
              </a:rPr>
              <a:t>子句。</a:t>
            </a:r>
          </a:p>
          <a:p>
            <a:pPr eaLnBrk="1" hangingPunct="1">
              <a:spcBef>
                <a:spcPct val="50000"/>
              </a:spcBef>
              <a:buClr>
                <a:srgbClr val="FF0000"/>
              </a:buClr>
              <a:buFont typeface="Wingdings" panose="05000000000000000000" pitchFamily="2" charset="2"/>
              <a:buChar char="Ø"/>
            </a:pPr>
            <a:r>
              <a:rPr lang="zh-CN" altLang="en-US"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6. </a:t>
            </a:r>
            <a:r>
              <a:rPr lang="zh-CN" altLang="en-US" u="sng" dirty="0">
                <a:solidFill>
                  <a:srgbClr val="FF0000"/>
                </a:solidFill>
                <a:latin typeface="华文新魏" panose="02010800040101010101" pitchFamily="2" charset="-122"/>
                <a:ea typeface="华文新魏" panose="02010800040101010101" pitchFamily="2" charset="-122"/>
              </a:rPr>
              <a:t>条件信号代入语句允许条件重叠</a:t>
            </a:r>
            <a:r>
              <a:rPr lang="zh-CN" altLang="en-US" dirty="0">
                <a:solidFill>
                  <a:schemeClr val="tx1"/>
                </a:solidFill>
                <a:latin typeface="华文新魏" panose="02010800040101010101" pitchFamily="2" charset="-122"/>
                <a:ea typeface="华文新魏" panose="02010800040101010101" pitchFamily="2" charset="-122"/>
              </a:rPr>
              <a:t>。</a:t>
            </a:r>
          </a:p>
        </p:txBody>
      </p:sp>
      <p:sp>
        <p:nvSpPr>
          <p:cNvPr id="192518" name="AutoShape 5"/>
          <p:cNvSpPr/>
          <p:nvPr/>
        </p:nvSpPr>
        <p:spPr>
          <a:xfrm>
            <a:off x="6124575" y="26988"/>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并发描述语句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138244"/>
                                        </p:tgtEl>
                                        <p:attrNameLst>
                                          <p:attrName>style.visibility</p:attrName>
                                        </p:attrNameLst>
                                      </p:cBhvr>
                                      <p:to>
                                        <p:strVal val="visible"/>
                                      </p:to>
                                    </p:set>
                                    <p:anim calcmode="lin" valueType="num">
                                      <p:cBhvr>
                                        <p:cTn id="7" dur="500" fill="hold"/>
                                        <p:tgtEl>
                                          <p:spTgt spid="138244"/>
                                        </p:tgtEl>
                                        <p:attrNameLst>
                                          <p:attrName>ppt_x</p:attrName>
                                        </p:attrNameLst>
                                      </p:cBhvr>
                                      <p:tavLst>
                                        <p:tav tm="0">
                                          <p:val>
                                            <p:strVal val="#ppt_x"/>
                                          </p:val>
                                        </p:tav>
                                        <p:tav tm="100000">
                                          <p:val>
                                            <p:strVal val="#ppt_x"/>
                                          </p:val>
                                        </p:tav>
                                      </p:tavLst>
                                    </p:anim>
                                    <p:anim calcmode="lin" valueType="num">
                                      <p:cBhvr>
                                        <p:cTn id="8" dur="500" fill="hold"/>
                                        <p:tgtEl>
                                          <p:spTgt spid="138244"/>
                                        </p:tgtEl>
                                        <p:attrNameLst>
                                          <p:attrName>ppt_y</p:attrName>
                                        </p:attrNameLst>
                                      </p:cBhvr>
                                      <p:tavLst>
                                        <p:tav tm="0">
                                          <p:val>
                                            <p:strVal val="#ppt_y+#ppt_h/2"/>
                                          </p:val>
                                        </p:tav>
                                        <p:tav tm="100000">
                                          <p:val>
                                            <p:strVal val="#ppt_y"/>
                                          </p:val>
                                        </p:tav>
                                      </p:tavLst>
                                    </p:anim>
                                    <p:anim calcmode="lin" valueType="num">
                                      <p:cBhvr>
                                        <p:cTn id="9" dur="500" fill="hold"/>
                                        <p:tgtEl>
                                          <p:spTgt spid="138244"/>
                                        </p:tgtEl>
                                        <p:attrNameLst>
                                          <p:attrName>ppt_w</p:attrName>
                                        </p:attrNameLst>
                                      </p:cBhvr>
                                      <p:tavLst>
                                        <p:tav tm="0">
                                          <p:val>
                                            <p:strVal val="#ppt_w"/>
                                          </p:val>
                                        </p:tav>
                                        <p:tav tm="100000">
                                          <p:val>
                                            <p:strVal val="#ppt_w"/>
                                          </p:val>
                                        </p:tav>
                                      </p:tavLst>
                                    </p:anim>
                                    <p:anim calcmode="lin" valueType="num">
                                      <p:cBhvr>
                                        <p:cTn id="10" dur="500" fill="hold"/>
                                        <p:tgtEl>
                                          <p:spTgt spid="138244"/>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1" nodeType="clickEffect">
                                  <p:stCondLst>
                                    <p:cond delay="0"/>
                                  </p:stCondLst>
                                  <p:childTnLst>
                                    <p:animEffect transition="out" filter="blinds(horizontal)">
                                      <p:cBhvr>
                                        <p:cTn id="14" dur="500"/>
                                        <p:tgtEl>
                                          <p:spTgt spid="138244"/>
                                        </p:tgtEl>
                                      </p:cBhvr>
                                    </p:animEffect>
                                    <p:set>
                                      <p:cBhvr>
                                        <p:cTn id="15" dur="1" fill="hold">
                                          <p:stCondLst>
                                            <p:cond delay="499"/>
                                          </p:stCondLst>
                                        </p:cTn>
                                        <p:tgtEl>
                                          <p:spTgt spid="1382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bldLvl="0" animBg="1"/>
      <p:bldP spid="138244" grpId="1"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5BACAF-ECB8-460B-980F-93EDE8AB61A5}"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75</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0771" name="Text Box 2"/>
          <p:cNvSpPr txBox="1">
            <a:spLocks noChangeArrowheads="1"/>
          </p:cNvSpPr>
          <p:nvPr/>
        </p:nvSpPr>
        <p:spPr bwMode="auto">
          <a:xfrm>
            <a:off x="1528763" y="382588"/>
            <a:ext cx="6186488" cy="485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例：</a:t>
            </a:r>
            <a:r>
              <a:rPr kumimoji="0" lang="en-US" altLang="zh-CN" sz="1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4</a:t>
            </a:r>
            <a:r>
              <a:rPr kumimoji="0" lang="zh-CN" altLang="en-US" sz="1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选</a:t>
            </a:r>
            <a:r>
              <a:rPr kumimoji="0" lang="en-US" altLang="zh-CN" sz="1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1</a:t>
            </a:r>
            <a:r>
              <a:rPr kumimoji="0" lang="zh-CN" altLang="en-US" sz="1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多路选择器</a:t>
            </a:r>
          </a:p>
          <a:p>
            <a:pPr marL="0" marR="0" lvl="0" indent="0" algn="l" defTabSz="914400" rtl="0" eaLnBrk="1" fontAlgn="base" latinLnBrk="0" hangingPunct="1">
              <a:lnSpc>
                <a:spcPct val="100000"/>
              </a:lnSpc>
              <a:spcBef>
                <a:spcPct val="5000"/>
              </a:spcBef>
              <a:spcAft>
                <a:spcPct val="0"/>
              </a:spcAft>
              <a:buClrTx/>
              <a:buSzTx/>
              <a:buFontTx/>
              <a:buNone/>
              <a:defRPr/>
            </a:pPr>
            <a:endParaRPr kumimoji="0" lang="zh-CN" altLang="en-US" sz="750" b="0" i="0" u="none" strike="noStrike" kern="1200" cap="none" spc="0" normalizeH="0" baseline="0" noProof="0" dirty="0">
              <a:ln>
                <a:noFill/>
              </a:ln>
              <a:solidFill>
                <a:srgbClr val="FFFF66"/>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ENTITY wmux4_1 IS</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PORT(i0, i1,i2,i3,a,b	: IN	 STD_LOGIC;</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q		: OUT	 STD_LOGIC);</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END wmux4_1;</a:t>
            </a:r>
          </a:p>
          <a:p>
            <a:pPr marL="0" marR="0" lvl="0" indent="0" algn="l" defTabSz="914400" rtl="0" eaLnBrk="1" fontAlgn="base" latinLnBrk="0" hangingPunct="1">
              <a:lnSpc>
                <a:spcPct val="100000"/>
              </a:lnSpc>
              <a:spcBef>
                <a:spcPct val="5000"/>
              </a:spcBef>
              <a:spcAft>
                <a:spcPct val="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ARCHITECTURE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rtl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OF wmux4_1 IS</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SIGNAL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 STD_LOGIC_VECTOR(1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downto</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0);</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BEGIN</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&lt;=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b</a:t>
            </a:r>
            <a:r>
              <a:rPr kumimoji="0" lang="en-US" altLang="zh-CN" sz="1800" b="0" i="0" u="none" strike="noStrike" kern="1200" cap="none" spc="0" normalizeH="0" baseline="0" noProof="0" dirty="0" err="1">
                <a:ln>
                  <a:noFill/>
                </a:ln>
                <a:solidFill>
                  <a:srgbClr val="0000FF"/>
                </a:solidFill>
                <a:effectLst/>
                <a:uLnTx/>
                <a:uFillTx/>
                <a:latin typeface="华文新魏" panose="02010800040101010101" pitchFamily="2" charset="-122"/>
                <a:ea typeface="华文新魏" panose="02010800040101010101" pitchFamily="2" charset="-122"/>
                <a:cs typeface="+mn-cs"/>
              </a:rPr>
              <a:t>&amp;</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a</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q  &lt;= 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0</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 </a:t>
            </a:r>
            <a:r>
              <a:rPr kumimoji="0" lang="en-US" altLang="zh-CN" sz="1800" b="0" i="0" u="none" strike="noStrike" kern="1200" cap="none" spc="0" normalizeH="0" baseline="0" noProof="0" dirty="0">
                <a:ln>
                  <a:noFill/>
                </a:ln>
                <a:solidFill>
                  <a:srgbClr val="FF99FF"/>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="00"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i1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="01"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i2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="10"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i3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="11"   </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'X' ;</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END </a:t>
            </a:r>
            <a:r>
              <a:rPr kumimoji="0" lang="en-US" altLang="zh-CN" sz="18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rtl</a:t>
            </a:r>
            <a:r>
              <a:rPr kumimoji="0" lang="en-US" altLang="zh-CN" sz="1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p:txBody>
      </p:sp>
      <p:sp>
        <p:nvSpPr>
          <p:cNvPr id="193540" name="AutoShape 3"/>
          <p:cNvSpPr/>
          <p:nvPr/>
        </p:nvSpPr>
        <p:spPr>
          <a:xfrm>
            <a:off x="6124575" y="74613"/>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并发描述语句</a:t>
            </a:r>
          </a:p>
        </p:txBody>
      </p:sp>
      <p:sp>
        <p:nvSpPr>
          <p:cNvPr id="2" name="文本框 1"/>
          <p:cNvSpPr txBox="1"/>
          <p:nvPr/>
        </p:nvSpPr>
        <p:spPr>
          <a:xfrm>
            <a:off x="6588760" y="3724275"/>
            <a:ext cx="2675255" cy="398780"/>
          </a:xfrm>
          <a:prstGeom prst="rect">
            <a:avLst/>
          </a:prstGeom>
          <a:noFill/>
        </p:spPr>
        <p:txBody>
          <a:bodyPr wrap="square" rtlCol="0">
            <a:spAutoFit/>
          </a:bodyPr>
          <a:lstStyle/>
          <a:p>
            <a:r>
              <a:rPr lang="zh-CN">
                <a:solidFill>
                  <a:schemeClr val="tx1"/>
                </a:solidFill>
                <a:latin typeface="华文新魏" panose="02010800040101010101" pitchFamily="2" charset="-122"/>
                <a:ea typeface="华文新魏" panose="02010800040101010101" pitchFamily="2" charset="-122"/>
                <a:cs typeface="华文新魏" panose="02010800040101010101" pitchFamily="2" charset="-122"/>
              </a:rPr>
              <a:t>没有用</a:t>
            </a:r>
            <a:r>
              <a:rPr lang="en-US" altLang="zh-CN">
                <a:solidFill>
                  <a:schemeClr val="tx1"/>
                </a:solidFill>
                <a:latin typeface="华文新魏" panose="02010800040101010101" pitchFamily="2" charset="-122"/>
                <a:ea typeface="华文新魏" panose="02010800040101010101" pitchFamily="2" charset="-122"/>
                <a:cs typeface="华文新魏" panose="02010800040101010101" pitchFamily="2" charset="-122"/>
              </a:rPr>
              <a:t>process</a:t>
            </a:r>
            <a:r>
              <a:rPr lang="zh-CN" altLang="en-US">
                <a:solidFill>
                  <a:schemeClr val="tx1"/>
                </a:solidFill>
                <a:latin typeface="华文新魏" panose="02010800040101010101" pitchFamily="2" charset="-122"/>
                <a:ea typeface="华文新魏" panose="02010800040101010101" pitchFamily="2" charset="-122"/>
                <a:cs typeface="华文新魏" panose="02010800040101010101" pitchFamily="2" charset="-122"/>
              </a:rPr>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p:cNvSpPr>
          <p:nvPr>
            <p:ph type="title"/>
          </p:nvPr>
        </p:nvSpPr>
        <p:spPr>
          <a:xfrm>
            <a:off x="628650" y="627063"/>
            <a:ext cx="7886700" cy="641350"/>
          </a:xfrm>
          <a:noFill/>
          <a:ln>
            <a:noFill/>
          </a:ln>
        </p:spPr>
        <p:txBody>
          <a:bodyPr/>
          <a:lstStyle/>
          <a:p>
            <a:r>
              <a:rPr lang="zh-CN" altLang="en-US" dirty="0">
                <a:solidFill>
                  <a:srgbClr val="0000FF"/>
                </a:solidFill>
                <a:latin typeface="华文新魏" panose="02010800040101010101" pitchFamily="2" charset="-122"/>
                <a:ea typeface="华文新魏" panose="02010800040101010101" pitchFamily="2" charset="-122"/>
              </a:rPr>
              <a:t>与</a:t>
            </a:r>
            <a:r>
              <a:rPr lang="en-US" altLang="zh-CN">
                <a:solidFill>
                  <a:srgbClr val="0000FF"/>
                </a:solidFill>
                <a:latin typeface="华文新魏" panose="02010800040101010101" pitchFamily="2" charset="-122"/>
                <a:ea typeface="华文新魏" panose="02010800040101010101" pitchFamily="2" charset="-122"/>
              </a:rPr>
              <a:t>IF</a:t>
            </a:r>
            <a:r>
              <a:rPr lang="zh-CN" altLang="en-US" dirty="0">
                <a:solidFill>
                  <a:srgbClr val="0000FF"/>
                </a:solidFill>
                <a:latin typeface="华文新魏" panose="02010800040101010101" pitchFamily="2" charset="-122"/>
                <a:ea typeface="华文新魏" panose="02010800040101010101" pitchFamily="2" charset="-122"/>
              </a:rPr>
              <a:t>语句的主要区别</a:t>
            </a:r>
          </a:p>
        </p:txBody>
      </p:sp>
      <p:sp>
        <p:nvSpPr>
          <p:cNvPr id="503811" name="Rectangle 3"/>
          <p:cNvSpPr>
            <a:spLocks noGrp="1"/>
          </p:cNvSpPr>
          <p:nvPr>
            <p:ph idx="1" hasCustomPrompt="1"/>
          </p:nvPr>
        </p:nvSpPr>
        <p:spPr>
          <a:xfrm>
            <a:off x="628650" y="1563688"/>
            <a:ext cx="7886700" cy="3262312"/>
          </a:xfrm>
          <a:noFill/>
          <a:ln>
            <a:noFill/>
          </a:ln>
        </p:spPr>
        <p:txBody>
          <a:bodyPr/>
          <a:lstStyle/>
          <a:p>
            <a:r>
              <a:rPr lang="en-US" altLang="zh-CN">
                <a:latin typeface="华文新魏" panose="02010800040101010101" pitchFamily="2" charset="-122"/>
                <a:ea typeface="华文新魏" panose="02010800040101010101" pitchFamily="2" charset="-122"/>
              </a:rPr>
              <a:t>If</a:t>
            </a:r>
            <a:r>
              <a:rPr lang="zh-CN" altLang="en-US" dirty="0">
                <a:latin typeface="华文新魏" panose="02010800040101010101" pitchFamily="2" charset="-122"/>
                <a:ea typeface="华文新魏" panose="02010800040101010101" pitchFamily="2" charset="-122"/>
              </a:rPr>
              <a:t>语句只能在进程内部使用；</a:t>
            </a:r>
          </a:p>
          <a:p>
            <a:r>
              <a:rPr lang="zh-CN" altLang="en-US" dirty="0">
                <a:latin typeface="华文新魏" panose="02010800040101010101" pitchFamily="2" charset="-122"/>
                <a:ea typeface="华文新魏" panose="02010800040101010101" pitchFamily="2" charset="-122"/>
              </a:rPr>
              <a:t>条件信号代入语句不能进行嵌套使用；</a:t>
            </a:r>
          </a:p>
          <a:p>
            <a:r>
              <a:rPr lang="zh-CN" altLang="en-US" dirty="0">
                <a:solidFill>
                  <a:srgbClr val="FF0000"/>
                </a:solidFill>
                <a:latin typeface="华文新魏" panose="02010800040101010101" pitchFamily="2" charset="-122"/>
                <a:ea typeface="华文新魏" panose="02010800040101010101" pitchFamily="2" charset="-122"/>
              </a:rPr>
              <a:t>不能生成锁存器</a:t>
            </a:r>
            <a:r>
              <a:rPr lang="zh-CN" altLang="en-US" dirty="0">
                <a:latin typeface="华文新魏" panose="02010800040101010101" pitchFamily="2" charset="-122"/>
                <a:ea typeface="华文新魏" panose="02010800040101010101" pitchFamily="2" charset="-122"/>
              </a:rPr>
              <a:t>；</a:t>
            </a:r>
          </a:p>
          <a:p>
            <a:r>
              <a:rPr lang="zh-CN" altLang="en-US" dirty="0">
                <a:latin typeface="华文新魏" panose="02010800040101010101" pitchFamily="2" charset="-122"/>
                <a:ea typeface="华文新魏" panose="02010800040101010101" pitchFamily="2" charset="-122"/>
              </a:rPr>
              <a:t>由于条件信号代入语句所描述的电路与实际逻辑电路的工作情况比较贴切，要求设计者具有较多的硬件电路知识，从而使一般设计者难以掌握；所以，</a:t>
            </a:r>
            <a:r>
              <a:rPr lang="zh-CN" altLang="en-US" dirty="0">
                <a:solidFill>
                  <a:srgbClr val="0000FF"/>
                </a:solidFill>
                <a:latin typeface="华文新魏" panose="02010800040101010101" pitchFamily="2" charset="-122"/>
                <a:ea typeface="华文新魏" panose="02010800040101010101" pitchFamily="2" charset="-122"/>
              </a:rPr>
              <a:t>只有在用进程语句、</a:t>
            </a:r>
            <a:r>
              <a:rPr lang="en-US" altLang="zh-CN">
                <a:solidFill>
                  <a:srgbClr val="0000FF"/>
                </a:solidFill>
                <a:latin typeface="华文新魏" panose="02010800040101010101" pitchFamily="2" charset="-122"/>
                <a:ea typeface="华文新魏" panose="02010800040101010101" pitchFamily="2" charset="-122"/>
              </a:rPr>
              <a:t>IF</a:t>
            </a:r>
            <a:r>
              <a:rPr lang="zh-CN" altLang="en-US" dirty="0">
                <a:solidFill>
                  <a:srgbClr val="0000FF"/>
                </a:solidFill>
                <a:latin typeface="华文新魏" panose="02010800040101010101" pitchFamily="2" charset="-122"/>
                <a:ea typeface="华文新魏" panose="02010800040101010101" pitchFamily="2" charset="-122"/>
              </a:rPr>
              <a:t>语句和</a:t>
            </a:r>
            <a:r>
              <a:rPr lang="en-US" altLang="zh-CN">
                <a:solidFill>
                  <a:srgbClr val="0000FF"/>
                </a:solidFill>
                <a:latin typeface="华文新魏" panose="02010800040101010101" pitchFamily="2" charset="-122"/>
                <a:ea typeface="华文新魏" panose="02010800040101010101" pitchFamily="2" charset="-122"/>
              </a:rPr>
              <a:t>CASE</a:t>
            </a:r>
            <a:r>
              <a:rPr lang="zh-CN" altLang="en-US" dirty="0">
                <a:solidFill>
                  <a:srgbClr val="0000FF"/>
                </a:solidFill>
                <a:latin typeface="华文新魏" panose="02010800040101010101" pitchFamily="2" charset="-122"/>
                <a:ea typeface="华文新魏" panose="02010800040101010101" pitchFamily="2" charset="-122"/>
              </a:rPr>
              <a:t>语句难于描述时，才使用本语句。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3811">
                                            <p:txEl>
                                              <p:pRg st="0" end="0"/>
                                            </p:txEl>
                                          </p:spTgt>
                                        </p:tgtEl>
                                        <p:attrNameLst>
                                          <p:attrName>style.visibility</p:attrName>
                                        </p:attrNameLst>
                                      </p:cBhvr>
                                      <p:to>
                                        <p:strVal val="visible"/>
                                      </p:to>
                                    </p:set>
                                    <p:anim calcmode="lin" valueType="num">
                                      <p:cBhvr additive="base">
                                        <p:cTn id="7" dur="500" fill="hold"/>
                                        <p:tgtEl>
                                          <p:spTgt spid="503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3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3811">
                                            <p:txEl>
                                              <p:pRg st="1" end="1"/>
                                            </p:txEl>
                                          </p:spTgt>
                                        </p:tgtEl>
                                        <p:attrNameLst>
                                          <p:attrName>style.visibility</p:attrName>
                                        </p:attrNameLst>
                                      </p:cBhvr>
                                      <p:to>
                                        <p:strVal val="visible"/>
                                      </p:to>
                                    </p:set>
                                    <p:anim calcmode="lin" valueType="num">
                                      <p:cBhvr additive="base">
                                        <p:cTn id="13" dur="500" fill="hold"/>
                                        <p:tgtEl>
                                          <p:spTgt spid="5038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38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03811">
                                            <p:txEl>
                                              <p:pRg st="2" end="2"/>
                                            </p:txEl>
                                          </p:spTgt>
                                        </p:tgtEl>
                                        <p:attrNameLst>
                                          <p:attrName>style.visibility</p:attrName>
                                        </p:attrNameLst>
                                      </p:cBhvr>
                                      <p:to>
                                        <p:strVal val="visible"/>
                                      </p:to>
                                    </p:set>
                                    <p:anim calcmode="lin" valueType="num">
                                      <p:cBhvr additive="base">
                                        <p:cTn id="19" dur="500" fill="hold"/>
                                        <p:tgtEl>
                                          <p:spTgt spid="5038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38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03811">
                                            <p:txEl>
                                              <p:pRg st="3" end="3"/>
                                            </p:txEl>
                                          </p:spTgt>
                                        </p:tgtEl>
                                        <p:attrNameLst>
                                          <p:attrName>style.visibility</p:attrName>
                                        </p:attrNameLst>
                                      </p:cBhvr>
                                      <p:to>
                                        <p:strVal val="visible"/>
                                      </p:to>
                                    </p:set>
                                    <p:anim calcmode="lin" valueType="num">
                                      <p:cBhvr additive="base">
                                        <p:cTn id="25" dur="500" fill="hold"/>
                                        <p:tgtEl>
                                          <p:spTgt spid="5038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38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11DE436-2408-49D8-81EA-458E9150DC24}"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77</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5587" name="Rectangle 2"/>
          <p:cNvSpPr>
            <a:spLocks noGrp="1"/>
          </p:cNvSpPr>
          <p:nvPr>
            <p:ph idx="1" hasCustomPrompt="1"/>
          </p:nvPr>
        </p:nvSpPr>
        <p:spPr>
          <a:xfrm>
            <a:off x="1568450" y="411163"/>
            <a:ext cx="6038850" cy="214312"/>
          </a:xfrm>
          <a:noFill/>
          <a:ln>
            <a:noFill/>
          </a:ln>
        </p:spPr>
        <p:txBody>
          <a:bodyPr/>
          <a:lstStyle/>
          <a:p>
            <a:pPr eaLnBrk="1" hangingPunct="1">
              <a:buFontTx/>
              <a:buNone/>
            </a:pPr>
            <a:r>
              <a:rPr lang="zh-CN" altLang="en-US" b="1" dirty="0">
                <a:solidFill>
                  <a:srgbClr val="0000FF"/>
                </a:solidFill>
                <a:latin typeface="华文新魏" panose="02010800040101010101" pitchFamily="2" charset="-122"/>
                <a:ea typeface="华文新魏" panose="02010800040101010101" pitchFamily="2" charset="-122"/>
              </a:rPr>
              <a:t>补充： 选择信号语句</a:t>
            </a:r>
            <a:r>
              <a:rPr lang="zh-CN" altLang="en-US" sz="1500" b="1" dirty="0">
                <a:solidFill>
                  <a:srgbClr val="FF0000"/>
                </a:solidFill>
                <a:latin typeface="华文新魏" panose="02010800040101010101" pitchFamily="2" charset="-122"/>
                <a:ea typeface="华文新魏" panose="02010800040101010101" pitchFamily="2" charset="-122"/>
              </a:rPr>
              <a:t>（</a:t>
            </a:r>
            <a:r>
              <a:rPr lang="en-US" altLang="zh-CN" sz="1500" b="1" dirty="0">
                <a:solidFill>
                  <a:srgbClr val="FF0000"/>
                </a:solidFill>
                <a:latin typeface="华文新魏" panose="02010800040101010101" pitchFamily="2" charset="-122"/>
                <a:ea typeface="华文新魏" panose="02010800040101010101" pitchFamily="2" charset="-122"/>
              </a:rPr>
              <a:t>Selective  Signal Assignment</a:t>
            </a:r>
            <a:r>
              <a:rPr lang="zh-CN" altLang="en-US" sz="1500"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0000FF"/>
              </a:solidFill>
              <a:latin typeface="华文新魏" panose="02010800040101010101" pitchFamily="2" charset="-122"/>
              <a:ea typeface="华文新魏" panose="02010800040101010101" pitchFamily="2" charset="-122"/>
            </a:endParaRPr>
          </a:p>
        </p:txBody>
      </p:sp>
      <p:sp>
        <p:nvSpPr>
          <p:cNvPr id="195588" name="Text Box 3"/>
          <p:cNvSpPr txBox="1"/>
          <p:nvPr/>
        </p:nvSpPr>
        <p:spPr>
          <a:xfrm>
            <a:off x="1668463" y="733425"/>
            <a:ext cx="5886450" cy="2054225"/>
          </a:xfrm>
          <a:prstGeom prst="rect">
            <a:avLst/>
          </a:prstGeom>
          <a:noFill/>
          <a:ln w="12700" cap="sq" cmpd="sng">
            <a:solidFill>
              <a:schemeClr val="tx1"/>
            </a:solidFill>
            <a:prstDash val="solid"/>
            <a:miter/>
            <a:headEnd type="none" w="sm" len="sm"/>
            <a:tailEnd type="none" w="sm" len="sm"/>
          </a:ln>
        </p:spPr>
        <p:txBody>
          <a:bodyPr>
            <a:spAutoFit/>
          </a:bodyPr>
          <a:lstStyle/>
          <a:p>
            <a:pPr algn="just" eaLnBrk="1" hangingPunct="1">
              <a:spcBef>
                <a:spcPct val="50000"/>
              </a:spcBef>
            </a:pPr>
            <a:r>
              <a:rPr lang="zh-CN" altLang="en-US" sz="1500" dirty="0">
                <a:solidFill>
                  <a:srgbClr val="0000FF"/>
                </a:solidFill>
                <a:latin typeface="华文新魏" panose="02010800040101010101" pitchFamily="2" charset="-122"/>
                <a:ea typeface="华文新魏" panose="02010800040101010101" pitchFamily="2" charset="-122"/>
              </a:rPr>
              <a:t>选择信号赋值语句的格式为：</a:t>
            </a:r>
          </a:p>
          <a:p>
            <a:pPr algn="just" eaLnBrk="1" hangingPunct="1">
              <a:spcBef>
                <a:spcPct val="50000"/>
              </a:spcBef>
            </a:pPr>
            <a:r>
              <a:rPr lang="zh-CN" altLang="en-US" sz="1500" dirty="0">
                <a:solidFill>
                  <a:srgbClr val="FFFF66"/>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WITH </a:t>
            </a:r>
            <a:r>
              <a:rPr lang="en-US" altLang="zh-CN" sz="1500">
                <a:solidFill>
                  <a:srgbClr val="FFFFFF"/>
                </a:solidFill>
                <a:latin typeface="华文新魏" panose="02010800040101010101" pitchFamily="2" charset="-122"/>
                <a:ea typeface="华文新魏" panose="02010800040101010101" pitchFamily="2" charset="-122"/>
              </a:rPr>
              <a:t> </a:t>
            </a:r>
            <a:r>
              <a:rPr lang="zh-CN" altLang="en-US" sz="1500" dirty="0">
                <a:solidFill>
                  <a:srgbClr val="FFFFFF"/>
                </a:solidFill>
                <a:latin typeface="华文新魏" panose="02010800040101010101" pitchFamily="2" charset="-122"/>
                <a:ea typeface="华文新魏" panose="02010800040101010101" pitchFamily="2" charset="-122"/>
              </a:rPr>
              <a:t>择</a:t>
            </a:r>
            <a:r>
              <a:rPr lang="zh-CN" altLang="en-US" sz="1500" dirty="0">
                <a:solidFill>
                  <a:schemeClr val="tx1"/>
                </a:solidFill>
                <a:latin typeface="华文新魏" panose="02010800040101010101" pitchFamily="2" charset="-122"/>
                <a:ea typeface="华文新魏" panose="02010800040101010101" pitchFamily="2" charset="-122"/>
              </a:rPr>
              <a:t>条件表达式</a:t>
            </a:r>
            <a:r>
              <a:rPr lang="zh-CN" altLang="en-US" sz="1500" dirty="0">
                <a:solidFill>
                  <a:srgbClr val="FFFF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SELECT</a:t>
            </a:r>
          </a:p>
          <a:p>
            <a:pPr algn="just" eaLnBrk="1" hangingPunct="1">
              <a:spcBef>
                <a:spcPct val="50000"/>
              </a:spcBef>
            </a:pPr>
            <a:r>
              <a:rPr lang="en-US" altLang="zh-CN" sz="1500">
                <a:solidFill>
                  <a:schemeClr val="tx1"/>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目标信号 </a:t>
            </a:r>
            <a:r>
              <a:rPr lang="en-US" altLang="zh-CN" sz="1500">
                <a:solidFill>
                  <a:schemeClr val="tx1"/>
                </a:solidFill>
                <a:latin typeface="华文新魏" panose="02010800040101010101" pitchFamily="2" charset="-122"/>
                <a:ea typeface="华文新魏" panose="02010800040101010101" pitchFamily="2" charset="-122"/>
              </a:rPr>
              <a:t>&lt;= </a:t>
            </a:r>
            <a:r>
              <a:rPr lang="zh-CN" altLang="en-US" sz="1500" dirty="0">
                <a:solidFill>
                  <a:schemeClr val="tx1"/>
                </a:solidFill>
                <a:latin typeface="华文新魏" panose="02010800040101010101" pitchFamily="2" charset="-122"/>
                <a:ea typeface="华文新魏" panose="02010800040101010101" pitchFamily="2" charset="-122"/>
              </a:rPr>
              <a:t>表达式</a:t>
            </a:r>
            <a:r>
              <a:rPr lang="en-US" altLang="zh-CN" sz="1500">
                <a:solidFill>
                  <a:schemeClr val="tx1"/>
                </a:solidFill>
                <a:latin typeface="华文新魏" panose="02010800040101010101" pitchFamily="2" charset="-122"/>
                <a:ea typeface="华文新魏" panose="02010800040101010101" pitchFamily="2" charset="-122"/>
              </a:rPr>
              <a:t>1</a:t>
            </a:r>
            <a:r>
              <a:rPr lang="en-US" altLang="zh-CN" sz="1500">
                <a:solidFill>
                  <a:srgbClr val="FFFF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WHEN</a:t>
            </a:r>
            <a:r>
              <a:rPr lang="en-US" altLang="zh-CN" sz="1500">
                <a:solidFill>
                  <a:srgbClr val="FFFFFF"/>
                </a:solidFill>
                <a:latin typeface="华文新魏" panose="02010800040101010101" pitchFamily="2" charset="-122"/>
                <a:ea typeface="华文新魏" panose="02010800040101010101" pitchFamily="2" charset="-122"/>
              </a:rPr>
              <a:t>  </a:t>
            </a:r>
            <a:r>
              <a:rPr lang="zh-CN" altLang="en-US" sz="1500" dirty="0">
                <a:solidFill>
                  <a:srgbClr val="FFFFFF"/>
                </a:solidFill>
                <a:latin typeface="华文新魏" panose="02010800040101010101" pitchFamily="2" charset="-122"/>
                <a:ea typeface="华文新魏" panose="02010800040101010101" pitchFamily="2" charset="-122"/>
              </a:rPr>
              <a:t>选</a:t>
            </a:r>
            <a:r>
              <a:rPr lang="zh-CN" altLang="en-US" sz="1500" dirty="0">
                <a:solidFill>
                  <a:schemeClr val="tx1"/>
                </a:solidFill>
                <a:latin typeface="华文新魏" panose="02010800040101010101" pitchFamily="2" charset="-122"/>
                <a:ea typeface="华文新魏" panose="02010800040101010101" pitchFamily="2" charset="-122"/>
              </a:rPr>
              <a:t>条件值</a:t>
            </a:r>
            <a:r>
              <a:rPr lang="en-US" altLang="zh-CN" sz="1500">
                <a:solidFill>
                  <a:schemeClr val="tx1"/>
                </a:solidFill>
                <a:latin typeface="华文新魏" panose="02010800040101010101" pitchFamily="2" charset="-122"/>
                <a:ea typeface="华文新魏" panose="02010800040101010101" pitchFamily="2" charset="-122"/>
              </a:rPr>
              <a:t>1</a:t>
            </a:r>
            <a:r>
              <a:rPr lang="zh-CN" altLang="en-US" sz="1500" dirty="0">
                <a:solidFill>
                  <a:schemeClr val="tx1"/>
                </a:solidFill>
                <a:latin typeface="华文新魏" panose="02010800040101010101" pitchFamily="2" charset="-122"/>
                <a:ea typeface="华文新魏" panose="02010800040101010101" pitchFamily="2" charset="-122"/>
              </a:rPr>
              <a:t>，</a:t>
            </a:r>
          </a:p>
          <a:p>
            <a:pPr algn="just" eaLnBrk="1" hangingPunct="1">
              <a:spcBef>
                <a:spcPct val="50000"/>
              </a:spcBef>
            </a:pPr>
            <a:r>
              <a:rPr lang="zh-CN" altLang="en-US" sz="1500" dirty="0">
                <a:solidFill>
                  <a:schemeClr val="tx1"/>
                </a:solidFill>
                <a:latin typeface="华文新魏" panose="02010800040101010101" pitchFamily="2" charset="-122"/>
                <a:ea typeface="华文新魏" panose="02010800040101010101" pitchFamily="2" charset="-122"/>
              </a:rPr>
              <a:t>                                  表达式</a:t>
            </a:r>
            <a:r>
              <a:rPr lang="en-US" altLang="zh-CN" sz="1500">
                <a:solidFill>
                  <a:schemeClr val="tx1"/>
                </a:solidFill>
                <a:latin typeface="华文新魏" panose="02010800040101010101" pitchFamily="2" charset="-122"/>
                <a:ea typeface="华文新魏" panose="02010800040101010101" pitchFamily="2" charset="-122"/>
              </a:rPr>
              <a:t>2</a:t>
            </a:r>
            <a:r>
              <a:rPr lang="en-US" altLang="zh-CN" sz="1500">
                <a:solidFill>
                  <a:srgbClr val="FFFF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WHEN </a:t>
            </a:r>
            <a:r>
              <a:rPr lang="zh-CN" altLang="en-US" sz="1500" dirty="0">
                <a:solidFill>
                  <a:srgbClr val="FFFFFF"/>
                </a:solidFill>
                <a:latin typeface="华文新魏" panose="02010800040101010101" pitchFamily="2" charset="-122"/>
                <a:ea typeface="华文新魏" panose="02010800040101010101" pitchFamily="2" charset="-122"/>
              </a:rPr>
              <a:t>选 </a:t>
            </a:r>
            <a:r>
              <a:rPr lang="zh-CN" altLang="en-US" sz="1500" dirty="0">
                <a:solidFill>
                  <a:schemeClr val="tx1"/>
                </a:solidFill>
                <a:latin typeface="华文新魏" panose="02010800040101010101" pitchFamily="2" charset="-122"/>
                <a:ea typeface="华文新魏" panose="02010800040101010101" pitchFamily="2" charset="-122"/>
              </a:rPr>
              <a:t>条件值</a:t>
            </a:r>
            <a:r>
              <a:rPr lang="en-US" altLang="zh-CN" sz="1500">
                <a:solidFill>
                  <a:schemeClr val="tx1"/>
                </a:solidFill>
                <a:latin typeface="华文新魏" panose="02010800040101010101" pitchFamily="2" charset="-122"/>
                <a:ea typeface="华文新魏" panose="02010800040101010101" pitchFamily="2" charset="-122"/>
              </a:rPr>
              <a:t>2</a:t>
            </a:r>
            <a:r>
              <a:rPr lang="zh-CN" altLang="en-US" sz="1500" dirty="0">
                <a:solidFill>
                  <a:schemeClr val="tx1"/>
                </a:solidFill>
                <a:latin typeface="华文新魏" panose="02010800040101010101" pitchFamily="2" charset="-122"/>
                <a:ea typeface="华文新魏" panose="02010800040101010101" pitchFamily="2" charset="-122"/>
              </a:rPr>
              <a:t>，</a:t>
            </a:r>
          </a:p>
          <a:p>
            <a:pPr algn="just" eaLnBrk="1" hangingPunct="1">
              <a:spcBef>
                <a:spcPct val="50000"/>
              </a:spcBef>
            </a:pPr>
            <a:r>
              <a:rPr lang="zh-CN" altLang="en-US" sz="1500" dirty="0">
                <a:solidFill>
                  <a:srgbClr val="FFFFFF"/>
                </a:solidFill>
                <a:latin typeface="华文新魏" panose="02010800040101010101" pitchFamily="2" charset="-122"/>
                <a:ea typeface="华文新魏" panose="02010800040101010101" pitchFamily="2" charset="-122"/>
              </a:rPr>
              <a:t>                                   </a:t>
            </a:r>
            <a:r>
              <a:rPr lang="en-US" altLang="zh-CN" sz="1500">
                <a:solidFill>
                  <a:schemeClr val="tx1"/>
                </a:solidFill>
                <a:latin typeface="Times New Roman" panose="02020603050405020304" pitchFamily="18" charset="0"/>
                <a:ea typeface="华文新魏" panose="02010800040101010101" pitchFamily="2" charset="-122"/>
              </a:rPr>
              <a:t>……</a:t>
            </a:r>
            <a:endParaRPr lang="en-US" altLang="zh-CN" sz="1500">
              <a:solidFill>
                <a:schemeClr val="tx1"/>
              </a:solidFill>
              <a:latin typeface="华文新魏" panose="02010800040101010101" pitchFamily="2" charset="-122"/>
              <a:ea typeface="华文新魏" panose="02010800040101010101" pitchFamily="2" charset="-122"/>
            </a:endParaRPr>
          </a:p>
          <a:p>
            <a:pPr algn="just" eaLnBrk="1" hangingPunct="1">
              <a:spcBef>
                <a:spcPct val="50000"/>
              </a:spcBef>
            </a:pPr>
            <a:r>
              <a:rPr lang="en-US" altLang="zh-CN" sz="1500">
                <a:solidFill>
                  <a:schemeClr val="tx1"/>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表达式</a:t>
            </a:r>
            <a:r>
              <a:rPr lang="en-US" altLang="zh-CN" sz="1500">
                <a:solidFill>
                  <a:schemeClr val="tx1"/>
                </a:solidFill>
                <a:latin typeface="华文新魏" panose="02010800040101010101" pitchFamily="2" charset="-122"/>
                <a:ea typeface="华文新魏" panose="02010800040101010101" pitchFamily="2" charset="-122"/>
              </a:rPr>
              <a:t>n   </a:t>
            </a:r>
            <a:r>
              <a:rPr lang="en-US" altLang="zh-CN" sz="1500">
                <a:solidFill>
                  <a:srgbClr val="0000FF"/>
                </a:solidFill>
                <a:latin typeface="华文新魏" panose="02010800040101010101" pitchFamily="2" charset="-122"/>
                <a:ea typeface="华文新魏" panose="02010800040101010101" pitchFamily="2" charset="-122"/>
              </a:rPr>
              <a:t>WHEN</a:t>
            </a:r>
            <a:r>
              <a:rPr lang="zh-CN" altLang="en-US" sz="1500" dirty="0">
                <a:solidFill>
                  <a:srgbClr val="FFFFFF"/>
                </a:solidFill>
                <a:latin typeface="华文新魏" panose="02010800040101010101" pitchFamily="2" charset="-122"/>
                <a:ea typeface="华文新魏" panose="02010800040101010101" pitchFamily="2" charset="-122"/>
              </a:rPr>
              <a:t>选  </a:t>
            </a:r>
            <a:r>
              <a:rPr lang="zh-CN" altLang="en-US" sz="1500" dirty="0">
                <a:solidFill>
                  <a:schemeClr val="tx1"/>
                </a:solidFill>
                <a:latin typeface="华文新魏" panose="02010800040101010101" pitchFamily="2" charset="-122"/>
                <a:ea typeface="华文新魏" panose="02010800040101010101" pitchFamily="2" charset="-122"/>
              </a:rPr>
              <a:t>条件值</a:t>
            </a:r>
            <a:r>
              <a:rPr lang="en-US" altLang="zh-CN" sz="1500">
                <a:solidFill>
                  <a:schemeClr val="tx1"/>
                </a:solidFill>
                <a:latin typeface="华文新魏" panose="02010800040101010101" pitchFamily="2" charset="-122"/>
                <a:ea typeface="华文新魏" panose="02010800040101010101" pitchFamily="2" charset="-122"/>
              </a:rPr>
              <a:t>n</a:t>
            </a:r>
            <a:r>
              <a:rPr lang="zh-CN" altLang="en-US" sz="1500" dirty="0">
                <a:solidFill>
                  <a:schemeClr val="tx1"/>
                </a:solidFill>
                <a:latin typeface="华文新魏" panose="02010800040101010101" pitchFamily="2" charset="-122"/>
                <a:ea typeface="华文新魏" panose="02010800040101010101" pitchFamily="2" charset="-122"/>
              </a:rPr>
              <a:t>； </a:t>
            </a:r>
          </a:p>
        </p:txBody>
      </p:sp>
      <p:sp>
        <p:nvSpPr>
          <p:cNvPr id="140292" name="Text Box 4"/>
          <p:cNvSpPr txBox="1"/>
          <p:nvPr/>
        </p:nvSpPr>
        <p:spPr>
          <a:xfrm>
            <a:off x="1682750" y="2716213"/>
            <a:ext cx="5900738" cy="2439987"/>
          </a:xfrm>
          <a:prstGeom prst="rect">
            <a:avLst/>
          </a:prstGeom>
          <a:solidFill>
            <a:schemeClr val="bg1"/>
          </a:solidFill>
          <a:ln w="28575" cap="sq" cmpd="sng">
            <a:solidFill>
              <a:srgbClr val="006666"/>
            </a:solidFill>
            <a:prstDash val="solid"/>
            <a:miter/>
            <a:headEnd type="none" w="sm" len="sm"/>
            <a:tailEnd type="none" w="sm" len="sm"/>
          </a:ln>
          <a:effectLst>
            <a:outerShdw dist="35921" dir="2699999" algn="ctr" rotWithShape="0">
              <a:srgbClr val="008000"/>
            </a:outerShdw>
          </a:effectLst>
        </p:spPr>
        <p:txBody>
          <a:bodyPr lIns="0" tIns="8100" rIns="0" bIns="8100">
            <a:spAutoFit/>
          </a:bodyPr>
          <a:lstStyle/>
          <a:p>
            <a:pPr eaLnBrk="1" hangingPunct="1">
              <a:lnSpc>
                <a:spcPct val="150000"/>
              </a:lnSpc>
              <a:buClr>
                <a:srgbClr val="FF0000"/>
              </a:buClr>
              <a:buFont typeface="Wingdings" panose="05000000000000000000" pitchFamily="2" charset="2"/>
              <a:buChar char="Ø"/>
            </a:pPr>
            <a:r>
              <a:rPr lang="en-US" altLang="zh-CN" sz="1500">
                <a:solidFill>
                  <a:schemeClr val="tx1"/>
                </a:solidFill>
                <a:latin typeface="华文新魏" panose="02010800040101010101" pitchFamily="2" charset="-122"/>
                <a:ea typeface="华文新魏" panose="02010800040101010101" pitchFamily="2" charset="-122"/>
              </a:rPr>
              <a:t> 1. </a:t>
            </a:r>
            <a:r>
              <a:rPr lang="zh-CN" altLang="en-US" sz="1500" dirty="0">
                <a:solidFill>
                  <a:schemeClr val="tx1"/>
                </a:solidFill>
                <a:latin typeface="华文新魏" panose="02010800040101010101" pitchFamily="2" charset="-122"/>
                <a:ea typeface="华文新魏" panose="02010800040101010101" pitchFamily="2" charset="-122"/>
              </a:rPr>
              <a:t>与进程中的</a:t>
            </a:r>
            <a:r>
              <a:rPr lang="en-US" altLang="zh-CN" sz="1500">
                <a:solidFill>
                  <a:srgbClr val="0000FF"/>
                </a:solidFill>
                <a:latin typeface="华文新魏" panose="02010800040101010101" pitchFamily="2" charset="-122"/>
                <a:ea typeface="华文新魏" panose="02010800040101010101" pitchFamily="2" charset="-122"/>
              </a:rPr>
              <a:t>CASE</a:t>
            </a:r>
            <a:r>
              <a:rPr lang="zh-CN" altLang="en-US" sz="1500" dirty="0">
                <a:solidFill>
                  <a:srgbClr val="0000FF"/>
                </a:solidFill>
                <a:latin typeface="华文新魏" panose="02010800040101010101" pitchFamily="2" charset="-122"/>
                <a:ea typeface="华文新魏" panose="02010800040101010101" pitchFamily="2" charset="-122"/>
              </a:rPr>
              <a:t>语句</a:t>
            </a:r>
            <a:r>
              <a:rPr lang="zh-CN" altLang="en-US" sz="1500" dirty="0">
                <a:solidFill>
                  <a:schemeClr val="tx1"/>
                </a:solidFill>
                <a:latin typeface="华文新魏" panose="02010800040101010101" pitchFamily="2" charset="-122"/>
                <a:ea typeface="华文新魏" panose="02010800040101010101" pitchFamily="2" charset="-122"/>
              </a:rPr>
              <a:t>相似</a:t>
            </a:r>
            <a:r>
              <a:rPr lang="en-US" altLang="zh-CN" sz="1500">
                <a:solidFill>
                  <a:schemeClr val="tx1"/>
                </a:solidFill>
                <a:latin typeface="华文新魏" panose="02010800040101010101" pitchFamily="2" charset="-122"/>
                <a:ea typeface="华文新魏" panose="02010800040101010101" pitchFamily="2" charset="-122"/>
              </a:rPr>
              <a:t>,</a:t>
            </a:r>
            <a:r>
              <a:rPr lang="zh-CN" altLang="en-US" sz="1500" dirty="0">
                <a:solidFill>
                  <a:schemeClr val="tx1"/>
                </a:solidFill>
                <a:latin typeface="华文新魏" panose="02010800040101010101" pitchFamily="2" charset="-122"/>
                <a:ea typeface="华文新魏" panose="02010800040101010101" pitchFamily="2" charset="-122"/>
              </a:rPr>
              <a:t>但</a:t>
            </a:r>
            <a:r>
              <a:rPr lang="zh-CN" altLang="en-US" sz="1500" i="1" u="sng" dirty="0">
                <a:solidFill>
                  <a:schemeClr val="tx2"/>
                </a:solidFill>
                <a:latin typeface="华文新魏" panose="02010800040101010101" pitchFamily="2" charset="-122"/>
                <a:ea typeface="华文新魏" panose="02010800040101010101" pitchFamily="2" charset="-122"/>
              </a:rPr>
              <a:t>不能在进程中应用。</a:t>
            </a:r>
            <a:r>
              <a:rPr lang="zh-CN" altLang="en-US" sz="1500" dirty="0">
                <a:solidFill>
                  <a:srgbClr val="FFFFFF"/>
                </a:solidFill>
                <a:latin typeface="华文新魏" panose="02010800040101010101" pitchFamily="2" charset="-122"/>
                <a:ea typeface="华文新魏" panose="02010800040101010101" pitchFamily="2" charset="-122"/>
              </a:rPr>
              <a:t>。</a:t>
            </a:r>
          </a:p>
          <a:p>
            <a:pPr eaLnBrk="1" hangingPunct="1">
              <a:lnSpc>
                <a:spcPct val="150000"/>
              </a:lnSpc>
              <a:spcBef>
                <a:spcPct val="50000"/>
              </a:spcBef>
              <a:buClr>
                <a:srgbClr val="FF0000"/>
              </a:buClr>
              <a:buFont typeface="Wingdings" panose="05000000000000000000" pitchFamily="2" charset="2"/>
              <a:buChar char="Ø"/>
            </a:pPr>
            <a:r>
              <a:rPr lang="zh-CN" altLang="en-US" sz="1500" dirty="0">
                <a:solidFill>
                  <a:srgbClr val="FFFFFF"/>
                </a:solidFill>
                <a:latin typeface="华文新魏" panose="02010800040101010101" pitchFamily="2" charset="-122"/>
                <a:ea typeface="华文新魏" panose="02010800040101010101" pitchFamily="2" charset="-122"/>
              </a:rPr>
              <a:t> </a:t>
            </a:r>
            <a:r>
              <a:rPr lang="en-US" altLang="zh-CN" sz="1500">
                <a:solidFill>
                  <a:schemeClr val="tx1"/>
                </a:solidFill>
                <a:latin typeface="华文新魏" panose="02010800040101010101" pitchFamily="2" charset="-122"/>
                <a:ea typeface="华文新魏" panose="02010800040101010101" pitchFamily="2" charset="-122"/>
              </a:rPr>
              <a:t>2. </a:t>
            </a:r>
            <a:r>
              <a:rPr lang="zh-CN" altLang="en-US" sz="1500" i="1" u="sng" dirty="0">
                <a:solidFill>
                  <a:srgbClr val="FF0000"/>
                </a:solidFill>
                <a:latin typeface="华文新魏" panose="02010800040101010101" pitchFamily="2" charset="-122"/>
                <a:ea typeface="华文新魏" panose="02010800040101010101" pitchFamily="2" charset="-122"/>
              </a:rPr>
              <a:t>具有敏感量</a:t>
            </a:r>
            <a:r>
              <a:rPr lang="zh-CN" altLang="en-US" sz="1500" dirty="0">
                <a:solidFill>
                  <a:schemeClr val="tx1"/>
                </a:solidFill>
                <a:latin typeface="华文新魏" panose="02010800040101010101" pitchFamily="2" charset="-122"/>
                <a:ea typeface="华文新魏" panose="02010800040101010101" pitchFamily="2" charset="-122"/>
              </a:rPr>
              <a:t>，即</a:t>
            </a:r>
            <a:r>
              <a:rPr lang="en-US" altLang="zh-CN" sz="1500">
                <a:solidFill>
                  <a:srgbClr val="0000FF"/>
                </a:solidFill>
                <a:latin typeface="华文新魏" panose="02010800040101010101" pitchFamily="2" charset="-122"/>
                <a:ea typeface="华文新魏" panose="02010800040101010101" pitchFamily="2" charset="-122"/>
              </a:rPr>
              <a:t>WITH</a:t>
            </a:r>
            <a:r>
              <a:rPr lang="zh-CN" altLang="en-US" sz="1500" dirty="0">
                <a:solidFill>
                  <a:schemeClr val="tx1"/>
                </a:solidFill>
                <a:latin typeface="华文新魏" panose="02010800040101010101" pitchFamily="2" charset="-122"/>
                <a:ea typeface="华文新魏" panose="02010800040101010101" pitchFamily="2" charset="-122"/>
              </a:rPr>
              <a:t>后面的</a:t>
            </a:r>
            <a:r>
              <a:rPr lang="zh-CN" altLang="en-US" sz="1500" i="1" u="sng" dirty="0">
                <a:solidFill>
                  <a:schemeClr val="tx2"/>
                </a:solidFill>
                <a:latin typeface="华文新魏" panose="02010800040101010101" pitchFamily="2" charset="-122"/>
                <a:ea typeface="华文新魏" panose="02010800040101010101" pitchFamily="2" charset="-122"/>
              </a:rPr>
              <a:t>选择条件表达式</a:t>
            </a:r>
            <a:r>
              <a:rPr lang="zh-CN" altLang="en-US" sz="1500" dirty="0">
                <a:solidFill>
                  <a:schemeClr val="tx1"/>
                </a:solidFill>
                <a:latin typeface="华文新魏" panose="02010800040101010101" pitchFamily="2" charset="-122"/>
                <a:ea typeface="华文新魏" panose="02010800040101010101" pitchFamily="2" charset="-122"/>
              </a:rPr>
              <a:t>。每当选择表达式的值发生变化，便启动该语句对各子句的选择值（条件）进行测试对比，当有满足条件的子句时，就将此子句表达式的值赋予目标信号。</a:t>
            </a:r>
          </a:p>
          <a:p>
            <a:pPr eaLnBrk="1" hangingPunct="1">
              <a:lnSpc>
                <a:spcPct val="150000"/>
              </a:lnSpc>
              <a:spcBef>
                <a:spcPct val="50000"/>
              </a:spcBef>
              <a:buClr>
                <a:srgbClr val="FF0000"/>
              </a:buClr>
              <a:buFont typeface="Wingdings" panose="05000000000000000000" pitchFamily="2" charset="2"/>
              <a:buChar char="Ø"/>
            </a:pPr>
            <a:r>
              <a:rPr lang="zh-CN" altLang="en-US" sz="1500" dirty="0">
                <a:solidFill>
                  <a:schemeClr val="tx1"/>
                </a:solidFill>
                <a:latin typeface="华文新魏" panose="02010800040101010101" pitchFamily="2" charset="-122"/>
                <a:ea typeface="华文新魏" panose="02010800040101010101" pitchFamily="2" charset="-122"/>
              </a:rPr>
              <a:t> </a:t>
            </a:r>
            <a:r>
              <a:rPr lang="en-US" altLang="zh-CN" sz="1500">
                <a:solidFill>
                  <a:schemeClr val="tx1"/>
                </a:solidFill>
                <a:latin typeface="华文新魏" panose="02010800040101010101" pitchFamily="2" charset="-122"/>
                <a:ea typeface="华文新魏" panose="02010800040101010101" pitchFamily="2" charset="-122"/>
              </a:rPr>
              <a:t>3.</a:t>
            </a:r>
            <a:r>
              <a:rPr lang="zh-CN" altLang="en-US" sz="1500" dirty="0">
                <a:solidFill>
                  <a:schemeClr val="tx1"/>
                </a:solidFill>
                <a:latin typeface="华文新魏" panose="02010800040101010101" pitchFamily="2" charset="-122"/>
                <a:ea typeface="华文新魏" panose="02010800040101010101" pitchFamily="2" charset="-122"/>
              </a:rPr>
              <a:t>与</a:t>
            </a:r>
            <a:r>
              <a:rPr lang="en-US" altLang="zh-CN" sz="1500">
                <a:solidFill>
                  <a:srgbClr val="0000FF"/>
                </a:solidFill>
                <a:latin typeface="华文新魏" panose="02010800040101010101" pitchFamily="2" charset="-122"/>
                <a:ea typeface="华文新魏" panose="02010800040101010101" pitchFamily="2" charset="-122"/>
              </a:rPr>
              <a:t>CASE</a:t>
            </a:r>
            <a:r>
              <a:rPr lang="zh-CN" altLang="en-US" sz="1500" dirty="0">
                <a:solidFill>
                  <a:srgbClr val="0000FF"/>
                </a:solidFill>
                <a:latin typeface="华文新魏" panose="02010800040101010101" pitchFamily="2" charset="-122"/>
                <a:ea typeface="华文新魏" panose="02010800040101010101" pitchFamily="2" charset="-122"/>
              </a:rPr>
              <a:t>语句</a:t>
            </a:r>
            <a:r>
              <a:rPr lang="zh-CN" altLang="en-US" sz="1500" dirty="0">
                <a:solidFill>
                  <a:schemeClr val="tx1"/>
                </a:solidFill>
                <a:latin typeface="华文新魏" panose="02010800040101010101" pitchFamily="2" charset="-122"/>
                <a:ea typeface="华文新魏" panose="02010800040101010101" pitchFamily="2" charset="-122"/>
              </a:rPr>
              <a:t>相似，对子句条件选择值具有</a:t>
            </a:r>
            <a:r>
              <a:rPr lang="zh-CN" altLang="en-US" sz="1500" i="1" u="sng" dirty="0">
                <a:solidFill>
                  <a:schemeClr val="tx2"/>
                </a:solidFill>
                <a:latin typeface="华文新魏" panose="02010800040101010101" pitchFamily="2" charset="-122"/>
                <a:ea typeface="华文新魏" panose="02010800040101010101" pitchFamily="2" charset="-122"/>
              </a:rPr>
              <a:t>同期性</a:t>
            </a:r>
            <a:r>
              <a:rPr lang="zh-CN" altLang="en-US" sz="1500" dirty="0">
                <a:solidFill>
                  <a:schemeClr val="tx1"/>
                </a:solidFill>
                <a:latin typeface="华文新魏" panose="02010800040101010101" pitchFamily="2" charset="-122"/>
                <a:ea typeface="华文新魏" panose="02010800040101010101" pitchFamily="2" charset="-122"/>
              </a:rPr>
              <a:t>（非顺序性）。</a:t>
            </a:r>
          </a:p>
          <a:p>
            <a:pPr eaLnBrk="1" hangingPunct="1">
              <a:lnSpc>
                <a:spcPct val="150000"/>
              </a:lnSpc>
              <a:spcBef>
                <a:spcPct val="50000"/>
              </a:spcBef>
              <a:buClr>
                <a:srgbClr val="FF0000"/>
              </a:buClr>
              <a:buFont typeface="Wingdings" panose="05000000000000000000" pitchFamily="2" charset="2"/>
              <a:buChar char="Ø"/>
            </a:pPr>
            <a:r>
              <a:rPr lang="zh-CN" altLang="en-US" sz="1500" dirty="0">
                <a:solidFill>
                  <a:schemeClr val="tx1"/>
                </a:solidFill>
                <a:latin typeface="华文新魏" panose="02010800040101010101" pitchFamily="2" charset="-122"/>
                <a:ea typeface="华文新魏" panose="02010800040101010101" pitchFamily="2" charset="-122"/>
              </a:rPr>
              <a:t> </a:t>
            </a:r>
            <a:r>
              <a:rPr lang="en-US" altLang="zh-CN" sz="1500">
                <a:solidFill>
                  <a:schemeClr val="tx1"/>
                </a:solidFill>
                <a:latin typeface="华文新魏" panose="02010800040101010101" pitchFamily="2" charset="-122"/>
                <a:ea typeface="华文新魏" panose="02010800040101010101" pitchFamily="2" charset="-122"/>
              </a:rPr>
              <a:t>4. </a:t>
            </a:r>
            <a:r>
              <a:rPr lang="zh-CN" altLang="en-US" sz="1500" i="1" u="sng" dirty="0">
                <a:solidFill>
                  <a:srgbClr val="FF0000"/>
                </a:solidFill>
                <a:latin typeface="华文新魏" panose="02010800040101010101" pitchFamily="2" charset="-122"/>
                <a:ea typeface="华文新魏" panose="02010800040101010101" pitchFamily="2" charset="-122"/>
              </a:rPr>
              <a:t>不允许有条件重叠现象，也不允许存在条件涵盖不全的情况</a:t>
            </a:r>
            <a:r>
              <a:rPr lang="zh-CN" altLang="en-US" sz="1500" dirty="0">
                <a:solidFill>
                  <a:schemeClr val="tx2"/>
                </a:solidFill>
                <a:latin typeface="华文新魏" panose="02010800040101010101" pitchFamily="2" charset="-122"/>
                <a:ea typeface="华文新魏" panose="02010800040101010101" pitchFamily="2" charset="-122"/>
              </a:rPr>
              <a:t>。</a:t>
            </a:r>
          </a:p>
        </p:txBody>
      </p:sp>
      <p:sp>
        <p:nvSpPr>
          <p:cNvPr id="195590" name="AutoShape 5"/>
          <p:cNvSpPr/>
          <p:nvPr/>
        </p:nvSpPr>
        <p:spPr>
          <a:xfrm>
            <a:off x="7288213" y="-12700"/>
            <a:ext cx="1855787" cy="369888"/>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并发描述语句</a:t>
            </a:r>
          </a:p>
        </p:txBody>
      </p:sp>
      <p:sp>
        <p:nvSpPr>
          <p:cNvPr id="197640" name="Text Box 3"/>
          <p:cNvSpPr txBox="1"/>
          <p:nvPr/>
        </p:nvSpPr>
        <p:spPr>
          <a:xfrm>
            <a:off x="1660525" y="2786063"/>
            <a:ext cx="5900738" cy="2378075"/>
          </a:xfrm>
          <a:prstGeom prst="rect">
            <a:avLst/>
          </a:prstGeom>
          <a:noFill/>
          <a:ln w="12700" cap="flat" cmpd="sng">
            <a:solidFill>
              <a:schemeClr val="tx1"/>
            </a:solidFill>
            <a:prstDash val="solid"/>
            <a:miter/>
            <a:headEnd type="none" w="med" len="med"/>
            <a:tailEnd type="none" w="med" len="med"/>
          </a:ln>
        </p:spPr>
        <p:txBody>
          <a:bodyPr>
            <a:spAutoFit/>
          </a:bodyPr>
          <a:lstStyle/>
          <a:p>
            <a:pPr algn="just" eaLnBrk="1" hangingPunct="1">
              <a:lnSpc>
                <a:spcPct val="80000"/>
              </a:lnSpc>
              <a:spcBef>
                <a:spcPct val="50000"/>
              </a:spcBef>
            </a:pPr>
            <a:r>
              <a:rPr lang="en-US" altLang="zh-CN" sz="1500">
                <a:solidFill>
                  <a:srgbClr val="0000FF"/>
                </a:solidFill>
                <a:latin typeface="华文新魏" panose="02010800040101010101" pitchFamily="2" charset="-122"/>
                <a:ea typeface="华文新魏" panose="02010800040101010101" pitchFamily="2" charset="-122"/>
              </a:rPr>
              <a:t>CASE</a:t>
            </a:r>
            <a:r>
              <a:rPr lang="zh-CN" altLang="en-US" sz="1500" dirty="0">
                <a:solidFill>
                  <a:srgbClr val="0000FF"/>
                </a:solidFill>
                <a:latin typeface="华文新魏" panose="02010800040101010101" pitchFamily="2" charset="-122"/>
                <a:ea typeface="华文新魏" panose="02010800040101010101" pitchFamily="2" charset="-122"/>
              </a:rPr>
              <a:t>语句的一般格式为：</a:t>
            </a:r>
          </a:p>
          <a:p>
            <a:pPr algn="just" eaLnBrk="1" hangingPunct="1">
              <a:lnSpc>
                <a:spcPct val="80000"/>
              </a:lnSpc>
              <a:spcBef>
                <a:spcPct val="50000"/>
              </a:spcBef>
            </a:pPr>
            <a:r>
              <a:rPr lang="zh-CN" altLang="en-US" sz="1500" dirty="0">
                <a:solidFill>
                  <a:schemeClr val="tx1"/>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CASE</a:t>
            </a:r>
            <a:r>
              <a:rPr lang="en-US" altLang="zh-CN" sz="1500">
                <a:solidFill>
                  <a:srgbClr val="FFFFFF"/>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条件表达式</a:t>
            </a:r>
            <a:r>
              <a:rPr lang="zh-CN" altLang="en-US" sz="1500" dirty="0">
                <a:solidFill>
                  <a:srgbClr val="FFFF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IS</a:t>
            </a:r>
          </a:p>
          <a:p>
            <a:pPr algn="just" eaLnBrk="1" hangingPunct="1">
              <a:lnSpc>
                <a:spcPct val="80000"/>
              </a:lnSpc>
              <a:spcBef>
                <a:spcPct val="50000"/>
              </a:spcBef>
            </a:pPr>
            <a:r>
              <a:rPr lang="en-US" altLang="zh-CN" sz="1500">
                <a:solidFill>
                  <a:srgbClr val="FFFF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 WHEN</a:t>
            </a:r>
            <a:r>
              <a:rPr lang="en-US" altLang="zh-CN" sz="1500">
                <a:solidFill>
                  <a:srgbClr val="FFFFFF"/>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条件表达式的值</a:t>
            </a:r>
            <a:r>
              <a:rPr lang="en-US" altLang="zh-CN" sz="1500">
                <a:solidFill>
                  <a:schemeClr val="tx1"/>
                </a:solidFill>
                <a:latin typeface="华文新魏" panose="02010800040101010101" pitchFamily="2" charset="-122"/>
                <a:ea typeface="华文新魏" panose="02010800040101010101" pitchFamily="2" charset="-122"/>
              </a:rPr>
              <a:t>1 =&gt;</a:t>
            </a:r>
          </a:p>
          <a:p>
            <a:pPr algn="just" eaLnBrk="1" hangingPunct="1">
              <a:lnSpc>
                <a:spcPct val="80000"/>
              </a:lnSpc>
              <a:spcBef>
                <a:spcPct val="50000"/>
              </a:spcBef>
            </a:pPr>
            <a:r>
              <a:rPr lang="en-US" altLang="zh-CN" sz="1500">
                <a:solidFill>
                  <a:schemeClr val="tx1"/>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顺序处理语句区</a:t>
            </a:r>
            <a:r>
              <a:rPr lang="en-US" altLang="zh-CN" sz="1500">
                <a:solidFill>
                  <a:schemeClr val="tx1"/>
                </a:solidFill>
                <a:latin typeface="华文新魏" panose="02010800040101010101" pitchFamily="2" charset="-122"/>
                <a:ea typeface="华文新魏" panose="02010800040101010101" pitchFamily="2" charset="-122"/>
              </a:rPr>
              <a:t>1</a:t>
            </a:r>
            <a:r>
              <a:rPr lang="zh-CN" altLang="en-US" sz="1500" dirty="0">
                <a:solidFill>
                  <a:schemeClr val="tx1"/>
                </a:solidFill>
                <a:latin typeface="华文新魏" panose="02010800040101010101" pitchFamily="2" charset="-122"/>
                <a:ea typeface="华文新魏" panose="02010800040101010101" pitchFamily="2" charset="-122"/>
              </a:rPr>
              <a:t>；</a:t>
            </a:r>
            <a:r>
              <a:rPr lang="zh-CN" altLang="en-US" sz="1500" dirty="0">
                <a:solidFill>
                  <a:srgbClr val="FFFFFF"/>
                </a:solidFill>
                <a:latin typeface="华文新魏" panose="02010800040101010101" pitchFamily="2" charset="-122"/>
                <a:ea typeface="华文新魏" panose="02010800040101010101" pitchFamily="2" charset="-122"/>
              </a:rPr>
              <a:t>；</a:t>
            </a:r>
          </a:p>
          <a:p>
            <a:pPr algn="just" eaLnBrk="1" hangingPunct="1">
              <a:lnSpc>
                <a:spcPct val="80000"/>
              </a:lnSpc>
              <a:spcBef>
                <a:spcPct val="50000"/>
              </a:spcBef>
            </a:pPr>
            <a:r>
              <a:rPr lang="zh-CN" altLang="en-US" sz="1500" dirty="0">
                <a:solidFill>
                  <a:srgbClr val="FF99CC"/>
                </a:solidFill>
                <a:latin typeface="华文新魏" panose="02010800040101010101" pitchFamily="2" charset="-122"/>
                <a:ea typeface="华文新魏" panose="02010800040101010101" pitchFamily="2" charset="-122"/>
              </a:rPr>
              <a:t>                   </a:t>
            </a:r>
            <a:r>
              <a:rPr lang="zh-CN" altLang="en-US" sz="1500" dirty="0">
                <a:solidFill>
                  <a:srgbClr val="0000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WHEN</a:t>
            </a:r>
            <a:r>
              <a:rPr lang="en-US" altLang="zh-CN" sz="1500">
                <a:solidFill>
                  <a:srgbClr val="FFFFFF"/>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条件表达式的值</a:t>
            </a:r>
            <a:r>
              <a:rPr lang="en-US" altLang="zh-CN" sz="1500">
                <a:solidFill>
                  <a:schemeClr val="tx1"/>
                </a:solidFill>
                <a:latin typeface="华文新魏" panose="02010800040101010101" pitchFamily="2" charset="-122"/>
                <a:ea typeface="华文新魏" panose="02010800040101010101" pitchFamily="2" charset="-122"/>
              </a:rPr>
              <a:t>2 =&gt;</a:t>
            </a:r>
          </a:p>
          <a:p>
            <a:pPr algn="just" eaLnBrk="1" hangingPunct="1">
              <a:lnSpc>
                <a:spcPct val="80000"/>
              </a:lnSpc>
              <a:spcBef>
                <a:spcPct val="50000"/>
              </a:spcBef>
            </a:pPr>
            <a:r>
              <a:rPr lang="en-US" altLang="zh-CN" sz="1500">
                <a:solidFill>
                  <a:schemeClr val="tx1"/>
                </a:solidFill>
                <a:latin typeface="华文新魏" panose="02010800040101010101" pitchFamily="2" charset="-122"/>
                <a:ea typeface="华文新魏" panose="02010800040101010101" pitchFamily="2" charset="-122"/>
              </a:rPr>
              <a:t>                     </a:t>
            </a:r>
            <a:r>
              <a:rPr lang="zh-CN" altLang="en-US" sz="1500" dirty="0">
                <a:solidFill>
                  <a:schemeClr val="tx1"/>
                </a:solidFill>
                <a:latin typeface="华文新魏" panose="02010800040101010101" pitchFamily="2" charset="-122"/>
                <a:ea typeface="华文新魏" panose="02010800040101010101" pitchFamily="2" charset="-122"/>
              </a:rPr>
              <a:t>顺序处理语句区</a:t>
            </a:r>
            <a:r>
              <a:rPr lang="en-US" altLang="zh-CN" sz="1500">
                <a:solidFill>
                  <a:schemeClr val="tx1"/>
                </a:solidFill>
                <a:latin typeface="华文新魏" panose="02010800040101010101" pitchFamily="2" charset="-122"/>
                <a:ea typeface="华文新魏" panose="02010800040101010101" pitchFamily="2" charset="-122"/>
              </a:rPr>
              <a:t>2</a:t>
            </a:r>
            <a:r>
              <a:rPr lang="zh-CN" altLang="en-US" sz="1500" dirty="0">
                <a:solidFill>
                  <a:schemeClr val="tx1"/>
                </a:solidFill>
                <a:latin typeface="华文新魏" panose="02010800040101010101" pitchFamily="2" charset="-122"/>
                <a:ea typeface="华文新魏" panose="02010800040101010101" pitchFamily="2" charset="-122"/>
              </a:rPr>
              <a:t>；</a:t>
            </a:r>
            <a:r>
              <a:rPr lang="zh-CN" altLang="en-US" sz="1500" dirty="0">
                <a:solidFill>
                  <a:srgbClr val="FFFFFF"/>
                </a:solidFill>
                <a:latin typeface="华文新魏" panose="02010800040101010101" pitchFamily="2" charset="-122"/>
                <a:ea typeface="华文新魏" panose="02010800040101010101" pitchFamily="2" charset="-122"/>
              </a:rPr>
              <a:t>；</a:t>
            </a:r>
          </a:p>
          <a:p>
            <a:pPr algn="just" eaLnBrk="1" hangingPunct="1">
              <a:lnSpc>
                <a:spcPct val="80000"/>
              </a:lnSpc>
              <a:spcBef>
                <a:spcPct val="50000"/>
              </a:spcBef>
            </a:pPr>
            <a:r>
              <a:rPr lang="zh-CN" altLang="en-US" sz="1500" dirty="0">
                <a:solidFill>
                  <a:srgbClr val="FFFFFF"/>
                </a:solidFill>
                <a:latin typeface="华文新魏" panose="02010800040101010101" pitchFamily="2" charset="-122"/>
                <a:ea typeface="华文新魏" panose="02010800040101010101" pitchFamily="2" charset="-122"/>
              </a:rPr>
              <a:t>                    </a:t>
            </a:r>
            <a:r>
              <a:rPr lang="en-US" altLang="zh-CN" sz="1500">
                <a:solidFill>
                  <a:schemeClr val="tx1"/>
                </a:solidFill>
                <a:latin typeface="Times New Roman" panose="02020603050405020304" pitchFamily="18" charset="0"/>
                <a:ea typeface="华文新魏" panose="02010800040101010101" pitchFamily="2" charset="-122"/>
              </a:rPr>
              <a:t>…</a:t>
            </a:r>
            <a:endParaRPr lang="en-US" altLang="zh-CN" sz="1500">
              <a:solidFill>
                <a:srgbClr val="FFFFFF"/>
              </a:solidFill>
              <a:latin typeface="华文新魏" panose="02010800040101010101" pitchFamily="2" charset="-122"/>
              <a:ea typeface="华文新魏" panose="02010800040101010101" pitchFamily="2" charset="-122"/>
            </a:endParaRPr>
          </a:p>
          <a:p>
            <a:pPr eaLnBrk="1" hangingPunct="1">
              <a:lnSpc>
                <a:spcPct val="80000"/>
              </a:lnSpc>
              <a:spcBef>
                <a:spcPct val="50000"/>
              </a:spcBef>
            </a:pPr>
            <a:r>
              <a:rPr lang="en-US" altLang="zh-CN" sz="1500">
                <a:solidFill>
                  <a:srgbClr val="FFFFFF"/>
                </a:solidFill>
                <a:latin typeface="华文新魏" panose="02010800040101010101" pitchFamily="2" charset="-122"/>
                <a:ea typeface="华文新魏" panose="02010800040101010101" pitchFamily="2" charset="-122"/>
              </a:rPr>
              <a:t>	</a:t>
            </a:r>
            <a:r>
              <a:rPr lang="en-US" altLang="zh-CN" sz="1500">
                <a:solidFill>
                  <a:srgbClr val="0000FF"/>
                </a:solidFill>
                <a:latin typeface="华文新魏" panose="02010800040101010101" pitchFamily="2" charset="-122"/>
                <a:ea typeface="华文新魏" panose="02010800040101010101" pitchFamily="2" charset="-122"/>
              </a:rPr>
              <a:t>END CASE</a:t>
            </a:r>
            <a:r>
              <a:rPr lang="zh-CN" altLang="en-US" sz="1500" dirty="0">
                <a:solidFill>
                  <a:srgbClr val="FFFFFF"/>
                </a:solidFill>
                <a:latin typeface="华文新魏" panose="02010800040101010101" pitchFamily="2" charset="-122"/>
                <a:ea typeface="华文新魏" panose="02010800040101010101" pitchFamily="2" charset="-122"/>
              </a:rPr>
              <a:t>；</a:t>
            </a:r>
            <a:r>
              <a:rPr lang="zh-CN" altLang="en-US" sz="1500" dirty="0">
                <a:solidFill>
                  <a:schemeClr val="tx1"/>
                </a:solidFill>
                <a:latin typeface="华文新魏" panose="02010800040101010101" pitchFamily="2" charset="-122"/>
                <a:ea typeface="华文新魏" panose="02010800040101010101"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 calcmode="lin" valueType="num">
                                      <p:cBhvr>
                                        <p:cTn id="7" dur="500" fill="hold"/>
                                        <p:tgtEl>
                                          <p:spTgt spid="140292"/>
                                        </p:tgtEl>
                                        <p:attrNameLst>
                                          <p:attrName>ppt_x</p:attrName>
                                        </p:attrNameLst>
                                      </p:cBhvr>
                                      <p:tavLst>
                                        <p:tav tm="0">
                                          <p:val>
                                            <p:strVal val="#ppt_x"/>
                                          </p:val>
                                        </p:tav>
                                        <p:tav tm="100000">
                                          <p:val>
                                            <p:strVal val="#ppt_x"/>
                                          </p:val>
                                        </p:tav>
                                      </p:tavLst>
                                    </p:anim>
                                    <p:anim calcmode="lin" valueType="num">
                                      <p:cBhvr>
                                        <p:cTn id="8" dur="500" fill="hold"/>
                                        <p:tgtEl>
                                          <p:spTgt spid="140292"/>
                                        </p:tgtEl>
                                        <p:attrNameLst>
                                          <p:attrName>ppt_y</p:attrName>
                                        </p:attrNameLst>
                                      </p:cBhvr>
                                      <p:tavLst>
                                        <p:tav tm="0">
                                          <p:val>
                                            <p:strVal val="#ppt_y+#ppt_h/2"/>
                                          </p:val>
                                        </p:tav>
                                        <p:tav tm="100000">
                                          <p:val>
                                            <p:strVal val="#ppt_y"/>
                                          </p:val>
                                        </p:tav>
                                      </p:tavLst>
                                    </p:anim>
                                    <p:anim calcmode="lin" valueType="num">
                                      <p:cBhvr>
                                        <p:cTn id="9" dur="500" fill="hold"/>
                                        <p:tgtEl>
                                          <p:spTgt spid="140292"/>
                                        </p:tgtEl>
                                        <p:attrNameLst>
                                          <p:attrName>ppt_w</p:attrName>
                                        </p:attrNameLst>
                                      </p:cBhvr>
                                      <p:tavLst>
                                        <p:tav tm="0">
                                          <p:val>
                                            <p:strVal val="#ppt_w"/>
                                          </p:val>
                                        </p:tav>
                                        <p:tav tm="100000">
                                          <p:val>
                                            <p:strVal val="#ppt_w"/>
                                          </p:val>
                                        </p:tav>
                                      </p:tavLst>
                                    </p:anim>
                                    <p:anim calcmode="lin" valueType="num">
                                      <p:cBhvr>
                                        <p:cTn id="10" dur="500" fill="hold"/>
                                        <p:tgtEl>
                                          <p:spTgt spid="14029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5" presetClass="exit" presetSubtype="10" fill="hold" grpId="1" nodeType="clickEffect">
                                  <p:stCondLst>
                                    <p:cond delay="0"/>
                                  </p:stCondLst>
                                  <p:childTnLst>
                                    <p:animEffect transition="out" filter="checkerboard(across)">
                                      <p:cBhvr>
                                        <p:cTn id="14" dur="500"/>
                                        <p:tgtEl>
                                          <p:spTgt spid="140292"/>
                                        </p:tgtEl>
                                      </p:cBhvr>
                                    </p:animEffect>
                                    <p:set>
                                      <p:cBhvr>
                                        <p:cTn id="15" dur="1" fill="hold">
                                          <p:stCondLst>
                                            <p:cond delay="499"/>
                                          </p:stCondLst>
                                        </p:cTn>
                                        <p:tgtEl>
                                          <p:spTgt spid="14029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97640"/>
                                        </p:tgtEl>
                                        <p:attrNameLst>
                                          <p:attrName>style.visibility</p:attrName>
                                        </p:attrNameLst>
                                      </p:cBhvr>
                                      <p:to>
                                        <p:strVal val="visible"/>
                                      </p:to>
                                    </p:set>
                                    <p:anim calcmode="lin" valueType="num">
                                      <p:cBhvr additive="base">
                                        <p:cTn id="20" dur="500" fill="hold"/>
                                        <p:tgtEl>
                                          <p:spTgt spid="197640"/>
                                        </p:tgtEl>
                                        <p:attrNameLst>
                                          <p:attrName>ppt_x</p:attrName>
                                        </p:attrNameLst>
                                      </p:cBhvr>
                                      <p:tavLst>
                                        <p:tav tm="0">
                                          <p:val>
                                            <p:strVal val="#ppt_x"/>
                                          </p:val>
                                        </p:tav>
                                        <p:tav tm="100000">
                                          <p:val>
                                            <p:strVal val="#ppt_x"/>
                                          </p:val>
                                        </p:tav>
                                      </p:tavLst>
                                    </p:anim>
                                    <p:anim calcmode="lin" valueType="num">
                                      <p:cBhvr additive="base">
                                        <p:cTn id="21" dur="500" fill="hold"/>
                                        <p:tgtEl>
                                          <p:spTgt spid="1976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p:bldP spid="140292" grpId="1" animBg="1"/>
      <p:bldP spid="19764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800" b="1">
                <a:solidFill>
                  <a:schemeClr val="tx1"/>
                </a:solidFill>
                <a:latin typeface="华文新魏" panose="02010800040101010101" pitchFamily="2" charset="-122"/>
                <a:ea typeface="华文新魏" panose="02010800040101010101" pitchFamily="2" charset="-122"/>
              </a:defRPr>
            </a:lvl1pPr>
            <a:lvl2pPr marL="557530" indent="-214630" eaLnBrk="0" hangingPunct="0">
              <a:defRPr kumimoji="1" sz="1800" b="1">
                <a:solidFill>
                  <a:schemeClr val="tx1"/>
                </a:solidFill>
                <a:latin typeface="华文新魏" panose="02010800040101010101" pitchFamily="2" charset="-122"/>
                <a:ea typeface="华文新魏" panose="02010800040101010101" pitchFamily="2" charset="-122"/>
              </a:defRPr>
            </a:lvl2pPr>
            <a:lvl3pPr marL="857250" indent="-171450" eaLnBrk="0" hangingPunct="0">
              <a:defRPr kumimoji="1" sz="1800" b="1">
                <a:solidFill>
                  <a:schemeClr val="tx1"/>
                </a:solidFill>
                <a:latin typeface="华文新魏" panose="02010800040101010101" pitchFamily="2" charset="-122"/>
                <a:ea typeface="华文新魏" panose="02010800040101010101" pitchFamily="2" charset="-122"/>
              </a:defRPr>
            </a:lvl3pPr>
            <a:lvl4pPr marL="1200150" indent="-171450" eaLnBrk="0" hangingPunct="0">
              <a:defRPr kumimoji="1" sz="1800" b="1">
                <a:solidFill>
                  <a:schemeClr val="tx1"/>
                </a:solidFill>
                <a:latin typeface="华文新魏" panose="02010800040101010101" pitchFamily="2" charset="-122"/>
                <a:ea typeface="华文新魏" panose="02010800040101010101" pitchFamily="2" charset="-122"/>
              </a:defRPr>
            </a:lvl4pPr>
            <a:lvl5pPr marL="1543050" indent="-171450" eaLnBrk="0" hangingPunct="0">
              <a:defRPr kumimoji="1" sz="1800" b="1">
                <a:solidFill>
                  <a:schemeClr val="tx1"/>
                </a:solidFill>
                <a:latin typeface="华文新魏" panose="02010800040101010101" pitchFamily="2" charset="-122"/>
                <a:ea typeface="华文新魏" panose="02010800040101010101" pitchFamily="2" charset="-122"/>
              </a:defRPr>
            </a:lvl5pPr>
            <a:lvl6pPr marL="18859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6pPr>
            <a:lvl7pPr marL="22288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7pPr>
            <a:lvl8pPr marL="25717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8pPr>
            <a:lvl9pPr marL="2914650" indent="-171450" eaLnBrk="0" fontAlgn="base" hangingPunct="0">
              <a:lnSpc>
                <a:spcPct val="120000"/>
              </a:lnSpc>
              <a:spcBef>
                <a:spcPct val="50000"/>
              </a:spcBef>
              <a:spcAft>
                <a:spcPct val="0"/>
              </a:spcAft>
              <a:defRPr kumimoji="1" sz="18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56572FB-B768-42ED-B833-8E3A3BFE08FB}"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78</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1314" name="Text Box 2"/>
          <p:cNvSpPr txBox="1">
            <a:spLocks noChangeArrowheads="1"/>
          </p:cNvSpPr>
          <p:nvPr/>
        </p:nvSpPr>
        <p:spPr bwMode="auto">
          <a:xfrm>
            <a:off x="1528763" y="746125"/>
            <a:ext cx="6186488" cy="448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
              </a:spcBef>
              <a:spcAft>
                <a:spcPct val="0"/>
              </a:spcAft>
              <a:buClrTx/>
              <a:buSzTx/>
              <a:buFontTx/>
              <a:buNone/>
              <a:defRPr/>
            </a:pPr>
            <a:endParaRPr kumimoji="0" lang="zh-CN" altLang="en-US" sz="75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ENTITY</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smux4_1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IS</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PORT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i0, i1,i2,i3,a,b	: IN	STD_LOGIC;</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q		: OUT	STD_LOGIC);</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END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smux4_1;</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ARCHITECTURE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behav</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OF</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smux4_1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IS</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SIGNAL</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 INTEGER;</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BEGIN</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WITH</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SELECT</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q&lt;= i0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0,</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i1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1,</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i2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2,</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i3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3,</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'X'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   OTHERS</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sel</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&lt;=0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0</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1500" b="0"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rPr>
              <a:t>AND</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b=</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0</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1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WHEN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1500" b="0"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rPr>
              <a:t>AND</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b=</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0</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2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WHEN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0</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1500" b="0"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rPr>
              <a:t>AND</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b=</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3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1500" b="0"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rPr>
              <a:t>AND</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b=</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en-US" altLang="zh-CN" sz="15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  ELSE</a:t>
            </a:r>
          </a:p>
          <a:p>
            <a:pPr marL="0" marR="0" lvl="0" indent="0" algn="l" defTabSz="914400" rtl="0" eaLnBrk="1" fontAlgn="base" latinLnBrk="0" hangingPunct="1">
              <a:lnSpc>
                <a:spcPct val="10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4;</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END</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behav</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p:txBody>
      </p:sp>
      <p:sp>
        <p:nvSpPr>
          <p:cNvPr id="196612" name="AutoShape 3"/>
          <p:cNvSpPr/>
          <p:nvPr/>
        </p:nvSpPr>
        <p:spPr>
          <a:xfrm>
            <a:off x="7288213" y="0"/>
            <a:ext cx="1855787" cy="369888"/>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并发描述语句</a:t>
            </a:r>
          </a:p>
        </p:txBody>
      </p:sp>
      <p:sp>
        <p:nvSpPr>
          <p:cNvPr id="196613" name="矩形 1"/>
          <p:cNvSpPr/>
          <p:nvPr/>
        </p:nvSpPr>
        <p:spPr>
          <a:xfrm>
            <a:off x="1520825" y="392113"/>
            <a:ext cx="5213350" cy="415925"/>
          </a:xfrm>
          <a:prstGeom prst="rect">
            <a:avLst/>
          </a:prstGeom>
          <a:noFill/>
          <a:ln w="9525">
            <a:noFill/>
          </a:ln>
        </p:spPr>
        <p:txBody>
          <a:bodyPr wrap="none">
            <a:spAutoFit/>
          </a:bodyPr>
          <a:lstStyle/>
          <a:p>
            <a:pPr eaLnBrk="1" hangingPunct="1"/>
            <a:r>
              <a:rPr lang="zh-CN" altLang="en-US" sz="2100" dirty="0">
                <a:solidFill>
                  <a:srgbClr val="0000FF"/>
                </a:solidFill>
                <a:latin typeface="华文新魏" panose="02010800040101010101" pitchFamily="2" charset="-122"/>
                <a:ea typeface="华文新魏" panose="02010800040101010101" pitchFamily="2" charset="-122"/>
              </a:rPr>
              <a:t>例：</a:t>
            </a:r>
            <a:r>
              <a:rPr lang="en-US" altLang="zh-CN" sz="2100">
                <a:solidFill>
                  <a:srgbClr val="0000FF"/>
                </a:solidFill>
                <a:latin typeface="华文新魏" panose="02010800040101010101" pitchFamily="2" charset="-122"/>
                <a:ea typeface="华文新魏" panose="02010800040101010101" pitchFamily="2" charset="-122"/>
              </a:rPr>
              <a:t>4</a:t>
            </a:r>
            <a:r>
              <a:rPr lang="zh-CN" altLang="en-US" sz="2100" dirty="0">
                <a:solidFill>
                  <a:srgbClr val="0000FF"/>
                </a:solidFill>
                <a:latin typeface="华文新魏" panose="02010800040101010101" pitchFamily="2" charset="-122"/>
                <a:ea typeface="华文新魏" panose="02010800040101010101" pitchFamily="2" charset="-122"/>
              </a:rPr>
              <a:t>选</a:t>
            </a:r>
            <a:r>
              <a:rPr lang="en-US" altLang="zh-CN" sz="2100">
                <a:solidFill>
                  <a:srgbClr val="0000FF"/>
                </a:solidFill>
                <a:latin typeface="华文新魏" panose="02010800040101010101" pitchFamily="2" charset="-122"/>
                <a:ea typeface="华文新魏" panose="02010800040101010101" pitchFamily="2" charset="-122"/>
              </a:rPr>
              <a:t>1</a:t>
            </a:r>
            <a:r>
              <a:rPr lang="zh-CN" altLang="en-US" sz="2100" dirty="0">
                <a:solidFill>
                  <a:srgbClr val="0000FF"/>
                </a:solidFill>
                <a:latin typeface="华文新魏" panose="02010800040101010101" pitchFamily="2" charset="-122"/>
                <a:ea typeface="华文新魏" panose="02010800040101010101" pitchFamily="2" charset="-122"/>
              </a:rPr>
              <a:t>多路选择器</a:t>
            </a:r>
            <a:r>
              <a:rPr lang="en-US" altLang="zh-CN" sz="2100">
                <a:solidFill>
                  <a:srgbClr val="0000FF"/>
                </a:solidFill>
                <a:latin typeface="华文新魏" panose="02010800040101010101" pitchFamily="2" charset="-122"/>
                <a:ea typeface="华文新魏" panose="02010800040101010101" pitchFamily="2" charset="-122"/>
              </a:rPr>
              <a:t>(</a:t>
            </a:r>
            <a:r>
              <a:rPr lang="zh-CN" altLang="en-US" sz="2100" dirty="0">
                <a:solidFill>
                  <a:srgbClr val="0000FF"/>
                </a:solidFill>
                <a:latin typeface="华文新魏" panose="02010800040101010101" pitchFamily="2" charset="-122"/>
                <a:ea typeface="华文新魏" panose="02010800040101010101" pitchFamily="2" charset="-122"/>
              </a:rPr>
              <a:t>使用条件与选择语句</a:t>
            </a:r>
            <a:r>
              <a:rPr lang="en-US" altLang="zh-CN" sz="2100">
                <a:solidFill>
                  <a:srgbClr val="0000FF"/>
                </a:solidFill>
                <a:latin typeface="华文新魏" panose="02010800040101010101" pitchFamily="2" charset="-122"/>
                <a:ea typeface="华文新魏" panose="02010800040101010101" pitchFamily="2" charset="-122"/>
              </a:rPr>
              <a:t>)</a:t>
            </a:r>
            <a:endParaRPr lang="zh-CN" altLang="en-US" sz="2100" dirty="0">
              <a:solidFill>
                <a:srgbClr val="0000FF"/>
              </a:solidFill>
              <a:latin typeface="华文新魏" panose="02010800040101010101" pitchFamily="2" charset="-122"/>
              <a:ea typeface="华文新魏" panose="02010800040101010101" pitchFamily="2" charset="-122"/>
            </a:endParaRPr>
          </a:p>
        </p:txBody>
      </p:sp>
      <p:sp>
        <p:nvSpPr>
          <p:cNvPr id="2" name="对话气泡: 圆角矩形 1">
            <a:extLst>
              <a:ext uri="{FF2B5EF4-FFF2-40B4-BE49-F238E27FC236}">
                <a16:creationId xmlns:a16="http://schemas.microsoft.com/office/drawing/2014/main" id="{898BD284-F9A8-41E3-B1EE-0F9724065DE1}"/>
              </a:ext>
            </a:extLst>
          </p:cNvPr>
          <p:cNvSpPr/>
          <p:nvPr/>
        </p:nvSpPr>
        <p:spPr bwMode="auto">
          <a:xfrm>
            <a:off x="6462458" y="2813526"/>
            <a:ext cx="1637934" cy="415925"/>
          </a:xfrm>
          <a:prstGeom prst="wedgeRoundRectCallout">
            <a:avLst>
              <a:gd name="adj1" fmla="val -108450"/>
              <a:gd name="adj2" fmla="val 1652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选择信号语句</a:t>
            </a:r>
          </a:p>
        </p:txBody>
      </p:sp>
      <p:sp>
        <p:nvSpPr>
          <p:cNvPr id="7" name="对话气泡: 圆角矩形 6">
            <a:extLst>
              <a:ext uri="{FF2B5EF4-FFF2-40B4-BE49-F238E27FC236}">
                <a16:creationId xmlns:a16="http://schemas.microsoft.com/office/drawing/2014/main" id="{D536C6F4-1676-423D-A9E3-EB5B51DEC0BB}"/>
              </a:ext>
            </a:extLst>
          </p:cNvPr>
          <p:cNvSpPr/>
          <p:nvPr/>
        </p:nvSpPr>
        <p:spPr bwMode="auto">
          <a:xfrm>
            <a:off x="7505121" y="3867894"/>
            <a:ext cx="1459367" cy="648072"/>
          </a:xfrm>
          <a:prstGeom prst="wedgeRoundRectCallout">
            <a:avLst>
              <a:gd name="adj1" fmla="val -108450"/>
              <a:gd name="adj2" fmla="val 1652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条件信号代入语句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1314">
                                            <p:txEl>
                                              <p:pRg st="7" end="7"/>
                                            </p:txEl>
                                          </p:spTgt>
                                        </p:tgtEl>
                                        <p:attrNameLst>
                                          <p:attrName>style.visibility</p:attrName>
                                        </p:attrNameLst>
                                      </p:cBhvr>
                                      <p:to>
                                        <p:strVal val="visible"/>
                                      </p:to>
                                    </p:set>
                                    <p:anim calcmode="lin" valueType="num">
                                      <p:cBhvr additive="base">
                                        <p:cTn id="7" dur="500" fill="hold"/>
                                        <p:tgtEl>
                                          <p:spTgt spid="14131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31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1314">
                                            <p:txEl>
                                              <p:pRg st="8" end="8"/>
                                            </p:txEl>
                                          </p:spTgt>
                                        </p:tgtEl>
                                        <p:attrNameLst>
                                          <p:attrName>style.visibility</p:attrName>
                                        </p:attrNameLst>
                                      </p:cBhvr>
                                      <p:to>
                                        <p:strVal val="visible"/>
                                      </p:to>
                                    </p:set>
                                    <p:anim calcmode="lin" valueType="num">
                                      <p:cBhvr additive="base">
                                        <p:cTn id="11" dur="500" fill="hold"/>
                                        <p:tgtEl>
                                          <p:spTgt spid="14131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1314">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1314">
                                            <p:txEl>
                                              <p:pRg st="9" end="9"/>
                                            </p:txEl>
                                          </p:spTgt>
                                        </p:tgtEl>
                                        <p:attrNameLst>
                                          <p:attrName>style.visibility</p:attrName>
                                        </p:attrNameLst>
                                      </p:cBhvr>
                                      <p:to>
                                        <p:strVal val="visible"/>
                                      </p:to>
                                    </p:set>
                                    <p:anim calcmode="lin" valueType="num">
                                      <p:cBhvr additive="base">
                                        <p:cTn id="15" dur="500" fill="hold"/>
                                        <p:tgtEl>
                                          <p:spTgt spid="141314">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1314">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1314">
                                            <p:txEl>
                                              <p:pRg st="10" end="10"/>
                                            </p:txEl>
                                          </p:spTgt>
                                        </p:tgtEl>
                                        <p:attrNameLst>
                                          <p:attrName>style.visibility</p:attrName>
                                        </p:attrNameLst>
                                      </p:cBhvr>
                                      <p:to>
                                        <p:strVal val="visible"/>
                                      </p:to>
                                    </p:set>
                                    <p:anim calcmode="lin" valueType="num">
                                      <p:cBhvr additive="base">
                                        <p:cTn id="19" dur="500" fill="hold"/>
                                        <p:tgtEl>
                                          <p:spTgt spid="141314">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314">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1314">
                                            <p:txEl>
                                              <p:pRg st="11" end="11"/>
                                            </p:txEl>
                                          </p:spTgt>
                                        </p:tgtEl>
                                        <p:attrNameLst>
                                          <p:attrName>style.visibility</p:attrName>
                                        </p:attrNameLst>
                                      </p:cBhvr>
                                      <p:to>
                                        <p:strVal val="visible"/>
                                      </p:to>
                                    </p:set>
                                    <p:anim calcmode="lin" valueType="num">
                                      <p:cBhvr additive="base">
                                        <p:cTn id="23" dur="500" fill="hold"/>
                                        <p:tgtEl>
                                          <p:spTgt spid="141314">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1314">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1314">
                                            <p:txEl>
                                              <p:pRg st="12" end="12"/>
                                            </p:txEl>
                                          </p:spTgt>
                                        </p:tgtEl>
                                        <p:attrNameLst>
                                          <p:attrName>style.visibility</p:attrName>
                                        </p:attrNameLst>
                                      </p:cBhvr>
                                      <p:to>
                                        <p:strVal val="visible"/>
                                      </p:to>
                                    </p:set>
                                    <p:anim calcmode="lin" valueType="num">
                                      <p:cBhvr additive="base">
                                        <p:cTn id="27" dur="500" fill="hold"/>
                                        <p:tgtEl>
                                          <p:spTgt spid="141314">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1314">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1314">
                                            <p:txEl>
                                              <p:pRg st="13" end="13"/>
                                            </p:txEl>
                                          </p:spTgt>
                                        </p:tgtEl>
                                        <p:attrNameLst>
                                          <p:attrName>style.visibility</p:attrName>
                                        </p:attrNameLst>
                                      </p:cBhvr>
                                      <p:to>
                                        <p:strVal val="visible"/>
                                      </p:to>
                                    </p:set>
                                    <p:anim calcmode="lin" valueType="num">
                                      <p:cBhvr additive="base">
                                        <p:cTn id="31" dur="500" fill="hold"/>
                                        <p:tgtEl>
                                          <p:spTgt spid="141314">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131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1314">
                                            <p:txEl>
                                              <p:pRg st="14" end="14"/>
                                            </p:txEl>
                                          </p:spTgt>
                                        </p:tgtEl>
                                        <p:attrNameLst>
                                          <p:attrName>style.visibility</p:attrName>
                                        </p:attrNameLst>
                                      </p:cBhvr>
                                      <p:to>
                                        <p:strVal val="visible"/>
                                      </p:to>
                                    </p:set>
                                    <p:anim calcmode="lin" valueType="num">
                                      <p:cBhvr additive="base">
                                        <p:cTn id="37" dur="500" fill="hold"/>
                                        <p:tgtEl>
                                          <p:spTgt spid="141314">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1314">
                                            <p:txEl>
                                              <p:pRg st="14" end="14"/>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1314">
                                            <p:txEl>
                                              <p:charRg st="371" end="427"/>
                                            </p:txEl>
                                          </p:spTgt>
                                        </p:tgtEl>
                                        <p:attrNameLst>
                                          <p:attrName>style.visibility</p:attrName>
                                        </p:attrNameLst>
                                      </p:cBhvr>
                                      <p:to>
                                        <p:strVal val="visible"/>
                                      </p:to>
                                    </p:set>
                                    <p:anim calcmode="lin" valueType="num">
                                      <p:cBhvr additive="base">
                                        <p:cTn id="41" dur="500" fill="hold"/>
                                        <p:tgtEl>
                                          <p:spTgt spid="141314">
                                            <p:txEl>
                                              <p:charRg st="371" end="42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1314">
                                            <p:txEl>
                                              <p:charRg st="371" end="42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41314">
                                            <p:txEl>
                                              <p:charRg st="427" end="485"/>
                                            </p:txEl>
                                          </p:spTgt>
                                        </p:tgtEl>
                                        <p:attrNameLst>
                                          <p:attrName>style.visibility</p:attrName>
                                        </p:attrNameLst>
                                      </p:cBhvr>
                                      <p:to>
                                        <p:strVal val="visible"/>
                                      </p:to>
                                    </p:set>
                                    <p:anim calcmode="lin" valueType="num">
                                      <p:cBhvr additive="base">
                                        <p:cTn id="45" dur="500" fill="hold"/>
                                        <p:tgtEl>
                                          <p:spTgt spid="141314">
                                            <p:txEl>
                                              <p:charRg st="427" end="48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41314">
                                            <p:txEl>
                                              <p:charRg st="427" end="485"/>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41314">
                                            <p:txEl>
                                              <p:charRg st="485" end="549"/>
                                            </p:txEl>
                                          </p:spTgt>
                                        </p:tgtEl>
                                        <p:attrNameLst>
                                          <p:attrName>style.visibility</p:attrName>
                                        </p:attrNameLst>
                                      </p:cBhvr>
                                      <p:to>
                                        <p:strVal val="visible"/>
                                      </p:to>
                                    </p:set>
                                    <p:anim calcmode="lin" valueType="num">
                                      <p:cBhvr additive="base">
                                        <p:cTn id="49" dur="500" fill="hold"/>
                                        <p:tgtEl>
                                          <p:spTgt spid="141314">
                                            <p:txEl>
                                              <p:charRg st="485" end="54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1314">
                                            <p:txEl>
                                              <p:charRg st="485" end="549"/>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41314">
                                            <p:txEl>
                                              <p:charRg st="549" end="578"/>
                                            </p:txEl>
                                          </p:spTgt>
                                        </p:tgtEl>
                                        <p:attrNameLst>
                                          <p:attrName>style.visibility</p:attrName>
                                        </p:attrNameLst>
                                      </p:cBhvr>
                                      <p:to>
                                        <p:strVal val="visible"/>
                                      </p:to>
                                    </p:set>
                                    <p:anim calcmode="lin" valueType="num">
                                      <p:cBhvr additive="base">
                                        <p:cTn id="53" dur="500" fill="hold"/>
                                        <p:tgtEl>
                                          <p:spTgt spid="141314">
                                            <p:txEl>
                                              <p:charRg st="549" end="57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41314">
                                            <p:txEl>
                                              <p:charRg st="549" end="578"/>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41314">
                                            <p:txEl>
                                              <p:charRg st="578" end="584"/>
                                            </p:txEl>
                                          </p:spTgt>
                                        </p:tgtEl>
                                        <p:attrNameLst>
                                          <p:attrName>style.visibility</p:attrName>
                                        </p:attrNameLst>
                                      </p:cBhvr>
                                      <p:to>
                                        <p:strVal val="visible"/>
                                      </p:to>
                                    </p:set>
                                    <p:anim calcmode="lin" valueType="num">
                                      <p:cBhvr additive="base">
                                        <p:cTn id="57" dur="500" fill="hold"/>
                                        <p:tgtEl>
                                          <p:spTgt spid="141314">
                                            <p:txEl>
                                              <p:charRg st="578" end="58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41314">
                                            <p:txEl>
                                              <p:charRg st="578" end="584"/>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txBox="1">
            <a:spLocks noGrp="1"/>
          </p:cNvSpPr>
          <p:nvPr/>
        </p:nvSpPr>
        <p:spPr bwMode="auto">
          <a:xfrm>
            <a:off x="6057900" y="4684713"/>
            <a:ext cx="1600200" cy="357188"/>
          </a:xfrm>
          <a:prstGeom prst="rect">
            <a:avLst/>
          </a:prstGeom>
          <a:noFill/>
          <a:ln>
            <a:miter lim="800000"/>
          </a:ln>
        </p:spPr>
        <p:txBody>
          <a:bodyPr/>
          <a:lstStyle>
            <a:lvl1pPr eaLnBrk="0" hangingPunct="0">
              <a:defRPr kumimoji="1"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kumimoji="1"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kumimoji="1"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kumimoji="1"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kumimoji="1"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50000"/>
              </a:spcBef>
              <a:spcAft>
                <a:spcPct val="0"/>
              </a:spcAft>
              <a:defRPr kumimoji="1"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50000"/>
              </a:spcBef>
              <a:spcAft>
                <a:spcPct val="0"/>
              </a:spcAft>
              <a:defRPr kumimoji="1"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50000"/>
              </a:spcBef>
              <a:spcAft>
                <a:spcPct val="0"/>
              </a:spcAft>
              <a:defRPr kumimoji="1"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50000"/>
              </a:spcBef>
              <a:spcAft>
                <a:spcPct val="0"/>
              </a:spcAft>
              <a:defRPr kumimoji="1" sz="2400" b="1">
                <a:solidFill>
                  <a:schemeClr val="tx1"/>
                </a:solidFill>
                <a:latin typeface="华文新魏" panose="02010800040101010101" pitchFamily="2" charset="-122"/>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A1C16A3-1658-4561-A00F-A2864FCFCFE1}"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79</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1314" name="Text Box 2"/>
          <p:cNvSpPr txBox="1">
            <a:spLocks noChangeArrowheads="1"/>
          </p:cNvSpPr>
          <p:nvPr/>
        </p:nvSpPr>
        <p:spPr bwMode="auto">
          <a:xfrm>
            <a:off x="1528763" y="506413"/>
            <a:ext cx="6186488" cy="4655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例：</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4</a:t>
            </a:r>
            <a:r>
              <a:rPr kumimoji="0" lang="zh-CN" altLang="en-US"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选</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1</a:t>
            </a:r>
            <a:r>
              <a:rPr kumimoji="0" lang="zh-CN" altLang="en-US"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多路选择器（使用</a:t>
            </a:r>
            <a:r>
              <a:rPr kumimoji="0" lang="en-US" altLang="zh-CN"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CASE</a:t>
            </a:r>
            <a:r>
              <a:rPr kumimoji="0" lang="zh-CN" altLang="en-US" sz="18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语句）</a:t>
            </a:r>
          </a:p>
          <a:p>
            <a:pPr marL="0" marR="0" lvl="0" indent="0" algn="l" defTabSz="914400" rtl="0" eaLnBrk="1" fontAlgn="base" latinLnBrk="0" hangingPunct="1">
              <a:lnSpc>
                <a:spcPct val="100000"/>
              </a:lnSpc>
              <a:spcBef>
                <a:spcPct val="5000"/>
              </a:spcBef>
              <a:spcAft>
                <a:spcPct val="0"/>
              </a:spcAft>
              <a:buClrTx/>
              <a:buSzTx/>
              <a:buFontTx/>
              <a:buNone/>
              <a:defRPr/>
            </a:pPr>
            <a:endParaRPr kumimoji="0" lang="zh-CN" altLang="en-US" sz="75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ENTITY smux4_1 IS</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PORT(i0, i1,i2,i3     : IN	STD_LOGIC;</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input     : IN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STD_LOGIC_Vector</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downto</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0);</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q	     : OUT  STD_LOGIC);</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END smux4_1;</a:t>
            </a:r>
          </a:p>
          <a:p>
            <a:pPr marL="0" marR="0" lvl="0" indent="0" algn="l" defTabSz="914400" rtl="0" eaLnBrk="1" fontAlgn="base" latinLnBrk="0" hangingPunct="1">
              <a:lnSpc>
                <a:spcPct val="90000"/>
              </a:lnSpc>
              <a:spcBef>
                <a:spcPct val="5000"/>
              </a:spcBef>
              <a:spcAft>
                <a:spcPct val="0"/>
              </a:spcAft>
              <a:buClrTx/>
              <a:buSzTx/>
              <a:buFontTx/>
              <a:buNone/>
              <a:defRPr/>
            </a:pPr>
            <a:endPar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ARCHITECTURE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rtl_case</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OF smux4_1 IS</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BEGIN</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process</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(input)</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begin</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case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input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is</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“00” =&gt;  q&lt;=i0;</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“01” =&gt;  q&lt;=i1;</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when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“10” =&gt;  q&lt;=i2;</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“11”  =&gt;  q&lt;=i3;</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when  others  </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=&gt;  q&lt;=‘X’;</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end case</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end</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  process</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0" marR="0" lvl="0" indent="0" algn="l" defTabSz="914400" rtl="0" eaLnBrk="1" fontAlgn="base" latinLnBrk="0" hangingPunct="1">
              <a:lnSpc>
                <a:spcPct val="90000"/>
              </a:lnSpc>
              <a:spcBef>
                <a:spcPct val="5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END</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1500" b="0" i="0" u="none" strike="noStrike" kern="1200" cap="none" spc="0" normalizeH="0" baseline="0" noProof="0" dirty="0" err="1">
                <a:ln>
                  <a:noFill/>
                </a:ln>
                <a:solidFill>
                  <a:schemeClr val="tx1"/>
                </a:solidFill>
                <a:effectLst/>
                <a:uLnTx/>
                <a:uFillTx/>
                <a:latin typeface="华文新魏" panose="02010800040101010101" pitchFamily="2" charset="-122"/>
                <a:ea typeface="华文新魏" panose="02010800040101010101" pitchFamily="2" charset="-122"/>
                <a:cs typeface="+mn-cs"/>
              </a:rPr>
              <a:t>rtl_case</a:t>
            </a: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p:txBody>
      </p:sp>
      <p:sp>
        <p:nvSpPr>
          <p:cNvPr id="197636" name="AutoShape 3"/>
          <p:cNvSpPr/>
          <p:nvPr/>
        </p:nvSpPr>
        <p:spPr>
          <a:xfrm>
            <a:off x="6124575" y="74613"/>
            <a:ext cx="1855788" cy="369887"/>
          </a:xfrm>
          <a:prstGeom prst="ribbon2">
            <a:avLst>
              <a:gd name="adj1" fmla="val 28907"/>
              <a:gd name="adj2" fmla="val 68444"/>
            </a:avLst>
          </a:prstGeom>
          <a:solidFill>
            <a:schemeClr val="accent1"/>
          </a:solidFill>
          <a:ln w="19050" cap="sq" cmpd="sng">
            <a:solidFill>
              <a:schemeClr val="tx1"/>
            </a:solidFill>
            <a:prstDash val="solid"/>
            <a:headEnd type="none" w="sm" len="sm"/>
            <a:tailEnd type="none" w="sm" len="sm"/>
          </a:ln>
        </p:spPr>
        <p:txBody>
          <a:bodyPr wrap="none" anchor="ctr"/>
          <a:lstStyle/>
          <a:p>
            <a:pPr algn="ctr" eaLnBrk="1" hangingPunct="1"/>
            <a:r>
              <a:rPr lang="zh-CN" altLang="en-US" sz="1200" dirty="0">
                <a:solidFill>
                  <a:schemeClr val="tx2"/>
                </a:solidFill>
                <a:latin typeface="华文新魏" panose="02010800040101010101" pitchFamily="2" charset="-122"/>
                <a:ea typeface="华文新魏" panose="02010800040101010101" pitchFamily="2" charset="-122"/>
              </a:rPr>
              <a:t>并发描述语句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1314">
                                            <p:txEl>
                                              <p:pRg st="11" end="11"/>
                                            </p:txEl>
                                          </p:spTgt>
                                        </p:tgtEl>
                                        <p:attrNameLst>
                                          <p:attrName>style.visibility</p:attrName>
                                        </p:attrNameLst>
                                      </p:cBhvr>
                                      <p:to>
                                        <p:strVal val="visible"/>
                                      </p:to>
                                    </p:set>
                                    <p:anim calcmode="lin" valueType="num">
                                      <p:cBhvr additive="base">
                                        <p:cTn id="7" dur="500" fill="hold"/>
                                        <p:tgtEl>
                                          <p:spTgt spid="141314">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314">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1314">
                                            <p:txEl>
                                              <p:pRg st="12" end="12"/>
                                            </p:txEl>
                                          </p:spTgt>
                                        </p:tgtEl>
                                        <p:attrNameLst>
                                          <p:attrName>style.visibility</p:attrName>
                                        </p:attrNameLst>
                                      </p:cBhvr>
                                      <p:to>
                                        <p:strVal val="visible"/>
                                      </p:to>
                                    </p:set>
                                    <p:anim calcmode="lin" valueType="num">
                                      <p:cBhvr additive="base">
                                        <p:cTn id="11" dur="500" fill="hold"/>
                                        <p:tgtEl>
                                          <p:spTgt spid="141314">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1314">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1314">
                                            <p:txEl>
                                              <p:charRg st="311" end="366"/>
                                            </p:txEl>
                                          </p:spTgt>
                                        </p:tgtEl>
                                        <p:attrNameLst>
                                          <p:attrName>style.visibility</p:attrName>
                                        </p:attrNameLst>
                                      </p:cBhvr>
                                      <p:to>
                                        <p:strVal val="visible"/>
                                      </p:to>
                                    </p:set>
                                    <p:anim calcmode="lin" valueType="num">
                                      <p:cBhvr additive="base">
                                        <p:cTn id="15" dur="500" fill="hold"/>
                                        <p:tgtEl>
                                          <p:spTgt spid="141314">
                                            <p:txEl>
                                              <p:charRg st="311" end="36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1314">
                                            <p:txEl>
                                              <p:charRg st="311" end="36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1314">
                                            <p:txEl>
                                              <p:charRg st="366" end="394"/>
                                            </p:txEl>
                                          </p:spTgt>
                                        </p:tgtEl>
                                        <p:attrNameLst>
                                          <p:attrName>style.visibility</p:attrName>
                                        </p:attrNameLst>
                                      </p:cBhvr>
                                      <p:to>
                                        <p:strVal val="visible"/>
                                      </p:to>
                                    </p:set>
                                    <p:anim calcmode="lin" valueType="num">
                                      <p:cBhvr additive="base">
                                        <p:cTn id="19" dur="500" fill="hold"/>
                                        <p:tgtEl>
                                          <p:spTgt spid="141314">
                                            <p:txEl>
                                              <p:charRg st="366" end="39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314">
                                            <p:txEl>
                                              <p:charRg st="366" end="39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1314">
                                            <p:txEl>
                                              <p:charRg st="394" end="422"/>
                                            </p:txEl>
                                          </p:spTgt>
                                        </p:tgtEl>
                                        <p:attrNameLst>
                                          <p:attrName>style.visibility</p:attrName>
                                        </p:attrNameLst>
                                      </p:cBhvr>
                                      <p:to>
                                        <p:strVal val="visible"/>
                                      </p:to>
                                    </p:set>
                                    <p:anim calcmode="lin" valueType="num">
                                      <p:cBhvr additive="base">
                                        <p:cTn id="23" dur="500" fill="hold"/>
                                        <p:tgtEl>
                                          <p:spTgt spid="141314">
                                            <p:txEl>
                                              <p:charRg st="394" end="42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1314">
                                            <p:txEl>
                                              <p:charRg st="394" end="42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1314">
                                            <p:txEl>
                                              <p:charRg st="422" end="451"/>
                                            </p:txEl>
                                          </p:spTgt>
                                        </p:tgtEl>
                                        <p:attrNameLst>
                                          <p:attrName>style.visibility</p:attrName>
                                        </p:attrNameLst>
                                      </p:cBhvr>
                                      <p:to>
                                        <p:strVal val="visible"/>
                                      </p:to>
                                    </p:set>
                                    <p:anim calcmode="lin" valueType="num">
                                      <p:cBhvr additive="base">
                                        <p:cTn id="27" dur="500" fill="hold"/>
                                        <p:tgtEl>
                                          <p:spTgt spid="141314">
                                            <p:txEl>
                                              <p:charRg st="422" end="45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1314">
                                            <p:txEl>
                                              <p:charRg st="422" end="45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1314">
                                            <p:txEl>
                                              <p:charRg st="451" end="484"/>
                                            </p:txEl>
                                          </p:spTgt>
                                        </p:tgtEl>
                                        <p:attrNameLst>
                                          <p:attrName>style.visibility</p:attrName>
                                        </p:attrNameLst>
                                      </p:cBhvr>
                                      <p:to>
                                        <p:strVal val="visible"/>
                                      </p:to>
                                    </p:set>
                                    <p:anim calcmode="lin" valueType="num">
                                      <p:cBhvr additive="base">
                                        <p:cTn id="31" dur="500" fill="hold"/>
                                        <p:tgtEl>
                                          <p:spTgt spid="141314">
                                            <p:txEl>
                                              <p:charRg st="451" end="48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1314">
                                            <p:txEl>
                                              <p:charRg st="451" end="48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1314">
                                            <p:txEl>
                                              <p:charRg st="484" end="523"/>
                                            </p:txEl>
                                          </p:spTgt>
                                        </p:tgtEl>
                                        <p:attrNameLst>
                                          <p:attrName>style.visibility</p:attrName>
                                        </p:attrNameLst>
                                      </p:cBhvr>
                                      <p:to>
                                        <p:strVal val="visible"/>
                                      </p:to>
                                    </p:set>
                                    <p:anim calcmode="lin" valueType="num">
                                      <p:cBhvr additive="base">
                                        <p:cTn id="35" dur="500" fill="hold"/>
                                        <p:tgtEl>
                                          <p:spTgt spid="141314">
                                            <p:txEl>
                                              <p:charRg st="484" end="52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41314">
                                            <p:txEl>
                                              <p:charRg st="484" end="52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1314">
                                            <p:txEl>
                                              <p:charRg st="523" end="555"/>
                                            </p:txEl>
                                          </p:spTgt>
                                        </p:tgtEl>
                                        <p:attrNameLst>
                                          <p:attrName>style.visibility</p:attrName>
                                        </p:attrNameLst>
                                      </p:cBhvr>
                                      <p:to>
                                        <p:strVal val="visible"/>
                                      </p:to>
                                    </p:set>
                                    <p:anim calcmode="lin" valueType="num">
                                      <p:cBhvr additive="base">
                                        <p:cTn id="39" dur="500" fill="hold"/>
                                        <p:tgtEl>
                                          <p:spTgt spid="141314">
                                            <p:txEl>
                                              <p:charRg st="523" end="55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41314">
                                            <p:txEl>
                                              <p:charRg st="523" end="55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1314">
                                            <p:txEl>
                                              <p:charRg st="555" end="584"/>
                                            </p:txEl>
                                          </p:spTgt>
                                        </p:tgtEl>
                                        <p:attrNameLst>
                                          <p:attrName>style.visibility</p:attrName>
                                        </p:attrNameLst>
                                      </p:cBhvr>
                                      <p:to>
                                        <p:strVal val="visible"/>
                                      </p:to>
                                    </p:set>
                                    <p:anim calcmode="lin" valueType="num">
                                      <p:cBhvr additive="base">
                                        <p:cTn id="43" dur="500" fill="hold"/>
                                        <p:tgtEl>
                                          <p:spTgt spid="141314">
                                            <p:txEl>
                                              <p:charRg st="555" end="58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1314">
                                            <p:txEl>
                                              <p:charRg st="555" end="58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2739B35-35AD-4795-B179-2809D1ACEE4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80</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3" name="Rectangle 3"/>
          <p:cNvSpPr>
            <a:spLocks noGrp="1"/>
          </p:cNvSpPr>
          <p:nvPr>
            <p:ph idx="1" hasCustomPrompt="1"/>
          </p:nvPr>
        </p:nvSpPr>
        <p:spPr>
          <a:xfrm>
            <a:off x="468313" y="766763"/>
            <a:ext cx="7920037" cy="4156075"/>
          </a:xfrm>
          <a:noFill/>
          <a:ln>
            <a:noFill/>
          </a:ln>
        </p:spPr>
        <p:txBody>
          <a:bodyPr/>
          <a:lstStyle/>
          <a:p>
            <a:pPr marL="457200" indent="-457200" eaLnBrk="1" hangingPunct="1"/>
            <a:r>
              <a:rPr lang="zh-CN" altLang="en-US" b="1" dirty="0">
                <a:solidFill>
                  <a:srgbClr val="CC3300"/>
                </a:solidFill>
                <a:latin typeface="华文新魏" panose="02010800040101010101" pitchFamily="2" charset="-122"/>
                <a:ea typeface="华文新魏" panose="02010800040101010101" pitchFamily="2" charset="-122"/>
              </a:rPr>
              <a:t>*例</a:t>
            </a:r>
            <a:r>
              <a:rPr lang="en-US" altLang="zh-CN" b="1" dirty="0">
                <a:solidFill>
                  <a:srgbClr val="CC3300"/>
                </a:solidFill>
                <a:latin typeface="华文新魏" panose="02010800040101010101" pitchFamily="2" charset="-122"/>
                <a:ea typeface="华文新魏" panose="02010800040101010101" pitchFamily="2" charset="-122"/>
              </a:rPr>
              <a:t>1</a:t>
            </a:r>
            <a:r>
              <a:rPr lang="zh-CN" altLang="en-US" b="1" dirty="0">
                <a:latin typeface="华文新魏" panose="02010800040101010101" pitchFamily="2" charset="-122"/>
                <a:ea typeface="华文新魏" panose="02010800040101010101" pitchFamily="2" charset="-122"/>
              </a:rPr>
              <a:t>：设计一个从一序列的输入信号中检测出</a:t>
            </a:r>
            <a:r>
              <a:rPr lang="zh-CN" altLang="en-US" b="1" dirty="0">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101</a:t>
            </a:r>
            <a:r>
              <a:rPr lang="en-US" altLang="zh-CN" b="1" dirty="0">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信号的米粒型电路</a:t>
            </a:r>
            <a:r>
              <a:rPr lang="en-US" altLang="zh-CN" b="1" dirty="0">
                <a:latin typeface="华文新魏" panose="02010800040101010101" pitchFamily="2" charset="-122"/>
                <a:ea typeface="华文新魏" panose="02010800040101010101" pitchFamily="2" charset="-122"/>
              </a:rPr>
              <a:t>(1</a:t>
            </a:r>
            <a:r>
              <a:rPr lang="zh-CN" altLang="en-US" b="1" dirty="0">
                <a:latin typeface="华文新魏" panose="02010800040101010101" pitchFamily="2" charset="-122"/>
                <a:ea typeface="华文新魏" panose="02010800040101010101" pitchFamily="2" charset="-122"/>
              </a:rPr>
              <a:t>可重用，即</a:t>
            </a:r>
            <a:r>
              <a:rPr lang="en-US" altLang="zh-CN" b="1" dirty="0">
                <a:latin typeface="华文新魏" panose="02010800040101010101" pitchFamily="2" charset="-122"/>
                <a:ea typeface="华文新魏" panose="02010800040101010101" pitchFamily="2" charset="-122"/>
              </a:rPr>
              <a:t>10101</a:t>
            </a:r>
            <a:r>
              <a:rPr lang="zh-CN" altLang="en-US" b="1" dirty="0">
                <a:latin typeface="华文新魏" panose="02010800040101010101" pitchFamily="2" charset="-122"/>
                <a:ea typeface="华文新魏" panose="02010800040101010101" pitchFamily="2" charset="-122"/>
              </a:rPr>
              <a:t>会输出两次</a:t>
            </a:r>
            <a:r>
              <a:rPr lang="en-US" altLang="zh-CN" b="1" dirty="0">
                <a:latin typeface="华文新魏" panose="02010800040101010101" pitchFamily="2" charset="-122"/>
                <a:ea typeface="华文新魏" panose="02010800040101010101" pitchFamily="2" charset="-122"/>
              </a:rPr>
              <a:t>1)</a:t>
            </a:r>
            <a:r>
              <a:rPr lang="zh-CN" altLang="en-US" b="1" dirty="0">
                <a:latin typeface="华文新魏" panose="02010800040101010101" pitchFamily="2" charset="-122"/>
                <a:ea typeface="华文新魏" panose="02010800040101010101" pitchFamily="2" charset="-122"/>
              </a:rPr>
              <a:t>，其方框图如下。</a:t>
            </a:r>
          </a:p>
          <a:p>
            <a:pPr marL="742950" lvl="1" indent="-400050" eaLnBrk="1" hangingPunct="1">
              <a:buNone/>
            </a:pPr>
            <a:r>
              <a:rPr lang="zh-CN" altLang="en-US" b="1" dirty="0">
                <a:latin typeface="华文新魏" panose="02010800040101010101" pitchFamily="2" charset="-122"/>
                <a:ea typeface="华文新魏" panose="02010800040101010101" pitchFamily="2" charset="-122"/>
              </a:rPr>
              <a:t>    </a:t>
            </a:r>
          </a:p>
          <a:p>
            <a:pPr marL="742950" lvl="1" indent="-400050" eaLnBrk="1" hangingPunct="1">
              <a:buNone/>
            </a:pPr>
            <a:r>
              <a:rPr lang="zh-CN" altLang="en-US" b="1" dirty="0">
                <a:latin typeface="华文新魏" panose="02010800040101010101" pitchFamily="2" charset="-122"/>
                <a:ea typeface="华文新魏" panose="02010800040101010101" pitchFamily="2" charset="-122"/>
              </a:rPr>
              <a:t>    当从</a:t>
            </a:r>
            <a:r>
              <a:rPr lang="en-US" altLang="zh-CN" b="1" dirty="0">
                <a:latin typeface="华文新魏" panose="02010800040101010101" pitchFamily="2" charset="-122"/>
                <a:ea typeface="华文新魏" panose="02010800040101010101" pitchFamily="2" charset="-122"/>
              </a:rPr>
              <a:t>X</a:t>
            </a:r>
            <a:r>
              <a:rPr lang="zh-CN" altLang="en-US" b="1" dirty="0">
                <a:latin typeface="华文新魏" panose="02010800040101010101" pitchFamily="2" charset="-122"/>
                <a:ea typeface="华文新魏" panose="02010800040101010101" pitchFamily="2" charset="-122"/>
              </a:rPr>
              <a:t>端输入的信号中：</a:t>
            </a:r>
          </a:p>
          <a:p>
            <a:pPr marL="1028700" lvl="2" indent="-342900" eaLnBrk="1" hangingPunct="1">
              <a:buFontTx/>
              <a:buAutoNum type="circleNumDbPlain"/>
            </a:pPr>
            <a:r>
              <a:rPr lang="zh-CN" altLang="en-US" b="1" dirty="0">
                <a:latin typeface="华文新魏" panose="02010800040101010101" pitchFamily="2" charset="-122"/>
                <a:ea typeface="华文新魏" panose="02010800040101010101" pitchFamily="2" charset="-122"/>
              </a:rPr>
              <a:t>出现</a:t>
            </a:r>
            <a:r>
              <a:rPr lang="zh-CN" altLang="en-US" b="1" dirty="0">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101</a:t>
            </a:r>
            <a:r>
              <a:rPr lang="en-US" altLang="zh-CN" b="1" dirty="0">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信号，则</a:t>
            </a:r>
            <a:r>
              <a:rPr lang="en-US" altLang="zh-CN" b="1" dirty="0">
                <a:latin typeface="华文新魏" panose="02010800040101010101" pitchFamily="2" charset="-122"/>
                <a:ea typeface="华文新魏" panose="02010800040101010101" pitchFamily="2" charset="-122"/>
              </a:rPr>
              <a:t>Z=1</a:t>
            </a:r>
          </a:p>
          <a:p>
            <a:pPr marL="1028700" lvl="2" indent="-342900" eaLnBrk="1" hangingPunct="1">
              <a:buFontTx/>
              <a:buAutoNum type="circleNumDbPlain"/>
            </a:pPr>
            <a:r>
              <a:rPr lang="zh-CN" altLang="en-US" b="1" dirty="0">
                <a:latin typeface="华文新魏" panose="02010800040101010101" pitchFamily="2" charset="-122"/>
                <a:ea typeface="华文新魏" panose="02010800040101010101" pitchFamily="2" charset="-122"/>
              </a:rPr>
              <a:t>其它信号组合，    则</a:t>
            </a:r>
            <a:r>
              <a:rPr lang="en-US" altLang="zh-CN" b="1" dirty="0">
                <a:latin typeface="华文新魏" panose="02010800040101010101" pitchFamily="2" charset="-122"/>
                <a:ea typeface="华文新魏" panose="02010800040101010101" pitchFamily="2" charset="-122"/>
              </a:rPr>
              <a:t>Z=0</a:t>
            </a:r>
          </a:p>
        </p:txBody>
      </p:sp>
      <p:grpSp>
        <p:nvGrpSpPr>
          <p:cNvPr id="199684" name="Group 8"/>
          <p:cNvGrpSpPr/>
          <p:nvPr/>
        </p:nvGrpSpPr>
        <p:grpSpPr>
          <a:xfrm>
            <a:off x="5319713" y="2589213"/>
            <a:ext cx="2490787" cy="2247900"/>
            <a:chOff x="1588" y="2023"/>
            <a:chExt cx="2652" cy="2119"/>
          </a:xfrm>
        </p:grpSpPr>
        <p:grpSp>
          <p:nvGrpSpPr>
            <p:cNvPr id="199685" name="Group 5"/>
            <p:cNvGrpSpPr/>
            <p:nvPr/>
          </p:nvGrpSpPr>
          <p:grpSpPr>
            <a:xfrm>
              <a:off x="1588" y="2023"/>
              <a:ext cx="2652" cy="2119"/>
              <a:chOff x="33" y="1716"/>
              <a:chExt cx="2652" cy="2119"/>
            </a:xfrm>
          </p:grpSpPr>
          <p:pic>
            <p:nvPicPr>
              <p:cNvPr id="199688" name="Picture 6" descr="moore"/>
              <p:cNvPicPr>
                <a:picLocks noChangeAspect="1"/>
              </p:cNvPicPr>
              <p:nvPr/>
            </p:nvPicPr>
            <p:blipFill>
              <a:blip r:embed="rId3"/>
              <a:stretch>
                <a:fillRect/>
              </a:stretch>
            </p:blipFill>
            <p:spPr>
              <a:xfrm>
                <a:off x="33" y="1716"/>
                <a:ext cx="2652" cy="2119"/>
              </a:xfrm>
              <a:prstGeom prst="rect">
                <a:avLst/>
              </a:prstGeom>
              <a:noFill/>
              <a:ln w="9525">
                <a:noFill/>
              </a:ln>
            </p:spPr>
          </p:pic>
          <p:sp>
            <p:nvSpPr>
              <p:cNvPr id="199689" name="Text Box 7"/>
              <p:cNvSpPr txBox="1"/>
              <p:nvPr/>
            </p:nvSpPr>
            <p:spPr>
              <a:xfrm>
                <a:off x="252" y="3327"/>
                <a:ext cx="2148" cy="341"/>
              </a:xfrm>
              <a:prstGeom prst="rect">
                <a:avLst/>
              </a:prstGeom>
              <a:solidFill>
                <a:schemeClr val="bg1"/>
              </a:solidFill>
              <a:ln w="38100">
                <a:noFill/>
              </a:ln>
            </p:spPr>
            <p:txBody>
              <a:bodyPr>
                <a:spAutoFit/>
              </a:bodyPr>
              <a:lstStyle/>
              <a:p>
                <a:pPr marL="342900" indent="-342900" algn="ctr" eaLnBrk="1" hangingPunct="1">
                  <a:lnSpc>
                    <a:spcPct val="80000"/>
                  </a:lnSpc>
                  <a:spcBef>
                    <a:spcPct val="50000"/>
                  </a:spcBef>
                </a:pPr>
                <a:r>
                  <a:rPr lang="zh-CN" altLang="en-US" sz="2100" dirty="0">
                    <a:solidFill>
                      <a:schemeClr val="tx1"/>
                    </a:solidFill>
                    <a:latin typeface="华文新魏" panose="02010800040101010101" pitchFamily="2" charset="-122"/>
                    <a:ea typeface="华文新魏" panose="02010800040101010101" pitchFamily="2" charset="-122"/>
                  </a:rPr>
                  <a:t>方框图</a:t>
                </a:r>
              </a:p>
            </p:txBody>
          </p:sp>
        </p:grpSp>
        <p:sp>
          <p:nvSpPr>
            <p:cNvPr id="396294" name="Line 12"/>
            <p:cNvSpPr>
              <a:spLocks noChangeShapeType="1"/>
            </p:cNvSpPr>
            <p:nvPr/>
          </p:nvSpPr>
          <p:spPr bwMode="auto">
            <a:xfrm flipV="1">
              <a:off x="2035" y="3367"/>
              <a:ext cx="549" cy="1"/>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base" latinLnBrk="0" hangingPunct="1">
                <a:lnSpc>
                  <a:spcPct val="120000"/>
                </a:lnSpc>
                <a:spcBef>
                  <a:spcPct val="50000"/>
                </a:spcBef>
                <a:spcAft>
                  <a:spcPct val="0"/>
                </a:spcAft>
                <a:buClrTx/>
                <a:buSzTx/>
                <a:buFontTx/>
                <a:buNone/>
                <a:defRPr/>
              </a:pPr>
              <a:endParaRPr kumimoji="0" lang="zh-CN" altLang="en-US" sz="1500" b="0" i="0" u="none" strike="noStrike" kern="1200" cap="none" spc="0" normalizeH="0" baseline="0" noProof="0">
                <a:ln>
                  <a:noFill/>
                </a:ln>
                <a:solidFill>
                  <a:srgbClr val="FFFF00"/>
                </a:solidFill>
                <a:effectLst/>
                <a:uLnTx/>
                <a:uFillTx/>
                <a:latin typeface="华文新魏" panose="02010800040101010101" pitchFamily="2" charset="-122"/>
                <a:ea typeface="华文新魏" panose="02010800040101010101" pitchFamily="2" charset="-122"/>
                <a:cs typeface="+mn-cs"/>
              </a:endParaRPr>
            </a:p>
          </p:txBody>
        </p:sp>
        <p:sp>
          <p:nvSpPr>
            <p:cNvPr id="396295" name="Text Box 13"/>
            <p:cNvSpPr txBox="1">
              <a:spLocks noChangeArrowheads="1"/>
            </p:cNvSpPr>
            <p:nvPr/>
          </p:nvSpPr>
          <p:spPr bwMode="auto">
            <a:xfrm>
              <a:off x="2576" y="3223"/>
              <a:ext cx="66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5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Reset</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灯片编号占位符 5"/>
          <p:cNvSpPr txBox="1">
            <a:spLocks noGrp="1"/>
          </p:cNvSpPr>
          <p:nvPr>
            <p:ph type="sldNum" sz="quarter" idx="12"/>
          </p:nvPr>
        </p:nvSpPr>
        <p:spPr bwMode="auto">
          <a:xfrm>
            <a:off x="6618288" y="4875213"/>
            <a:ext cx="2057400" cy="238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1BECC3F-1AA8-4EA4-B889-D811EC5811F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81</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0707" name="Rectangle 2"/>
          <p:cNvSpPr>
            <a:spLocks noGrp="1"/>
          </p:cNvSpPr>
          <p:nvPr>
            <p:ph type="title"/>
          </p:nvPr>
        </p:nvSpPr>
        <p:spPr>
          <a:xfrm>
            <a:off x="1485900" y="555625"/>
            <a:ext cx="6172200" cy="563563"/>
          </a:xfrm>
          <a:noFill/>
          <a:ln>
            <a:noFill/>
          </a:ln>
        </p:spPr>
        <p:txBody>
          <a:bodyPr/>
          <a:lstStyle/>
          <a:p>
            <a:pPr eaLnBrk="1" hangingPunct="1"/>
            <a:r>
              <a:rPr lang="zh-CN" altLang="en-US" b="1" dirty="0">
                <a:latin typeface="华文新魏" panose="02010800040101010101" pitchFamily="2" charset="-122"/>
                <a:ea typeface="华文新魏" panose="02010800040101010101" pitchFamily="2" charset="-122"/>
              </a:rPr>
              <a:t>步骤</a:t>
            </a:r>
            <a:r>
              <a:rPr lang="en-US" altLang="zh-CN" b="1">
                <a:latin typeface="华文新魏" panose="02010800040101010101" pitchFamily="2" charset="-122"/>
                <a:ea typeface="华文新魏" panose="02010800040101010101" pitchFamily="2" charset="-122"/>
              </a:rPr>
              <a:t>1</a:t>
            </a:r>
            <a:r>
              <a:rPr lang="zh-CN" altLang="en-US" b="1" dirty="0">
                <a:latin typeface="华文新魏" panose="02010800040101010101" pitchFamily="2" charset="-122"/>
                <a:ea typeface="华文新魏" panose="02010800040101010101" pitchFamily="2" charset="-122"/>
              </a:rPr>
              <a:t>：绘出电路的状态图</a:t>
            </a:r>
          </a:p>
        </p:txBody>
      </p:sp>
      <p:grpSp>
        <p:nvGrpSpPr>
          <p:cNvPr id="200708" name="Group 6"/>
          <p:cNvGrpSpPr/>
          <p:nvPr/>
        </p:nvGrpSpPr>
        <p:grpSpPr>
          <a:xfrm>
            <a:off x="2124075" y="1400175"/>
            <a:ext cx="4749800" cy="3468688"/>
            <a:chOff x="824" y="1126"/>
            <a:chExt cx="3989" cy="3306"/>
          </a:xfrm>
        </p:grpSpPr>
        <p:pic>
          <p:nvPicPr>
            <p:cNvPr id="200709" name="Picture 4" descr="p1001"/>
            <p:cNvPicPr>
              <a:picLocks noChangeAspect="1"/>
            </p:cNvPicPr>
            <p:nvPr/>
          </p:nvPicPr>
          <p:blipFill>
            <a:blip r:embed="rId2"/>
            <a:stretch>
              <a:fillRect/>
            </a:stretch>
          </p:blipFill>
          <p:spPr>
            <a:xfrm>
              <a:off x="824" y="1126"/>
              <a:ext cx="3989" cy="3306"/>
            </a:xfrm>
            <a:prstGeom prst="rect">
              <a:avLst/>
            </a:prstGeom>
            <a:noFill/>
            <a:ln w="9525">
              <a:noFill/>
            </a:ln>
          </p:spPr>
        </p:pic>
        <p:sp>
          <p:nvSpPr>
            <p:cNvPr id="200710" name="Text Box 5"/>
            <p:cNvSpPr txBox="1"/>
            <p:nvPr/>
          </p:nvSpPr>
          <p:spPr>
            <a:xfrm>
              <a:off x="1254" y="3651"/>
              <a:ext cx="1170" cy="368"/>
            </a:xfrm>
            <a:prstGeom prst="rect">
              <a:avLst/>
            </a:prstGeom>
            <a:solidFill>
              <a:schemeClr val="bg1"/>
            </a:solidFill>
            <a:ln w="9525">
              <a:noFill/>
            </a:ln>
          </p:spPr>
          <p:txBody>
            <a:bodyPr>
              <a:spAutoFit/>
            </a:bodyPr>
            <a:lstStyle/>
            <a:p>
              <a:pPr marL="342900" indent="-342900" eaLnBrk="1" hangingPunct="1">
                <a:spcBef>
                  <a:spcPct val="50000"/>
                </a:spcBef>
              </a:pPr>
              <a:endParaRPr lang="en-US" altLang="zh-CN" sz="900">
                <a:solidFill>
                  <a:schemeClr val="tx1"/>
                </a:solidFill>
                <a:latin typeface="Arial" panose="020B0604020202020204" pitchFamily="34" charset="0"/>
              </a:endParaRPr>
            </a:p>
            <a:p>
              <a:pPr marL="342900" indent="-342900" eaLnBrk="1" hangingPunct="1">
                <a:spcBef>
                  <a:spcPct val="50000"/>
                </a:spcBef>
              </a:pPr>
              <a:endParaRPr lang="en-US" altLang="zh-CN" sz="900">
                <a:solidFill>
                  <a:schemeClr val="tx1"/>
                </a:solidFill>
                <a:latin typeface="Arial" panose="020B0604020202020204" pitchFamily="34" charset="0"/>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1A06662-E3E1-4068-AF7C-41716F809EA6}"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82</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1731" name="Rectangle 2"/>
          <p:cNvSpPr>
            <a:spLocks noGrp="1"/>
          </p:cNvSpPr>
          <p:nvPr>
            <p:ph type="title"/>
          </p:nvPr>
        </p:nvSpPr>
        <p:spPr>
          <a:xfrm>
            <a:off x="628650" y="555625"/>
            <a:ext cx="7886700" cy="712788"/>
          </a:xfrm>
          <a:noFill/>
          <a:ln>
            <a:noFill/>
          </a:ln>
        </p:spPr>
        <p:txBody>
          <a:bodyPr/>
          <a:lstStyle/>
          <a:p>
            <a:pPr eaLnBrk="1" hangingPunct="1"/>
            <a:r>
              <a:rPr lang="zh-CN" altLang="en-US" dirty="0">
                <a:latin typeface="华文新魏" panose="02010800040101010101" pitchFamily="2" charset="-122"/>
                <a:ea typeface="华文新魏" panose="02010800040101010101" pitchFamily="2" charset="-122"/>
              </a:rPr>
              <a:t>步骤</a:t>
            </a:r>
            <a:r>
              <a:rPr lang="en-US" altLang="zh-CN">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：整理出电路的状态表</a:t>
            </a:r>
          </a:p>
        </p:txBody>
      </p:sp>
      <p:pic>
        <p:nvPicPr>
          <p:cNvPr id="201732" name="Picture 4" descr="p1002"/>
          <p:cNvPicPr>
            <a:picLocks noChangeAspect="1"/>
          </p:cNvPicPr>
          <p:nvPr/>
        </p:nvPicPr>
        <p:blipFill>
          <a:blip r:embed="rId2"/>
          <a:stretch>
            <a:fillRect/>
          </a:stretch>
        </p:blipFill>
        <p:spPr>
          <a:xfrm>
            <a:off x="1354138" y="1443038"/>
            <a:ext cx="6435725" cy="3155950"/>
          </a:xfrm>
          <a:prstGeom prst="rect">
            <a:avLst/>
          </a:prstGeom>
          <a:noFill/>
          <a:ln w="9525">
            <a:noFill/>
          </a:ln>
        </p:spPr>
      </p:pic>
      <p:sp>
        <p:nvSpPr>
          <p:cNvPr id="398341" name="Text Box 6"/>
          <p:cNvSpPr txBox="1">
            <a:spLocks noChangeArrowheads="1"/>
          </p:cNvSpPr>
          <p:nvPr/>
        </p:nvSpPr>
        <p:spPr bwMode="auto">
          <a:xfrm>
            <a:off x="4499610" y="1995805"/>
            <a:ext cx="2571750" cy="415925"/>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1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下一个状态及输出</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F3940C1-E8F7-4B59-B5B3-F6DC3B0C6044}" type="slidenum">
              <a:rPr kumimoji="0" lang="en-US" altLang="zh-CN" sz="105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83</a:t>
            </a:fld>
            <a:endParaRPr kumimoji="0" lang="en-US" altLang="zh-CN" sz="105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2755" name="Rectangle 3"/>
          <p:cNvSpPr>
            <a:spLocks noGrp="1"/>
          </p:cNvSpPr>
          <p:nvPr>
            <p:ph idx="1" hasCustomPrompt="1"/>
          </p:nvPr>
        </p:nvSpPr>
        <p:spPr>
          <a:xfrm>
            <a:off x="1485900" y="651669"/>
            <a:ext cx="6172200" cy="4252913"/>
          </a:xfrm>
          <a:noFill/>
          <a:ln>
            <a:noFill/>
          </a:ln>
        </p:spPr>
        <p:txBody>
          <a:bodyPr/>
          <a:lstStyle/>
          <a:p>
            <a:pPr eaLnBrk="1" hangingPunct="1">
              <a:buFontTx/>
              <a:buNone/>
            </a:pPr>
            <a:r>
              <a:rPr lang="en-US" altLang="zh-CN" sz="1800" b="1" dirty="0"/>
              <a:t>--***********************************</a:t>
            </a:r>
          </a:p>
          <a:p>
            <a:pPr eaLnBrk="1" hangingPunct="1">
              <a:buFontTx/>
              <a:buNone/>
            </a:pPr>
            <a:r>
              <a:rPr lang="en-US" altLang="zh-CN" sz="1800" b="1" dirty="0"/>
              <a:t>--*  Detect "101" Then Output '1'   *</a:t>
            </a:r>
          </a:p>
          <a:p>
            <a:pPr eaLnBrk="1" hangingPunct="1">
              <a:buFontTx/>
              <a:buNone/>
            </a:pPr>
            <a:r>
              <a:rPr lang="en-US" altLang="zh-CN" sz="1800" b="1" dirty="0"/>
              <a:t>--*         Filename : MEALY_1      *</a:t>
            </a:r>
          </a:p>
          <a:p>
            <a:pPr eaLnBrk="1" hangingPunct="1">
              <a:buFontTx/>
              <a:buNone/>
            </a:pPr>
            <a:r>
              <a:rPr lang="en-US" altLang="zh-CN" sz="1800" b="1" dirty="0"/>
              <a:t>--***********************************</a:t>
            </a:r>
          </a:p>
          <a:p>
            <a:pPr eaLnBrk="1" hangingPunct="1">
              <a:buFontTx/>
              <a:buNone/>
            </a:pPr>
            <a:r>
              <a:rPr lang="en-US" altLang="zh-CN" sz="1800" b="1" dirty="0">
                <a:solidFill>
                  <a:srgbClr val="0000FF"/>
                </a:solidFill>
              </a:rPr>
              <a:t>library</a:t>
            </a:r>
            <a:r>
              <a:rPr lang="en-US" altLang="zh-CN" sz="1800" b="1" dirty="0"/>
              <a:t> IEEE;</a:t>
            </a:r>
          </a:p>
          <a:p>
            <a:pPr eaLnBrk="1" hangingPunct="1">
              <a:buFontTx/>
              <a:buNone/>
            </a:pPr>
            <a:r>
              <a:rPr lang="en-US" altLang="zh-CN" sz="1800" b="1" dirty="0">
                <a:solidFill>
                  <a:srgbClr val="0000FF"/>
                </a:solidFill>
              </a:rPr>
              <a:t>use</a:t>
            </a:r>
            <a:r>
              <a:rPr lang="en-US" altLang="zh-CN" sz="1800" b="1" dirty="0"/>
              <a:t> IEEE.std_logic_1164.</a:t>
            </a:r>
            <a:r>
              <a:rPr lang="en-US" altLang="zh-CN" sz="1800" b="1" dirty="0">
                <a:solidFill>
                  <a:srgbClr val="0000FF"/>
                </a:solidFill>
              </a:rPr>
              <a:t>all</a:t>
            </a:r>
            <a:r>
              <a:rPr lang="en-US" altLang="zh-CN" sz="1800" b="1" dirty="0"/>
              <a:t>;</a:t>
            </a:r>
          </a:p>
          <a:p>
            <a:pPr eaLnBrk="1" hangingPunct="1">
              <a:buFontTx/>
              <a:buNone/>
            </a:pPr>
            <a:r>
              <a:rPr lang="en-US" altLang="zh-CN" sz="1800" b="1" dirty="0">
                <a:solidFill>
                  <a:srgbClr val="0000FF"/>
                </a:solidFill>
              </a:rPr>
              <a:t>entity</a:t>
            </a:r>
            <a:r>
              <a:rPr lang="en-US" altLang="zh-CN" sz="1800" b="1" dirty="0"/>
              <a:t> MEALY_1 </a:t>
            </a:r>
            <a:r>
              <a:rPr lang="en-US" altLang="zh-CN" sz="1800" b="1" dirty="0">
                <a:solidFill>
                  <a:srgbClr val="0000FF"/>
                </a:solidFill>
              </a:rPr>
              <a:t>is</a:t>
            </a:r>
          </a:p>
          <a:p>
            <a:pPr eaLnBrk="1" hangingPunct="1">
              <a:buFontTx/>
              <a:buNone/>
            </a:pPr>
            <a:r>
              <a:rPr lang="en-US" altLang="zh-CN" sz="1800" b="1" dirty="0"/>
              <a:t>   </a:t>
            </a:r>
            <a:r>
              <a:rPr lang="en-US" altLang="zh-CN" sz="1800" b="1" dirty="0">
                <a:solidFill>
                  <a:srgbClr val="0000FF"/>
                </a:solidFill>
              </a:rPr>
              <a:t> port </a:t>
            </a:r>
            <a:r>
              <a:rPr lang="en-US" altLang="zh-CN" sz="1800" b="1" dirty="0"/>
              <a:t>(</a:t>
            </a:r>
          </a:p>
          <a:p>
            <a:pPr eaLnBrk="1" hangingPunct="1">
              <a:buFontTx/>
              <a:buNone/>
            </a:pPr>
            <a:r>
              <a:rPr lang="en-US" altLang="zh-CN" sz="1800" b="1" dirty="0"/>
              <a:t>          CLK:   in STD_LOGIC;</a:t>
            </a:r>
          </a:p>
          <a:p>
            <a:pPr eaLnBrk="1" hangingPunct="1">
              <a:buFontTx/>
              <a:buNone/>
            </a:pPr>
            <a:r>
              <a:rPr lang="en-US" altLang="zh-CN" sz="1800" b="1" dirty="0"/>
              <a:t>          RESET: in STD_LOGIC;</a:t>
            </a:r>
          </a:p>
          <a:p>
            <a:pPr eaLnBrk="1" hangingPunct="1">
              <a:buFontTx/>
              <a:buNone/>
            </a:pPr>
            <a:r>
              <a:rPr lang="en-US" altLang="zh-CN" sz="1800" b="1" dirty="0"/>
              <a:t>          X:     in STD_LOGIC;</a:t>
            </a:r>
          </a:p>
          <a:p>
            <a:pPr eaLnBrk="1" hangingPunct="1">
              <a:buFontTx/>
              <a:buNone/>
            </a:pPr>
            <a:r>
              <a:rPr lang="en-US" altLang="zh-CN" sz="1800" b="1" dirty="0"/>
              <a:t>          Z:     out STD_LOGIC);</a:t>
            </a:r>
          </a:p>
          <a:p>
            <a:pPr eaLnBrk="1" hangingPunct="1">
              <a:buFontTx/>
              <a:buNone/>
            </a:pPr>
            <a:r>
              <a:rPr lang="en-US" altLang="zh-CN" sz="1800" b="1" dirty="0">
                <a:solidFill>
                  <a:srgbClr val="0000FF"/>
                </a:solidFill>
              </a:rPr>
              <a:t>end</a:t>
            </a:r>
            <a:r>
              <a:rPr lang="en-US" altLang="zh-CN" sz="1800" b="1" dirty="0"/>
              <a:t> MEALY_1;</a:t>
            </a:r>
          </a:p>
        </p:txBody>
      </p:sp>
      <p:sp>
        <p:nvSpPr>
          <p:cNvPr id="202756" name="Rectangle 4"/>
          <p:cNvSpPr/>
          <p:nvPr/>
        </p:nvSpPr>
        <p:spPr>
          <a:xfrm>
            <a:off x="683568" y="349250"/>
            <a:ext cx="6172200" cy="330200"/>
          </a:xfrm>
          <a:prstGeom prst="rect">
            <a:avLst/>
          </a:prstGeom>
          <a:noFill/>
          <a:ln w="9525">
            <a:noFill/>
          </a:ln>
        </p:spPr>
        <p:txBody>
          <a:bodyPr anchor="ctr"/>
          <a:lstStyle/>
          <a:p>
            <a:pPr algn="ctr" eaLnBrk="1" hangingPunct="1"/>
            <a:r>
              <a:rPr lang="zh-CN" altLang="en-US" sz="2400" dirty="0">
                <a:solidFill>
                  <a:schemeClr val="tx2"/>
                </a:solidFill>
                <a:latin typeface="华文新魏" panose="02010800040101010101" pitchFamily="2" charset="-122"/>
                <a:ea typeface="华文新魏" panose="02010800040101010101" pitchFamily="2" charset="-122"/>
              </a:rPr>
              <a:t>步骤</a:t>
            </a:r>
            <a:r>
              <a:rPr lang="en-US" altLang="zh-CN" sz="2400" dirty="0">
                <a:solidFill>
                  <a:schemeClr val="tx2"/>
                </a:solidFill>
                <a:latin typeface="华文新魏" panose="02010800040101010101" pitchFamily="2" charset="-122"/>
                <a:ea typeface="华文新魏" panose="02010800040101010101" pitchFamily="2" charset="-122"/>
              </a:rPr>
              <a:t>3</a:t>
            </a:r>
            <a:r>
              <a:rPr lang="zh-CN" altLang="en-US" sz="2400" dirty="0">
                <a:solidFill>
                  <a:schemeClr val="tx2"/>
                </a:solidFill>
                <a:latin typeface="华文新魏" panose="02010800040101010101" pitchFamily="2" charset="-122"/>
                <a:ea typeface="华文新魏" panose="02010800040101010101" pitchFamily="2" charset="-122"/>
              </a:rPr>
              <a:t>：将状态变化及输出状况用</a:t>
            </a:r>
            <a:r>
              <a:rPr lang="en-US" altLang="zh-CN" sz="2400" dirty="0">
                <a:solidFill>
                  <a:schemeClr val="tx2"/>
                </a:solidFill>
                <a:latin typeface="华文新魏" panose="02010800040101010101" pitchFamily="2" charset="-122"/>
                <a:ea typeface="华文新魏" panose="02010800040101010101" pitchFamily="2" charset="-122"/>
              </a:rPr>
              <a:t>VHDL</a:t>
            </a:r>
            <a:r>
              <a:rPr lang="zh-CN" altLang="en-US" sz="2400" dirty="0">
                <a:solidFill>
                  <a:schemeClr val="tx2"/>
                </a:solidFill>
                <a:latin typeface="华文新魏" panose="02010800040101010101" pitchFamily="2" charset="-122"/>
                <a:ea typeface="华文新魏" panose="02010800040101010101" pitchFamily="2" charset="-122"/>
              </a:rPr>
              <a:t>描述</a:t>
            </a:r>
            <a:endParaRPr lang="en-US" altLang="zh-CN" sz="2400" dirty="0">
              <a:solidFill>
                <a:schemeClr val="tx2"/>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2A47EE7-473E-4E09-B398-44620AE515C0}"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84</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3779" name="Rectangle 5"/>
          <p:cNvSpPr>
            <a:spLocks noGrp="1"/>
          </p:cNvSpPr>
          <p:nvPr>
            <p:ph idx="1" hasCustomPrompt="1"/>
          </p:nvPr>
        </p:nvSpPr>
        <p:spPr>
          <a:xfrm>
            <a:off x="859790" y="908685"/>
            <a:ext cx="6172200" cy="3997325"/>
          </a:xfrm>
          <a:noFill/>
          <a:ln>
            <a:noFill/>
          </a:ln>
        </p:spPr>
        <p:txBody>
          <a:bodyPr/>
          <a:lstStyle/>
          <a:p>
            <a:pPr eaLnBrk="1" hangingPunct="1">
              <a:lnSpc>
                <a:spcPct val="70000"/>
              </a:lnSpc>
              <a:buFontTx/>
              <a:buNone/>
            </a:pPr>
            <a:r>
              <a:rPr lang="en-US" altLang="zh-CN" sz="2000" dirty="0">
                <a:solidFill>
                  <a:srgbClr val="0000FF"/>
                </a:solidFill>
                <a:latin typeface="华文新魏" panose="02010800040101010101" pitchFamily="2" charset="-122"/>
                <a:ea typeface="华文新魏" panose="02010800040101010101" pitchFamily="2" charset="-122"/>
              </a:rPr>
              <a:t>architecture</a:t>
            </a:r>
            <a:r>
              <a:rPr lang="en-US" altLang="zh-CN" sz="2000" dirty="0">
                <a:latin typeface="华文新魏" panose="02010800040101010101" pitchFamily="2" charset="-122"/>
                <a:ea typeface="华文新魏" panose="02010800040101010101" pitchFamily="2" charset="-122"/>
              </a:rPr>
              <a:t> MEALY_1_arch </a:t>
            </a:r>
            <a:r>
              <a:rPr lang="en-US" altLang="zh-CN" sz="2000" dirty="0">
                <a:solidFill>
                  <a:srgbClr val="0000FF"/>
                </a:solidFill>
                <a:latin typeface="华文新魏" panose="02010800040101010101" pitchFamily="2" charset="-122"/>
                <a:ea typeface="华文新魏" panose="02010800040101010101" pitchFamily="2" charset="-122"/>
              </a:rPr>
              <a:t>of</a:t>
            </a:r>
            <a:r>
              <a:rPr lang="en-US" altLang="zh-CN" sz="2000" dirty="0">
                <a:latin typeface="华文新魏" panose="02010800040101010101" pitchFamily="2" charset="-122"/>
                <a:ea typeface="华文新魏" panose="02010800040101010101" pitchFamily="2" charset="-122"/>
              </a:rPr>
              <a:t> MEALY_1 </a:t>
            </a:r>
            <a:r>
              <a:rPr lang="en-US" altLang="zh-CN" sz="2000" dirty="0">
                <a:solidFill>
                  <a:srgbClr val="0000FF"/>
                </a:solidFill>
                <a:latin typeface="华文新魏" panose="02010800040101010101" pitchFamily="2" charset="-122"/>
                <a:ea typeface="华文新魏" panose="02010800040101010101" pitchFamily="2" charset="-122"/>
              </a:rPr>
              <a:t>is</a:t>
            </a:r>
          </a:p>
          <a:p>
            <a:pPr eaLnBrk="1" hangingPunct="1">
              <a:lnSpc>
                <a:spcPct val="70000"/>
              </a:lnSpc>
              <a:buFontTx/>
              <a:buNone/>
            </a:pPr>
            <a:r>
              <a:rPr lang="en-US" altLang="zh-CN" sz="2000" dirty="0">
                <a:solidFill>
                  <a:srgbClr val="0000FF"/>
                </a:solidFill>
                <a:latin typeface="华文新魏" panose="02010800040101010101" pitchFamily="2" charset="-122"/>
                <a:ea typeface="华文新魏" panose="02010800040101010101" pitchFamily="2" charset="-122"/>
              </a:rPr>
              <a:t>     type </a:t>
            </a:r>
            <a:r>
              <a:rPr lang="en-US" altLang="zh-CN" sz="2000" dirty="0">
                <a:latin typeface="华文新魏" panose="02010800040101010101" pitchFamily="2" charset="-122"/>
                <a:ea typeface="华文新魏" panose="02010800040101010101" pitchFamily="2" charset="-122"/>
              </a:rPr>
              <a:t>State</a:t>
            </a:r>
            <a:r>
              <a:rPr lang="en-US" altLang="zh-CN" sz="2000" dirty="0">
                <a:solidFill>
                  <a:srgbClr val="0000FF"/>
                </a:solidFill>
                <a:latin typeface="华文新魏" panose="02010800040101010101" pitchFamily="2" charset="-122"/>
                <a:ea typeface="华文新魏" panose="02010800040101010101" pitchFamily="2" charset="-122"/>
              </a:rPr>
              <a:t> is </a:t>
            </a:r>
            <a:r>
              <a:rPr lang="en-US" altLang="zh-CN" sz="2000" dirty="0">
                <a:latin typeface="华文新魏" panose="02010800040101010101" pitchFamily="2" charset="-122"/>
                <a:ea typeface="华文新魏" panose="02010800040101010101" pitchFamily="2" charset="-122"/>
              </a:rPr>
              <a:t>(S2,S1,S0);</a:t>
            </a:r>
          </a:p>
          <a:p>
            <a:pPr eaLnBrk="1" hangingPunct="1">
              <a:lnSpc>
                <a:spcPct val="70000"/>
              </a:lnSpc>
              <a:buFontTx/>
              <a:buNone/>
            </a:pPr>
            <a:r>
              <a:rPr lang="en-US" altLang="zh-CN" sz="2000" dirty="0">
                <a:solidFill>
                  <a:srgbClr val="0000FF"/>
                </a:solidFill>
                <a:latin typeface="华文新魏" panose="02010800040101010101" pitchFamily="2" charset="-122"/>
                <a:ea typeface="华文新魏" panose="02010800040101010101" pitchFamily="2" charset="-122"/>
              </a:rPr>
              <a:t>     signal </a:t>
            </a:r>
            <a:r>
              <a:rPr lang="en-US" altLang="zh-CN" sz="2000" dirty="0" err="1">
                <a:latin typeface="华文新魏" panose="02010800040101010101" pitchFamily="2" charset="-122"/>
                <a:ea typeface="华文新魏" panose="02010800040101010101" pitchFamily="2" charset="-122"/>
              </a:rPr>
              <a:t>Present_State</a:t>
            </a:r>
            <a:r>
              <a:rPr lang="en-US" altLang="zh-CN" sz="2000" dirty="0">
                <a:latin typeface="华文新魏" panose="02010800040101010101" pitchFamily="2" charset="-122"/>
                <a:ea typeface="华文新魏" panose="02010800040101010101" pitchFamily="2" charset="-122"/>
              </a:rPr>
              <a:t>: State;</a:t>
            </a:r>
          </a:p>
          <a:p>
            <a:pPr eaLnBrk="1" hangingPunct="1">
              <a:lnSpc>
                <a:spcPct val="70000"/>
              </a:lnSpc>
              <a:buFontTx/>
              <a:buNone/>
            </a:pPr>
            <a:r>
              <a:rPr lang="en-US" altLang="zh-CN" sz="2000" dirty="0">
                <a:solidFill>
                  <a:srgbClr val="0000FF"/>
                </a:solidFill>
                <a:latin typeface="华文新魏" panose="02010800040101010101" pitchFamily="2" charset="-122"/>
                <a:ea typeface="华文新魏" panose="02010800040101010101" pitchFamily="2" charset="-122"/>
              </a:rPr>
              <a:t>     signal </a:t>
            </a:r>
            <a:r>
              <a:rPr lang="en-US" altLang="zh-CN" sz="2000" dirty="0" err="1">
                <a:latin typeface="华文新魏" panose="02010800040101010101" pitchFamily="2" charset="-122"/>
                <a:ea typeface="华文新魏" panose="02010800040101010101" pitchFamily="2" charset="-122"/>
              </a:rPr>
              <a:t>Next_State</a:t>
            </a:r>
            <a:r>
              <a:rPr lang="en-US" altLang="zh-CN" sz="2000" dirty="0">
                <a:latin typeface="华文新魏" panose="02010800040101010101" pitchFamily="2" charset="-122"/>
                <a:ea typeface="华文新魏" panose="02010800040101010101" pitchFamily="2" charset="-122"/>
              </a:rPr>
              <a:t>: State;</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begin</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process</a:t>
            </a:r>
            <a:r>
              <a:rPr lang="en-US" altLang="zh-CN" sz="2000" dirty="0">
                <a:latin typeface="华文新魏" panose="02010800040101010101" pitchFamily="2" charset="-122"/>
                <a:ea typeface="华文新魏" panose="02010800040101010101" pitchFamily="2" charset="-122"/>
              </a:rPr>
              <a:t> (CLK,RESET)</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begin</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if </a:t>
            </a:r>
            <a:r>
              <a:rPr lang="en-US" altLang="zh-CN" sz="2000" dirty="0">
                <a:latin typeface="华文新魏" panose="02010800040101010101" pitchFamily="2" charset="-122"/>
                <a:ea typeface="华文新魏" panose="02010800040101010101" pitchFamily="2" charset="-122"/>
              </a:rPr>
              <a:t>RESET ='1' </a:t>
            </a:r>
            <a:r>
              <a:rPr lang="en-US" altLang="zh-CN" sz="2000" dirty="0">
                <a:solidFill>
                  <a:srgbClr val="0000FF"/>
                </a:solidFill>
                <a:latin typeface="华文新魏" panose="02010800040101010101" pitchFamily="2" charset="-122"/>
                <a:ea typeface="华文新魏" panose="02010800040101010101" pitchFamily="2" charset="-122"/>
              </a:rPr>
              <a:t>then</a:t>
            </a:r>
            <a:r>
              <a:rPr lang="en-US" altLang="zh-CN" sz="2000" dirty="0">
                <a:latin typeface="华文新魏" panose="02010800040101010101" pitchFamily="2" charset="-122"/>
                <a:ea typeface="华文新魏" panose="02010800040101010101" pitchFamily="2" charset="-122"/>
              </a:rPr>
              <a:t> </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err="1">
                <a:latin typeface="华文新魏" panose="02010800040101010101" pitchFamily="2" charset="-122"/>
                <a:ea typeface="华文新魏" panose="02010800040101010101" pitchFamily="2" charset="-122"/>
              </a:rPr>
              <a:t>Present_State</a:t>
            </a:r>
            <a:r>
              <a:rPr lang="en-US" altLang="zh-CN" sz="2000" dirty="0">
                <a:latin typeface="华文新魏" panose="02010800040101010101" pitchFamily="2" charset="-122"/>
                <a:ea typeface="华文新魏" panose="02010800040101010101" pitchFamily="2" charset="-122"/>
              </a:rPr>
              <a:t> &lt;= S0;</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err="1">
                <a:solidFill>
                  <a:srgbClr val="0000FF"/>
                </a:solidFill>
                <a:latin typeface="华文新魏" panose="02010800040101010101" pitchFamily="2" charset="-122"/>
                <a:ea typeface="华文新魏" panose="02010800040101010101" pitchFamily="2" charset="-122"/>
              </a:rPr>
              <a:t>elsif</a:t>
            </a:r>
            <a:r>
              <a:rPr lang="en-US" altLang="zh-CN" sz="2000" dirty="0">
                <a:latin typeface="华文新魏" panose="02010800040101010101" pitchFamily="2" charset="-122"/>
                <a:ea typeface="华文新魏" panose="02010800040101010101" pitchFamily="2" charset="-122"/>
              </a:rPr>
              <a:t>  </a:t>
            </a:r>
            <a:r>
              <a:rPr lang="en-US" altLang="zh-CN" sz="2000" dirty="0" err="1">
                <a:latin typeface="华文新魏" panose="02010800040101010101" pitchFamily="2" charset="-122"/>
                <a:ea typeface="华文新魏" panose="02010800040101010101" pitchFamily="2" charset="-122"/>
              </a:rPr>
              <a:t>CLK'event</a:t>
            </a: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and</a:t>
            </a:r>
            <a:r>
              <a:rPr lang="en-US" altLang="zh-CN" sz="2000" dirty="0">
                <a:latin typeface="华文新魏" panose="02010800040101010101" pitchFamily="2" charset="-122"/>
                <a:ea typeface="华文新魏" panose="02010800040101010101" pitchFamily="2" charset="-122"/>
              </a:rPr>
              <a:t> CLK = '1' </a:t>
            </a:r>
            <a:r>
              <a:rPr lang="en-US" altLang="zh-CN" sz="2000" dirty="0">
                <a:solidFill>
                  <a:srgbClr val="0000FF"/>
                </a:solidFill>
                <a:latin typeface="华文新魏" panose="02010800040101010101" pitchFamily="2" charset="-122"/>
                <a:ea typeface="华文新魏" panose="02010800040101010101" pitchFamily="2" charset="-122"/>
              </a:rPr>
              <a:t>then</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err="1">
                <a:latin typeface="华文新魏" panose="02010800040101010101" pitchFamily="2" charset="-122"/>
                <a:ea typeface="华文新魏" panose="02010800040101010101" pitchFamily="2" charset="-122"/>
              </a:rPr>
              <a:t>Present_State</a:t>
            </a:r>
            <a:r>
              <a:rPr lang="en-US" altLang="zh-CN" sz="2000" dirty="0">
                <a:latin typeface="华文新魏" panose="02010800040101010101" pitchFamily="2" charset="-122"/>
                <a:ea typeface="华文新魏" panose="02010800040101010101" pitchFamily="2" charset="-122"/>
              </a:rPr>
              <a:t> &lt;= </a:t>
            </a:r>
            <a:r>
              <a:rPr lang="en-US" altLang="zh-CN" sz="2000" dirty="0" err="1">
                <a:latin typeface="华文新魏" panose="02010800040101010101" pitchFamily="2" charset="-122"/>
                <a:ea typeface="华文新魏" panose="02010800040101010101" pitchFamily="2" charset="-122"/>
              </a:rPr>
              <a:t>Next_State</a:t>
            </a:r>
            <a:r>
              <a:rPr lang="en-US" altLang="zh-CN" sz="2000" dirty="0">
                <a:latin typeface="华文新魏" panose="02010800040101010101" pitchFamily="2" charset="-122"/>
                <a:ea typeface="华文新魏" panose="02010800040101010101" pitchFamily="2" charset="-122"/>
              </a:rPr>
              <a:t>;</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end</a:t>
            </a:r>
            <a:r>
              <a:rPr lang="en-US" altLang="zh-CN" sz="2000" dirty="0">
                <a:latin typeface="华文新魏" panose="02010800040101010101" pitchFamily="2" charset="-122"/>
                <a:ea typeface="华文新魏" panose="02010800040101010101" pitchFamily="2" charset="-122"/>
              </a:rPr>
              <a:t> if;</a:t>
            </a:r>
          </a:p>
          <a:p>
            <a:pPr eaLnBrk="1" hangingPunct="1">
              <a:lnSpc>
                <a:spcPct val="70000"/>
              </a:lnSpc>
              <a:buFontTx/>
              <a:buNone/>
            </a:pPr>
            <a:r>
              <a:rPr lang="en-US" altLang="zh-CN" sz="2000" dirty="0">
                <a:latin typeface="华文新魏" panose="02010800040101010101" pitchFamily="2" charset="-122"/>
                <a:ea typeface="华文新魏" panose="02010800040101010101" pitchFamily="2" charset="-122"/>
              </a:rPr>
              <a:t>        </a:t>
            </a:r>
            <a:r>
              <a:rPr lang="en-US" altLang="zh-CN" sz="2000" dirty="0">
                <a:solidFill>
                  <a:srgbClr val="0000FF"/>
                </a:solidFill>
                <a:latin typeface="华文新魏" panose="02010800040101010101" pitchFamily="2" charset="-122"/>
                <a:ea typeface="华文新魏" panose="02010800040101010101" pitchFamily="2" charset="-122"/>
              </a:rPr>
              <a:t> end</a:t>
            </a:r>
            <a:r>
              <a:rPr lang="en-US" altLang="zh-CN" sz="2000" dirty="0">
                <a:latin typeface="华文新魏" panose="02010800040101010101" pitchFamily="2" charset="-122"/>
                <a:ea typeface="华文新魏" panose="02010800040101010101" pitchFamily="2" charset="-122"/>
              </a:rPr>
              <a:t> process; </a:t>
            </a:r>
          </a:p>
        </p:txBody>
      </p:sp>
      <p:grpSp>
        <p:nvGrpSpPr>
          <p:cNvPr id="203780" name="Group 7"/>
          <p:cNvGrpSpPr/>
          <p:nvPr/>
        </p:nvGrpSpPr>
        <p:grpSpPr>
          <a:xfrm>
            <a:off x="5881688" y="987425"/>
            <a:ext cx="2827337" cy="2393950"/>
            <a:chOff x="1254" y="1308"/>
            <a:chExt cx="4801" cy="3306"/>
          </a:xfrm>
        </p:grpSpPr>
        <p:pic>
          <p:nvPicPr>
            <p:cNvPr id="203781" name="Picture 8" descr="p1001"/>
            <p:cNvPicPr>
              <a:picLocks noChangeAspect="1"/>
            </p:cNvPicPr>
            <p:nvPr/>
          </p:nvPicPr>
          <p:blipFill>
            <a:blip r:embed="rId3"/>
            <a:stretch>
              <a:fillRect/>
            </a:stretch>
          </p:blipFill>
          <p:spPr>
            <a:xfrm>
              <a:off x="2066" y="1308"/>
              <a:ext cx="3989" cy="3306"/>
            </a:xfrm>
            <a:prstGeom prst="rect">
              <a:avLst/>
            </a:prstGeom>
            <a:noFill/>
            <a:ln w="9525">
              <a:noFill/>
            </a:ln>
          </p:spPr>
        </p:pic>
        <p:sp>
          <p:nvSpPr>
            <p:cNvPr id="203782" name="Text Box 9"/>
            <p:cNvSpPr txBox="1"/>
            <p:nvPr/>
          </p:nvSpPr>
          <p:spPr>
            <a:xfrm>
              <a:off x="1254" y="3652"/>
              <a:ext cx="1171" cy="606"/>
            </a:xfrm>
            <a:prstGeom prst="rect">
              <a:avLst/>
            </a:prstGeom>
            <a:solidFill>
              <a:schemeClr val="bg1"/>
            </a:solidFill>
            <a:ln w="9525">
              <a:noFill/>
            </a:ln>
          </p:spPr>
          <p:txBody>
            <a:bodyPr>
              <a:spAutoFit/>
            </a:bodyPr>
            <a:lstStyle/>
            <a:p>
              <a:pPr marL="342900" indent="-342900" eaLnBrk="1" hangingPunct="1">
                <a:spcBef>
                  <a:spcPct val="50000"/>
                </a:spcBef>
              </a:pPr>
              <a:endParaRPr lang="en-US" altLang="zh-CN" sz="900">
                <a:solidFill>
                  <a:schemeClr val="tx1"/>
                </a:solidFill>
                <a:latin typeface="华文新魏" panose="02010800040101010101" pitchFamily="2" charset="-122"/>
                <a:ea typeface="华文新魏" panose="02010800040101010101" pitchFamily="2" charset="-122"/>
              </a:endParaRPr>
            </a:p>
            <a:p>
              <a:pPr marL="342900" indent="-342900" eaLnBrk="1" hangingPunct="1">
                <a:spcBef>
                  <a:spcPct val="50000"/>
                </a:spcBef>
              </a:pPr>
              <a:endParaRPr lang="en-US" altLang="zh-CN" sz="900">
                <a:solidFill>
                  <a:schemeClr val="tx1"/>
                </a:solidFill>
                <a:latin typeface="华文新魏" panose="02010800040101010101" pitchFamily="2" charset="-122"/>
                <a:ea typeface="华文新魏" panose="02010800040101010101" pitchFamily="2" charset="-122"/>
              </a:endParaRPr>
            </a:p>
          </p:txBody>
        </p:sp>
      </p:grpSp>
      <p:sp>
        <p:nvSpPr>
          <p:cNvPr id="2" name="矩形 1"/>
          <p:cNvSpPr/>
          <p:nvPr/>
        </p:nvSpPr>
        <p:spPr>
          <a:xfrm>
            <a:off x="1187450" y="1203960"/>
            <a:ext cx="2592705" cy="287655"/>
          </a:xfrm>
          <a:prstGeom prst="rect">
            <a:avLst/>
          </a:prstGeom>
          <a:noFill/>
          <a:ln w="19050"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 name="文本框 2"/>
          <p:cNvSpPr txBox="1"/>
          <p:nvPr/>
        </p:nvSpPr>
        <p:spPr>
          <a:xfrm>
            <a:off x="1907704" y="403462"/>
            <a:ext cx="6172200" cy="369332"/>
          </a:xfrm>
          <a:prstGeom prst="rect">
            <a:avLst/>
          </a:prstGeom>
          <a:noFill/>
        </p:spPr>
        <p:txBody>
          <a:bodyPr wrap="square" rtlCol="0">
            <a:spAutoFit/>
          </a:bodyPr>
          <a:lstStyle/>
          <a:p>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自定义数据类型：</a:t>
            </a:r>
            <a:r>
              <a:rPr lang="en-US" altLang="zh-CN" sz="1800"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type </a:t>
            </a:r>
            <a:r>
              <a:rPr lang="zh-CN" altLang="en-US" sz="1800" dirty="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数据类型名</a:t>
            </a:r>
            <a:r>
              <a:rPr lang="en-US" altLang="zh-CN" sz="1800"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 is </a:t>
            </a:r>
            <a:r>
              <a:rPr lang="zh-CN" altLang="en-US" sz="1800" dirty="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数据类型定义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P spid="3"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67D4AC8-EC43-4CCF-B763-5D6A222FA932}"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85</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803" name="Rectangle 3"/>
          <p:cNvSpPr>
            <a:spLocks noGrp="1"/>
          </p:cNvSpPr>
          <p:nvPr>
            <p:ph idx="1" hasCustomPrompt="1"/>
          </p:nvPr>
        </p:nvSpPr>
        <p:spPr>
          <a:xfrm>
            <a:off x="1485900" y="700088"/>
            <a:ext cx="6172200" cy="4156075"/>
          </a:xfrm>
          <a:noFill/>
          <a:ln>
            <a:noFill/>
          </a:ln>
        </p:spPr>
        <p:txBody>
          <a:bodyPr/>
          <a:lstStyle/>
          <a:p>
            <a:pPr eaLnBrk="1" hangingPunct="1">
              <a:lnSpc>
                <a:spcPct val="50000"/>
              </a:lnSpc>
              <a:buFontTx/>
              <a:buNone/>
            </a:pPr>
            <a:r>
              <a:rPr lang="en-US" altLang="zh-CN" sz="1600">
                <a:solidFill>
                  <a:srgbClr val="0000FF"/>
                </a:solidFill>
              </a:rPr>
              <a:t>process</a:t>
            </a:r>
            <a:r>
              <a:rPr lang="en-US" altLang="zh-CN" sz="1600"/>
              <a:t> (X, </a:t>
            </a:r>
            <a:r>
              <a:rPr lang="en-US" altLang="zh-CN" sz="1600" err="1"/>
              <a:t>Present_State</a:t>
            </a:r>
            <a:r>
              <a:rPr lang="en-US" altLang="zh-CN" sz="1600"/>
              <a:t>)</a:t>
            </a:r>
          </a:p>
          <a:p>
            <a:pPr eaLnBrk="1" hangingPunct="1">
              <a:lnSpc>
                <a:spcPct val="50000"/>
              </a:lnSpc>
              <a:buFontTx/>
              <a:buNone/>
            </a:pPr>
            <a:r>
              <a:rPr lang="en-US" altLang="zh-CN" sz="1600"/>
              <a:t> </a:t>
            </a:r>
            <a:r>
              <a:rPr lang="en-US" altLang="zh-CN" sz="1600">
                <a:solidFill>
                  <a:srgbClr val="0000FF"/>
                </a:solidFill>
              </a:rPr>
              <a:t> begin</a:t>
            </a:r>
          </a:p>
          <a:p>
            <a:pPr eaLnBrk="1" hangingPunct="1">
              <a:lnSpc>
                <a:spcPct val="50000"/>
              </a:lnSpc>
              <a:buFontTx/>
              <a:buNone/>
            </a:pPr>
            <a:r>
              <a:rPr lang="en-US" altLang="zh-CN" sz="1600"/>
              <a:t>         </a:t>
            </a:r>
            <a:r>
              <a:rPr lang="en-US" altLang="zh-CN" sz="1600">
                <a:solidFill>
                  <a:srgbClr val="0000FF"/>
                </a:solidFill>
              </a:rPr>
              <a:t>case</a:t>
            </a:r>
            <a:r>
              <a:rPr lang="en-US" altLang="zh-CN" sz="1600"/>
              <a:t> </a:t>
            </a:r>
            <a:r>
              <a:rPr lang="en-US" altLang="zh-CN" sz="1600" err="1"/>
              <a:t>Present_State</a:t>
            </a:r>
            <a:r>
              <a:rPr lang="en-US" altLang="zh-CN" sz="1600"/>
              <a:t> </a:t>
            </a:r>
            <a:r>
              <a:rPr lang="en-US" altLang="zh-CN" sz="1600">
                <a:solidFill>
                  <a:srgbClr val="0000FF"/>
                </a:solidFill>
              </a:rPr>
              <a:t>is</a:t>
            </a:r>
          </a:p>
          <a:p>
            <a:pPr eaLnBrk="1" hangingPunct="1">
              <a:lnSpc>
                <a:spcPct val="50000"/>
              </a:lnSpc>
              <a:buFontTx/>
              <a:buNone/>
            </a:pPr>
            <a:r>
              <a:rPr lang="en-US" altLang="zh-CN" sz="1600"/>
              <a:t>         </a:t>
            </a:r>
            <a:r>
              <a:rPr lang="en-US" altLang="zh-CN" sz="1600">
                <a:solidFill>
                  <a:srgbClr val="0000FF"/>
                </a:solidFill>
              </a:rPr>
              <a:t>when S0</a:t>
            </a:r>
            <a:r>
              <a:rPr lang="en-US" altLang="zh-CN" sz="1600"/>
              <a:t> =&gt;</a:t>
            </a:r>
          </a:p>
          <a:p>
            <a:pPr eaLnBrk="1" hangingPunct="1">
              <a:lnSpc>
                <a:spcPct val="50000"/>
              </a:lnSpc>
              <a:buFontTx/>
              <a:buNone/>
            </a:pPr>
            <a:r>
              <a:rPr lang="en-US" altLang="zh-CN" sz="1600"/>
              <a:t>            if X ='0' </a:t>
            </a:r>
            <a:r>
              <a:rPr lang="en-US" altLang="zh-CN" sz="1600">
                <a:solidFill>
                  <a:srgbClr val="0000FF"/>
                </a:solidFill>
              </a:rPr>
              <a:t>then</a:t>
            </a:r>
          </a:p>
          <a:p>
            <a:pPr eaLnBrk="1" hangingPunct="1">
              <a:lnSpc>
                <a:spcPct val="50000"/>
              </a:lnSpc>
              <a:buFontTx/>
              <a:buNone/>
            </a:pPr>
            <a:r>
              <a:rPr lang="en-US" altLang="zh-CN" sz="1600"/>
              <a:t>               </a:t>
            </a:r>
            <a:r>
              <a:rPr lang="en-US" altLang="zh-CN" sz="1600" err="1"/>
              <a:t>Next_State</a:t>
            </a:r>
            <a:r>
              <a:rPr lang="en-US" altLang="zh-CN" sz="1600"/>
              <a:t> &lt;= S0;</a:t>
            </a:r>
          </a:p>
          <a:p>
            <a:pPr eaLnBrk="1" hangingPunct="1">
              <a:lnSpc>
                <a:spcPct val="50000"/>
              </a:lnSpc>
              <a:buFontTx/>
              <a:buNone/>
            </a:pPr>
            <a:r>
              <a:rPr lang="en-US" altLang="zh-CN" sz="1600"/>
              <a:t>               Z &lt;= '0';</a:t>
            </a:r>
          </a:p>
          <a:p>
            <a:pPr eaLnBrk="1" hangingPunct="1">
              <a:lnSpc>
                <a:spcPct val="50000"/>
              </a:lnSpc>
              <a:buFontTx/>
              <a:buNone/>
            </a:pPr>
            <a:r>
              <a:rPr lang="en-US" altLang="zh-CN" sz="1600"/>
              <a:t>            </a:t>
            </a:r>
            <a:r>
              <a:rPr lang="en-US" altLang="zh-CN" sz="1600">
                <a:solidFill>
                  <a:srgbClr val="0000FF"/>
                </a:solidFill>
              </a:rPr>
              <a:t>else</a:t>
            </a:r>
          </a:p>
          <a:p>
            <a:pPr eaLnBrk="1" hangingPunct="1">
              <a:lnSpc>
                <a:spcPct val="50000"/>
              </a:lnSpc>
              <a:buFontTx/>
              <a:buNone/>
            </a:pPr>
            <a:r>
              <a:rPr lang="en-US" altLang="zh-CN" sz="1600"/>
              <a:t>               </a:t>
            </a:r>
            <a:r>
              <a:rPr lang="en-US" altLang="zh-CN" sz="1600" err="1"/>
              <a:t>Next_State</a:t>
            </a:r>
            <a:r>
              <a:rPr lang="en-US" altLang="zh-CN" sz="1600"/>
              <a:t> &lt;= S1;</a:t>
            </a:r>
          </a:p>
          <a:p>
            <a:pPr eaLnBrk="1" hangingPunct="1">
              <a:lnSpc>
                <a:spcPct val="50000"/>
              </a:lnSpc>
              <a:buFontTx/>
              <a:buNone/>
            </a:pPr>
            <a:r>
              <a:rPr lang="en-US" altLang="zh-CN" sz="1600"/>
              <a:t>               Z &lt;= '0';</a:t>
            </a:r>
          </a:p>
          <a:p>
            <a:pPr eaLnBrk="1" hangingPunct="1">
              <a:lnSpc>
                <a:spcPct val="50000"/>
              </a:lnSpc>
              <a:buFontTx/>
              <a:buNone/>
            </a:pPr>
            <a:r>
              <a:rPr lang="en-US" altLang="zh-CN" sz="1600"/>
              <a:t>            </a:t>
            </a:r>
            <a:r>
              <a:rPr lang="en-US" altLang="zh-CN" sz="1600">
                <a:solidFill>
                  <a:srgbClr val="0000FF"/>
                </a:solidFill>
              </a:rPr>
              <a:t>end</a:t>
            </a:r>
            <a:r>
              <a:rPr lang="en-US" altLang="zh-CN" sz="1600"/>
              <a:t> if;</a:t>
            </a:r>
          </a:p>
          <a:p>
            <a:pPr eaLnBrk="1" hangingPunct="1">
              <a:lnSpc>
                <a:spcPct val="50000"/>
              </a:lnSpc>
              <a:buFontTx/>
              <a:buNone/>
            </a:pPr>
            <a:r>
              <a:rPr lang="en-US" altLang="zh-CN" sz="1600"/>
              <a:t>         </a:t>
            </a:r>
            <a:r>
              <a:rPr lang="en-US" altLang="zh-CN" sz="1600">
                <a:solidFill>
                  <a:srgbClr val="0000FF"/>
                </a:solidFill>
              </a:rPr>
              <a:t>when S1</a:t>
            </a:r>
            <a:r>
              <a:rPr lang="en-US" altLang="zh-CN" sz="1600"/>
              <a:t> =&gt;</a:t>
            </a:r>
          </a:p>
          <a:p>
            <a:pPr eaLnBrk="1" hangingPunct="1">
              <a:lnSpc>
                <a:spcPct val="50000"/>
              </a:lnSpc>
              <a:buFontTx/>
              <a:buNone/>
            </a:pPr>
            <a:r>
              <a:rPr lang="en-US" altLang="zh-CN" sz="1600"/>
              <a:t>            if X ='0' then</a:t>
            </a:r>
          </a:p>
          <a:p>
            <a:pPr eaLnBrk="1" hangingPunct="1">
              <a:lnSpc>
                <a:spcPct val="50000"/>
              </a:lnSpc>
              <a:buFontTx/>
              <a:buNone/>
            </a:pPr>
            <a:r>
              <a:rPr lang="en-US" altLang="zh-CN" sz="1600"/>
              <a:t>               </a:t>
            </a:r>
            <a:r>
              <a:rPr lang="en-US" altLang="zh-CN" sz="1600" err="1"/>
              <a:t>Next_State</a:t>
            </a:r>
            <a:r>
              <a:rPr lang="en-US" altLang="zh-CN" sz="1600"/>
              <a:t> &lt;= S2;</a:t>
            </a:r>
          </a:p>
          <a:p>
            <a:pPr eaLnBrk="1" hangingPunct="1">
              <a:lnSpc>
                <a:spcPct val="50000"/>
              </a:lnSpc>
              <a:buFontTx/>
              <a:buNone/>
            </a:pPr>
            <a:r>
              <a:rPr lang="en-US" altLang="zh-CN" sz="1600"/>
              <a:t>               Z &lt;= '0';</a:t>
            </a:r>
          </a:p>
          <a:p>
            <a:pPr eaLnBrk="1" hangingPunct="1">
              <a:lnSpc>
                <a:spcPct val="50000"/>
              </a:lnSpc>
              <a:buFontTx/>
              <a:buNone/>
            </a:pPr>
            <a:r>
              <a:rPr lang="en-US" altLang="zh-CN" sz="1600"/>
              <a:t>            else</a:t>
            </a:r>
          </a:p>
          <a:p>
            <a:pPr eaLnBrk="1" hangingPunct="1">
              <a:lnSpc>
                <a:spcPct val="50000"/>
              </a:lnSpc>
              <a:buFontTx/>
              <a:buNone/>
            </a:pPr>
            <a:r>
              <a:rPr lang="en-US" altLang="zh-CN" sz="1600"/>
              <a:t>               </a:t>
            </a:r>
            <a:r>
              <a:rPr lang="en-US" altLang="zh-CN" sz="1600" err="1"/>
              <a:t>Next_State</a:t>
            </a:r>
            <a:r>
              <a:rPr lang="en-US" altLang="zh-CN" sz="1600"/>
              <a:t> &lt;= S1;</a:t>
            </a:r>
          </a:p>
          <a:p>
            <a:pPr eaLnBrk="1" hangingPunct="1">
              <a:lnSpc>
                <a:spcPct val="50000"/>
              </a:lnSpc>
              <a:buFontTx/>
              <a:buNone/>
            </a:pPr>
            <a:r>
              <a:rPr lang="en-US" altLang="zh-CN" sz="1600"/>
              <a:t>               Z &lt;= '0';</a:t>
            </a:r>
          </a:p>
          <a:p>
            <a:pPr eaLnBrk="1" hangingPunct="1">
              <a:lnSpc>
                <a:spcPct val="50000"/>
              </a:lnSpc>
              <a:buFontTx/>
              <a:buNone/>
            </a:pPr>
            <a:r>
              <a:rPr lang="en-US" altLang="zh-CN" sz="1600"/>
              <a:t>           </a:t>
            </a:r>
            <a:r>
              <a:rPr lang="en-US" altLang="zh-CN" sz="1600">
                <a:solidFill>
                  <a:srgbClr val="0000FF"/>
                </a:solidFill>
              </a:rPr>
              <a:t> end</a:t>
            </a:r>
            <a:r>
              <a:rPr lang="en-US" altLang="zh-CN" sz="1600"/>
              <a:t> if;</a:t>
            </a:r>
          </a:p>
        </p:txBody>
      </p:sp>
      <p:grpSp>
        <p:nvGrpSpPr>
          <p:cNvPr id="204804" name="Group 4"/>
          <p:cNvGrpSpPr/>
          <p:nvPr/>
        </p:nvGrpSpPr>
        <p:grpSpPr>
          <a:xfrm>
            <a:off x="5432425" y="1262063"/>
            <a:ext cx="2349500" cy="2462212"/>
            <a:chOff x="864" y="858"/>
            <a:chExt cx="3989" cy="3400"/>
          </a:xfrm>
        </p:grpSpPr>
        <p:pic>
          <p:nvPicPr>
            <p:cNvPr id="204805" name="Picture 5" descr="p1001"/>
            <p:cNvPicPr>
              <a:picLocks noChangeAspect="1"/>
            </p:cNvPicPr>
            <p:nvPr/>
          </p:nvPicPr>
          <p:blipFill>
            <a:blip r:embed="rId2"/>
            <a:stretch>
              <a:fillRect/>
            </a:stretch>
          </p:blipFill>
          <p:spPr>
            <a:xfrm>
              <a:off x="864" y="858"/>
              <a:ext cx="3989" cy="3306"/>
            </a:xfrm>
            <a:prstGeom prst="rect">
              <a:avLst/>
            </a:prstGeom>
            <a:noFill/>
            <a:ln w="9525">
              <a:noFill/>
            </a:ln>
          </p:spPr>
        </p:pic>
        <p:sp>
          <p:nvSpPr>
            <p:cNvPr id="204806" name="Text Box 6"/>
            <p:cNvSpPr txBox="1"/>
            <p:nvPr/>
          </p:nvSpPr>
          <p:spPr>
            <a:xfrm>
              <a:off x="1254" y="3652"/>
              <a:ext cx="1171" cy="606"/>
            </a:xfrm>
            <a:prstGeom prst="rect">
              <a:avLst/>
            </a:prstGeom>
            <a:solidFill>
              <a:schemeClr val="bg1"/>
            </a:solidFill>
            <a:ln w="9525">
              <a:noFill/>
            </a:ln>
          </p:spPr>
          <p:txBody>
            <a:bodyPr>
              <a:spAutoFit/>
            </a:bodyPr>
            <a:lstStyle/>
            <a:p>
              <a:pPr marL="342900" indent="-342900" eaLnBrk="1" hangingPunct="1">
                <a:spcBef>
                  <a:spcPct val="50000"/>
                </a:spcBef>
              </a:pPr>
              <a:endParaRPr lang="en-US" altLang="zh-CN" sz="900">
                <a:solidFill>
                  <a:schemeClr val="tx1"/>
                </a:solidFill>
                <a:latin typeface="华文新魏" panose="02010800040101010101" pitchFamily="2" charset="-122"/>
                <a:ea typeface="华文新魏" panose="02010800040101010101" pitchFamily="2" charset="-122"/>
              </a:endParaRPr>
            </a:p>
            <a:p>
              <a:pPr marL="342900" indent="-342900" eaLnBrk="1" hangingPunct="1">
                <a:spcBef>
                  <a:spcPct val="50000"/>
                </a:spcBef>
              </a:pPr>
              <a:endParaRPr lang="en-US" altLang="zh-CN" sz="90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6A9EAF0-86E8-434F-BECD-01E86B4EAC1A}"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86</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27" name="Rectangle 3"/>
          <p:cNvSpPr>
            <a:spLocks noGrp="1"/>
          </p:cNvSpPr>
          <p:nvPr>
            <p:ph idx="1" hasCustomPrompt="1"/>
          </p:nvPr>
        </p:nvSpPr>
        <p:spPr>
          <a:xfrm>
            <a:off x="1381125" y="714375"/>
            <a:ext cx="3933825" cy="3394075"/>
          </a:xfrm>
          <a:noFill/>
          <a:ln>
            <a:noFill/>
          </a:ln>
        </p:spPr>
        <p:txBody>
          <a:bodyPr/>
          <a:lstStyle/>
          <a:p>
            <a:pPr eaLnBrk="1" hangingPunct="1">
              <a:buFontTx/>
              <a:buNone/>
            </a:pPr>
            <a:r>
              <a:rPr lang="en-US" altLang="zh-CN" sz="1800">
                <a:solidFill>
                  <a:srgbClr val="0000FF"/>
                </a:solidFill>
                <a:latin typeface="华文新魏" panose="02010800040101010101" pitchFamily="2" charset="-122"/>
                <a:ea typeface="华文新魏" panose="02010800040101010101" pitchFamily="2" charset="-122"/>
              </a:rPr>
              <a:t>         when S2</a:t>
            </a:r>
            <a:r>
              <a:rPr lang="en-US" altLang="zh-CN" sz="1800">
                <a:latin typeface="华文新魏" panose="02010800040101010101" pitchFamily="2" charset="-122"/>
                <a:ea typeface="华文新魏" panose="02010800040101010101" pitchFamily="2" charset="-122"/>
              </a:rPr>
              <a:t> =&gt;</a:t>
            </a:r>
          </a:p>
          <a:p>
            <a:pPr eaLnBrk="1" hangingPunct="1">
              <a:buFontTx/>
              <a:buNone/>
            </a:pPr>
            <a:r>
              <a:rPr lang="en-US" altLang="zh-CN" sz="1800">
                <a:latin typeface="华文新魏" panose="02010800040101010101" pitchFamily="2" charset="-122"/>
                <a:ea typeface="华文新魏" panose="02010800040101010101" pitchFamily="2" charset="-122"/>
              </a:rPr>
              <a:t>            if X ='0' </a:t>
            </a:r>
            <a:r>
              <a:rPr lang="en-US" altLang="zh-CN" sz="1800">
                <a:solidFill>
                  <a:srgbClr val="0000FF"/>
                </a:solidFill>
                <a:latin typeface="华文新魏" panose="02010800040101010101" pitchFamily="2" charset="-122"/>
                <a:ea typeface="华文新魏" panose="02010800040101010101" pitchFamily="2" charset="-122"/>
              </a:rPr>
              <a:t>then</a:t>
            </a:r>
          </a:p>
          <a:p>
            <a:pPr eaLnBrk="1" hangingPunct="1">
              <a:buFontTx/>
              <a:buNone/>
            </a:pPr>
            <a:r>
              <a:rPr lang="en-US" altLang="zh-CN" sz="1800">
                <a:latin typeface="华文新魏" panose="02010800040101010101" pitchFamily="2" charset="-122"/>
                <a:ea typeface="华文新魏" panose="02010800040101010101" pitchFamily="2" charset="-122"/>
              </a:rPr>
              <a:t>               </a:t>
            </a:r>
            <a:r>
              <a:rPr lang="en-US" altLang="zh-CN" sz="1800" err="1">
                <a:latin typeface="华文新魏" panose="02010800040101010101" pitchFamily="2" charset="-122"/>
                <a:ea typeface="华文新魏" panose="02010800040101010101" pitchFamily="2" charset="-122"/>
              </a:rPr>
              <a:t>Next_State</a:t>
            </a:r>
            <a:r>
              <a:rPr lang="en-US" altLang="zh-CN" sz="1800">
                <a:latin typeface="华文新魏" panose="02010800040101010101" pitchFamily="2" charset="-122"/>
                <a:ea typeface="华文新魏" panose="02010800040101010101" pitchFamily="2" charset="-122"/>
              </a:rPr>
              <a:t> &lt;= S0;</a:t>
            </a:r>
          </a:p>
          <a:p>
            <a:pPr eaLnBrk="1" hangingPunct="1">
              <a:buFontTx/>
              <a:buNone/>
            </a:pPr>
            <a:r>
              <a:rPr lang="en-US" altLang="zh-CN" sz="1800">
                <a:latin typeface="华文新魏" panose="02010800040101010101" pitchFamily="2" charset="-122"/>
                <a:ea typeface="华文新魏" panose="02010800040101010101" pitchFamily="2" charset="-122"/>
              </a:rPr>
              <a:t>               Z &lt;= '0';</a:t>
            </a:r>
          </a:p>
          <a:p>
            <a:pPr eaLnBrk="1" hangingPunct="1">
              <a:buFontTx/>
              <a:buNone/>
            </a:pPr>
            <a:r>
              <a:rPr lang="en-US" altLang="zh-CN" sz="1800">
                <a:latin typeface="华文新魏" panose="02010800040101010101" pitchFamily="2" charset="-122"/>
                <a:ea typeface="华文新魏" panose="02010800040101010101" pitchFamily="2" charset="-122"/>
              </a:rPr>
              <a:t>            else</a:t>
            </a:r>
          </a:p>
          <a:p>
            <a:pPr eaLnBrk="1" hangingPunct="1">
              <a:buFontTx/>
              <a:buNone/>
            </a:pPr>
            <a:r>
              <a:rPr lang="en-US" altLang="zh-CN" sz="1800">
                <a:latin typeface="华文新魏" panose="02010800040101010101" pitchFamily="2" charset="-122"/>
                <a:ea typeface="华文新魏" panose="02010800040101010101" pitchFamily="2" charset="-122"/>
              </a:rPr>
              <a:t>               </a:t>
            </a:r>
            <a:r>
              <a:rPr lang="en-US" altLang="zh-CN" sz="1800" err="1">
                <a:latin typeface="华文新魏" panose="02010800040101010101" pitchFamily="2" charset="-122"/>
                <a:ea typeface="华文新魏" panose="02010800040101010101" pitchFamily="2" charset="-122"/>
              </a:rPr>
              <a:t>Next_State</a:t>
            </a:r>
            <a:r>
              <a:rPr lang="en-US" altLang="zh-CN" sz="1800">
                <a:latin typeface="华文新魏" panose="02010800040101010101" pitchFamily="2" charset="-122"/>
                <a:ea typeface="华文新魏" panose="02010800040101010101" pitchFamily="2" charset="-122"/>
              </a:rPr>
              <a:t> &lt;= S1;</a:t>
            </a:r>
          </a:p>
          <a:p>
            <a:pPr eaLnBrk="1" hangingPunct="1">
              <a:buFontTx/>
              <a:buNone/>
            </a:pPr>
            <a:r>
              <a:rPr lang="en-US" altLang="zh-CN" sz="1800">
                <a:latin typeface="华文新魏" panose="02010800040101010101" pitchFamily="2" charset="-122"/>
                <a:ea typeface="华文新魏" panose="02010800040101010101" pitchFamily="2" charset="-122"/>
              </a:rPr>
              <a:t>               Z &lt;= '1';</a:t>
            </a:r>
          </a:p>
          <a:p>
            <a:pPr eaLnBrk="1" hangingPunct="1">
              <a:buFontTx/>
              <a:buNone/>
            </a:pPr>
            <a:r>
              <a:rPr lang="en-US" altLang="zh-CN" sz="1800">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end</a:t>
            </a:r>
            <a:r>
              <a:rPr lang="en-US" altLang="zh-CN" sz="1800">
                <a:latin typeface="华文新魏" panose="02010800040101010101" pitchFamily="2" charset="-122"/>
                <a:ea typeface="华文新魏" panose="02010800040101010101" pitchFamily="2" charset="-122"/>
              </a:rPr>
              <a:t> if;</a:t>
            </a:r>
          </a:p>
          <a:p>
            <a:pPr eaLnBrk="1" hangingPunct="1">
              <a:buFontTx/>
              <a:buNone/>
            </a:pPr>
            <a:r>
              <a:rPr lang="en-US" altLang="zh-CN" sz="1800">
                <a:latin typeface="华文新魏" panose="02010800040101010101" pitchFamily="2" charset="-122"/>
                <a:ea typeface="华文新魏" panose="02010800040101010101" pitchFamily="2" charset="-122"/>
              </a:rPr>
              <a:t>         </a:t>
            </a:r>
            <a:r>
              <a:rPr lang="en-US" altLang="zh-CN" sz="1800">
                <a:solidFill>
                  <a:srgbClr val="0000FF"/>
                </a:solidFill>
                <a:latin typeface="华文新魏" panose="02010800040101010101" pitchFamily="2" charset="-122"/>
                <a:ea typeface="华文新魏" panose="02010800040101010101" pitchFamily="2" charset="-122"/>
              </a:rPr>
              <a:t>end</a:t>
            </a:r>
            <a:r>
              <a:rPr lang="en-US" altLang="zh-CN" sz="1800">
                <a:latin typeface="华文新魏" panose="02010800040101010101" pitchFamily="2" charset="-122"/>
                <a:ea typeface="华文新魏" panose="02010800040101010101" pitchFamily="2" charset="-122"/>
              </a:rPr>
              <a:t> case;</a:t>
            </a:r>
          </a:p>
          <a:p>
            <a:pPr eaLnBrk="1" hangingPunct="1">
              <a:buFontTx/>
              <a:buNone/>
            </a:pPr>
            <a:r>
              <a:rPr lang="en-US" altLang="zh-CN" sz="1800">
                <a:solidFill>
                  <a:srgbClr val="0000FF"/>
                </a:solidFill>
                <a:latin typeface="华文新魏" panose="02010800040101010101" pitchFamily="2" charset="-122"/>
                <a:ea typeface="华文新魏" panose="02010800040101010101" pitchFamily="2" charset="-122"/>
              </a:rPr>
              <a:t>     end</a:t>
            </a:r>
            <a:r>
              <a:rPr lang="en-US" altLang="zh-CN" sz="1800">
                <a:latin typeface="华文新魏" panose="02010800040101010101" pitchFamily="2" charset="-122"/>
                <a:ea typeface="华文新魏" panose="02010800040101010101" pitchFamily="2" charset="-122"/>
              </a:rPr>
              <a:t> process;</a:t>
            </a:r>
          </a:p>
          <a:p>
            <a:pPr eaLnBrk="1" hangingPunct="1">
              <a:buFontTx/>
              <a:buNone/>
            </a:pPr>
            <a:r>
              <a:rPr lang="en-US" altLang="zh-CN" sz="1800">
                <a:solidFill>
                  <a:srgbClr val="0000FF"/>
                </a:solidFill>
                <a:latin typeface="华文新魏" panose="02010800040101010101" pitchFamily="2" charset="-122"/>
                <a:ea typeface="华文新魏" panose="02010800040101010101" pitchFamily="2" charset="-122"/>
              </a:rPr>
              <a:t>end</a:t>
            </a:r>
            <a:r>
              <a:rPr lang="en-US" altLang="zh-CN" sz="1800">
                <a:latin typeface="华文新魏" panose="02010800040101010101" pitchFamily="2" charset="-122"/>
                <a:ea typeface="华文新魏" panose="02010800040101010101" pitchFamily="2" charset="-122"/>
              </a:rPr>
              <a:t> MEALY_1_arch;</a:t>
            </a:r>
          </a:p>
          <a:p>
            <a:pPr eaLnBrk="1" hangingPunct="1"/>
            <a:endParaRPr lang="en-US" altLang="zh-CN" sz="1800">
              <a:latin typeface="华文新魏" panose="02010800040101010101" pitchFamily="2" charset="-122"/>
              <a:ea typeface="华文新魏" panose="02010800040101010101" pitchFamily="2" charset="-122"/>
            </a:endParaRPr>
          </a:p>
        </p:txBody>
      </p:sp>
      <p:grpSp>
        <p:nvGrpSpPr>
          <p:cNvPr id="205828" name="Group 4"/>
          <p:cNvGrpSpPr/>
          <p:nvPr/>
        </p:nvGrpSpPr>
        <p:grpSpPr>
          <a:xfrm>
            <a:off x="5241925" y="852488"/>
            <a:ext cx="2349500" cy="2462212"/>
            <a:chOff x="864" y="858"/>
            <a:chExt cx="3989" cy="3400"/>
          </a:xfrm>
        </p:grpSpPr>
        <p:pic>
          <p:nvPicPr>
            <p:cNvPr id="205829" name="Picture 5" descr="p1001"/>
            <p:cNvPicPr>
              <a:picLocks noChangeAspect="1"/>
            </p:cNvPicPr>
            <p:nvPr/>
          </p:nvPicPr>
          <p:blipFill>
            <a:blip r:embed="rId2"/>
            <a:stretch>
              <a:fillRect/>
            </a:stretch>
          </p:blipFill>
          <p:spPr>
            <a:xfrm>
              <a:off x="864" y="858"/>
              <a:ext cx="3989" cy="3306"/>
            </a:xfrm>
            <a:prstGeom prst="rect">
              <a:avLst/>
            </a:prstGeom>
            <a:noFill/>
            <a:ln w="9525">
              <a:noFill/>
            </a:ln>
          </p:spPr>
        </p:pic>
        <p:sp>
          <p:nvSpPr>
            <p:cNvPr id="205830" name="Text Box 6"/>
            <p:cNvSpPr txBox="1"/>
            <p:nvPr/>
          </p:nvSpPr>
          <p:spPr>
            <a:xfrm>
              <a:off x="1254" y="3652"/>
              <a:ext cx="1171" cy="606"/>
            </a:xfrm>
            <a:prstGeom prst="rect">
              <a:avLst/>
            </a:prstGeom>
            <a:solidFill>
              <a:schemeClr val="bg1"/>
            </a:solidFill>
            <a:ln w="9525">
              <a:noFill/>
            </a:ln>
          </p:spPr>
          <p:txBody>
            <a:bodyPr>
              <a:spAutoFit/>
            </a:bodyPr>
            <a:lstStyle/>
            <a:p>
              <a:pPr marL="342900" indent="-342900" eaLnBrk="1" hangingPunct="1">
                <a:spcBef>
                  <a:spcPct val="50000"/>
                </a:spcBef>
              </a:pPr>
              <a:endParaRPr lang="en-US" altLang="zh-CN" sz="900">
                <a:solidFill>
                  <a:schemeClr val="tx1"/>
                </a:solidFill>
                <a:latin typeface="华文新魏" panose="02010800040101010101" pitchFamily="2" charset="-122"/>
                <a:ea typeface="华文新魏" panose="02010800040101010101" pitchFamily="2" charset="-122"/>
              </a:endParaRPr>
            </a:p>
            <a:p>
              <a:pPr marL="342900" indent="-342900" eaLnBrk="1" hangingPunct="1">
                <a:spcBef>
                  <a:spcPct val="50000"/>
                </a:spcBef>
              </a:pPr>
              <a:endParaRPr lang="en-US" altLang="zh-CN" sz="90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灯片编号占位符 5"/>
          <p:cNvSpPr txBox="1">
            <a:spLocks noGrp="1"/>
          </p:cNvSpPr>
          <p:nvPr>
            <p:ph type="sldNum" sz="quarter" idx="12"/>
          </p:nvPr>
        </p:nvSpPr>
        <p:spPr bwMode="auto">
          <a:xfrm>
            <a:off x="5940425" y="3427413"/>
            <a:ext cx="1600200" cy="3571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26413DF-FB3B-4513-B951-FA8586D25A3A}"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87</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51" name="Rectangle 2"/>
          <p:cNvSpPr>
            <a:spLocks noGrp="1"/>
          </p:cNvSpPr>
          <p:nvPr>
            <p:ph idx="1" hasCustomPrompt="1"/>
          </p:nvPr>
        </p:nvSpPr>
        <p:spPr>
          <a:xfrm>
            <a:off x="250825" y="754063"/>
            <a:ext cx="7921625" cy="4157662"/>
          </a:xfrm>
          <a:noFill/>
          <a:ln>
            <a:noFill/>
          </a:ln>
        </p:spPr>
        <p:txBody>
          <a:bodyPr/>
          <a:lstStyle/>
          <a:p>
            <a:pPr marL="457200" indent="-457200" eaLnBrk="1" hangingPunct="1">
              <a:buNone/>
            </a:pPr>
            <a:r>
              <a:rPr lang="en-US" altLang="zh-CN" b="1" dirty="0">
                <a:solidFill>
                  <a:srgbClr val="CC3300"/>
                </a:solidFill>
                <a:latin typeface="华文新魏" panose="02010800040101010101" pitchFamily="2" charset="-122"/>
                <a:ea typeface="华文新魏" panose="02010800040101010101" pitchFamily="2" charset="-122"/>
              </a:rPr>
              <a:t>*</a:t>
            </a:r>
            <a:r>
              <a:rPr lang="zh-CN" altLang="en-US" b="1" dirty="0">
                <a:solidFill>
                  <a:srgbClr val="CC3300"/>
                </a:solidFill>
                <a:latin typeface="华文新魏" panose="02010800040101010101" pitchFamily="2" charset="-122"/>
                <a:ea typeface="华文新魏" panose="02010800040101010101" pitchFamily="2" charset="-122"/>
              </a:rPr>
              <a:t>例</a:t>
            </a:r>
            <a:r>
              <a:rPr lang="en-US" altLang="zh-CN" b="1" dirty="0">
                <a:solidFill>
                  <a:srgbClr val="CC3300"/>
                </a:solidFill>
                <a:latin typeface="华文新魏" panose="02010800040101010101" pitchFamily="2" charset="-122"/>
                <a:ea typeface="华文新魏" panose="02010800040101010101" pitchFamily="2" charset="-122"/>
              </a:rPr>
              <a:t>2</a:t>
            </a:r>
            <a:r>
              <a:rPr lang="zh-CN" altLang="en-US" b="1" dirty="0">
                <a:latin typeface="华文新魏" panose="02010800040101010101" pitchFamily="2" charset="-122"/>
                <a:ea typeface="华文新魏" panose="02010800040101010101" pitchFamily="2" charset="-122"/>
              </a:rPr>
              <a:t>：设计一个当输入端</a:t>
            </a:r>
            <a:r>
              <a:rPr lang="en-US" altLang="zh-CN" b="1" dirty="0">
                <a:latin typeface="华文新魏" panose="02010800040101010101" pitchFamily="2" charset="-122"/>
                <a:ea typeface="华文新魏" panose="02010800040101010101" pitchFamily="2" charset="-122"/>
              </a:rPr>
              <a:t>X</a:t>
            </a:r>
            <a:r>
              <a:rPr lang="zh-CN" altLang="en-US" b="1" dirty="0">
                <a:latin typeface="华文新魏" panose="02010800040101010101" pitchFamily="2" charset="-122"/>
                <a:ea typeface="华文新魏" panose="02010800040101010101" pitchFamily="2" charset="-122"/>
              </a:rPr>
              <a:t>连续输入</a:t>
            </a:r>
            <a:r>
              <a:rPr lang="en-US" altLang="zh-CN" b="1" dirty="0">
                <a:latin typeface="华文新魏" panose="02010800040101010101" pitchFamily="2" charset="-122"/>
                <a:ea typeface="华文新魏" panose="02010800040101010101" pitchFamily="2" charset="-122"/>
              </a:rPr>
              <a:t>3</a:t>
            </a:r>
            <a:r>
              <a:rPr lang="zh-CN" altLang="en-US" b="1" dirty="0">
                <a:latin typeface="华文新魏" panose="02010800040101010101" pitchFamily="2" charset="-122"/>
                <a:ea typeface="华文新魏" panose="02010800040101010101" pitchFamily="2" charset="-122"/>
              </a:rPr>
              <a:t>个位后，在输出端</a:t>
            </a:r>
            <a:r>
              <a:rPr lang="en-US" altLang="zh-CN" b="1" dirty="0">
                <a:latin typeface="华文新魏" panose="02010800040101010101" pitchFamily="2" charset="-122"/>
                <a:ea typeface="华文新魏" panose="02010800040101010101" pitchFamily="2" charset="-122"/>
              </a:rPr>
              <a:t>Z</a:t>
            </a:r>
            <a:r>
              <a:rPr lang="zh-CN" altLang="en-US" b="1" dirty="0">
                <a:latin typeface="华文新魏" panose="02010800040101010101" pitchFamily="2" charset="-122"/>
                <a:ea typeface="华文新魏" panose="02010800040101010101" pitchFamily="2" charset="-122"/>
              </a:rPr>
              <a:t>就会产生这</a:t>
            </a:r>
            <a:r>
              <a:rPr lang="en-US" altLang="zh-CN" b="1" dirty="0">
                <a:latin typeface="华文新魏" panose="02010800040101010101" pitchFamily="2" charset="-122"/>
                <a:ea typeface="华文新魏" panose="02010800040101010101" pitchFamily="2" charset="-122"/>
              </a:rPr>
              <a:t>3</a:t>
            </a:r>
            <a:r>
              <a:rPr lang="zh-CN" altLang="en-US" b="1" dirty="0">
                <a:latin typeface="华文新魏" panose="02010800040101010101" pitchFamily="2" charset="-122"/>
                <a:ea typeface="华文新魏" panose="02010800040101010101" pitchFamily="2" charset="-122"/>
              </a:rPr>
              <a:t>个位的</a:t>
            </a:r>
            <a:r>
              <a:rPr lang="zh-CN" altLang="en-US" b="1" i="1" u="sng" dirty="0">
                <a:latin typeface="华文新魏" panose="02010800040101010101" pitchFamily="2" charset="-122"/>
                <a:ea typeface="华文新魏" panose="02010800040101010101" pitchFamily="2" charset="-122"/>
              </a:rPr>
              <a:t>偶</a:t>
            </a:r>
            <a:r>
              <a:rPr lang="zh-CN" altLang="en-US" b="1" dirty="0">
                <a:latin typeface="华文新魏" panose="02010800040101010101" pitchFamily="2" charset="-122"/>
                <a:ea typeface="华文新魏" panose="02010800040101010101" pitchFamily="2" charset="-122"/>
              </a:rPr>
              <a:t>校验位的电路，其方框图如下。</a:t>
            </a:r>
          </a:p>
          <a:p>
            <a:pPr marL="742950" lvl="1" indent="-400050" eaLnBrk="1" hangingPunct="1">
              <a:buNone/>
            </a:pPr>
            <a:r>
              <a:rPr lang="zh-CN" altLang="en-US"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当从</a:t>
            </a:r>
            <a:r>
              <a:rPr lang="en-US" altLang="zh-CN" sz="2000" b="1" dirty="0">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端输入的</a:t>
            </a:r>
            <a:r>
              <a:rPr lang="en-US" altLang="zh-CN" sz="2000" b="1" dirty="0">
                <a:latin typeface="华文新魏" panose="02010800040101010101" pitchFamily="2" charset="-122"/>
                <a:ea typeface="华文新魏" panose="02010800040101010101" pitchFamily="2" charset="-122"/>
              </a:rPr>
              <a:t>3</a:t>
            </a:r>
            <a:r>
              <a:rPr lang="zh-CN" altLang="en-US" sz="2000" b="1" dirty="0">
                <a:latin typeface="华文新魏" panose="02010800040101010101" pitchFamily="2" charset="-122"/>
                <a:ea typeface="华文新魏" panose="02010800040101010101" pitchFamily="2" charset="-122"/>
              </a:rPr>
              <a:t>个位信号中</a:t>
            </a: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的数量为：</a:t>
            </a:r>
          </a:p>
          <a:p>
            <a:pPr lvl="2" eaLnBrk="1" hangingPunct="1">
              <a:buFontTx/>
              <a:buAutoNum type="circleNumDbPlain"/>
            </a:pPr>
            <a:r>
              <a:rPr lang="zh-CN" altLang="en-US" b="1" dirty="0">
                <a:latin typeface="华文新魏" panose="02010800040101010101" pitchFamily="2" charset="-122"/>
                <a:ea typeface="华文新魏" panose="02010800040101010101" pitchFamily="2" charset="-122"/>
              </a:rPr>
              <a:t>奇数个，则</a:t>
            </a:r>
            <a:r>
              <a:rPr lang="en-US" altLang="zh-CN" b="1" dirty="0">
                <a:latin typeface="华文新魏" panose="02010800040101010101" pitchFamily="2" charset="-122"/>
                <a:ea typeface="华文新魏" panose="02010800040101010101" pitchFamily="2" charset="-122"/>
              </a:rPr>
              <a:t>Z=1</a:t>
            </a:r>
          </a:p>
          <a:p>
            <a:pPr lvl="2" eaLnBrk="1" hangingPunct="1">
              <a:buFontTx/>
              <a:buAutoNum type="circleNumDbPlain"/>
            </a:pPr>
            <a:r>
              <a:rPr lang="zh-CN" altLang="en-US" b="1" dirty="0">
                <a:latin typeface="华文新魏" panose="02010800040101010101" pitchFamily="2" charset="-122"/>
                <a:ea typeface="华文新魏" panose="02010800040101010101" pitchFamily="2" charset="-122"/>
              </a:rPr>
              <a:t>偶数个，则</a:t>
            </a:r>
            <a:r>
              <a:rPr lang="en-US" altLang="zh-CN" b="1" dirty="0">
                <a:latin typeface="华文新魏" panose="02010800040101010101" pitchFamily="2" charset="-122"/>
                <a:ea typeface="华文新魏" panose="02010800040101010101" pitchFamily="2" charset="-122"/>
              </a:rPr>
              <a:t>Z=0</a:t>
            </a:r>
          </a:p>
          <a:p>
            <a:pPr marL="742950" lvl="1" indent="-400050" eaLnBrk="1" hangingPunct="1">
              <a:buNone/>
            </a:pPr>
            <a:endParaRPr lang="en-US" altLang="zh-CN" b="1" dirty="0">
              <a:latin typeface="华文新魏" panose="02010800040101010101" pitchFamily="2" charset="-122"/>
              <a:ea typeface="华文新魏" panose="02010800040101010101" pitchFamily="2" charset="-122"/>
            </a:endParaRPr>
          </a:p>
          <a:p>
            <a:pPr marL="457200" indent="-457200" eaLnBrk="1" hangingPunct="1">
              <a:buNone/>
            </a:pPr>
            <a:r>
              <a:rPr lang="zh-CN" altLang="en-US" b="1" dirty="0">
                <a:latin typeface="华文新魏" panose="02010800040101010101" pitchFamily="2" charset="-122"/>
                <a:ea typeface="华文新魏" panose="02010800040101010101" pitchFamily="2" charset="-122"/>
              </a:rPr>
              <a:t>输入</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输出对应关系如下：</a:t>
            </a:r>
          </a:p>
          <a:p>
            <a:pPr marL="742950" lvl="1" indent="-400050" eaLnBrk="1" hangingPunct="1">
              <a:buFontTx/>
              <a:buAutoNum type="circleNumDbPlain"/>
            </a:pPr>
            <a:endParaRPr lang="en-US" altLang="zh-CN" dirty="0"/>
          </a:p>
        </p:txBody>
      </p:sp>
      <p:sp>
        <p:nvSpPr>
          <p:cNvPr id="206852" name="Text Box 6"/>
          <p:cNvSpPr txBox="1"/>
          <p:nvPr/>
        </p:nvSpPr>
        <p:spPr>
          <a:xfrm>
            <a:off x="2141538" y="3702050"/>
            <a:ext cx="774700" cy="422275"/>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chemeClr val="tx1"/>
                </a:solidFill>
                <a:latin typeface="Arial" panose="020B0604020202020204" pitchFamily="34" charset="0"/>
              </a:rPr>
              <a:t>010</a:t>
            </a:r>
          </a:p>
        </p:txBody>
      </p:sp>
      <p:sp>
        <p:nvSpPr>
          <p:cNvPr id="206853" name="Text Box 7"/>
          <p:cNvSpPr txBox="1"/>
          <p:nvPr/>
        </p:nvSpPr>
        <p:spPr>
          <a:xfrm>
            <a:off x="2517775" y="4522788"/>
            <a:ext cx="274638" cy="387350"/>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rgbClr val="FF0000"/>
                </a:solidFill>
                <a:latin typeface="Arial" panose="020B0604020202020204" pitchFamily="34" charset="0"/>
              </a:rPr>
              <a:t>1</a:t>
            </a:r>
          </a:p>
        </p:txBody>
      </p:sp>
      <p:sp>
        <p:nvSpPr>
          <p:cNvPr id="206854" name="Text Box 8"/>
          <p:cNvSpPr txBox="1"/>
          <p:nvPr/>
        </p:nvSpPr>
        <p:spPr>
          <a:xfrm>
            <a:off x="3568700" y="4508500"/>
            <a:ext cx="312738" cy="388938"/>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rgbClr val="FF0000"/>
                </a:solidFill>
                <a:latin typeface="Arial" panose="020B0604020202020204" pitchFamily="34" charset="0"/>
              </a:rPr>
              <a:t>0</a:t>
            </a:r>
          </a:p>
        </p:txBody>
      </p:sp>
      <p:sp>
        <p:nvSpPr>
          <p:cNvPr id="206855" name="Text Box 9"/>
          <p:cNvSpPr txBox="1"/>
          <p:nvPr/>
        </p:nvSpPr>
        <p:spPr>
          <a:xfrm>
            <a:off x="4513263" y="4505325"/>
            <a:ext cx="304800" cy="387350"/>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rgbClr val="FF0000"/>
                </a:solidFill>
                <a:latin typeface="Arial" panose="020B0604020202020204" pitchFamily="34" charset="0"/>
              </a:rPr>
              <a:t>1</a:t>
            </a:r>
          </a:p>
        </p:txBody>
      </p:sp>
      <p:sp>
        <p:nvSpPr>
          <p:cNvPr id="206856" name="Text Box 10"/>
          <p:cNvSpPr txBox="1"/>
          <p:nvPr/>
        </p:nvSpPr>
        <p:spPr>
          <a:xfrm>
            <a:off x="4032250" y="3706813"/>
            <a:ext cx="827088" cy="422275"/>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chemeClr val="tx1"/>
                </a:solidFill>
                <a:latin typeface="Arial" panose="020B0604020202020204" pitchFamily="34" charset="0"/>
              </a:rPr>
              <a:t>111</a:t>
            </a:r>
          </a:p>
        </p:txBody>
      </p:sp>
      <p:sp>
        <p:nvSpPr>
          <p:cNvPr id="206857" name="Text Box 11"/>
          <p:cNvSpPr txBox="1"/>
          <p:nvPr/>
        </p:nvSpPr>
        <p:spPr>
          <a:xfrm>
            <a:off x="3078163" y="3703638"/>
            <a:ext cx="739775" cy="387350"/>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chemeClr val="tx1"/>
                </a:solidFill>
                <a:latin typeface="Arial" panose="020B0604020202020204" pitchFamily="34" charset="0"/>
              </a:rPr>
              <a:t>011</a:t>
            </a:r>
          </a:p>
        </p:txBody>
      </p:sp>
      <p:sp>
        <p:nvSpPr>
          <p:cNvPr id="206858" name="Text Box 12"/>
          <p:cNvSpPr txBox="1"/>
          <p:nvPr/>
        </p:nvSpPr>
        <p:spPr>
          <a:xfrm>
            <a:off x="5651500" y="4530725"/>
            <a:ext cx="269875" cy="387350"/>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rgbClr val="FF0000"/>
                </a:solidFill>
                <a:latin typeface="Arial" panose="020B0604020202020204" pitchFamily="34" charset="0"/>
              </a:rPr>
              <a:t>0</a:t>
            </a:r>
          </a:p>
        </p:txBody>
      </p:sp>
      <p:sp>
        <p:nvSpPr>
          <p:cNvPr id="206859" name="Text Box 13"/>
          <p:cNvSpPr txBox="1"/>
          <p:nvPr/>
        </p:nvSpPr>
        <p:spPr>
          <a:xfrm>
            <a:off x="5122863" y="3713163"/>
            <a:ext cx="889000" cy="422275"/>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chemeClr val="tx1"/>
                </a:solidFill>
                <a:latin typeface="Arial" panose="020B0604020202020204" pitchFamily="34" charset="0"/>
              </a:rPr>
              <a:t>000</a:t>
            </a:r>
          </a:p>
        </p:txBody>
      </p:sp>
      <p:sp>
        <p:nvSpPr>
          <p:cNvPr id="206860" name="Text Box 14"/>
          <p:cNvSpPr txBox="1"/>
          <p:nvPr/>
        </p:nvSpPr>
        <p:spPr>
          <a:xfrm>
            <a:off x="1706563" y="4494213"/>
            <a:ext cx="296862" cy="388937"/>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chemeClr val="tx1"/>
                </a:solidFill>
                <a:latin typeface="Arial" panose="020B0604020202020204" pitchFamily="34" charset="0"/>
              </a:rPr>
              <a:t>z</a:t>
            </a:r>
          </a:p>
        </p:txBody>
      </p:sp>
      <p:sp>
        <p:nvSpPr>
          <p:cNvPr id="206861" name="Line 18"/>
          <p:cNvSpPr/>
          <p:nvPr/>
        </p:nvSpPr>
        <p:spPr>
          <a:xfrm flipV="1">
            <a:off x="2636838" y="4103688"/>
            <a:ext cx="0" cy="395287"/>
          </a:xfrm>
          <a:prstGeom prst="line">
            <a:avLst/>
          </a:prstGeom>
          <a:ln w="38100" cap="flat" cmpd="sng">
            <a:solidFill>
              <a:schemeClr val="hlink"/>
            </a:solidFill>
            <a:prstDash val="solid"/>
            <a:headEnd type="none" w="med" len="med"/>
            <a:tailEnd type="triangle" w="med" len="med"/>
          </a:ln>
        </p:spPr>
      </p:sp>
      <p:sp>
        <p:nvSpPr>
          <p:cNvPr id="206862" name="Line 19"/>
          <p:cNvSpPr/>
          <p:nvPr/>
        </p:nvSpPr>
        <p:spPr>
          <a:xfrm flipV="1">
            <a:off x="3706813" y="4084638"/>
            <a:ext cx="0" cy="395287"/>
          </a:xfrm>
          <a:prstGeom prst="line">
            <a:avLst/>
          </a:prstGeom>
          <a:ln w="38100" cap="flat" cmpd="sng">
            <a:solidFill>
              <a:schemeClr val="hlink"/>
            </a:solidFill>
            <a:prstDash val="solid"/>
            <a:headEnd type="none" w="med" len="med"/>
            <a:tailEnd type="triangle" w="med" len="med"/>
          </a:ln>
        </p:spPr>
      </p:sp>
      <p:sp>
        <p:nvSpPr>
          <p:cNvPr id="206863" name="Line 20"/>
          <p:cNvSpPr/>
          <p:nvPr/>
        </p:nvSpPr>
        <p:spPr>
          <a:xfrm flipV="1">
            <a:off x="4665663" y="4148138"/>
            <a:ext cx="0" cy="395287"/>
          </a:xfrm>
          <a:prstGeom prst="line">
            <a:avLst/>
          </a:prstGeom>
          <a:ln w="38100" cap="flat" cmpd="sng">
            <a:solidFill>
              <a:schemeClr val="hlink"/>
            </a:solidFill>
            <a:prstDash val="solid"/>
            <a:headEnd type="none" w="med" len="med"/>
            <a:tailEnd type="triangle" w="med" len="med"/>
          </a:ln>
        </p:spPr>
      </p:sp>
      <p:sp>
        <p:nvSpPr>
          <p:cNvPr id="206864" name="Line 21"/>
          <p:cNvSpPr/>
          <p:nvPr/>
        </p:nvSpPr>
        <p:spPr>
          <a:xfrm flipV="1">
            <a:off x="5773738" y="4110038"/>
            <a:ext cx="0" cy="395287"/>
          </a:xfrm>
          <a:prstGeom prst="line">
            <a:avLst/>
          </a:prstGeom>
          <a:ln w="38100" cap="flat" cmpd="sng">
            <a:solidFill>
              <a:schemeClr val="hlink"/>
            </a:solidFill>
            <a:prstDash val="solid"/>
            <a:headEnd type="none" w="med" len="med"/>
            <a:tailEnd type="triangle" w="med" len="med"/>
          </a:ln>
        </p:spPr>
      </p:sp>
      <p:grpSp>
        <p:nvGrpSpPr>
          <p:cNvPr id="206865" name="Group 5"/>
          <p:cNvGrpSpPr/>
          <p:nvPr/>
        </p:nvGrpSpPr>
        <p:grpSpPr>
          <a:xfrm>
            <a:off x="6342063" y="1808163"/>
            <a:ext cx="2262187" cy="1830387"/>
            <a:chOff x="33" y="1716"/>
            <a:chExt cx="2652" cy="2119"/>
          </a:xfrm>
        </p:grpSpPr>
        <p:pic>
          <p:nvPicPr>
            <p:cNvPr id="206869" name="Picture 6" descr="moore"/>
            <p:cNvPicPr>
              <a:picLocks noChangeAspect="1"/>
            </p:cNvPicPr>
            <p:nvPr/>
          </p:nvPicPr>
          <p:blipFill>
            <a:blip r:embed="rId2"/>
            <a:stretch>
              <a:fillRect/>
            </a:stretch>
          </p:blipFill>
          <p:spPr>
            <a:xfrm>
              <a:off x="33" y="1716"/>
              <a:ext cx="2652" cy="2119"/>
            </a:xfrm>
            <a:prstGeom prst="rect">
              <a:avLst/>
            </a:prstGeom>
            <a:noFill/>
            <a:ln w="9525">
              <a:noFill/>
            </a:ln>
          </p:spPr>
        </p:pic>
        <p:sp>
          <p:nvSpPr>
            <p:cNvPr id="206870" name="Text Box 7"/>
            <p:cNvSpPr txBox="1"/>
            <p:nvPr/>
          </p:nvSpPr>
          <p:spPr>
            <a:xfrm>
              <a:off x="252" y="3328"/>
              <a:ext cx="2148" cy="418"/>
            </a:xfrm>
            <a:prstGeom prst="rect">
              <a:avLst/>
            </a:prstGeom>
            <a:solidFill>
              <a:schemeClr val="bg1"/>
            </a:solidFill>
            <a:ln w="38100">
              <a:noFill/>
            </a:ln>
          </p:spPr>
          <p:txBody>
            <a:bodyPr>
              <a:spAutoFit/>
            </a:bodyPr>
            <a:lstStyle/>
            <a:p>
              <a:pPr marL="342900" indent="-342900" algn="ctr" eaLnBrk="1" hangingPunct="1">
                <a:lnSpc>
                  <a:spcPct val="80000"/>
                </a:lnSpc>
                <a:spcBef>
                  <a:spcPct val="50000"/>
                </a:spcBef>
              </a:pPr>
              <a:r>
                <a:rPr lang="zh-CN" altLang="en-US" sz="2100" dirty="0">
                  <a:solidFill>
                    <a:schemeClr val="tx1"/>
                  </a:solidFill>
                  <a:latin typeface="华文新魏" panose="02010800040101010101" pitchFamily="2" charset="-122"/>
                  <a:ea typeface="华文新魏" panose="02010800040101010101" pitchFamily="2" charset="-122"/>
                </a:rPr>
                <a:t>方框图</a:t>
              </a:r>
            </a:p>
          </p:txBody>
        </p:sp>
      </p:grpSp>
      <p:sp>
        <p:nvSpPr>
          <p:cNvPr id="403462" name="Line 30"/>
          <p:cNvSpPr>
            <a:spLocks noChangeShapeType="1"/>
          </p:cNvSpPr>
          <p:nvPr/>
        </p:nvSpPr>
        <p:spPr bwMode="auto">
          <a:xfrm flipV="1">
            <a:off x="5970588" y="2970213"/>
            <a:ext cx="508000" cy="0"/>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base" latinLnBrk="0" hangingPunct="1">
              <a:lnSpc>
                <a:spcPct val="120000"/>
              </a:lnSpc>
              <a:spcBef>
                <a:spcPct val="50000"/>
              </a:spcBef>
              <a:spcAft>
                <a:spcPct val="0"/>
              </a:spcAft>
              <a:buClrTx/>
              <a:buSzTx/>
              <a:buFontTx/>
              <a:buNone/>
              <a:defRPr/>
            </a:pPr>
            <a:endParaRPr kumimoji="0" lang="zh-CN" altLang="en-US" sz="1500" b="0" i="0" u="none" strike="noStrike" kern="1200" cap="none" spc="0" normalizeH="0" baseline="0" noProof="0">
              <a:ln>
                <a:noFill/>
              </a:ln>
              <a:solidFill>
                <a:srgbClr val="FFFF00"/>
              </a:solidFill>
              <a:effectLst/>
              <a:uLnTx/>
              <a:uFillTx/>
              <a:latin typeface="华文新魏" panose="02010800040101010101" pitchFamily="2" charset="-122"/>
              <a:ea typeface="华文新魏" panose="02010800040101010101" pitchFamily="2" charset="-122"/>
              <a:cs typeface="+mn-cs"/>
            </a:endParaRPr>
          </a:p>
        </p:txBody>
      </p:sp>
      <p:sp>
        <p:nvSpPr>
          <p:cNvPr id="403463" name="Text Box 31"/>
          <p:cNvSpPr txBox="1">
            <a:spLocks noChangeArrowheads="1"/>
          </p:cNvSpPr>
          <p:nvPr/>
        </p:nvSpPr>
        <p:spPr bwMode="auto">
          <a:xfrm>
            <a:off x="6348413" y="2809875"/>
            <a:ext cx="77628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5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Reset</a:t>
            </a:r>
          </a:p>
        </p:txBody>
      </p:sp>
      <p:sp>
        <p:nvSpPr>
          <p:cNvPr id="206868" name="Text Box 12"/>
          <p:cNvSpPr txBox="1"/>
          <p:nvPr/>
        </p:nvSpPr>
        <p:spPr>
          <a:xfrm>
            <a:off x="1547813" y="3702050"/>
            <a:ext cx="406400" cy="422275"/>
          </a:xfrm>
          <a:prstGeom prst="rect">
            <a:avLst/>
          </a:prstGeom>
          <a:noFill/>
          <a:ln w="38100" cap="flat" cmpd="sng">
            <a:solidFill>
              <a:srgbClr val="0000FF"/>
            </a:solidFill>
            <a:prstDash val="solid"/>
            <a:miter/>
            <a:headEnd type="none" w="med" len="med"/>
            <a:tailEnd type="none" w="med" len="med"/>
          </a:ln>
        </p:spPr>
        <p:txBody>
          <a:bodyPr>
            <a:spAutoFit/>
          </a:bodyPr>
          <a:lstStyle/>
          <a:p>
            <a:pPr marL="342900" indent="-342900" eaLnBrk="1" hangingPunct="1">
              <a:lnSpc>
                <a:spcPct val="80000"/>
              </a:lnSpc>
              <a:spcBef>
                <a:spcPct val="50000"/>
              </a:spcBef>
            </a:pPr>
            <a:r>
              <a:rPr lang="en-US" altLang="zh-CN" sz="2400">
                <a:solidFill>
                  <a:schemeClr val="tx1"/>
                </a:solidFill>
                <a:latin typeface="Arial" panose="020B0604020202020204" pitchFamily="34" charset="0"/>
              </a:rPr>
              <a:t>X</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89F9AA5-9973-41A1-809F-DE891E85A6BE}"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88</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7875" name="Rectangle 2"/>
          <p:cNvSpPr>
            <a:spLocks noGrp="1"/>
          </p:cNvSpPr>
          <p:nvPr>
            <p:ph type="title"/>
          </p:nvPr>
        </p:nvSpPr>
        <p:spPr>
          <a:xfrm>
            <a:off x="628650" y="484188"/>
            <a:ext cx="7886700" cy="784225"/>
          </a:xfrm>
          <a:noFill/>
          <a:ln>
            <a:noFill/>
          </a:ln>
        </p:spPr>
        <p:txBody>
          <a:bodyPr/>
          <a:lstStyle/>
          <a:p>
            <a:pPr eaLnBrk="1" hangingPunct="1"/>
            <a:r>
              <a:rPr lang="zh-CN" altLang="en-US" dirty="0">
                <a:latin typeface="楷体_GB2312" pitchFamily="49" charset="-122"/>
                <a:ea typeface="楷体_GB2312" pitchFamily="49" charset="-122"/>
              </a:rPr>
              <a:t>步骤</a:t>
            </a:r>
            <a:r>
              <a:rPr lang="en-US" altLang="zh-CN">
                <a:latin typeface="楷体_GB2312" pitchFamily="49" charset="-122"/>
                <a:ea typeface="楷体_GB2312" pitchFamily="49" charset="-122"/>
              </a:rPr>
              <a:t>1</a:t>
            </a:r>
            <a:r>
              <a:rPr lang="zh-CN" altLang="en-US" dirty="0">
                <a:latin typeface="楷体_GB2312" pitchFamily="49" charset="-122"/>
                <a:ea typeface="楷体_GB2312" pitchFamily="49" charset="-122"/>
              </a:rPr>
              <a:t>：绘出电路的状态图</a:t>
            </a:r>
          </a:p>
        </p:txBody>
      </p:sp>
      <p:pic>
        <p:nvPicPr>
          <p:cNvPr id="207876" name="Picture 4" descr="moore"/>
          <p:cNvPicPr>
            <a:picLocks noChangeAspect="1"/>
          </p:cNvPicPr>
          <p:nvPr/>
        </p:nvPicPr>
        <p:blipFill>
          <a:blip r:embed="rId3"/>
          <a:stretch>
            <a:fillRect/>
          </a:stretch>
        </p:blipFill>
        <p:spPr>
          <a:xfrm>
            <a:off x="2328863" y="1189038"/>
            <a:ext cx="4583112" cy="3675062"/>
          </a:xfrm>
          <a:prstGeom prst="rect">
            <a:avLst/>
          </a:prstGeom>
          <a:noFill/>
          <a:ln w="9525">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AAC684A-11CF-4004-9B70-CCC352D0BF3D}"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89</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9923" name="Rectangle 2"/>
          <p:cNvSpPr>
            <a:spLocks noGrp="1"/>
          </p:cNvSpPr>
          <p:nvPr>
            <p:ph type="title"/>
          </p:nvPr>
        </p:nvSpPr>
        <p:spPr>
          <a:xfrm>
            <a:off x="628650" y="555625"/>
            <a:ext cx="7886700" cy="712788"/>
          </a:xfrm>
          <a:noFill/>
          <a:ln>
            <a:noFill/>
          </a:ln>
        </p:spPr>
        <p:txBody>
          <a:bodyPr/>
          <a:lstStyle/>
          <a:p>
            <a:pPr eaLnBrk="1" hangingPunct="1"/>
            <a:r>
              <a:rPr lang="zh-CN" altLang="en-US" dirty="0">
                <a:latin typeface="楷体_GB2312" pitchFamily="49" charset="-122"/>
                <a:ea typeface="楷体_GB2312" pitchFamily="49" charset="-122"/>
              </a:rPr>
              <a:t>步骤</a:t>
            </a:r>
            <a:r>
              <a:rPr lang="en-US" altLang="zh-CN">
                <a:latin typeface="楷体_GB2312" pitchFamily="49" charset="-122"/>
                <a:ea typeface="楷体_GB2312" pitchFamily="49" charset="-122"/>
              </a:rPr>
              <a:t>2</a:t>
            </a:r>
            <a:r>
              <a:rPr lang="zh-CN" altLang="en-US" dirty="0">
                <a:latin typeface="楷体_GB2312" pitchFamily="49" charset="-122"/>
                <a:ea typeface="楷体_GB2312" pitchFamily="49" charset="-122"/>
              </a:rPr>
              <a:t>：整理出电路的状态表</a:t>
            </a:r>
          </a:p>
        </p:txBody>
      </p:sp>
      <p:pic>
        <p:nvPicPr>
          <p:cNvPr id="209924" name="Picture 4" descr="moore001"/>
          <p:cNvPicPr>
            <a:picLocks noChangeAspect="1"/>
          </p:cNvPicPr>
          <p:nvPr/>
        </p:nvPicPr>
        <p:blipFill>
          <a:blip r:embed="rId3"/>
          <a:stretch>
            <a:fillRect/>
          </a:stretch>
        </p:blipFill>
        <p:spPr>
          <a:xfrm>
            <a:off x="1881188" y="1060450"/>
            <a:ext cx="5600700" cy="3808413"/>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6579758-9726-48D4-B34C-174A42ADD512}"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90</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1971" name="Rectangle 2"/>
          <p:cNvSpPr>
            <a:spLocks noGrp="1"/>
          </p:cNvSpPr>
          <p:nvPr>
            <p:ph type="title"/>
          </p:nvPr>
        </p:nvSpPr>
        <p:spPr>
          <a:xfrm>
            <a:off x="1403648" y="339502"/>
            <a:ext cx="6172200" cy="454025"/>
          </a:xfrm>
          <a:noFill/>
          <a:ln>
            <a:noFill/>
          </a:ln>
        </p:spPr>
        <p:txBody>
          <a:bodyPr/>
          <a:lstStyle/>
          <a:p>
            <a:pPr eaLnBrk="1" hangingPunct="1"/>
            <a:r>
              <a:rPr lang="zh-CN" altLang="en-US" sz="2400" dirty="0">
                <a:latin typeface="华文新魏" panose="02010800040101010101" pitchFamily="2" charset="-122"/>
                <a:ea typeface="华文新魏" panose="02010800040101010101" pitchFamily="2" charset="-122"/>
              </a:rPr>
              <a:t>步骤</a:t>
            </a:r>
            <a:r>
              <a:rPr lang="en-US" altLang="zh-CN" sz="2400">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：将状态变化及输出状况用</a:t>
            </a:r>
            <a:r>
              <a:rPr lang="en-US" altLang="zh-CN" sz="2400">
                <a:latin typeface="华文新魏" panose="02010800040101010101" pitchFamily="2" charset="-122"/>
                <a:ea typeface="华文新魏" panose="02010800040101010101" pitchFamily="2" charset="-122"/>
              </a:rPr>
              <a:t>VHDL</a:t>
            </a:r>
            <a:r>
              <a:rPr lang="zh-CN" altLang="en-US" sz="2400" dirty="0">
                <a:latin typeface="华文新魏" panose="02010800040101010101" pitchFamily="2" charset="-122"/>
                <a:ea typeface="华文新魏" panose="02010800040101010101" pitchFamily="2" charset="-122"/>
              </a:rPr>
              <a:t>描述</a:t>
            </a:r>
          </a:p>
        </p:txBody>
      </p:sp>
      <p:sp>
        <p:nvSpPr>
          <p:cNvPr id="211972" name="Rectangle 3"/>
          <p:cNvSpPr>
            <a:spLocks noGrp="1"/>
          </p:cNvSpPr>
          <p:nvPr>
            <p:ph idx="1" hasCustomPrompt="1"/>
          </p:nvPr>
        </p:nvSpPr>
        <p:spPr>
          <a:xfrm>
            <a:off x="1485900" y="679449"/>
            <a:ext cx="6172200" cy="4002088"/>
          </a:xfrm>
          <a:noFill/>
          <a:ln>
            <a:noFill/>
          </a:ln>
        </p:spPr>
        <p:txBody>
          <a:bodyPr/>
          <a:lstStyle/>
          <a:p>
            <a:pPr eaLnBrk="1" hangingPunct="1">
              <a:lnSpc>
                <a:spcPct val="80000"/>
              </a:lnSpc>
              <a:buFontTx/>
              <a:buNone/>
            </a:pPr>
            <a:r>
              <a:rPr lang="en-US" altLang="zh-CN" sz="1800" dirty="0"/>
              <a:t>--*********************************</a:t>
            </a:r>
          </a:p>
          <a:p>
            <a:pPr eaLnBrk="1" hangingPunct="1">
              <a:lnSpc>
                <a:spcPct val="80000"/>
              </a:lnSpc>
              <a:buFontTx/>
              <a:buNone/>
            </a:pPr>
            <a:r>
              <a:rPr lang="en-US" altLang="zh-CN" sz="1800" dirty="0"/>
              <a:t>--*  3 Bit Even Parity Generator  * </a:t>
            </a:r>
          </a:p>
          <a:p>
            <a:pPr eaLnBrk="1" hangingPunct="1">
              <a:lnSpc>
                <a:spcPct val="80000"/>
              </a:lnSpc>
              <a:buFontTx/>
              <a:buNone/>
            </a:pPr>
            <a:r>
              <a:rPr lang="en-US" altLang="zh-CN" sz="1800" dirty="0"/>
              <a:t>--*      Filename : MEALY_4       *</a:t>
            </a:r>
          </a:p>
          <a:p>
            <a:pPr eaLnBrk="1" hangingPunct="1">
              <a:lnSpc>
                <a:spcPct val="80000"/>
              </a:lnSpc>
              <a:buFontTx/>
              <a:buNone/>
            </a:pPr>
            <a:r>
              <a:rPr lang="en-US" altLang="zh-CN" sz="1800" dirty="0"/>
              <a:t>--*********************************        </a:t>
            </a:r>
          </a:p>
          <a:p>
            <a:pPr eaLnBrk="1" hangingPunct="1">
              <a:lnSpc>
                <a:spcPct val="80000"/>
              </a:lnSpc>
              <a:buFontTx/>
              <a:buNone/>
            </a:pPr>
            <a:r>
              <a:rPr lang="en-US" altLang="zh-CN" sz="1800" dirty="0">
                <a:solidFill>
                  <a:srgbClr val="0000FF"/>
                </a:solidFill>
              </a:rPr>
              <a:t>library</a:t>
            </a:r>
            <a:r>
              <a:rPr lang="en-US" altLang="zh-CN" sz="1800" dirty="0"/>
              <a:t> IEEE;</a:t>
            </a:r>
          </a:p>
          <a:p>
            <a:pPr eaLnBrk="1" hangingPunct="1">
              <a:lnSpc>
                <a:spcPct val="80000"/>
              </a:lnSpc>
              <a:buFontTx/>
              <a:buNone/>
            </a:pPr>
            <a:r>
              <a:rPr lang="en-US" altLang="zh-CN" sz="1800" dirty="0">
                <a:solidFill>
                  <a:srgbClr val="0000FF"/>
                </a:solidFill>
              </a:rPr>
              <a:t>use</a:t>
            </a:r>
            <a:r>
              <a:rPr lang="en-US" altLang="zh-CN" sz="1800" dirty="0"/>
              <a:t> IEEE.std_logic_1164.all;</a:t>
            </a:r>
          </a:p>
          <a:p>
            <a:pPr eaLnBrk="1" hangingPunct="1">
              <a:lnSpc>
                <a:spcPct val="80000"/>
              </a:lnSpc>
              <a:buFontTx/>
              <a:buNone/>
            </a:pPr>
            <a:r>
              <a:rPr lang="en-US" altLang="zh-CN" sz="1800" dirty="0">
                <a:solidFill>
                  <a:srgbClr val="0000FF"/>
                </a:solidFill>
              </a:rPr>
              <a:t>entity</a:t>
            </a:r>
            <a:r>
              <a:rPr lang="en-US" altLang="zh-CN" sz="1800" dirty="0"/>
              <a:t> MEALY_4 </a:t>
            </a:r>
            <a:r>
              <a:rPr lang="en-US" altLang="zh-CN" sz="1800" dirty="0">
                <a:solidFill>
                  <a:srgbClr val="0000FF"/>
                </a:solidFill>
              </a:rPr>
              <a:t>is</a:t>
            </a:r>
          </a:p>
          <a:p>
            <a:pPr eaLnBrk="1" hangingPunct="1">
              <a:lnSpc>
                <a:spcPct val="80000"/>
              </a:lnSpc>
              <a:buFontTx/>
              <a:buNone/>
            </a:pPr>
            <a:r>
              <a:rPr lang="en-US" altLang="zh-CN" sz="1800" dirty="0"/>
              <a:t>   </a:t>
            </a:r>
            <a:r>
              <a:rPr lang="en-US" altLang="zh-CN" sz="1800" dirty="0">
                <a:solidFill>
                  <a:srgbClr val="0000FF"/>
                </a:solidFill>
              </a:rPr>
              <a:t> port </a:t>
            </a:r>
            <a:r>
              <a:rPr lang="en-US" altLang="zh-CN" sz="1800" dirty="0"/>
              <a:t>(</a:t>
            </a:r>
          </a:p>
          <a:p>
            <a:pPr eaLnBrk="1" hangingPunct="1">
              <a:lnSpc>
                <a:spcPct val="80000"/>
              </a:lnSpc>
              <a:buFontTx/>
              <a:buNone/>
            </a:pPr>
            <a:r>
              <a:rPr lang="en-US" altLang="zh-CN" sz="1800" dirty="0"/>
              <a:t>          CLK:   in STD_LOGIC;</a:t>
            </a:r>
          </a:p>
          <a:p>
            <a:pPr eaLnBrk="1" hangingPunct="1">
              <a:lnSpc>
                <a:spcPct val="80000"/>
              </a:lnSpc>
              <a:buFontTx/>
              <a:buNone/>
            </a:pPr>
            <a:r>
              <a:rPr lang="en-US" altLang="zh-CN" sz="1800" dirty="0"/>
              <a:t>          RESET: in STD_LOGIC;</a:t>
            </a:r>
          </a:p>
          <a:p>
            <a:pPr eaLnBrk="1" hangingPunct="1">
              <a:lnSpc>
                <a:spcPct val="80000"/>
              </a:lnSpc>
              <a:buFontTx/>
              <a:buNone/>
            </a:pPr>
            <a:r>
              <a:rPr lang="en-US" altLang="zh-CN" sz="1800" dirty="0"/>
              <a:t>          X:     in STD_LOGIC;</a:t>
            </a:r>
          </a:p>
          <a:p>
            <a:pPr eaLnBrk="1" hangingPunct="1">
              <a:lnSpc>
                <a:spcPct val="80000"/>
              </a:lnSpc>
              <a:buFontTx/>
              <a:buNone/>
            </a:pPr>
            <a:r>
              <a:rPr lang="en-US" altLang="zh-CN" sz="1800" dirty="0"/>
              <a:t>          Z:     out STD_LOGIC</a:t>
            </a:r>
          </a:p>
          <a:p>
            <a:pPr eaLnBrk="1" hangingPunct="1">
              <a:lnSpc>
                <a:spcPct val="80000"/>
              </a:lnSpc>
              <a:buFontTx/>
              <a:buNone/>
            </a:pPr>
            <a:r>
              <a:rPr lang="en-US" altLang="zh-CN" sz="1800" dirty="0"/>
              <a:t>         );</a:t>
            </a:r>
          </a:p>
          <a:p>
            <a:pPr eaLnBrk="1" hangingPunct="1">
              <a:lnSpc>
                <a:spcPct val="80000"/>
              </a:lnSpc>
              <a:buFontTx/>
              <a:buNone/>
            </a:pPr>
            <a:r>
              <a:rPr lang="en-US" altLang="zh-CN" sz="1800" dirty="0">
                <a:solidFill>
                  <a:srgbClr val="0000FF"/>
                </a:solidFill>
              </a:rPr>
              <a:t>end</a:t>
            </a:r>
            <a:r>
              <a:rPr lang="en-US" altLang="zh-CN" sz="1800" dirty="0"/>
              <a:t> MEALY_4;</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灯片编号占位符 5"/>
          <p:cNvSpPr txBox="1">
            <a:spLocks noGrp="1"/>
          </p:cNvSpPr>
          <p:nvPr>
            <p:ph type="sldNum" sz="quarter" idx="12"/>
          </p:nvPr>
        </p:nvSpPr>
        <p:spPr bwMode="auto">
          <a:xfrm>
            <a:off x="6457950" y="4960938"/>
            <a:ext cx="2057400" cy="27463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E0D7D89-07E3-40D9-91CD-E7956C0D9589}"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91</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2995" name="Rectangle 3"/>
          <p:cNvSpPr>
            <a:spLocks noGrp="1"/>
          </p:cNvSpPr>
          <p:nvPr>
            <p:ph idx="1" hasCustomPrompt="1"/>
          </p:nvPr>
        </p:nvSpPr>
        <p:spPr>
          <a:xfrm>
            <a:off x="1485900" y="498475"/>
            <a:ext cx="6172200" cy="4565650"/>
          </a:xfrm>
          <a:noFill/>
          <a:ln>
            <a:noFill/>
          </a:ln>
        </p:spPr>
        <p:txBody>
          <a:bodyPr/>
          <a:lstStyle/>
          <a:p>
            <a:pPr eaLnBrk="1" hangingPunct="1">
              <a:buFontTx/>
              <a:buNone/>
            </a:pPr>
            <a:r>
              <a:rPr lang="en-US" altLang="zh-CN">
                <a:solidFill>
                  <a:srgbClr val="0000FF"/>
                </a:solidFill>
              </a:rPr>
              <a:t>architecture</a:t>
            </a:r>
            <a:r>
              <a:rPr lang="en-US" altLang="zh-CN"/>
              <a:t> MEALY_4_arch of MEALY_4 </a:t>
            </a:r>
            <a:r>
              <a:rPr lang="en-US" altLang="zh-CN">
                <a:solidFill>
                  <a:srgbClr val="0000FF"/>
                </a:solidFill>
              </a:rPr>
              <a:t>is</a:t>
            </a:r>
          </a:p>
          <a:p>
            <a:pPr lvl="1" eaLnBrk="1" hangingPunct="1">
              <a:buFontTx/>
              <a:buNone/>
            </a:pPr>
            <a:r>
              <a:rPr lang="en-US" altLang="zh-CN" sz="1800">
                <a:solidFill>
                  <a:srgbClr val="0000FF"/>
                </a:solidFill>
              </a:rPr>
              <a:t>Type </a:t>
            </a:r>
            <a:r>
              <a:rPr lang="en-US" altLang="zh-CN" sz="1800"/>
              <a:t> State </a:t>
            </a:r>
            <a:r>
              <a:rPr lang="en-US" altLang="zh-CN" sz="1800">
                <a:solidFill>
                  <a:srgbClr val="0000FF"/>
                </a:solidFill>
              </a:rPr>
              <a:t>is</a:t>
            </a:r>
            <a:r>
              <a:rPr lang="en-US" altLang="zh-CN" sz="1800"/>
              <a:t> (S6,S5,S4,S3,S2,S1,S0);</a:t>
            </a:r>
          </a:p>
          <a:p>
            <a:pPr lvl="1" eaLnBrk="1" hangingPunct="1">
              <a:buFontTx/>
              <a:buNone/>
            </a:pPr>
            <a:r>
              <a:rPr lang="en-US" altLang="zh-CN" sz="1800">
                <a:solidFill>
                  <a:srgbClr val="0000FF"/>
                </a:solidFill>
              </a:rPr>
              <a:t>signal</a:t>
            </a:r>
            <a:r>
              <a:rPr lang="en-US" altLang="zh-CN" sz="1800"/>
              <a:t> </a:t>
            </a:r>
            <a:r>
              <a:rPr lang="en-US" altLang="zh-CN" sz="1800" err="1"/>
              <a:t>Present_State</a:t>
            </a:r>
            <a:r>
              <a:rPr lang="en-US" altLang="zh-CN" sz="1800"/>
              <a:t> ,</a:t>
            </a:r>
            <a:r>
              <a:rPr lang="en-US" altLang="zh-CN" sz="1800" err="1"/>
              <a:t>Next_State</a:t>
            </a:r>
            <a:r>
              <a:rPr lang="en-US" altLang="zh-CN" sz="1800"/>
              <a:t> : State;</a:t>
            </a:r>
          </a:p>
          <a:p>
            <a:pPr eaLnBrk="1" hangingPunct="1">
              <a:buFontTx/>
              <a:buNone/>
            </a:pPr>
            <a:r>
              <a:rPr lang="en-US" altLang="zh-CN">
                <a:solidFill>
                  <a:srgbClr val="0000FF"/>
                </a:solidFill>
              </a:rPr>
              <a:t>begin</a:t>
            </a:r>
          </a:p>
          <a:p>
            <a:pPr eaLnBrk="1" hangingPunct="1">
              <a:buFontTx/>
              <a:buNone/>
            </a:pPr>
            <a:r>
              <a:rPr lang="en-US" altLang="zh-CN">
                <a:solidFill>
                  <a:srgbClr val="0000FF"/>
                </a:solidFill>
              </a:rPr>
              <a:t>process</a:t>
            </a:r>
            <a:r>
              <a:rPr lang="en-US" altLang="zh-CN"/>
              <a:t> (CLK,RESET)</a:t>
            </a:r>
          </a:p>
          <a:p>
            <a:pPr eaLnBrk="1" hangingPunct="1">
              <a:buFontTx/>
              <a:buNone/>
            </a:pPr>
            <a:r>
              <a:rPr lang="en-US" altLang="zh-CN">
                <a:solidFill>
                  <a:srgbClr val="0000FF"/>
                </a:solidFill>
              </a:rPr>
              <a:t>begin</a:t>
            </a:r>
          </a:p>
          <a:p>
            <a:pPr eaLnBrk="1" hangingPunct="1">
              <a:buFontTx/>
              <a:buNone/>
            </a:pPr>
            <a:r>
              <a:rPr lang="en-US" altLang="zh-CN"/>
              <a:t>    </a:t>
            </a:r>
            <a:r>
              <a:rPr lang="en-US" altLang="zh-CN">
                <a:solidFill>
                  <a:srgbClr val="0000FF"/>
                </a:solidFill>
              </a:rPr>
              <a:t>if </a:t>
            </a:r>
            <a:r>
              <a:rPr lang="en-US" altLang="zh-CN"/>
              <a:t>RESET ='1' </a:t>
            </a:r>
            <a:r>
              <a:rPr lang="en-US" altLang="zh-CN">
                <a:solidFill>
                  <a:srgbClr val="0000FF"/>
                </a:solidFill>
              </a:rPr>
              <a:t>then</a:t>
            </a:r>
            <a:r>
              <a:rPr lang="en-US" altLang="zh-CN"/>
              <a:t> </a:t>
            </a:r>
          </a:p>
          <a:p>
            <a:pPr eaLnBrk="1" hangingPunct="1">
              <a:buFontTx/>
              <a:buNone/>
            </a:pPr>
            <a:r>
              <a:rPr lang="en-US" altLang="zh-CN"/>
              <a:t>       </a:t>
            </a:r>
            <a:r>
              <a:rPr lang="en-US" altLang="zh-CN" err="1"/>
              <a:t>Present_State</a:t>
            </a:r>
            <a:r>
              <a:rPr lang="en-US" altLang="zh-CN"/>
              <a:t> &lt;= S0;</a:t>
            </a:r>
          </a:p>
          <a:p>
            <a:pPr eaLnBrk="1" hangingPunct="1">
              <a:buFontTx/>
              <a:buNone/>
            </a:pPr>
            <a:r>
              <a:rPr lang="en-US" altLang="zh-CN"/>
              <a:t>    </a:t>
            </a:r>
            <a:r>
              <a:rPr lang="en-US" altLang="zh-CN" err="1">
                <a:solidFill>
                  <a:srgbClr val="0000FF"/>
                </a:solidFill>
              </a:rPr>
              <a:t>elsif</a:t>
            </a:r>
            <a:r>
              <a:rPr lang="en-US" altLang="zh-CN"/>
              <a:t>  </a:t>
            </a:r>
            <a:r>
              <a:rPr lang="en-US" altLang="zh-CN" err="1"/>
              <a:t>CLK'event</a:t>
            </a:r>
            <a:r>
              <a:rPr lang="en-US" altLang="zh-CN"/>
              <a:t> </a:t>
            </a:r>
            <a:r>
              <a:rPr lang="en-US" altLang="zh-CN">
                <a:solidFill>
                  <a:srgbClr val="0000FF"/>
                </a:solidFill>
              </a:rPr>
              <a:t>and</a:t>
            </a:r>
            <a:r>
              <a:rPr lang="en-US" altLang="zh-CN"/>
              <a:t> CLK = '1' </a:t>
            </a:r>
            <a:r>
              <a:rPr lang="en-US" altLang="zh-CN">
                <a:solidFill>
                  <a:srgbClr val="0000FF"/>
                </a:solidFill>
              </a:rPr>
              <a:t>then</a:t>
            </a:r>
          </a:p>
          <a:p>
            <a:pPr eaLnBrk="1" hangingPunct="1">
              <a:buFontTx/>
              <a:buNone/>
            </a:pPr>
            <a:r>
              <a:rPr lang="en-US" altLang="zh-CN"/>
              <a:t>       </a:t>
            </a:r>
            <a:r>
              <a:rPr lang="en-US" altLang="zh-CN" err="1"/>
              <a:t>Present_State</a:t>
            </a:r>
            <a:r>
              <a:rPr lang="en-US" altLang="zh-CN"/>
              <a:t> &lt;= </a:t>
            </a:r>
            <a:r>
              <a:rPr lang="en-US" altLang="zh-CN" err="1"/>
              <a:t>Next_State</a:t>
            </a:r>
            <a:r>
              <a:rPr lang="en-US" altLang="zh-CN"/>
              <a:t>;</a:t>
            </a:r>
          </a:p>
          <a:p>
            <a:pPr eaLnBrk="1" hangingPunct="1">
              <a:buFontTx/>
              <a:buNone/>
            </a:pPr>
            <a:r>
              <a:rPr lang="en-US" altLang="zh-CN"/>
              <a:t>    </a:t>
            </a:r>
            <a:r>
              <a:rPr lang="en-US" altLang="zh-CN">
                <a:solidFill>
                  <a:srgbClr val="0000FF"/>
                </a:solidFill>
              </a:rPr>
              <a:t>end if</a:t>
            </a:r>
            <a:r>
              <a:rPr lang="en-US" altLang="zh-CN"/>
              <a:t>;</a:t>
            </a:r>
          </a:p>
          <a:p>
            <a:pPr eaLnBrk="1" hangingPunct="1">
              <a:buFontTx/>
              <a:buNone/>
            </a:pPr>
            <a:r>
              <a:rPr lang="en-US" altLang="zh-CN">
                <a:solidFill>
                  <a:srgbClr val="0000FF"/>
                </a:solidFill>
              </a:rPr>
              <a:t>end process</a:t>
            </a:r>
            <a:r>
              <a:rPr lang="en-US" altLang="zh-CN"/>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6D0A40E-B1BC-463A-8785-DDB4DB651A59}"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92</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4019" name="Rectangle 3"/>
          <p:cNvSpPr>
            <a:spLocks noGrp="1"/>
          </p:cNvSpPr>
          <p:nvPr>
            <p:ph idx="1" hasCustomPrompt="1"/>
          </p:nvPr>
        </p:nvSpPr>
        <p:spPr>
          <a:xfrm>
            <a:off x="684213" y="987425"/>
            <a:ext cx="4176712" cy="2808288"/>
          </a:xfrm>
          <a:noFill/>
          <a:ln>
            <a:noFill/>
          </a:ln>
        </p:spPr>
        <p:txBody>
          <a:bodyPr/>
          <a:lstStyle/>
          <a:p>
            <a:pPr eaLnBrk="1" hangingPunct="1">
              <a:lnSpc>
                <a:spcPct val="80000"/>
              </a:lnSpc>
              <a:buFontTx/>
              <a:buNone/>
            </a:pPr>
            <a:r>
              <a:rPr lang="en-US" altLang="zh-CN" sz="2000" b="1">
                <a:solidFill>
                  <a:srgbClr val="0000FF"/>
                </a:solidFill>
                <a:latin typeface="华文新魏" panose="02010800040101010101" pitchFamily="2" charset="-122"/>
                <a:ea typeface="华文新魏" panose="02010800040101010101" pitchFamily="2" charset="-122"/>
              </a:rPr>
              <a:t>process</a:t>
            </a:r>
            <a:r>
              <a:rPr lang="en-US" altLang="zh-CN" sz="2000" b="1">
                <a:latin typeface="华文新魏" panose="02010800040101010101" pitchFamily="2" charset="-122"/>
                <a:ea typeface="华文新魏" panose="02010800040101010101" pitchFamily="2" charset="-122"/>
              </a:rPr>
              <a:t> (</a:t>
            </a:r>
            <a:r>
              <a:rPr lang="en-US" altLang="zh-CN" sz="2000" b="1" err="1">
                <a:latin typeface="华文新魏" panose="02010800040101010101" pitchFamily="2" charset="-122"/>
                <a:ea typeface="华文新魏" panose="02010800040101010101" pitchFamily="2" charset="-122"/>
              </a:rPr>
              <a:t>X,Present_State</a:t>
            </a:r>
            <a:r>
              <a:rPr lang="en-US" altLang="zh-CN" sz="2000" b="1">
                <a:latin typeface="华文新魏" panose="02010800040101010101" pitchFamily="2" charset="-122"/>
                <a:ea typeface="华文新魏" panose="02010800040101010101" pitchFamily="2" charset="-122"/>
              </a:rPr>
              <a:t>)</a:t>
            </a:r>
          </a:p>
          <a:p>
            <a:pPr eaLnBrk="1" hangingPunct="1">
              <a:lnSpc>
                <a:spcPct val="80000"/>
              </a:lnSpc>
              <a:buFontTx/>
              <a:buNone/>
            </a:pPr>
            <a:r>
              <a:rPr lang="en-US" altLang="zh-CN" sz="2000" b="1">
                <a:solidFill>
                  <a:srgbClr val="0000FF"/>
                </a:solidFill>
                <a:latin typeface="华文新魏" panose="02010800040101010101" pitchFamily="2" charset="-122"/>
                <a:ea typeface="华文新魏" panose="02010800040101010101" pitchFamily="2" charset="-122"/>
              </a:rPr>
              <a:t>begin</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case</a:t>
            </a:r>
            <a:r>
              <a:rPr lang="en-US" altLang="zh-CN" sz="2000" b="1">
                <a:latin typeface="华文新魏" panose="02010800040101010101" pitchFamily="2" charset="-122"/>
                <a:ea typeface="华文新魏" panose="02010800040101010101" pitchFamily="2" charset="-122"/>
              </a:rPr>
              <a:t> </a:t>
            </a:r>
            <a:r>
              <a:rPr lang="en-US" altLang="zh-CN" sz="2000" b="1" err="1">
                <a:latin typeface="华文新魏" panose="02010800040101010101" pitchFamily="2" charset="-122"/>
                <a:ea typeface="华文新魏" panose="02010800040101010101" pitchFamily="2" charset="-122"/>
              </a:rPr>
              <a:t>Present_State</a:t>
            </a: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is</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when S0 =&gt;</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 if </a:t>
            </a:r>
            <a:r>
              <a:rPr lang="en-US" altLang="zh-CN" sz="2000" b="1">
                <a:latin typeface="华文新魏" panose="02010800040101010101" pitchFamily="2" charset="-122"/>
                <a:ea typeface="华文新魏" panose="02010800040101010101" pitchFamily="2" charset="-122"/>
              </a:rPr>
              <a:t>X ='0</a:t>
            </a:r>
            <a:r>
              <a:rPr lang="en-US" altLang="zh-CN" sz="2000" b="1">
                <a:solidFill>
                  <a:srgbClr val="0000FF"/>
                </a:solidFill>
                <a:latin typeface="华文新魏" panose="02010800040101010101" pitchFamily="2" charset="-122"/>
                <a:ea typeface="华文新魏" panose="02010800040101010101" pitchFamily="2" charset="-122"/>
              </a:rPr>
              <a:t>' then</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err="1">
                <a:latin typeface="华文新魏" panose="02010800040101010101" pitchFamily="2" charset="-122"/>
                <a:ea typeface="华文新魏" panose="02010800040101010101" pitchFamily="2" charset="-122"/>
              </a:rPr>
              <a:t>Next_State</a:t>
            </a:r>
            <a:r>
              <a:rPr lang="en-US" altLang="zh-CN" sz="2000" b="1">
                <a:latin typeface="华文新魏" panose="02010800040101010101" pitchFamily="2" charset="-122"/>
                <a:ea typeface="华文新魏" panose="02010800040101010101" pitchFamily="2" charset="-122"/>
              </a:rPr>
              <a:t> &lt;= S1;</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Z &lt;= '0';</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else</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err="1">
                <a:latin typeface="华文新魏" panose="02010800040101010101" pitchFamily="2" charset="-122"/>
                <a:ea typeface="华文新魏" panose="02010800040101010101" pitchFamily="2" charset="-122"/>
              </a:rPr>
              <a:t>Next_State</a:t>
            </a:r>
            <a:r>
              <a:rPr lang="en-US" altLang="zh-CN" sz="2000" b="1">
                <a:latin typeface="华文新魏" panose="02010800040101010101" pitchFamily="2" charset="-122"/>
                <a:ea typeface="华文新魏" panose="02010800040101010101" pitchFamily="2" charset="-122"/>
              </a:rPr>
              <a:t> &lt;= S2;</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Z &lt;= '0';</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end if</a:t>
            </a:r>
            <a:r>
              <a:rPr lang="en-US" altLang="zh-CN" sz="2000" b="1">
                <a:latin typeface="华文新魏" panose="02010800040101010101" pitchFamily="2" charset="-122"/>
                <a:ea typeface="华文新魏" panose="02010800040101010101" pitchFamily="2" charset="-122"/>
              </a:rPr>
              <a:t>;</a:t>
            </a:r>
          </a:p>
          <a:p>
            <a:pPr eaLnBrk="1" hangingPunct="1">
              <a:lnSpc>
                <a:spcPct val="80000"/>
              </a:lnSpc>
              <a:buFontTx/>
              <a:buNone/>
            </a:pPr>
            <a:r>
              <a:rPr lang="en-US" altLang="zh-CN" sz="1200" b="1">
                <a:latin typeface="华文新魏" panose="02010800040101010101" pitchFamily="2" charset="-122"/>
                <a:ea typeface="华文新魏" panose="02010800040101010101" pitchFamily="2" charset="-122"/>
              </a:rPr>
              <a:t>         </a:t>
            </a:r>
          </a:p>
        </p:txBody>
      </p:sp>
      <p:sp>
        <p:nvSpPr>
          <p:cNvPr id="214021" name="矩形 214020"/>
          <p:cNvSpPr/>
          <p:nvPr/>
        </p:nvSpPr>
        <p:spPr>
          <a:xfrm>
            <a:off x="4572000" y="1347788"/>
            <a:ext cx="4572000" cy="2530475"/>
          </a:xfrm>
          <a:prstGeom prst="rect">
            <a:avLst/>
          </a:prstGeom>
          <a:noFill/>
          <a:ln w="9525">
            <a:noFill/>
          </a:ln>
        </p:spPr>
        <p:txBody>
          <a:bodyPr>
            <a:spAutoFit/>
          </a:bodyPr>
          <a:lstStyle/>
          <a:p>
            <a:r>
              <a:rPr lang="en-US" altLang="zh-CN" b="1">
                <a:solidFill>
                  <a:srgbClr val="0000FF"/>
                </a:solidFill>
                <a:latin typeface="Calibri" panose="020F0502020204030204" pitchFamily="34" charset="0"/>
              </a:rPr>
              <a:t>when</a:t>
            </a:r>
            <a:r>
              <a:rPr lang="en-US" altLang="zh-CN" b="1">
                <a:solidFill>
                  <a:schemeClr val="tx1"/>
                </a:solidFill>
                <a:latin typeface="Calibri" panose="020F0502020204030204" pitchFamily="34" charset="0"/>
              </a:rPr>
              <a:t> S1 =&gt;</a:t>
            </a:r>
          </a:p>
          <a:p>
            <a:r>
              <a:rPr lang="en-US" altLang="zh-CN" b="1">
                <a:solidFill>
                  <a:schemeClr val="tx1"/>
                </a:solidFill>
                <a:latin typeface="Calibri" panose="020F0502020204030204" pitchFamily="34" charset="0"/>
              </a:rPr>
              <a:t>           </a:t>
            </a:r>
            <a:r>
              <a:rPr lang="en-US" altLang="zh-CN" b="1">
                <a:solidFill>
                  <a:srgbClr val="0000FF"/>
                </a:solidFill>
                <a:latin typeface="Calibri" panose="020F0502020204030204" pitchFamily="34" charset="0"/>
              </a:rPr>
              <a:t> if </a:t>
            </a:r>
            <a:r>
              <a:rPr lang="en-US" altLang="zh-CN" b="1">
                <a:solidFill>
                  <a:schemeClr val="tx1"/>
                </a:solidFill>
                <a:latin typeface="Calibri" panose="020F0502020204030204" pitchFamily="34" charset="0"/>
              </a:rPr>
              <a:t>X ='0' </a:t>
            </a:r>
            <a:r>
              <a:rPr lang="en-US" altLang="zh-CN" b="1">
                <a:solidFill>
                  <a:srgbClr val="0000FF"/>
                </a:solidFill>
                <a:latin typeface="Calibri" panose="020F0502020204030204" pitchFamily="34" charset="0"/>
              </a:rPr>
              <a:t>then</a:t>
            </a:r>
          </a:p>
          <a:p>
            <a:r>
              <a:rPr lang="en-US" altLang="zh-CN" b="1">
                <a:solidFill>
                  <a:schemeClr val="tx1"/>
                </a:solidFill>
                <a:latin typeface="Calibri" panose="020F0502020204030204" pitchFamily="34" charset="0"/>
              </a:rPr>
              <a:t>               </a:t>
            </a:r>
            <a:r>
              <a:rPr lang="en-US" altLang="zh-CN" b="1" err="1">
                <a:solidFill>
                  <a:schemeClr val="tx1"/>
                </a:solidFill>
                <a:latin typeface="Calibri" panose="020F0502020204030204" pitchFamily="34" charset="0"/>
              </a:rPr>
              <a:t>Next_State</a:t>
            </a:r>
            <a:r>
              <a:rPr lang="en-US" altLang="zh-CN" b="1">
                <a:solidFill>
                  <a:schemeClr val="tx1"/>
                </a:solidFill>
                <a:latin typeface="Calibri" panose="020F0502020204030204" pitchFamily="34" charset="0"/>
              </a:rPr>
              <a:t> &lt;= S3;</a:t>
            </a:r>
          </a:p>
          <a:p>
            <a:r>
              <a:rPr lang="en-US" altLang="zh-CN" b="1">
                <a:solidFill>
                  <a:schemeClr val="tx1"/>
                </a:solidFill>
                <a:latin typeface="Calibri" panose="020F0502020204030204" pitchFamily="34" charset="0"/>
              </a:rPr>
              <a:t>               Z &lt;= '0';</a:t>
            </a:r>
          </a:p>
          <a:p>
            <a:r>
              <a:rPr lang="en-US" altLang="zh-CN" b="1">
                <a:solidFill>
                  <a:schemeClr val="tx1"/>
                </a:solidFill>
                <a:latin typeface="Calibri" panose="020F0502020204030204" pitchFamily="34" charset="0"/>
              </a:rPr>
              <a:t>            </a:t>
            </a:r>
            <a:r>
              <a:rPr lang="en-US" altLang="zh-CN" b="1">
                <a:solidFill>
                  <a:srgbClr val="0000FF"/>
                </a:solidFill>
                <a:latin typeface="Calibri" panose="020F0502020204030204" pitchFamily="34" charset="0"/>
              </a:rPr>
              <a:t>else</a:t>
            </a:r>
          </a:p>
          <a:p>
            <a:r>
              <a:rPr lang="en-US" altLang="zh-CN" b="1">
                <a:solidFill>
                  <a:schemeClr val="tx1"/>
                </a:solidFill>
                <a:latin typeface="Calibri" panose="020F0502020204030204" pitchFamily="34" charset="0"/>
              </a:rPr>
              <a:t>               </a:t>
            </a:r>
            <a:r>
              <a:rPr lang="en-US" altLang="zh-CN" b="1" err="1">
                <a:solidFill>
                  <a:schemeClr val="tx1"/>
                </a:solidFill>
                <a:latin typeface="Calibri" panose="020F0502020204030204" pitchFamily="34" charset="0"/>
              </a:rPr>
              <a:t>Next_State</a:t>
            </a:r>
            <a:r>
              <a:rPr lang="en-US" altLang="zh-CN" b="1">
                <a:solidFill>
                  <a:schemeClr val="tx1"/>
                </a:solidFill>
                <a:latin typeface="Calibri" panose="020F0502020204030204" pitchFamily="34" charset="0"/>
              </a:rPr>
              <a:t> &lt;= S4;</a:t>
            </a:r>
          </a:p>
          <a:p>
            <a:r>
              <a:rPr lang="en-US" altLang="zh-CN" b="1">
                <a:solidFill>
                  <a:schemeClr val="tx1"/>
                </a:solidFill>
                <a:latin typeface="Calibri" panose="020F0502020204030204" pitchFamily="34" charset="0"/>
              </a:rPr>
              <a:t>               Z &lt;= '0';</a:t>
            </a:r>
          </a:p>
          <a:p>
            <a:r>
              <a:rPr lang="en-US" altLang="zh-CN" b="1">
                <a:solidFill>
                  <a:schemeClr val="tx1"/>
                </a:solidFill>
                <a:latin typeface="Calibri" panose="020F0502020204030204" pitchFamily="34" charset="0"/>
              </a:rPr>
              <a:t>            </a:t>
            </a:r>
            <a:r>
              <a:rPr lang="en-US" altLang="zh-CN" b="1">
                <a:solidFill>
                  <a:srgbClr val="0000FF"/>
                </a:solidFill>
                <a:latin typeface="Calibri" panose="020F0502020204030204" pitchFamily="34" charset="0"/>
              </a:rPr>
              <a:t>end if</a:t>
            </a:r>
            <a:r>
              <a:rPr lang="en-US" altLang="zh-CN" b="1">
                <a:solidFill>
                  <a:schemeClr val="tx1"/>
                </a:solidFill>
                <a:latin typeface="Calibri" panose="020F0502020204030204" pitchFamily="34" charset="0"/>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zh-CN" sz="1000" b="1">
                <a:solidFill>
                  <a:schemeClr val="tx1"/>
                </a:solidFill>
                <a:latin typeface="Arial" panose="020B0604020202020204" pitchFamily="34" charset="0"/>
              </a:rPr>
              <a:t>93</a:t>
            </a:fld>
            <a:endParaRPr lang="en-US" altLang="zh-CN" sz="1000" b="1">
              <a:solidFill>
                <a:schemeClr val="tx1"/>
              </a:solidFill>
              <a:latin typeface="Arial" panose="020B0604020202020204" pitchFamily="34" charset="0"/>
            </a:endParaRPr>
          </a:p>
        </p:txBody>
      </p:sp>
      <p:sp>
        <p:nvSpPr>
          <p:cNvPr id="215043" name="Rectangle 3"/>
          <p:cNvSpPr>
            <a:spLocks noGrp="1"/>
          </p:cNvSpPr>
          <p:nvPr>
            <p:ph idx="1" hasCustomPrompt="1"/>
          </p:nvPr>
        </p:nvSpPr>
        <p:spPr>
          <a:xfrm>
            <a:off x="34925" y="1347788"/>
            <a:ext cx="3671888" cy="2592387"/>
          </a:xfrm>
          <a:noFill/>
          <a:ln>
            <a:noFill/>
          </a:ln>
        </p:spPr>
        <p:txBody>
          <a:bodyPr/>
          <a:lstStyle/>
          <a:p>
            <a:pPr eaLnBrk="1" hangingPunct="1">
              <a:lnSpc>
                <a:spcPct val="80000"/>
              </a:lnSpc>
              <a:buFontTx/>
              <a:buNone/>
            </a:pPr>
            <a:r>
              <a:rPr lang="en-US" altLang="zh-CN" sz="14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when</a:t>
            </a:r>
            <a:r>
              <a:rPr lang="en-US" altLang="zh-CN" sz="2000" b="1">
                <a:latin typeface="华文新魏" panose="02010800040101010101" pitchFamily="2" charset="-122"/>
                <a:ea typeface="华文新魏" panose="02010800040101010101" pitchFamily="2" charset="-122"/>
              </a:rPr>
              <a:t> S2 =&gt;</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if</a:t>
            </a:r>
            <a:r>
              <a:rPr lang="en-US" altLang="zh-CN" sz="2000" b="1">
                <a:latin typeface="华文新魏" panose="02010800040101010101" pitchFamily="2" charset="-122"/>
                <a:ea typeface="华文新魏" panose="02010800040101010101" pitchFamily="2" charset="-122"/>
              </a:rPr>
              <a:t> X ='0' </a:t>
            </a:r>
            <a:r>
              <a:rPr lang="en-US" altLang="zh-CN" sz="2000" b="1">
                <a:solidFill>
                  <a:srgbClr val="0000FF"/>
                </a:solidFill>
                <a:latin typeface="华文新魏" panose="02010800040101010101" pitchFamily="2" charset="-122"/>
                <a:ea typeface="华文新魏" panose="02010800040101010101" pitchFamily="2" charset="-122"/>
              </a:rPr>
              <a:t>the</a:t>
            </a:r>
            <a:r>
              <a:rPr lang="en-US" altLang="zh-CN" sz="2000" b="1">
                <a:latin typeface="华文新魏" panose="02010800040101010101" pitchFamily="2" charset="-122"/>
                <a:ea typeface="华文新魏" panose="02010800040101010101" pitchFamily="2" charset="-122"/>
              </a:rPr>
              <a:t>n</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err="1">
                <a:latin typeface="华文新魏" panose="02010800040101010101" pitchFamily="2" charset="-122"/>
                <a:ea typeface="华文新魏" panose="02010800040101010101" pitchFamily="2" charset="-122"/>
              </a:rPr>
              <a:t>Next_State</a:t>
            </a:r>
            <a:r>
              <a:rPr lang="en-US" altLang="zh-CN" sz="2000" b="1">
                <a:latin typeface="华文新魏" panose="02010800040101010101" pitchFamily="2" charset="-122"/>
                <a:ea typeface="华文新魏" panose="02010800040101010101" pitchFamily="2" charset="-122"/>
              </a:rPr>
              <a:t> &lt;= S4;</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Z &lt;= '0';</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a:solidFill>
                  <a:srgbClr val="0000FF"/>
                </a:solidFill>
                <a:latin typeface="华文新魏" panose="02010800040101010101" pitchFamily="2" charset="-122"/>
                <a:ea typeface="华文新魏" panose="02010800040101010101" pitchFamily="2" charset="-122"/>
              </a:rPr>
              <a:t>else</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a:t>
            </a:r>
            <a:r>
              <a:rPr lang="en-US" altLang="zh-CN" sz="2000" b="1" err="1">
                <a:latin typeface="华文新魏" panose="02010800040101010101" pitchFamily="2" charset="-122"/>
                <a:ea typeface="华文新魏" panose="02010800040101010101" pitchFamily="2" charset="-122"/>
              </a:rPr>
              <a:t>Next_State</a:t>
            </a:r>
            <a:r>
              <a:rPr lang="en-US" altLang="zh-CN" sz="2000" b="1">
                <a:latin typeface="华文新魏" panose="02010800040101010101" pitchFamily="2" charset="-122"/>
                <a:ea typeface="华文新魏" panose="02010800040101010101" pitchFamily="2" charset="-122"/>
              </a:rPr>
              <a:t> &lt;= S3;</a:t>
            </a:r>
          </a:p>
          <a:p>
            <a:pPr eaLnBrk="1" hangingPunct="1">
              <a:lnSpc>
                <a:spcPct val="80000"/>
              </a:lnSpc>
              <a:buFontTx/>
              <a:buNone/>
            </a:pPr>
            <a:r>
              <a:rPr lang="en-US" altLang="zh-CN" sz="2000" b="1">
                <a:latin typeface="华文新魏" panose="02010800040101010101" pitchFamily="2" charset="-122"/>
                <a:ea typeface="华文新魏" panose="02010800040101010101" pitchFamily="2" charset="-122"/>
              </a:rPr>
              <a:t>               Z &lt;= '0';</a:t>
            </a:r>
          </a:p>
          <a:p>
            <a:pPr eaLnBrk="1" hangingPunct="1">
              <a:lnSpc>
                <a:spcPct val="80000"/>
              </a:lnSpc>
              <a:buFontTx/>
              <a:buNone/>
            </a:pPr>
            <a:r>
              <a:rPr lang="en-US" altLang="zh-CN" sz="2000" b="1">
                <a:solidFill>
                  <a:srgbClr val="0000FF"/>
                </a:solidFill>
                <a:latin typeface="华文新魏" panose="02010800040101010101" pitchFamily="2" charset="-122"/>
                <a:ea typeface="华文新魏" panose="02010800040101010101" pitchFamily="2" charset="-122"/>
              </a:rPr>
              <a:t>            end if</a:t>
            </a:r>
            <a:r>
              <a:rPr lang="en-US" altLang="zh-CN" sz="2000" b="1">
                <a:latin typeface="华文新魏" panose="02010800040101010101" pitchFamily="2" charset="-122"/>
                <a:ea typeface="华文新魏" panose="02010800040101010101" pitchFamily="2" charset="-122"/>
              </a:rPr>
              <a:t>;</a:t>
            </a:r>
          </a:p>
          <a:p>
            <a:pPr eaLnBrk="1" hangingPunct="1">
              <a:lnSpc>
                <a:spcPct val="80000"/>
              </a:lnSpc>
              <a:buFontTx/>
              <a:buNone/>
            </a:pPr>
            <a:r>
              <a:rPr lang="en-US" altLang="zh-CN" sz="2000" b="1">
                <a:solidFill>
                  <a:srgbClr val="0000FF"/>
                </a:solidFill>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         </a:t>
            </a:r>
          </a:p>
        </p:txBody>
      </p:sp>
      <p:sp>
        <p:nvSpPr>
          <p:cNvPr id="215045" name="矩形 215044"/>
          <p:cNvSpPr/>
          <p:nvPr/>
        </p:nvSpPr>
        <p:spPr>
          <a:xfrm>
            <a:off x="5940425" y="1276350"/>
            <a:ext cx="3168650" cy="2530475"/>
          </a:xfrm>
          <a:prstGeom prst="rect">
            <a:avLst/>
          </a:prstGeom>
          <a:noFill/>
          <a:ln w="9525">
            <a:noFill/>
          </a:ln>
        </p:spPr>
        <p:txBody>
          <a:bodyPr>
            <a:spAutoFit/>
          </a:bodyPr>
          <a:lstStyle/>
          <a:p>
            <a:r>
              <a:rPr lang="en-US" altLang="zh-CN" b="1">
                <a:solidFill>
                  <a:srgbClr val="0000FF"/>
                </a:solidFill>
                <a:latin typeface="Calibri" panose="020F0502020204030204" pitchFamily="34" charset="0"/>
              </a:rPr>
              <a:t>when</a:t>
            </a:r>
            <a:r>
              <a:rPr lang="en-US" altLang="zh-CN" b="1">
                <a:solidFill>
                  <a:schemeClr val="tx1"/>
                </a:solidFill>
                <a:latin typeface="Calibri" panose="020F0502020204030204" pitchFamily="34" charset="0"/>
              </a:rPr>
              <a:t> S4 =&gt;</a:t>
            </a:r>
          </a:p>
          <a:p>
            <a:r>
              <a:rPr lang="en-US" altLang="zh-CN" b="1">
                <a:solidFill>
                  <a:schemeClr val="tx1"/>
                </a:solidFill>
                <a:latin typeface="Calibri" panose="020F0502020204030204" pitchFamily="34" charset="0"/>
              </a:rPr>
              <a:t>            </a:t>
            </a:r>
            <a:r>
              <a:rPr lang="en-US" altLang="zh-CN" b="1">
                <a:solidFill>
                  <a:srgbClr val="0000FF"/>
                </a:solidFill>
                <a:latin typeface="Calibri" panose="020F0502020204030204" pitchFamily="34" charset="0"/>
              </a:rPr>
              <a:t>if</a:t>
            </a:r>
            <a:r>
              <a:rPr lang="en-US" altLang="zh-CN" b="1">
                <a:solidFill>
                  <a:schemeClr val="tx1"/>
                </a:solidFill>
                <a:latin typeface="Calibri" panose="020F0502020204030204" pitchFamily="34" charset="0"/>
              </a:rPr>
              <a:t> X ='0' </a:t>
            </a:r>
            <a:r>
              <a:rPr lang="en-US" altLang="zh-CN" b="1">
                <a:solidFill>
                  <a:srgbClr val="0000FF"/>
                </a:solidFill>
                <a:latin typeface="Calibri" panose="020F0502020204030204" pitchFamily="34" charset="0"/>
              </a:rPr>
              <a:t>then</a:t>
            </a:r>
          </a:p>
          <a:p>
            <a:r>
              <a:rPr lang="en-US" altLang="zh-CN" b="1">
                <a:solidFill>
                  <a:schemeClr val="tx1"/>
                </a:solidFill>
                <a:latin typeface="Calibri" panose="020F0502020204030204" pitchFamily="34" charset="0"/>
              </a:rPr>
              <a:t>               </a:t>
            </a:r>
            <a:r>
              <a:rPr lang="en-US" altLang="zh-CN" b="1" err="1">
                <a:solidFill>
                  <a:schemeClr val="tx1"/>
                </a:solidFill>
                <a:latin typeface="Calibri" panose="020F0502020204030204" pitchFamily="34" charset="0"/>
              </a:rPr>
              <a:t>Next_State</a:t>
            </a:r>
            <a:r>
              <a:rPr lang="en-US" altLang="zh-CN" b="1">
                <a:solidFill>
                  <a:schemeClr val="tx1"/>
                </a:solidFill>
                <a:latin typeface="Calibri" panose="020F0502020204030204" pitchFamily="34" charset="0"/>
              </a:rPr>
              <a:t> &lt;= S6;</a:t>
            </a:r>
          </a:p>
          <a:p>
            <a:r>
              <a:rPr lang="en-US" altLang="zh-CN" b="1">
                <a:solidFill>
                  <a:schemeClr val="tx1"/>
                </a:solidFill>
                <a:latin typeface="Calibri" panose="020F0502020204030204" pitchFamily="34" charset="0"/>
              </a:rPr>
              <a:t>               Z &lt;= '0';</a:t>
            </a:r>
          </a:p>
          <a:p>
            <a:r>
              <a:rPr lang="en-US" altLang="zh-CN" b="1">
                <a:solidFill>
                  <a:schemeClr val="tx1"/>
                </a:solidFill>
                <a:latin typeface="Calibri" panose="020F0502020204030204" pitchFamily="34" charset="0"/>
              </a:rPr>
              <a:t>            </a:t>
            </a:r>
            <a:r>
              <a:rPr lang="en-US" altLang="zh-CN" b="1">
                <a:solidFill>
                  <a:srgbClr val="0000FF"/>
                </a:solidFill>
                <a:latin typeface="Calibri" panose="020F0502020204030204" pitchFamily="34" charset="0"/>
              </a:rPr>
              <a:t>else</a:t>
            </a:r>
          </a:p>
          <a:p>
            <a:r>
              <a:rPr lang="en-US" altLang="zh-CN" b="1">
                <a:solidFill>
                  <a:schemeClr val="tx1"/>
                </a:solidFill>
                <a:latin typeface="Calibri" panose="020F0502020204030204" pitchFamily="34" charset="0"/>
              </a:rPr>
              <a:t>               </a:t>
            </a:r>
            <a:r>
              <a:rPr lang="en-US" altLang="zh-CN" b="1" err="1">
                <a:solidFill>
                  <a:schemeClr val="tx1"/>
                </a:solidFill>
                <a:latin typeface="Calibri" panose="020F0502020204030204" pitchFamily="34" charset="0"/>
              </a:rPr>
              <a:t>Next_State</a:t>
            </a:r>
            <a:r>
              <a:rPr lang="en-US" altLang="zh-CN" b="1">
                <a:solidFill>
                  <a:schemeClr val="tx1"/>
                </a:solidFill>
                <a:latin typeface="Calibri" panose="020F0502020204030204" pitchFamily="34" charset="0"/>
              </a:rPr>
              <a:t> &lt;= S5;</a:t>
            </a:r>
          </a:p>
          <a:p>
            <a:r>
              <a:rPr lang="en-US" altLang="zh-CN" b="1">
                <a:solidFill>
                  <a:schemeClr val="tx1"/>
                </a:solidFill>
                <a:latin typeface="Calibri" panose="020F0502020204030204" pitchFamily="34" charset="0"/>
              </a:rPr>
              <a:t>               Z &lt;= '0';</a:t>
            </a:r>
          </a:p>
          <a:p>
            <a:r>
              <a:rPr lang="en-US" altLang="zh-CN" b="1">
                <a:solidFill>
                  <a:srgbClr val="0000FF"/>
                </a:solidFill>
                <a:latin typeface="Calibri" panose="020F0502020204030204" pitchFamily="34" charset="0"/>
              </a:rPr>
              <a:t>            end if</a:t>
            </a:r>
            <a:r>
              <a:rPr lang="en-US" altLang="zh-CN" b="1">
                <a:solidFill>
                  <a:schemeClr val="tx1"/>
                </a:solidFill>
                <a:latin typeface="Calibri" panose="020F0502020204030204" pitchFamily="34" charset="0"/>
              </a:rPr>
              <a:t>;</a:t>
            </a:r>
          </a:p>
        </p:txBody>
      </p:sp>
      <p:sp>
        <p:nvSpPr>
          <p:cNvPr id="215046" name="矩形 215045"/>
          <p:cNvSpPr/>
          <p:nvPr/>
        </p:nvSpPr>
        <p:spPr>
          <a:xfrm>
            <a:off x="3005138" y="1306513"/>
            <a:ext cx="3654425" cy="2530475"/>
          </a:xfrm>
          <a:prstGeom prst="rect">
            <a:avLst/>
          </a:prstGeom>
          <a:noFill/>
          <a:ln w="9525">
            <a:noFill/>
          </a:ln>
        </p:spPr>
        <p:txBody>
          <a:bodyPr>
            <a:spAutoFit/>
          </a:bodyPr>
          <a:lstStyle/>
          <a:p>
            <a:r>
              <a:rPr lang="en-US" altLang="zh-CN" b="1">
                <a:solidFill>
                  <a:srgbClr val="0000FF"/>
                </a:solidFill>
                <a:latin typeface="Calibri" panose="020F0502020204030204" pitchFamily="34" charset="0"/>
              </a:rPr>
              <a:t>when </a:t>
            </a:r>
            <a:r>
              <a:rPr lang="en-US" altLang="zh-CN" b="1">
                <a:solidFill>
                  <a:schemeClr val="tx1"/>
                </a:solidFill>
                <a:latin typeface="Calibri" panose="020F0502020204030204" pitchFamily="34" charset="0"/>
              </a:rPr>
              <a:t>S3 =&gt;</a:t>
            </a:r>
          </a:p>
          <a:p>
            <a:r>
              <a:rPr lang="en-US" altLang="zh-CN" b="1">
                <a:solidFill>
                  <a:srgbClr val="0000FF"/>
                </a:solidFill>
                <a:latin typeface="Calibri" panose="020F0502020204030204" pitchFamily="34" charset="0"/>
              </a:rPr>
              <a:t>            if </a:t>
            </a:r>
            <a:r>
              <a:rPr lang="en-US" altLang="zh-CN" b="1">
                <a:solidFill>
                  <a:schemeClr val="tx1"/>
                </a:solidFill>
                <a:latin typeface="Calibri" panose="020F0502020204030204" pitchFamily="34" charset="0"/>
              </a:rPr>
              <a:t>X ='0' </a:t>
            </a:r>
            <a:r>
              <a:rPr lang="en-US" altLang="zh-CN" b="1">
                <a:solidFill>
                  <a:srgbClr val="0000FF"/>
                </a:solidFill>
                <a:latin typeface="Calibri" panose="020F0502020204030204" pitchFamily="34" charset="0"/>
              </a:rPr>
              <a:t>then</a:t>
            </a:r>
          </a:p>
          <a:p>
            <a:r>
              <a:rPr lang="en-US" altLang="zh-CN" b="1">
                <a:solidFill>
                  <a:schemeClr val="tx1"/>
                </a:solidFill>
                <a:latin typeface="Calibri" panose="020F0502020204030204" pitchFamily="34" charset="0"/>
              </a:rPr>
              <a:t>               </a:t>
            </a:r>
            <a:r>
              <a:rPr lang="en-US" altLang="zh-CN" b="1" err="1">
                <a:solidFill>
                  <a:schemeClr val="tx1"/>
                </a:solidFill>
                <a:latin typeface="Calibri" panose="020F0502020204030204" pitchFamily="34" charset="0"/>
              </a:rPr>
              <a:t>Next_State</a:t>
            </a:r>
            <a:r>
              <a:rPr lang="en-US" altLang="zh-CN" b="1">
                <a:solidFill>
                  <a:schemeClr val="tx1"/>
                </a:solidFill>
                <a:latin typeface="Calibri" panose="020F0502020204030204" pitchFamily="34" charset="0"/>
              </a:rPr>
              <a:t> &lt;= S5;</a:t>
            </a:r>
          </a:p>
          <a:p>
            <a:r>
              <a:rPr lang="en-US" altLang="zh-CN" b="1">
                <a:solidFill>
                  <a:schemeClr val="tx1"/>
                </a:solidFill>
                <a:latin typeface="Calibri" panose="020F0502020204030204" pitchFamily="34" charset="0"/>
              </a:rPr>
              <a:t>               Z &lt;= '0';</a:t>
            </a:r>
          </a:p>
          <a:p>
            <a:r>
              <a:rPr lang="en-US" altLang="zh-CN" b="1">
                <a:solidFill>
                  <a:srgbClr val="0000FF"/>
                </a:solidFill>
                <a:latin typeface="Calibri" panose="020F0502020204030204" pitchFamily="34" charset="0"/>
              </a:rPr>
              <a:t>            else</a:t>
            </a:r>
          </a:p>
          <a:p>
            <a:r>
              <a:rPr lang="en-US" altLang="zh-CN" b="1">
                <a:solidFill>
                  <a:schemeClr val="tx1"/>
                </a:solidFill>
                <a:latin typeface="Calibri" panose="020F0502020204030204" pitchFamily="34" charset="0"/>
              </a:rPr>
              <a:t>               </a:t>
            </a:r>
            <a:r>
              <a:rPr lang="en-US" altLang="zh-CN" b="1" err="1">
                <a:solidFill>
                  <a:schemeClr val="tx1"/>
                </a:solidFill>
                <a:latin typeface="Calibri" panose="020F0502020204030204" pitchFamily="34" charset="0"/>
              </a:rPr>
              <a:t>Next_State</a:t>
            </a:r>
            <a:r>
              <a:rPr lang="en-US" altLang="zh-CN" b="1">
                <a:solidFill>
                  <a:schemeClr val="tx1"/>
                </a:solidFill>
                <a:latin typeface="Calibri" panose="020F0502020204030204" pitchFamily="34" charset="0"/>
              </a:rPr>
              <a:t> &lt;= S6;</a:t>
            </a:r>
          </a:p>
          <a:p>
            <a:r>
              <a:rPr lang="en-US" altLang="zh-CN" b="1">
                <a:solidFill>
                  <a:schemeClr val="tx1"/>
                </a:solidFill>
                <a:latin typeface="Calibri" panose="020F0502020204030204" pitchFamily="34" charset="0"/>
              </a:rPr>
              <a:t>               Z &lt;= '0';</a:t>
            </a:r>
          </a:p>
          <a:p>
            <a:r>
              <a:rPr lang="en-US" altLang="zh-CN" b="1">
                <a:solidFill>
                  <a:schemeClr val="tx1"/>
                </a:solidFill>
                <a:latin typeface="Calibri" panose="020F0502020204030204" pitchFamily="34" charset="0"/>
              </a:rPr>
              <a:t>            </a:t>
            </a:r>
            <a:r>
              <a:rPr lang="en-US" altLang="zh-CN" b="1">
                <a:solidFill>
                  <a:srgbClr val="0000FF"/>
                </a:solidFill>
                <a:latin typeface="Calibri" panose="020F0502020204030204" pitchFamily="34" charset="0"/>
              </a:rPr>
              <a:t>end if</a:t>
            </a:r>
            <a:r>
              <a:rPr lang="en-US" altLang="zh-CN" b="1">
                <a:solidFill>
                  <a:schemeClr val="tx1"/>
                </a:solidFill>
                <a:latin typeface="Calibri" panose="020F0502020204030204" pitchFamily="34" charset="0"/>
              </a:rPr>
              <a:t>;</a:t>
            </a:r>
            <a:r>
              <a:rPr lang="en-US" altLang="zh-CN">
                <a:latin typeface="Calibri" panose="020F0502020204030204" pitchFamily="34" charset="0"/>
              </a:rPr>
              <a:t>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557530" indent="-214630">
              <a:spcBef>
                <a:spcPct val="20000"/>
              </a:spcBef>
              <a:buChar char="–"/>
              <a:defRPr sz="2100">
                <a:solidFill>
                  <a:schemeClr val="tx1"/>
                </a:solidFill>
                <a:latin typeface="Arial" panose="020B0604020202020204" pitchFamily="34" charset="0"/>
                <a:ea typeface="宋体" panose="02010600030101010101" pitchFamily="2" charset="-122"/>
              </a:defRPr>
            </a:lvl2pPr>
            <a:lvl3pPr marL="857250" indent="-171450">
              <a:spcBef>
                <a:spcPct val="20000"/>
              </a:spcBef>
              <a:buChar char="•"/>
              <a:defRPr sz="1800">
                <a:solidFill>
                  <a:schemeClr val="tx1"/>
                </a:solidFill>
                <a:latin typeface="Arial" panose="020B0604020202020204" pitchFamily="34" charset="0"/>
                <a:ea typeface="宋体" panose="02010600030101010101" pitchFamily="2" charset="-122"/>
              </a:defRPr>
            </a:lvl3pPr>
            <a:lvl4pPr marL="1200150" indent="-171450">
              <a:spcBef>
                <a:spcPct val="20000"/>
              </a:spcBef>
              <a:buChar char="–"/>
              <a:defRPr sz="1500">
                <a:solidFill>
                  <a:schemeClr val="tx1"/>
                </a:solidFill>
                <a:latin typeface="Arial" panose="020B0604020202020204" pitchFamily="34" charset="0"/>
                <a:ea typeface="宋体" panose="02010600030101010101" pitchFamily="2" charset="-122"/>
              </a:defRPr>
            </a:lvl4pPr>
            <a:lvl5pPr marL="1543050" indent="-171450">
              <a:spcBef>
                <a:spcPct val="20000"/>
              </a:spcBef>
              <a:buChar char="»"/>
              <a:defRPr sz="1500">
                <a:solidFill>
                  <a:schemeClr val="tx1"/>
                </a:solidFill>
                <a:latin typeface="Arial" panose="020B0604020202020204" pitchFamily="34" charset="0"/>
                <a:ea typeface="宋体" panose="02010600030101010101" pitchFamily="2" charset="-122"/>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8C05CC6-5D63-4E7A-A612-D90CE42A4B26}" type="slidenum">
              <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94</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6067" name="Rectangle 3"/>
          <p:cNvSpPr>
            <a:spLocks noGrp="1"/>
          </p:cNvSpPr>
          <p:nvPr>
            <p:ph idx="1" hasCustomPrompt="1"/>
          </p:nvPr>
        </p:nvSpPr>
        <p:spPr>
          <a:xfrm>
            <a:off x="468313" y="915988"/>
            <a:ext cx="3446462" cy="2924175"/>
          </a:xfrm>
          <a:noFill/>
          <a:ln>
            <a:noFill/>
          </a:ln>
        </p:spPr>
        <p:txBody>
          <a:bodyPr/>
          <a:lstStyle/>
          <a:p>
            <a:pPr eaLnBrk="1" hangingPunct="1">
              <a:lnSpc>
                <a:spcPct val="80000"/>
              </a:lnSpc>
              <a:buFontTx/>
              <a:buNone/>
            </a:pPr>
            <a:r>
              <a:rPr lang="en-US" altLang="zh-CN" sz="2000">
                <a:solidFill>
                  <a:srgbClr val="0000FF"/>
                </a:solidFill>
                <a:latin typeface="华文新魏" panose="02010800040101010101" pitchFamily="2" charset="-122"/>
                <a:ea typeface="华文新魏" panose="02010800040101010101" pitchFamily="2" charset="-122"/>
              </a:rPr>
              <a:t>when</a:t>
            </a:r>
            <a:r>
              <a:rPr lang="en-US" altLang="zh-CN" sz="2000">
                <a:latin typeface="华文新魏" panose="02010800040101010101" pitchFamily="2" charset="-122"/>
                <a:ea typeface="华文新魏" panose="02010800040101010101" pitchFamily="2" charset="-122"/>
              </a:rPr>
              <a:t> S5 =&gt;</a:t>
            </a:r>
          </a:p>
          <a:p>
            <a:pPr eaLnBrk="1" hangingPunct="1">
              <a:lnSpc>
                <a:spcPct val="80000"/>
              </a:lnSpc>
              <a:buFontTx/>
              <a:buNone/>
            </a:pPr>
            <a:r>
              <a:rPr lang="en-US" altLang="zh-CN" sz="2000">
                <a:solidFill>
                  <a:srgbClr val="0000FF"/>
                </a:solidFill>
                <a:latin typeface="华文新魏" panose="02010800040101010101" pitchFamily="2" charset="-122"/>
                <a:ea typeface="华文新魏" panose="02010800040101010101" pitchFamily="2" charset="-122"/>
              </a:rPr>
              <a:t>            if </a:t>
            </a:r>
            <a:r>
              <a:rPr lang="en-US" altLang="zh-CN" sz="2000">
                <a:latin typeface="华文新魏" panose="02010800040101010101" pitchFamily="2" charset="-122"/>
                <a:ea typeface="华文新魏" panose="02010800040101010101" pitchFamily="2" charset="-122"/>
              </a:rPr>
              <a:t>X ='0' </a:t>
            </a:r>
            <a:r>
              <a:rPr lang="en-US" altLang="zh-CN" sz="2000">
                <a:solidFill>
                  <a:srgbClr val="0000FF"/>
                </a:solidFill>
                <a:latin typeface="华文新魏" panose="02010800040101010101" pitchFamily="2" charset="-122"/>
                <a:ea typeface="华文新魏" panose="02010800040101010101" pitchFamily="2" charset="-122"/>
              </a:rPr>
              <a:t>then</a:t>
            </a:r>
          </a:p>
          <a:p>
            <a:pPr eaLnBrk="1" hangingPunct="1">
              <a:lnSpc>
                <a:spcPct val="80000"/>
              </a:lnSpc>
              <a:buFontTx/>
              <a:buNone/>
            </a:pPr>
            <a:r>
              <a:rPr lang="en-US" altLang="zh-CN" sz="2000">
                <a:latin typeface="华文新魏" panose="02010800040101010101" pitchFamily="2" charset="-122"/>
                <a:ea typeface="华文新魏" panose="02010800040101010101" pitchFamily="2" charset="-122"/>
              </a:rPr>
              <a:t>               </a:t>
            </a:r>
            <a:r>
              <a:rPr lang="en-US" altLang="zh-CN" sz="2000" err="1">
                <a:latin typeface="华文新魏" panose="02010800040101010101" pitchFamily="2" charset="-122"/>
                <a:ea typeface="华文新魏" panose="02010800040101010101" pitchFamily="2" charset="-122"/>
              </a:rPr>
              <a:t>Next_State</a:t>
            </a:r>
            <a:r>
              <a:rPr lang="en-US" altLang="zh-CN" sz="2000">
                <a:latin typeface="华文新魏" panose="02010800040101010101" pitchFamily="2" charset="-122"/>
                <a:ea typeface="华文新魏" panose="02010800040101010101" pitchFamily="2" charset="-122"/>
              </a:rPr>
              <a:t> &lt;= S0;</a:t>
            </a:r>
          </a:p>
          <a:p>
            <a:pPr eaLnBrk="1" hangingPunct="1">
              <a:lnSpc>
                <a:spcPct val="80000"/>
              </a:lnSpc>
              <a:buFontTx/>
              <a:buNone/>
            </a:pPr>
            <a:r>
              <a:rPr lang="en-US" altLang="zh-CN" sz="2000">
                <a:latin typeface="华文新魏" panose="02010800040101010101" pitchFamily="2" charset="-122"/>
                <a:ea typeface="华文新魏" panose="02010800040101010101" pitchFamily="2" charset="-122"/>
              </a:rPr>
              <a:t>               Z &lt;= '0';</a:t>
            </a:r>
          </a:p>
          <a:p>
            <a:pPr eaLnBrk="1" hangingPunct="1">
              <a:lnSpc>
                <a:spcPct val="80000"/>
              </a:lnSpc>
              <a:buFontTx/>
              <a:buNone/>
            </a:pPr>
            <a:r>
              <a:rPr lang="en-US" altLang="zh-CN" sz="2000">
                <a:latin typeface="华文新魏" panose="02010800040101010101" pitchFamily="2" charset="-122"/>
                <a:ea typeface="华文新魏" panose="02010800040101010101" pitchFamily="2" charset="-122"/>
              </a:rPr>
              <a:t>            </a:t>
            </a:r>
            <a:r>
              <a:rPr lang="en-US" altLang="zh-CN" sz="2000">
                <a:solidFill>
                  <a:srgbClr val="0000FF"/>
                </a:solidFill>
                <a:latin typeface="华文新魏" panose="02010800040101010101" pitchFamily="2" charset="-122"/>
                <a:ea typeface="华文新魏" panose="02010800040101010101" pitchFamily="2" charset="-122"/>
              </a:rPr>
              <a:t>else</a:t>
            </a:r>
          </a:p>
          <a:p>
            <a:pPr eaLnBrk="1" hangingPunct="1">
              <a:lnSpc>
                <a:spcPct val="80000"/>
              </a:lnSpc>
              <a:buFontTx/>
              <a:buNone/>
            </a:pPr>
            <a:r>
              <a:rPr lang="en-US" altLang="zh-CN" sz="2000">
                <a:latin typeface="华文新魏" panose="02010800040101010101" pitchFamily="2" charset="-122"/>
                <a:ea typeface="华文新魏" panose="02010800040101010101" pitchFamily="2" charset="-122"/>
              </a:rPr>
              <a:t>               </a:t>
            </a:r>
            <a:r>
              <a:rPr lang="en-US" altLang="zh-CN" sz="2000" err="1">
                <a:latin typeface="华文新魏" panose="02010800040101010101" pitchFamily="2" charset="-122"/>
                <a:ea typeface="华文新魏" panose="02010800040101010101" pitchFamily="2" charset="-122"/>
              </a:rPr>
              <a:t>Next_State</a:t>
            </a:r>
            <a:r>
              <a:rPr lang="en-US" altLang="zh-CN" sz="2000">
                <a:latin typeface="华文新魏" panose="02010800040101010101" pitchFamily="2" charset="-122"/>
                <a:ea typeface="华文新魏" panose="02010800040101010101" pitchFamily="2" charset="-122"/>
              </a:rPr>
              <a:t> &lt;= S0;</a:t>
            </a:r>
          </a:p>
          <a:p>
            <a:pPr eaLnBrk="1" hangingPunct="1">
              <a:lnSpc>
                <a:spcPct val="80000"/>
              </a:lnSpc>
              <a:buFontTx/>
              <a:buNone/>
            </a:pPr>
            <a:r>
              <a:rPr lang="en-US" altLang="zh-CN" sz="2000">
                <a:latin typeface="华文新魏" panose="02010800040101010101" pitchFamily="2" charset="-122"/>
                <a:ea typeface="华文新魏" panose="02010800040101010101" pitchFamily="2" charset="-122"/>
              </a:rPr>
              <a:t>               Z &lt;= '0';</a:t>
            </a:r>
          </a:p>
          <a:p>
            <a:pPr eaLnBrk="1" hangingPunct="1">
              <a:lnSpc>
                <a:spcPct val="80000"/>
              </a:lnSpc>
              <a:buFontTx/>
              <a:buNone/>
            </a:pPr>
            <a:r>
              <a:rPr lang="en-US" altLang="zh-CN" sz="2000">
                <a:latin typeface="华文新魏" panose="02010800040101010101" pitchFamily="2" charset="-122"/>
                <a:ea typeface="华文新魏" panose="02010800040101010101" pitchFamily="2" charset="-122"/>
              </a:rPr>
              <a:t>            </a:t>
            </a:r>
            <a:r>
              <a:rPr lang="en-US" altLang="zh-CN" sz="2000">
                <a:solidFill>
                  <a:srgbClr val="0000FF"/>
                </a:solidFill>
                <a:latin typeface="华文新魏" panose="02010800040101010101" pitchFamily="2" charset="-122"/>
                <a:ea typeface="华文新魏" panose="02010800040101010101" pitchFamily="2" charset="-122"/>
              </a:rPr>
              <a:t>end if</a:t>
            </a:r>
            <a:r>
              <a:rPr lang="en-US" altLang="zh-CN" sz="2000">
                <a:latin typeface="华文新魏" panose="02010800040101010101" pitchFamily="2" charset="-122"/>
                <a:ea typeface="华文新魏" panose="02010800040101010101" pitchFamily="2" charset="-122"/>
              </a:rPr>
              <a:t>;</a:t>
            </a:r>
          </a:p>
          <a:p>
            <a:pPr eaLnBrk="1" hangingPunct="1">
              <a:lnSpc>
                <a:spcPct val="80000"/>
              </a:lnSpc>
              <a:buFontTx/>
              <a:buNone/>
            </a:pPr>
            <a:r>
              <a:rPr lang="en-US" altLang="zh-CN" sz="1200">
                <a:latin typeface="华文新魏" panose="02010800040101010101" pitchFamily="2" charset="-122"/>
                <a:ea typeface="华文新魏" panose="02010800040101010101" pitchFamily="2" charset="-122"/>
              </a:rPr>
              <a:t>        </a:t>
            </a:r>
            <a:r>
              <a:rPr lang="en-US" altLang="zh-CN" sz="1200">
                <a:solidFill>
                  <a:srgbClr val="0000FF"/>
                </a:solidFill>
                <a:latin typeface="华文新魏" panose="02010800040101010101" pitchFamily="2" charset="-122"/>
                <a:ea typeface="华文新魏" panose="02010800040101010101" pitchFamily="2" charset="-122"/>
              </a:rPr>
              <a:t> </a:t>
            </a:r>
            <a:endParaRPr lang="en-US" altLang="zh-CN" sz="1200">
              <a:latin typeface="华文新魏" panose="02010800040101010101" pitchFamily="2" charset="-122"/>
              <a:ea typeface="华文新魏" panose="02010800040101010101" pitchFamily="2" charset="-122"/>
            </a:endParaRPr>
          </a:p>
        </p:txBody>
      </p:sp>
      <p:sp>
        <p:nvSpPr>
          <p:cNvPr id="216069" name="矩形 216068"/>
          <p:cNvSpPr/>
          <p:nvPr/>
        </p:nvSpPr>
        <p:spPr>
          <a:xfrm>
            <a:off x="4572000" y="771525"/>
            <a:ext cx="3779838" cy="3444875"/>
          </a:xfrm>
          <a:prstGeom prst="rect">
            <a:avLst/>
          </a:prstGeom>
          <a:noFill/>
          <a:ln w="9525">
            <a:noFill/>
          </a:ln>
        </p:spPr>
        <p:txBody>
          <a:bodyPr>
            <a:spAutoFit/>
          </a:bodyPr>
          <a:lstStyle/>
          <a:p>
            <a:r>
              <a:rPr lang="en-US" altLang="zh-CN">
                <a:solidFill>
                  <a:srgbClr val="0000FF"/>
                </a:solidFill>
                <a:latin typeface="Calibri" panose="020F0502020204030204" pitchFamily="34" charset="0"/>
              </a:rPr>
              <a:t>when </a:t>
            </a:r>
            <a:r>
              <a:rPr lang="en-US" altLang="zh-CN">
                <a:solidFill>
                  <a:schemeClr val="tx1"/>
                </a:solidFill>
                <a:latin typeface="Calibri" panose="020F0502020204030204" pitchFamily="34" charset="0"/>
              </a:rPr>
              <a:t>S6 =&gt;</a:t>
            </a:r>
          </a:p>
          <a:p>
            <a:r>
              <a:rPr lang="en-US" altLang="zh-CN">
                <a:solidFill>
                  <a:schemeClr val="tx1"/>
                </a:solidFill>
                <a:latin typeface="Calibri" panose="020F0502020204030204" pitchFamily="34" charset="0"/>
              </a:rPr>
              <a:t>           </a:t>
            </a:r>
            <a:r>
              <a:rPr lang="en-US" altLang="zh-CN">
                <a:solidFill>
                  <a:srgbClr val="0000FF"/>
                </a:solidFill>
                <a:latin typeface="Calibri" panose="020F0502020204030204" pitchFamily="34" charset="0"/>
              </a:rPr>
              <a:t> if </a:t>
            </a:r>
            <a:r>
              <a:rPr lang="en-US" altLang="zh-CN">
                <a:solidFill>
                  <a:schemeClr val="tx1"/>
                </a:solidFill>
                <a:latin typeface="Calibri" panose="020F0502020204030204" pitchFamily="34" charset="0"/>
              </a:rPr>
              <a:t>X ='0' </a:t>
            </a:r>
            <a:r>
              <a:rPr lang="en-US" altLang="zh-CN">
                <a:solidFill>
                  <a:srgbClr val="0000FF"/>
                </a:solidFill>
                <a:latin typeface="Calibri" panose="020F0502020204030204" pitchFamily="34" charset="0"/>
              </a:rPr>
              <a:t>then</a:t>
            </a:r>
          </a:p>
          <a:p>
            <a:r>
              <a:rPr lang="en-US" altLang="zh-CN">
                <a:solidFill>
                  <a:schemeClr val="tx1"/>
                </a:solidFill>
                <a:latin typeface="Calibri" panose="020F0502020204030204" pitchFamily="34" charset="0"/>
              </a:rPr>
              <a:t>               </a:t>
            </a:r>
            <a:r>
              <a:rPr lang="en-US" altLang="zh-CN" err="1">
                <a:solidFill>
                  <a:schemeClr val="tx1"/>
                </a:solidFill>
                <a:latin typeface="Calibri" panose="020F0502020204030204" pitchFamily="34" charset="0"/>
              </a:rPr>
              <a:t>Next_State</a:t>
            </a:r>
            <a:r>
              <a:rPr lang="en-US" altLang="zh-CN">
                <a:solidFill>
                  <a:schemeClr val="tx1"/>
                </a:solidFill>
                <a:latin typeface="Calibri" panose="020F0502020204030204" pitchFamily="34" charset="0"/>
              </a:rPr>
              <a:t> &lt;= S0;</a:t>
            </a:r>
          </a:p>
          <a:p>
            <a:r>
              <a:rPr lang="en-US" altLang="zh-CN">
                <a:solidFill>
                  <a:schemeClr val="tx1"/>
                </a:solidFill>
                <a:latin typeface="Calibri" panose="020F0502020204030204" pitchFamily="34" charset="0"/>
              </a:rPr>
              <a:t>               Z &lt;= '1';</a:t>
            </a:r>
          </a:p>
          <a:p>
            <a:r>
              <a:rPr lang="en-US" altLang="zh-CN">
                <a:solidFill>
                  <a:schemeClr val="tx1"/>
                </a:solidFill>
                <a:latin typeface="Calibri" panose="020F0502020204030204" pitchFamily="34" charset="0"/>
              </a:rPr>
              <a:t>            </a:t>
            </a:r>
            <a:r>
              <a:rPr lang="en-US" altLang="zh-CN">
                <a:solidFill>
                  <a:srgbClr val="0000FF"/>
                </a:solidFill>
                <a:latin typeface="Calibri" panose="020F0502020204030204" pitchFamily="34" charset="0"/>
              </a:rPr>
              <a:t>else</a:t>
            </a:r>
          </a:p>
          <a:p>
            <a:r>
              <a:rPr lang="en-US" altLang="zh-CN">
                <a:solidFill>
                  <a:schemeClr val="tx1"/>
                </a:solidFill>
                <a:latin typeface="Calibri" panose="020F0502020204030204" pitchFamily="34" charset="0"/>
              </a:rPr>
              <a:t>               </a:t>
            </a:r>
            <a:r>
              <a:rPr lang="en-US" altLang="zh-CN" err="1">
                <a:solidFill>
                  <a:schemeClr val="tx1"/>
                </a:solidFill>
                <a:latin typeface="Calibri" panose="020F0502020204030204" pitchFamily="34" charset="0"/>
              </a:rPr>
              <a:t>Next_State</a:t>
            </a:r>
            <a:r>
              <a:rPr lang="en-US" altLang="zh-CN">
                <a:solidFill>
                  <a:schemeClr val="tx1"/>
                </a:solidFill>
                <a:latin typeface="Calibri" panose="020F0502020204030204" pitchFamily="34" charset="0"/>
              </a:rPr>
              <a:t> &lt;= S0;</a:t>
            </a:r>
          </a:p>
          <a:p>
            <a:r>
              <a:rPr lang="en-US" altLang="zh-CN">
                <a:solidFill>
                  <a:schemeClr val="tx1"/>
                </a:solidFill>
                <a:latin typeface="Calibri" panose="020F0502020204030204" pitchFamily="34" charset="0"/>
              </a:rPr>
              <a:t>               Z &lt;= '1';</a:t>
            </a:r>
          </a:p>
          <a:p>
            <a:r>
              <a:rPr lang="en-US" altLang="zh-CN">
                <a:solidFill>
                  <a:schemeClr val="tx1"/>
                </a:solidFill>
                <a:latin typeface="Calibri" panose="020F0502020204030204" pitchFamily="34" charset="0"/>
              </a:rPr>
              <a:t>            </a:t>
            </a:r>
            <a:r>
              <a:rPr lang="en-US" altLang="zh-CN">
                <a:solidFill>
                  <a:srgbClr val="0000FF"/>
                </a:solidFill>
                <a:latin typeface="Calibri" panose="020F0502020204030204" pitchFamily="34" charset="0"/>
              </a:rPr>
              <a:t>end if</a:t>
            </a:r>
            <a:r>
              <a:rPr lang="en-US" altLang="zh-CN">
                <a:solidFill>
                  <a:schemeClr val="tx1"/>
                </a:solidFill>
                <a:latin typeface="Calibri" panose="020F0502020204030204" pitchFamily="34" charset="0"/>
              </a:rPr>
              <a:t>;</a:t>
            </a:r>
          </a:p>
          <a:p>
            <a:r>
              <a:rPr lang="en-US" altLang="zh-CN">
                <a:solidFill>
                  <a:schemeClr val="tx1"/>
                </a:solidFill>
                <a:latin typeface="Calibri" panose="020F0502020204030204" pitchFamily="34" charset="0"/>
              </a:rPr>
              <a:t>    </a:t>
            </a:r>
            <a:r>
              <a:rPr lang="en-US" altLang="zh-CN">
                <a:solidFill>
                  <a:srgbClr val="0000FF"/>
                </a:solidFill>
                <a:latin typeface="Calibri" panose="020F0502020204030204" pitchFamily="34" charset="0"/>
              </a:rPr>
              <a:t>end case</a:t>
            </a:r>
            <a:r>
              <a:rPr lang="en-US" altLang="zh-CN">
                <a:solidFill>
                  <a:schemeClr val="tx1"/>
                </a:solidFill>
                <a:latin typeface="Calibri" panose="020F0502020204030204" pitchFamily="34" charset="0"/>
              </a:rPr>
              <a:t>;</a:t>
            </a:r>
          </a:p>
          <a:p>
            <a:r>
              <a:rPr lang="en-US" altLang="zh-CN">
                <a:solidFill>
                  <a:srgbClr val="0000FF"/>
                </a:solidFill>
                <a:latin typeface="Calibri" panose="020F0502020204030204" pitchFamily="34" charset="0"/>
              </a:rPr>
              <a:t>end process</a:t>
            </a:r>
            <a:r>
              <a:rPr lang="en-US" altLang="zh-CN">
                <a:solidFill>
                  <a:schemeClr val="tx1"/>
                </a:solidFill>
                <a:latin typeface="Calibri" panose="020F0502020204030204" pitchFamily="34" charset="0"/>
              </a:rPr>
              <a:t>;</a:t>
            </a:r>
          </a:p>
          <a:p>
            <a:r>
              <a:rPr lang="en-US" altLang="zh-CN">
                <a:solidFill>
                  <a:srgbClr val="0000FF"/>
                </a:solidFill>
                <a:latin typeface="Calibri" panose="020F0502020204030204" pitchFamily="34" charset="0"/>
              </a:rPr>
              <a:t>end</a:t>
            </a:r>
            <a:r>
              <a:rPr lang="en-US" altLang="zh-CN">
                <a:solidFill>
                  <a:schemeClr val="tx1"/>
                </a:solidFill>
                <a:latin typeface="Calibri" panose="020F0502020204030204" pitchFamily="34" charset="0"/>
              </a:rPr>
              <a:t> MEALY_4_arch;</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2"/>
          <p:cNvSpPr>
            <a:spLocks noGrp="1"/>
          </p:cNvSpPr>
          <p:nvPr>
            <p:ph type="title"/>
          </p:nvPr>
        </p:nvSpPr>
        <p:spPr>
          <a:xfrm>
            <a:off x="312420" y="503555"/>
            <a:ext cx="5648325" cy="478790"/>
          </a:xfrm>
        </p:spPr>
        <p:txBody>
          <a:bodyPr vert="horz" wrap="square" lIns="68580" tIns="34290" rIns="68580" bIns="34290" anchor="ctr"/>
          <a:lstStyle/>
          <a:p>
            <a:r>
              <a:rPr lang="zh-CN" altLang="en-US" sz="2400" dirty="0">
                <a:ea typeface="华文新魏" panose="02010800040101010101" pitchFamily="2" charset="-122"/>
              </a:rPr>
              <a:t>顺序语句小结</a:t>
            </a:r>
          </a:p>
        </p:txBody>
      </p:sp>
      <p:sp>
        <p:nvSpPr>
          <p:cNvPr id="92163" name="Rectangle 3"/>
          <p:cNvSpPr>
            <a:spLocks noGrp="1"/>
          </p:cNvSpPr>
          <p:nvPr>
            <p:ph idx="1"/>
          </p:nvPr>
        </p:nvSpPr>
        <p:spPr>
          <a:xfrm>
            <a:off x="2987824" y="411510"/>
            <a:ext cx="2931160" cy="4680520"/>
          </a:xfrm>
          <a:ln w="12700">
            <a:noFill/>
            <a:miter/>
          </a:ln>
        </p:spPr>
        <p:txBody>
          <a:bodyPr vert="horz" wrap="square" lIns="68580" tIns="34290" rIns="68580" bIns="34290" anchor="t"/>
          <a:lstStyle/>
          <a:p>
            <a:pPr>
              <a:lnSpc>
                <a:spcPct val="80000"/>
              </a:lnSpc>
            </a:pPr>
            <a:r>
              <a:rPr lang="zh-CN" altLang="en-US" sz="2400" b="1" dirty="0">
                <a:latin typeface="华文新魏" panose="02010800040101010101" pitchFamily="2" charset="-122"/>
                <a:ea typeface="华文新魏" panose="02010800040101010101" pitchFamily="2" charset="-122"/>
                <a:hlinkClick r:id="" action="ppaction://hlinkshowjump?jump=nextslide"/>
              </a:rPr>
              <a:t>信号</a:t>
            </a:r>
            <a:r>
              <a:rPr lang="zh-CN" altLang="en-US" sz="2400" b="1" dirty="0">
                <a:latin typeface="华文新魏" panose="02010800040101010101" pitchFamily="2" charset="-122"/>
                <a:ea typeface="华文新魏" panose="02010800040101010101" pitchFamily="2" charset="-122"/>
              </a:rPr>
              <a:t>代入语句             </a:t>
            </a:r>
          </a:p>
          <a:p>
            <a:pPr>
              <a:lnSpc>
                <a:spcPct val="80000"/>
              </a:lnSpc>
            </a:pPr>
            <a:r>
              <a:rPr lang="zh-CN" altLang="en-US" sz="2400" b="1" dirty="0">
                <a:latin typeface="华文新魏" panose="02010800040101010101" pitchFamily="2" charset="-122"/>
                <a:ea typeface="华文新魏" panose="02010800040101010101" pitchFamily="2" charset="-122"/>
                <a:hlinkClick r:id="" action="ppaction://noaction"/>
              </a:rPr>
              <a:t>变量</a:t>
            </a:r>
            <a:r>
              <a:rPr lang="zh-CN" altLang="en-US" sz="2400" b="1" dirty="0">
                <a:latin typeface="华文新魏" panose="02010800040101010101" pitchFamily="2" charset="-122"/>
                <a:ea typeface="华文新魏" panose="02010800040101010101" pitchFamily="2" charset="-122"/>
              </a:rPr>
              <a:t>赋值语句</a:t>
            </a:r>
          </a:p>
          <a:p>
            <a:pPr>
              <a:lnSpc>
                <a:spcPct val="80000"/>
              </a:lnSpc>
            </a:pPr>
            <a:r>
              <a:rPr lang="en-US" altLang="zh-CN" sz="2400" b="1" dirty="0">
                <a:latin typeface="华文新魏" panose="02010800040101010101" pitchFamily="2" charset="-122"/>
                <a:ea typeface="华文新魏" panose="02010800040101010101" pitchFamily="2" charset="-122"/>
                <a:hlinkClick r:id="" action="ppaction://noaction"/>
              </a:rPr>
              <a:t>WAIT</a:t>
            </a:r>
            <a:r>
              <a:rPr lang="zh-CN" altLang="en-US" sz="2400" b="1" dirty="0">
                <a:latin typeface="华文新魏" panose="02010800040101010101" pitchFamily="2" charset="-122"/>
                <a:ea typeface="华文新魏" panose="02010800040101010101" pitchFamily="2" charset="-122"/>
              </a:rPr>
              <a:t>语句</a:t>
            </a:r>
          </a:p>
          <a:p>
            <a:pPr>
              <a:lnSpc>
                <a:spcPct val="80000"/>
              </a:lnSpc>
            </a:pPr>
            <a:r>
              <a:rPr lang="en-US" altLang="zh-CN" sz="2400" b="1" dirty="0">
                <a:solidFill>
                  <a:srgbClr val="FF0000"/>
                </a:solidFill>
                <a:latin typeface="华文新魏" panose="02010800040101010101" pitchFamily="2" charset="-122"/>
                <a:ea typeface="华文新魏" panose="02010800040101010101" pitchFamily="2" charset="-122"/>
                <a:hlinkClick r:id="" action="ppaction://noaction"/>
              </a:rPr>
              <a:t>IF</a:t>
            </a:r>
            <a:r>
              <a:rPr lang="zh-CN" altLang="en-US" sz="2400" b="1" dirty="0">
                <a:solidFill>
                  <a:srgbClr val="FF0000"/>
                </a:solidFill>
                <a:latin typeface="华文新魏" panose="02010800040101010101" pitchFamily="2" charset="-122"/>
                <a:ea typeface="华文新魏" panose="02010800040101010101" pitchFamily="2" charset="-122"/>
              </a:rPr>
              <a:t>语句</a:t>
            </a:r>
          </a:p>
          <a:p>
            <a:pPr>
              <a:lnSpc>
                <a:spcPct val="80000"/>
              </a:lnSpc>
            </a:pPr>
            <a:r>
              <a:rPr lang="en-US" altLang="zh-CN" sz="2400" b="1" dirty="0">
                <a:solidFill>
                  <a:srgbClr val="FF0000"/>
                </a:solidFill>
                <a:latin typeface="华文新魏" panose="02010800040101010101" pitchFamily="2" charset="-122"/>
                <a:ea typeface="华文新魏" panose="02010800040101010101" pitchFamily="2" charset="-122"/>
                <a:hlinkClick r:id="" action="ppaction://noaction"/>
              </a:rPr>
              <a:t>CASE</a:t>
            </a:r>
            <a:r>
              <a:rPr lang="zh-CN" altLang="en-US" sz="2400" b="1" dirty="0">
                <a:solidFill>
                  <a:srgbClr val="FF0000"/>
                </a:solidFill>
                <a:latin typeface="华文新魏" panose="02010800040101010101" pitchFamily="2" charset="-122"/>
                <a:ea typeface="华文新魏" panose="02010800040101010101" pitchFamily="2" charset="-122"/>
              </a:rPr>
              <a:t>语句</a:t>
            </a:r>
          </a:p>
          <a:p>
            <a:pPr>
              <a:lnSpc>
                <a:spcPct val="80000"/>
              </a:lnSpc>
            </a:pPr>
            <a:r>
              <a:rPr lang="en-US" altLang="zh-CN" sz="2400" b="1" dirty="0">
                <a:solidFill>
                  <a:srgbClr val="FF0000"/>
                </a:solidFill>
                <a:latin typeface="华文新魏" panose="02010800040101010101" pitchFamily="2" charset="-122"/>
                <a:ea typeface="华文新魏" panose="02010800040101010101" pitchFamily="2" charset="-122"/>
                <a:hlinkClick r:id="" action="ppaction://noaction"/>
              </a:rPr>
              <a:t>LOOP</a:t>
            </a:r>
            <a:r>
              <a:rPr lang="zh-CN" altLang="en-US" sz="2400" b="1" dirty="0">
                <a:solidFill>
                  <a:srgbClr val="FF0000"/>
                </a:solidFill>
                <a:latin typeface="华文新魏" panose="02010800040101010101" pitchFamily="2" charset="-122"/>
                <a:ea typeface="华文新魏" panose="02010800040101010101" pitchFamily="2" charset="-122"/>
              </a:rPr>
              <a:t>语句</a:t>
            </a:r>
          </a:p>
          <a:p>
            <a:pPr>
              <a:lnSpc>
                <a:spcPct val="80000"/>
              </a:lnSpc>
            </a:pPr>
            <a:r>
              <a:rPr lang="en-US" altLang="zh-CN" sz="2400" b="1" dirty="0">
                <a:latin typeface="华文新魏" panose="02010800040101010101" pitchFamily="2" charset="-122"/>
                <a:ea typeface="华文新魏" panose="02010800040101010101" pitchFamily="2" charset="-122"/>
                <a:hlinkClick r:id="" action="ppaction://noaction"/>
              </a:rPr>
              <a:t>NEXT</a:t>
            </a:r>
            <a:r>
              <a:rPr lang="zh-CN" altLang="en-US" sz="2400" b="1" dirty="0">
                <a:latin typeface="华文新魏" panose="02010800040101010101" pitchFamily="2" charset="-122"/>
                <a:ea typeface="华文新魏" panose="02010800040101010101" pitchFamily="2" charset="-122"/>
              </a:rPr>
              <a:t>语句</a:t>
            </a:r>
          </a:p>
          <a:p>
            <a:pPr>
              <a:lnSpc>
                <a:spcPct val="80000"/>
              </a:lnSpc>
            </a:pPr>
            <a:r>
              <a:rPr lang="en-US" altLang="zh-CN" sz="2400" b="1" dirty="0">
                <a:latin typeface="华文新魏" panose="02010800040101010101" pitchFamily="2" charset="-122"/>
                <a:ea typeface="华文新魏" panose="02010800040101010101" pitchFamily="2" charset="-122"/>
                <a:hlinkClick r:id="" action="ppaction://noaction"/>
              </a:rPr>
              <a:t>EXIT</a:t>
            </a:r>
            <a:r>
              <a:rPr lang="zh-CN" altLang="en-US" sz="2400" b="1" dirty="0">
                <a:latin typeface="华文新魏" panose="02010800040101010101" pitchFamily="2" charset="-122"/>
                <a:ea typeface="华文新魏" panose="02010800040101010101" pitchFamily="2" charset="-122"/>
              </a:rPr>
              <a:t>语句</a:t>
            </a:r>
          </a:p>
          <a:p>
            <a:pPr>
              <a:lnSpc>
                <a:spcPct val="80000"/>
              </a:lnSpc>
            </a:pPr>
            <a:r>
              <a:rPr lang="en-US" altLang="zh-CN" sz="2400" b="1" dirty="0">
                <a:latin typeface="华文新魏" panose="02010800040101010101" pitchFamily="2" charset="-122"/>
                <a:ea typeface="华文新魏" panose="02010800040101010101" pitchFamily="2" charset="-122"/>
                <a:hlinkClick r:id="" action="ppaction://noaction"/>
              </a:rPr>
              <a:t>RETURN</a:t>
            </a:r>
            <a:r>
              <a:rPr lang="zh-CN" altLang="en-US" sz="2400" b="1" dirty="0">
                <a:latin typeface="华文新魏" panose="02010800040101010101" pitchFamily="2" charset="-122"/>
                <a:ea typeface="华文新魏" panose="02010800040101010101" pitchFamily="2" charset="-122"/>
              </a:rPr>
              <a:t>语句</a:t>
            </a:r>
          </a:p>
          <a:p>
            <a:pPr>
              <a:lnSpc>
                <a:spcPct val="80000"/>
              </a:lnSpc>
            </a:pPr>
            <a:r>
              <a:rPr lang="en-US" altLang="zh-CN" sz="2400" b="1" u="sng" dirty="0">
                <a:latin typeface="华文新魏" panose="02010800040101010101" pitchFamily="2" charset="-122"/>
                <a:ea typeface="华文新魏" panose="02010800040101010101" pitchFamily="2" charset="-122"/>
                <a:hlinkClick r:id="" action="ppaction://noaction"/>
              </a:rPr>
              <a:t>NULL</a:t>
            </a:r>
            <a:r>
              <a:rPr lang="zh-CN" altLang="en-US" sz="2400" b="1" dirty="0">
                <a:latin typeface="华文新魏" panose="02010800040101010101" pitchFamily="2" charset="-122"/>
                <a:ea typeface="华文新魏" panose="02010800040101010101" pitchFamily="2" charset="-122"/>
              </a:rPr>
              <a:t>语句</a:t>
            </a:r>
          </a:p>
          <a:p>
            <a:pPr>
              <a:lnSpc>
                <a:spcPct val="80000"/>
              </a:lnSpc>
            </a:pPr>
            <a:r>
              <a:rPr lang="zh-CN" altLang="en-US" sz="2400" b="1" dirty="0">
                <a:solidFill>
                  <a:srgbClr val="7575D1"/>
                </a:solidFill>
                <a:latin typeface="华文新魏" panose="02010800040101010101" pitchFamily="2" charset="-122"/>
                <a:ea typeface="华文新魏" panose="02010800040101010101" pitchFamily="2" charset="-122"/>
              </a:rPr>
              <a:t>过程调用语句</a:t>
            </a:r>
          </a:p>
          <a:p>
            <a:pPr>
              <a:lnSpc>
                <a:spcPct val="80000"/>
              </a:lnSpc>
            </a:pPr>
            <a:r>
              <a:rPr lang="zh-CN" altLang="en-US" sz="2400" b="1" dirty="0">
                <a:solidFill>
                  <a:srgbClr val="7575D1"/>
                </a:solidFill>
                <a:latin typeface="华文新魏" panose="02010800040101010101" pitchFamily="2" charset="-122"/>
                <a:ea typeface="华文新魏" panose="02010800040101010101" pitchFamily="2" charset="-122"/>
              </a:rPr>
              <a:t>断言语句；告语句</a:t>
            </a:r>
          </a:p>
        </p:txBody>
      </p:sp>
      <p:sp>
        <p:nvSpPr>
          <p:cNvPr id="2" name="Rectangle 3"/>
          <p:cNvSpPr/>
          <p:nvPr/>
        </p:nvSpPr>
        <p:spPr>
          <a:xfrm>
            <a:off x="5964476" y="1106091"/>
            <a:ext cx="2628900" cy="3804047"/>
          </a:xfrm>
          <a:prstGeom prst="rect">
            <a:avLst/>
          </a:prstGeom>
          <a:noFill/>
          <a:ln w="12700" cap="flat" cmpd="sng">
            <a:solidFill>
              <a:srgbClr val="FFFFFF"/>
            </a:solidFill>
            <a:prstDash val="solid"/>
            <a:miter/>
            <a:headEnd type="none" w="med" len="med"/>
            <a:tailEnd type="none" w="med" len="med"/>
          </a:ln>
        </p:spPr>
        <p:txBody>
          <a:bodyPr anchor="t"/>
          <a:lstStyle/>
          <a:p>
            <a:pPr marL="342900" indent="-342900" eaLnBrk="0" hangingPunct="0">
              <a:lnSpc>
                <a:spcPct val="80000"/>
              </a:lnSpc>
              <a:spcBef>
                <a:spcPct val="20000"/>
              </a:spcBef>
              <a:buChar char="•"/>
            </a:pPr>
            <a:r>
              <a:rPr lang="en-US" altLang="zh-CN" sz="2400" dirty="0">
                <a:solidFill>
                  <a:srgbClr val="0000FF"/>
                </a:solidFill>
                <a:latin typeface="华文新魏" panose="02010800040101010101" pitchFamily="2" charset="-122"/>
                <a:ea typeface="华文新魏" panose="02010800040101010101" pitchFamily="2" charset="-122"/>
              </a:rPr>
              <a:t>VHDL</a:t>
            </a:r>
            <a:r>
              <a:rPr lang="zh-CN" altLang="en-US" sz="2400" dirty="0">
                <a:solidFill>
                  <a:srgbClr val="0000FF"/>
                </a:solidFill>
                <a:latin typeface="华文新魏" panose="02010800040101010101" pitchFamily="2" charset="-122"/>
                <a:ea typeface="华文新魏" panose="02010800040101010101" pitchFamily="2" charset="-122"/>
              </a:rPr>
              <a:t>中提供了一系列丰富的顺序语句，用来定义进程、过程或函数的行为</a:t>
            </a:r>
            <a:r>
              <a:rPr lang="zh-CN" altLang="en-US" sz="1500" dirty="0">
                <a:latin typeface="华文新魏" panose="02010800040101010101" pitchFamily="2" charset="-122"/>
                <a:ea typeface="华文新魏" panose="02010800040101010101" pitchFamily="2" charset="-122"/>
              </a:rPr>
              <a:t>。</a:t>
            </a:r>
            <a:endParaRPr lang="zh-CN" altLang="en-US" sz="1500"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2"/>
          <p:cNvSpPr>
            <a:spLocks noGrp="1"/>
          </p:cNvSpPr>
          <p:nvPr>
            <p:ph type="title"/>
          </p:nvPr>
        </p:nvSpPr>
        <p:spPr>
          <a:xfrm>
            <a:off x="312420" y="503555"/>
            <a:ext cx="5648325" cy="478790"/>
          </a:xfrm>
        </p:spPr>
        <p:txBody>
          <a:bodyPr vert="horz" wrap="square" lIns="68580" tIns="34290" rIns="68580" bIns="34290" anchor="ctr"/>
          <a:lstStyle/>
          <a:p>
            <a:r>
              <a:rPr lang="zh-CN" altLang="en-US" sz="2400" dirty="0">
                <a:ea typeface="华文新魏" panose="02010800040101010101" pitchFamily="2" charset="-122"/>
              </a:rPr>
              <a:t>并发语句小结</a:t>
            </a:r>
          </a:p>
        </p:txBody>
      </p:sp>
      <p:sp>
        <p:nvSpPr>
          <p:cNvPr id="92163" name="Rectangle 3"/>
          <p:cNvSpPr>
            <a:spLocks noGrp="1"/>
          </p:cNvSpPr>
          <p:nvPr>
            <p:ph idx="1"/>
          </p:nvPr>
        </p:nvSpPr>
        <p:spPr>
          <a:xfrm>
            <a:off x="2600325" y="832485"/>
            <a:ext cx="3884295" cy="3804285"/>
          </a:xfrm>
          <a:ln w="12700">
            <a:solidFill>
              <a:srgbClr val="FFFFFF"/>
            </a:solidFill>
            <a:miter/>
          </a:ln>
        </p:spPr>
        <p:txBody>
          <a:bodyPr vert="horz" wrap="square" lIns="68580" tIns="34290" rIns="68580" bIns="34290" anchor="t"/>
          <a:lstStyle/>
          <a:p>
            <a:pPr>
              <a:lnSpc>
                <a:spcPct val="80000"/>
              </a:lnSpc>
            </a:pPr>
            <a:r>
              <a:rPr lang="zh-CN" altLang="en-US" sz="2400" b="1" dirty="0">
                <a:latin typeface="华文新魏" panose="02010800040101010101" pitchFamily="2" charset="-122"/>
                <a:ea typeface="华文新魏" panose="02010800040101010101" pitchFamily="2" charset="-122"/>
                <a:hlinkClick r:id="" action="ppaction://hlinkshowjump?jump=nextslide"/>
              </a:rPr>
              <a:t>信号</a:t>
            </a:r>
            <a:r>
              <a:rPr lang="zh-CN" altLang="en-US" sz="2400" b="1" dirty="0">
                <a:latin typeface="华文新魏" panose="02010800040101010101" pitchFamily="2" charset="-122"/>
                <a:ea typeface="华文新魏" panose="02010800040101010101" pitchFamily="2" charset="-122"/>
              </a:rPr>
              <a:t>代入语句             </a:t>
            </a:r>
          </a:p>
          <a:p>
            <a:pPr>
              <a:lnSpc>
                <a:spcPct val="80000"/>
              </a:lnSpc>
            </a:pPr>
            <a:r>
              <a:rPr lang="en-US" altLang="zh-CN" sz="2400" b="1" dirty="0">
                <a:solidFill>
                  <a:srgbClr val="FF0000"/>
                </a:solidFill>
                <a:latin typeface="华文新魏" panose="02010800040101010101" pitchFamily="2" charset="-122"/>
                <a:ea typeface="华文新魏" panose="02010800040101010101" pitchFamily="2" charset="-122"/>
              </a:rPr>
              <a:t>process</a:t>
            </a:r>
            <a:r>
              <a:rPr lang="zh-CN" altLang="en-US" sz="2400" b="1" dirty="0">
                <a:solidFill>
                  <a:srgbClr val="FF0000"/>
                </a:solidFill>
                <a:latin typeface="华文新魏" panose="02010800040101010101" pitchFamily="2" charset="-122"/>
                <a:ea typeface="华文新魏" panose="02010800040101010101" pitchFamily="2" charset="-122"/>
              </a:rPr>
              <a:t>语句</a:t>
            </a:r>
            <a:endParaRPr lang="zh-CN" altLang="en-US" sz="2400" b="1" dirty="0">
              <a:latin typeface="华文新魏" panose="02010800040101010101" pitchFamily="2" charset="-122"/>
              <a:ea typeface="华文新魏" panose="02010800040101010101" pitchFamily="2" charset="-122"/>
            </a:endParaRPr>
          </a:p>
          <a:p>
            <a:pPr>
              <a:lnSpc>
                <a:spcPct val="80000"/>
              </a:lnSpc>
            </a:pPr>
            <a:r>
              <a:rPr lang="en-US" altLang="zh-CN" sz="2400" b="1" dirty="0">
                <a:solidFill>
                  <a:srgbClr val="FF0000"/>
                </a:solidFill>
                <a:latin typeface="华文新魏" panose="02010800040101010101" pitchFamily="2" charset="-122"/>
                <a:ea typeface="华文新魏" panose="02010800040101010101" pitchFamily="2" charset="-122"/>
              </a:rPr>
              <a:t>block</a:t>
            </a:r>
            <a:r>
              <a:rPr lang="zh-CN" altLang="en-US" sz="2400" b="1" dirty="0">
                <a:solidFill>
                  <a:srgbClr val="FF0000"/>
                </a:solidFill>
                <a:latin typeface="华文新魏" panose="02010800040101010101" pitchFamily="2" charset="-122"/>
                <a:ea typeface="华文新魏" panose="02010800040101010101" pitchFamily="2" charset="-122"/>
              </a:rPr>
              <a:t>语句</a:t>
            </a:r>
          </a:p>
          <a:p>
            <a:pPr>
              <a:lnSpc>
                <a:spcPct val="80000"/>
              </a:lnSpc>
            </a:pPr>
            <a:r>
              <a:rPr lang="zh-CN" altLang="en-US" sz="2400" b="1" dirty="0">
                <a:solidFill>
                  <a:srgbClr val="FF0000"/>
                </a:solidFill>
                <a:latin typeface="华文新魏" panose="02010800040101010101" pitchFamily="2" charset="-122"/>
                <a:ea typeface="华文新魏" panose="02010800040101010101" pitchFamily="2" charset="-122"/>
              </a:rPr>
              <a:t>条件信号赋值</a:t>
            </a:r>
            <a:r>
              <a:rPr lang="zh-CN" altLang="en-US" sz="2400" b="1" dirty="0">
                <a:solidFill>
                  <a:srgbClr val="FF0000"/>
                </a:solidFill>
                <a:latin typeface="华文新魏" panose="02010800040101010101" pitchFamily="2" charset="-122"/>
                <a:ea typeface="华文新魏" panose="02010800040101010101" pitchFamily="2" charset="-122"/>
                <a:sym typeface="+mn-ea"/>
              </a:rPr>
              <a:t>语句</a:t>
            </a:r>
            <a:r>
              <a:rPr lang="en-US" altLang="zh-CN" sz="2400" b="1" dirty="0">
                <a:solidFill>
                  <a:srgbClr val="FF0000"/>
                </a:solidFill>
                <a:latin typeface="华文新魏" panose="02010800040101010101" pitchFamily="2" charset="-122"/>
                <a:ea typeface="华文新魏" panose="02010800040101010101" pitchFamily="2" charset="-122"/>
              </a:rPr>
              <a:t>when else</a:t>
            </a:r>
            <a:endParaRPr lang="zh-CN" altLang="en-US" sz="2400" b="1" dirty="0">
              <a:solidFill>
                <a:srgbClr val="FF0000"/>
              </a:solidFill>
              <a:latin typeface="华文新魏" panose="02010800040101010101" pitchFamily="2" charset="-122"/>
              <a:ea typeface="华文新魏" panose="02010800040101010101" pitchFamily="2" charset="-122"/>
            </a:endParaRPr>
          </a:p>
          <a:p>
            <a:pPr algn="l">
              <a:lnSpc>
                <a:spcPct val="80000"/>
              </a:lnSpc>
              <a:buClrTx/>
              <a:buSzTx/>
            </a:pPr>
            <a:r>
              <a:rPr lang="zh-CN" altLang="en-US" sz="2400" b="1" dirty="0">
                <a:solidFill>
                  <a:srgbClr val="FF0000"/>
                </a:solidFill>
                <a:latin typeface="华文新魏" panose="02010800040101010101" pitchFamily="2" charset="-122"/>
                <a:ea typeface="华文新魏" panose="02010800040101010101" pitchFamily="2" charset="-122"/>
              </a:rPr>
              <a:t>选择信号赋值</a:t>
            </a:r>
            <a:r>
              <a:rPr lang="zh-CN" altLang="en-US" sz="2400" b="1" dirty="0">
                <a:solidFill>
                  <a:srgbClr val="FF0000"/>
                </a:solidFill>
                <a:latin typeface="华文新魏" panose="02010800040101010101" pitchFamily="2" charset="-122"/>
                <a:ea typeface="华文新魏" panose="02010800040101010101" pitchFamily="2" charset="-122"/>
                <a:sym typeface="+mn-ea"/>
              </a:rPr>
              <a:t>语句WITH   SELECT   When</a:t>
            </a:r>
            <a:endParaRPr lang="zh-CN" altLang="en-US" sz="2400" b="1" dirty="0">
              <a:solidFill>
                <a:srgbClr val="FF0000"/>
              </a:solidFill>
              <a:latin typeface="华文新魏" panose="02010800040101010101" pitchFamily="2" charset="-122"/>
              <a:ea typeface="华文新魏" panose="02010800040101010101" pitchFamily="2" charset="-122"/>
            </a:endParaRPr>
          </a:p>
          <a:p>
            <a:pPr>
              <a:lnSpc>
                <a:spcPct val="80000"/>
              </a:lnSpc>
            </a:pPr>
            <a:r>
              <a:rPr lang="zh-CN" altLang="en-US" sz="2400" b="1" u="sng" dirty="0">
                <a:latin typeface="华文新魏" panose="02010800040101010101" pitchFamily="2" charset="-122"/>
                <a:ea typeface="华文新魏" panose="02010800040101010101" pitchFamily="2" charset="-122"/>
              </a:rPr>
              <a:t>断言语句</a:t>
            </a:r>
            <a:r>
              <a:rPr lang="en-US" altLang="zh-CN" sz="2400" b="1" u="sng" dirty="0">
                <a:solidFill>
                  <a:srgbClr val="0000FF"/>
                </a:solidFill>
                <a:latin typeface="华文新魏" panose="02010800040101010101" pitchFamily="2" charset="-122"/>
                <a:ea typeface="华文新魏" panose="02010800040101010101" pitchFamily="2" charset="-122"/>
                <a:sym typeface="+mn-ea"/>
              </a:rPr>
              <a:t>ASSERT</a:t>
            </a:r>
            <a:endParaRPr lang="zh-CN" altLang="en-US" sz="2400" b="1" u="sng" dirty="0">
              <a:latin typeface="华文新魏" panose="02010800040101010101" pitchFamily="2" charset="-122"/>
              <a:ea typeface="华文新魏" panose="02010800040101010101" pitchFamily="2" charset="-122"/>
            </a:endParaRPr>
          </a:p>
          <a:p>
            <a:pPr>
              <a:lnSpc>
                <a:spcPct val="80000"/>
              </a:lnSpc>
            </a:pPr>
            <a:r>
              <a:rPr lang="zh-CN" altLang="en-US" sz="2400" b="1" dirty="0">
                <a:latin typeface="华文新魏" panose="02010800040101010101" pitchFamily="2" charset="-122"/>
                <a:ea typeface="华文新魏" panose="02010800040101010101" pitchFamily="2" charset="-122"/>
              </a:rPr>
              <a:t>元件语句</a:t>
            </a:r>
            <a:r>
              <a:rPr lang="en-US" altLang="zh-CN" sz="2400" b="1" dirty="0">
                <a:solidFill>
                  <a:srgbClr val="0000FF"/>
                </a:solidFill>
                <a:latin typeface="华文新魏" panose="02010800040101010101" pitchFamily="2" charset="-122"/>
                <a:ea typeface="华文新魏" panose="02010800040101010101" pitchFamily="2" charset="-122"/>
              </a:rPr>
              <a:t>C</a:t>
            </a:r>
            <a:r>
              <a:rPr lang="en-US" altLang="zh-CN" sz="2400" b="1" dirty="0">
                <a:solidFill>
                  <a:srgbClr val="0000FF"/>
                </a:solidFill>
                <a:latin typeface="华文新魏" panose="02010800040101010101" pitchFamily="2" charset="-122"/>
                <a:ea typeface="华文新魏" panose="02010800040101010101" pitchFamily="2" charset="-122"/>
                <a:sym typeface="+mn-ea"/>
              </a:rPr>
              <a:t>OMPONENT</a:t>
            </a:r>
            <a:endParaRPr lang="zh-CN" altLang="en-US" sz="2400" b="1" dirty="0">
              <a:latin typeface="华文新魏" panose="02010800040101010101" pitchFamily="2" charset="-122"/>
              <a:ea typeface="华文新魏" panose="02010800040101010101" pitchFamily="2" charset="-122"/>
            </a:endParaRPr>
          </a:p>
          <a:p>
            <a:pPr>
              <a:lnSpc>
                <a:spcPct val="80000"/>
              </a:lnSpc>
            </a:pPr>
            <a:r>
              <a:rPr lang="zh-CN" altLang="en-US" sz="2400" b="1" dirty="0">
                <a:solidFill>
                  <a:srgbClr val="7575D1"/>
                </a:solidFill>
                <a:latin typeface="华文新魏" panose="02010800040101010101" pitchFamily="2" charset="-122"/>
                <a:ea typeface="华文新魏" panose="02010800040101010101" pitchFamily="2" charset="-122"/>
              </a:rPr>
              <a:t>生成语句</a:t>
            </a:r>
            <a:r>
              <a:rPr lang="en-US" altLang="zh-CN" sz="2400" b="1" dirty="0">
                <a:solidFill>
                  <a:srgbClr val="0000FF"/>
                </a:solidFill>
                <a:latin typeface="华文新魏" panose="02010800040101010101" pitchFamily="2" charset="-122"/>
                <a:ea typeface="华文新魏" panose="02010800040101010101" pitchFamily="2" charset="-122"/>
                <a:sym typeface="+mn-ea"/>
              </a:rPr>
              <a:t> GENERATE</a:t>
            </a:r>
            <a:r>
              <a:rPr lang="zh-CN" altLang="en-US" sz="2400" b="1" dirty="0">
                <a:solidFill>
                  <a:srgbClr val="0000FF"/>
                </a:solidFill>
                <a:latin typeface="华文新魏" panose="02010800040101010101" pitchFamily="2" charset="-122"/>
                <a:ea typeface="华文新魏" panose="02010800040101010101" pitchFamily="2" charset="-122"/>
                <a:sym typeface="+mn-ea"/>
              </a:rPr>
              <a:t>语句</a:t>
            </a:r>
            <a:endParaRPr lang="zh-CN" altLang="en-US" sz="2400" b="1" dirty="0">
              <a:solidFill>
                <a:srgbClr val="7575D1"/>
              </a:solidFill>
              <a:latin typeface="华文新魏" panose="02010800040101010101" pitchFamily="2" charset="-122"/>
              <a:ea typeface="华文新魏" panose="02010800040101010101" pitchFamily="2" charset="-122"/>
            </a:endParaRPr>
          </a:p>
        </p:txBody>
      </p:sp>
      <p:sp>
        <p:nvSpPr>
          <p:cNvPr id="2" name="Rectangle 3"/>
          <p:cNvSpPr/>
          <p:nvPr/>
        </p:nvSpPr>
        <p:spPr>
          <a:xfrm>
            <a:off x="6395006" y="675561"/>
            <a:ext cx="2628900" cy="3804047"/>
          </a:xfrm>
          <a:prstGeom prst="rect">
            <a:avLst/>
          </a:prstGeom>
          <a:noFill/>
          <a:ln w="12700" cap="flat" cmpd="sng">
            <a:solidFill>
              <a:srgbClr val="FFFFFF"/>
            </a:solidFill>
            <a:prstDash val="solid"/>
            <a:miter/>
            <a:headEnd type="none" w="med" len="med"/>
            <a:tailEnd type="none" w="med" len="med"/>
          </a:ln>
        </p:spPr>
        <p:txBody>
          <a:bodyPr anchor="t"/>
          <a:lstStyle/>
          <a:p>
            <a:pPr marL="342900" indent="-342900" eaLnBrk="0" hangingPunct="0">
              <a:lnSpc>
                <a:spcPct val="80000"/>
              </a:lnSpc>
              <a:spcBef>
                <a:spcPct val="20000"/>
              </a:spcBef>
              <a:buChar char="•"/>
            </a:pPr>
            <a:r>
              <a:rPr lang="en-US" altLang="zh-CN" sz="2400" dirty="0">
                <a:solidFill>
                  <a:srgbClr val="0000FF"/>
                </a:solidFill>
                <a:latin typeface="华文新魏" panose="02010800040101010101" pitchFamily="2" charset="-122"/>
                <a:ea typeface="华文新魏" panose="02010800040101010101" pitchFamily="2" charset="-122"/>
              </a:rPr>
              <a:t>VHDL</a:t>
            </a:r>
            <a:r>
              <a:rPr lang="zh-CN" altLang="en-US" sz="2400" dirty="0">
                <a:solidFill>
                  <a:srgbClr val="0000FF"/>
                </a:solidFill>
                <a:latin typeface="华文新魏" panose="02010800040101010101" pitchFamily="2" charset="-122"/>
                <a:ea typeface="华文新魏" panose="02010800040101010101" pitchFamily="2" charset="-122"/>
              </a:rPr>
              <a:t>中提供了较丰富的并发语句，用来定义电路的行为</a:t>
            </a:r>
            <a:r>
              <a:rPr lang="zh-CN" altLang="en-US" sz="1500" dirty="0">
                <a:latin typeface="华文新魏" panose="02010800040101010101" pitchFamily="2" charset="-122"/>
                <a:ea typeface="华文新魏" panose="02010800040101010101" pitchFamily="2" charset="-122"/>
              </a:rPr>
              <a:t>。</a:t>
            </a:r>
            <a:endParaRPr lang="zh-CN" altLang="en-US" sz="1500"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1" build="p" animBg="1"/>
      <p:bldP spid="2" grpId="1" animBg="1"/>
      <p:bldP spid="2" grpId="2"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6aab7aa9-cc81-48df-8886-c4e13fc24189"/>
  <p:tag name="COMMONDATA" val="eyJoZGlkIjoiYWM1OWY0MGVhYmU5NTRkZGZlMzJmNTI0MzdiODI0Mjc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b0fc56c0-a888-4b71-8491-074500ff6905}"/>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713aa467-ab62-4a08-9312-a2b1c3ee4665}"/>
  <p:tag name="TABLE_ENDDRAG_ORIGIN_RECT" val="383*181"/>
  <p:tag name="TABLE_ENDDRAG_RECT" val="105*92*383*181"/>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707.500787401576,&quot;width&quot;:13297.500787401576}"/>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自定义设计方案">
  <a:themeElements>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1274</TotalTime>
  <Words>8917</Words>
  <Application>Microsoft Office PowerPoint</Application>
  <PresentationFormat>全屏显示(16:9)</PresentationFormat>
  <Paragraphs>1125</Paragraphs>
  <Slides>96</Slides>
  <Notes>55</Notes>
  <HiddenSlides>0</HiddenSlides>
  <MMClips>0</MMClips>
  <ScaleCrop>false</ScaleCrop>
  <HeadingPairs>
    <vt:vector size="6" baseType="variant">
      <vt:variant>
        <vt:lpstr>已用的字体</vt:lpstr>
      </vt:variant>
      <vt:variant>
        <vt:i4>10</vt:i4>
      </vt:variant>
      <vt:variant>
        <vt:lpstr>主题</vt:lpstr>
      </vt:variant>
      <vt:variant>
        <vt:i4>10</vt:i4>
      </vt:variant>
      <vt:variant>
        <vt:lpstr>幻灯片标题</vt:lpstr>
      </vt:variant>
      <vt:variant>
        <vt:i4>96</vt:i4>
      </vt:variant>
    </vt:vector>
  </HeadingPairs>
  <TitlesOfParts>
    <vt:vector size="116" baseType="lpstr">
      <vt:lpstr>方正综艺简体</vt:lpstr>
      <vt:lpstr>黑体</vt:lpstr>
      <vt:lpstr>华文新魏</vt:lpstr>
      <vt:lpstr>楷体_GB2312</vt:lpstr>
      <vt:lpstr>宋体</vt:lpstr>
      <vt:lpstr>Arial</vt:lpstr>
      <vt:lpstr>Calibri</vt:lpstr>
      <vt:lpstr>Calibri Light</vt:lpstr>
      <vt:lpstr>Times New Roman</vt:lpstr>
      <vt:lpstr>Wingdings</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9_自定义设计方案</vt:lpstr>
      <vt:lpstr>数 字 逻 辑 电 路</vt:lpstr>
      <vt:lpstr>PowerPoint 演示文稿</vt:lpstr>
      <vt:lpstr>数字电路设计技术的发展</vt:lpstr>
      <vt:lpstr>硬件描述语言（HDL）</vt:lpstr>
      <vt:lpstr>PowerPoint 演示文稿</vt:lpstr>
      <vt:lpstr>4.4.1  VHDL的基础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端口定义总结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程序包主体</vt:lpstr>
      <vt:lpstr>Std_logic_arith包体的部分内容</vt:lpstr>
      <vt:lpstr>PowerPoint 演示文稿</vt:lpstr>
      <vt:lpstr>程序包例： 设计一个半加器和或门元件，并以程序包方式将其扩展成1位全加器</vt:lpstr>
      <vt:lpstr>PowerPoint 演示文稿</vt:lpstr>
      <vt:lpstr>步骤3：设计一个或门程序，经测试无误后以OR_GATE名称存入项目中。</vt:lpstr>
      <vt:lpstr>步骤4：设计一个半加器，经测试无误后以HA_COM名称存入项目中。</vt:lpstr>
      <vt:lpstr>步骤5：设计一个调用程序，将它们连接成1位加法器。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与IF语句的主要区别</vt:lpstr>
      <vt:lpstr>PowerPoint 演示文稿</vt:lpstr>
      <vt:lpstr>PowerPoint 演示文稿</vt:lpstr>
      <vt:lpstr>PowerPoint 演示文稿</vt:lpstr>
      <vt:lpstr>PowerPoint 演示文稿</vt:lpstr>
      <vt:lpstr>步骤1：绘出电路的状态图</vt:lpstr>
      <vt:lpstr>步骤2：整理出电路的状态表</vt:lpstr>
      <vt:lpstr>PowerPoint 演示文稿</vt:lpstr>
      <vt:lpstr>PowerPoint 演示文稿</vt:lpstr>
      <vt:lpstr>PowerPoint 演示文稿</vt:lpstr>
      <vt:lpstr>PowerPoint 演示文稿</vt:lpstr>
      <vt:lpstr>PowerPoint 演示文稿</vt:lpstr>
      <vt:lpstr>步骤1：绘出电路的状态图</vt:lpstr>
      <vt:lpstr>步骤2：整理出电路的状态表</vt:lpstr>
      <vt:lpstr>步骤3：将状态变化及输出状况用VHDL描述</vt:lpstr>
      <vt:lpstr>PowerPoint 演示文稿</vt:lpstr>
      <vt:lpstr>PowerPoint 演示文稿</vt:lpstr>
      <vt:lpstr>PowerPoint 演示文稿</vt:lpstr>
      <vt:lpstr>PowerPoint 演示文稿</vt:lpstr>
      <vt:lpstr>顺序语句小结</vt:lpstr>
      <vt:lpstr>并发语句小结</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松 刘</cp:lastModifiedBy>
  <cp:revision>452</cp:revision>
  <dcterms:created xsi:type="dcterms:W3CDTF">2002-09-09T07:46:00Z</dcterms:created>
  <dcterms:modified xsi:type="dcterms:W3CDTF">2025-09-09T08:35:07Z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8AD96E7898E049D18ED0774535EB3A3C_13</vt:lpwstr>
  </property>
</Properties>
</file>