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528" r:id="rId3"/>
    <p:sldId id="529" r:id="rId4"/>
    <p:sldId id="530" r:id="rId5"/>
    <p:sldId id="531" r:id="rId6"/>
    <p:sldId id="588" r:id="rId7"/>
    <p:sldId id="532" r:id="rId8"/>
    <p:sldId id="533" r:id="rId9"/>
    <p:sldId id="534" r:id="rId10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645" r:id="rId19"/>
    <p:sldId id="542" r:id="rId20"/>
    <p:sldId id="543" r:id="rId21"/>
    <p:sldId id="544" r:id="rId22"/>
    <p:sldId id="646" r:id="rId23"/>
    <p:sldId id="54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2" r:id="rId50"/>
    <p:sldId id="573" r:id="rId51"/>
    <p:sldId id="648" r:id="rId52"/>
    <p:sldId id="649" r:id="rId53"/>
    <p:sldId id="650" r:id="rId54"/>
    <p:sldId id="574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582" r:id="rId63"/>
    <p:sldId id="583" r:id="rId64"/>
    <p:sldId id="584" r:id="rId65"/>
    <p:sldId id="585" r:id="rId66"/>
    <p:sldId id="586" r:id="rId67"/>
    <p:sldId id="587" r:id="rId68"/>
    <p:sldId id="651" r:id="rId69"/>
    <p:sldId id="696" r:id="rId70"/>
  </p:sldIdLst>
  <p:sldSz cx="9144000" cy="5143500"/>
  <p:notesSz cx="6858000" cy="9144000"/>
  <p:custDataLst>
    <p:tags r:id="rId7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254"/>
    <p:restoredTop sz="94553"/>
  </p:normalViewPr>
  <p:slideViewPr>
    <p:cSldViewPr showGuides="1">
      <p:cViewPr varScale="1">
        <p:scale>
          <a:sx n="98" d="100"/>
          <a:sy n="98" d="100"/>
        </p:scale>
        <p:origin x="576" y="72"/>
      </p:cViewPr>
      <p:guideLst>
        <p:guide orient="horz" pos="1540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5" Type="http://schemas.openxmlformats.org/officeDocument/2006/relationships/tags" Target="tags/tag9.xml"/><Relationship Id="rId74" Type="http://schemas.openxmlformats.org/officeDocument/2006/relationships/commentAuthors" Target="commentAuthors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5250FD-B401-4BE5-BA19-F98E15D474B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0389D0-F3DB-4D06-97D0-EDDF170717C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计算机中的</a:t>
            </a:r>
            <a:r>
              <a:rPr lang="en-US" altLang="zh-CN"/>
              <a:t>K=1024</a:t>
            </a:r>
            <a:r>
              <a:rPr lang="zh-CN" altLang="en-US"/>
              <a:t>；通信速度的</a:t>
            </a:r>
            <a:r>
              <a:rPr lang="en-US" altLang="zh-CN"/>
              <a:t>K=1000</a:t>
            </a:r>
            <a:r>
              <a:rPr lang="zh-CN" altLang="en-US"/>
              <a:t>。产生差异的原因是，一个用</a:t>
            </a:r>
            <a:r>
              <a:rPr lang="en-US" altLang="zh-CN"/>
              <a:t>2</a:t>
            </a:r>
            <a:r>
              <a:rPr lang="zh-CN" altLang="en-US"/>
              <a:t>的幂次方表示的，另一个是用</a:t>
            </a:r>
            <a:r>
              <a:rPr lang="en-US" altLang="zh-CN"/>
              <a:t>10</a:t>
            </a:r>
            <a:r>
              <a:rPr lang="zh-CN" altLang="en-US"/>
              <a:t>的幂次方表示的值。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en-US" altLang="zh-CN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实现原码加运算的电路，必须具有判断加数判断符号、绝对值大小和加减运算的能力。这种电路较复杂。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D34E77-AA51-48F0-935B-1AD49497690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884019-65C5-4BD0-A72D-0126FE998E6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E1AE41-DD0B-4FD5-A96D-D271362E980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1346BB-C7E2-48E0-B2BF-F25D225E9F5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A842D7-BDBF-4F6C-90E5-BAAC9594A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5DB32F-60FA-4F7F-9EB6-8AEECFDEFB1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F12277-9DDA-4399-837A-FC87E0D56B7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5A90D3-568F-4D9B-9D99-E11B79E6B3B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0C5439-BE69-442F-8A10-0B1B3CBBB5A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98F71-2861-499A-AF03-C6EABDEA546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D6B8F3-6BCC-4B6C-966D-29D1BE0A073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451F29-6C2B-459D-9A19-F92A4163ED9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DBA22D-A7DF-4A92-A429-83253D70D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2A65FA-5C73-4B24-AC4C-9B653B0A73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74662B-7174-4D52-91AE-CF69F553F59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B9624C-65E3-479D-85C4-69285262E7B1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日期占位符 2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DE099B-DB91-4533-B26E-40786686789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267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11270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3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11274" name="文本框 11"/>
          <p:cNvSpPr txBox="1"/>
          <p:nvPr/>
        </p:nvSpPr>
        <p:spPr>
          <a:xfrm>
            <a:off x="4165600" y="2692400"/>
            <a:ext cx="1054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伍卫国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1275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1276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Text Box 10"/>
          <p:cNvSpPr txBox="1"/>
          <p:nvPr/>
        </p:nvSpPr>
        <p:spPr>
          <a:xfrm>
            <a:off x="715963" y="981075"/>
            <a:ext cx="7885112" cy="3945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十进位计数制的特点、表示法，任意十进制数表示？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进位计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数制的特点、表示法、运算规则及相互关系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多项式替代法，基数乘除法，桥梁法、直接转换法，小数位置的确定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1.2.2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数的表示及其运算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数的小数点的表示：定点数、浮点数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带符号数的代码表示及其运算：原码、反码和补码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十进制数的代码表示及其运算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BCD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2421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、余三码等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1.2.4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可靠性编码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格雷码、奇偶校验码、海明码、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Rectangle 13"/>
          <p:cNvSpPr>
            <a:spLocks noGrp="1"/>
          </p:cNvSpPr>
          <p:nvPr>
            <p:ph type="title"/>
          </p:nvPr>
        </p:nvSpPr>
        <p:spPr>
          <a:xfrm>
            <a:off x="644525" y="566738"/>
            <a:ext cx="3927475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数制与编码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4" name="Rectangle 2"/>
          <p:cNvSpPr txBox="1"/>
          <p:nvPr/>
        </p:nvSpPr>
        <p:spPr>
          <a:xfrm>
            <a:off x="5550535" y="52705"/>
            <a:ext cx="307848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628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Text Box 9"/>
          <p:cNvSpPr txBox="1"/>
          <p:nvPr/>
        </p:nvSpPr>
        <p:spPr>
          <a:xfrm>
            <a:off x="869950" y="1991995"/>
            <a:ext cx="82264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在日常生活中通常采用的是十进位计数制（简称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0,1,2,3,4,5,6,7,8,9,10,11, 12,…,99,100, …,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7" name="Text Box 10"/>
          <p:cNvSpPr txBox="1"/>
          <p:nvPr/>
        </p:nvSpPr>
        <p:spPr>
          <a:xfrm>
            <a:off x="514985" y="1177925"/>
            <a:ext cx="83947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所谓“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”，教材中特指各种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计数制，即一种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用固定的符号和统一的规则来表示数值的方法。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8" name="Text Box 14"/>
          <p:cNvSpPr txBox="1"/>
          <p:nvPr/>
        </p:nvSpPr>
        <p:spPr>
          <a:xfrm>
            <a:off x="869950" y="3343910"/>
            <a:ext cx="77438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在计算机中用的是二进位计数制（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简称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逢二进一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0,1,10,11,100,101,110,111,…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9" name="Rectangle 2"/>
          <p:cNvSpPr txBox="1"/>
          <p:nvPr/>
        </p:nvSpPr>
        <p:spPr>
          <a:xfrm>
            <a:off x="5508625" y="52705"/>
            <a:ext cx="3111500" cy="3860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14344" name="Rectangle 11"/>
          <p:cNvSpPr>
            <a:spLocks noGrp="1"/>
          </p:cNvSpPr>
          <p:nvPr/>
        </p:nvSpPr>
        <p:spPr>
          <a:xfrm>
            <a:off x="606425" y="641033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1856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/>
          <p:nvPr/>
        </p:nvSpPr>
        <p:spPr>
          <a:xfrm>
            <a:off x="658813" y="1319213"/>
            <a:ext cx="891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：⑴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1" name="Text Box 7"/>
          <p:cNvSpPr txBox="1"/>
          <p:nvPr/>
        </p:nvSpPr>
        <p:spPr>
          <a:xfrm>
            <a:off x="1009650" y="2760663"/>
            <a:ext cx="6910388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其中：“十”或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“10”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称为进位基数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，简称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2" name="Text Box 8"/>
          <p:cNvSpPr txBox="1"/>
          <p:nvPr/>
        </p:nvSpPr>
        <p:spPr>
          <a:xfrm>
            <a:off x="1908175" y="2211388"/>
            <a:ext cx="48117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 “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逢十进一”的计数规则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3" name="Text Box 10"/>
          <p:cNvSpPr txBox="1"/>
          <p:nvPr/>
        </p:nvSpPr>
        <p:spPr>
          <a:xfrm>
            <a:off x="1805305" y="1767205"/>
            <a:ext cx="71329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⑵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小数点及正负数符号三个特殊符号：“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4" name="Rectangle 11"/>
          <p:cNvSpPr>
            <a:spLocks noGrp="1"/>
          </p:cNvSpPr>
          <p:nvPr>
            <p:ph type="title"/>
          </p:nvPr>
        </p:nvSpPr>
        <p:spPr>
          <a:xfrm>
            <a:off x="606425" y="712788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5" name="Rectangle 12"/>
          <p:cNvSpPr/>
          <p:nvPr/>
        </p:nvSpPr>
        <p:spPr>
          <a:xfrm>
            <a:off x="658813" y="3432175"/>
            <a:ext cx="8610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	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法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4346" name="Text Box 15"/>
          <p:cNvSpPr txBox="1"/>
          <p:nvPr/>
        </p:nvSpPr>
        <p:spPr>
          <a:xfrm>
            <a:off x="1860550" y="3159125"/>
            <a:ext cx="464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7" name="Rectangle 2"/>
          <p:cNvSpPr txBox="1"/>
          <p:nvPr/>
        </p:nvSpPr>
        <p:spPr>
          <a:xfrm>
            <a:off x="5508625" y="52705"/>
            <a:ext cx="3111500" cy="352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3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1" grpId="0"/>
      <p:bldP spid="14342" grpId="0"/>
      <p:bldP spid="14343" grpId="0"/>
      <p:bldP spid="143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Text Box 5"/>
          <p:cNvSpPr txBox="1"/>
          <p:nvPr/>
        </p:nvSpPr>
        <p:spPr>
          <a:xfrm>
            <a:off x="706438" y="2157413"/>
            <a:ext cx="815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例：十进制数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1   2   3   1   5  .  6   1   8   0   9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5" name="Text Box 7"/>
          <p:cNvSpPr txBox="1"/>
          <p:nvPr/>
        </p:nvSpPr>
        <p:spPr>
          <a:xfrm>
            <a:off x="2163763" y="1893888"/>
            <a:ext cx="58864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  <a:endParaRPr lang="en-US" altLang="zh-CN" sz="1800" b="1" baseline="30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6" name="Text Box 8"/>
          <p:cNvSpPr txBox="1"/>
          <p:nvPr/>
        </p:nvSpPr>
        <p:spPr>
          <a:xfrm>
            <a:off x="228918" y="3283268"/>
            <a:ext cx="8016875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如上所示，处在小数点左右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的数字具有不同的“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权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Weight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并列表示法，也称</a:t>
            </a:r>
            <a:r>
              <a:rPr lang="zh-CN" altLang="en-US" sz="1800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位置计数法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7" name="Text Box 10"/>
          <p:cNvSpPr txBox="1"/>
          <p:nvPr/>
        </p:nvSpPr>
        <p:spPr>
          <a:xfrm>
            <a:off x="2163763" y="1016000"/>
            <a:ext cx="23923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  千  百  十  个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位  位  位  位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68" name="Group 13"/>
          <p:cNvGrpSpPr/>
          <p:nvPr/>
        </p:nvGrpSpPr>
        <p:grpSpPr>
          <a:xfrm>
            <a:off x="4013200" y="2497138"/>
            <a:ext cx="1447800" cy="593725"/>
            <a:chOff x="2888" y="912"/>
            <a:chExt cx="912" cy="499"/>
          </a:xfrm>
        </p:grpSpPr>
        <p:sp>
          <p:nvSpPr>
            <p:cNvPr id="15372" name="Text Box 11"/>
            <p:cNvSpPr txBox="1"/>
            <p:nvPr/>
          </p:nvSpPr>
          <p:spPr>
            <a:xfrm>
              <a:off x="2888" y="1104"/>
              <a:ext cx="91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小数点</a:t>
              </a:r>
              <a:endPara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3" name="Line 12"/>
            <p:cNvSpPr/>
            <p:nvPr/>
          </p:nvSpPr>
          <p:spPr>
            <a:xfrm flipH="1" flipV="1">
              <a:off x="3216" y="912"/>
              <a:ext cx="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369" name="Text Box 15"/>
          <p:cNvSpPr txBox="1"/>
          <p:nvPr/>
        </p:nvSpPr>
        <p:spPr>
          <a:xfrm>
            <a:off x="4665980" y="1009650"/>
            <a:ext cx="264287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  百  千  万  十万分  分  分  分  分  位  位  位  位  位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0" name="Rectangle 16"/>
          <p:cNvSpPr>
            <a:spLocks noGrp="1"/>
          </p:cNvSpPr>
          <p:nvPr>
            <p:ph type="title"/>
          </p:nvPr>
        </p:nvSpPr>
        <p:spPr>
          <a:xfrm>
            <a:off x="354330" y="721995"/>
            <a:ext cx="2743200" cy="52451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并列（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式）表示法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1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1015" y="219456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·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Text Box 6"/>
          <p:cNvSpPr txBox="1"/>
          <p:nvPr/>
        </p:nvSpPr>
        <p:spPr>
          <a:xfrm>
            <a:off x="604520" y="839788"/>
            <a:ext cx="8064500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将并列式按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“权”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展开为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按权展开式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，称为多项式表示法。如下例： 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9" name="Text Box 17"/>
          <p:cNvSpPr txBox="1"/>
          <p:nvPr/>
        </p:nvSpPr>
        <p:spPr>
          <a:xfrm>
            <a:off x="684213" y="1924050"/>
            <a:ext cx="79676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12345.67809  = 1×10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+ 3×10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+ 4×10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+ 5×10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+ 7×10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+ 8×10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+ 0 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+ 9×10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0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610CD7-486A-4020-95FE-34D37A018AC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74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1252538" y="534988"/>
            <a:ext cx="7389812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由此推出，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任意一个十进制数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可以表示成：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430213" y="944563"/>
            <a:ext cx="9144000" cy="98107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并列表示法：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( 0 ≤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≤ 9 ) 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4" name="Text Box 9"/>
          <p:cNvSpPr txBox="1"/>
          <p:nvPr/>
        </p:nvSpPr>
        <p:spPr>
          <a:xfrm>
            <a:off x="468313" y="2066925"/>
            <a:ext cx="9202737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	     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    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= (∑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 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                                        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5" name="Text Box 11"/>
          <p:cNvSpPr txBox="1"/>
          <p:nvPr/>
        </p:nvSpPr>
        <p:spPr>
          <a:xfrm>
            <a:off x="430213" y="1630363"/>
            <a:ext cx="56388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6" name="Text Box 13"/>
          <p:cNvSpPr txBox="1"/>
          <p:nvPr/>
        </p:nvSpPr>
        <p:spPr>
          <a:xfrm>
            <a:off x="310833" y="3630930"/>
            <a:ext cx="8832850" cy="1031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。同时：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(8)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7" name="Text Box 14"/>
          <p:cNvSpPr txBox="1"/>
          <p:nvPr/>
        </p:nvSpPr>
        <p:spPr>
          <a:xfrm>
            <a:off x="4929188" y="2716213"/>
            <a:ext cx="58896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8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17419" name="Text Box 7"/>
          <p:cNvSpPr txBox="1"/>
          <p:nvPr/>
        </p:nvSpPr>
        <p:spPr>
          <a:xfrm>
            <a:off x="4837113" y="3076575"/>
            <a:ext cx="15065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=-m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20" name="文本框 7"/>
          <p:cNvSpPr txBox="1"/>
          <p:nvPr/>
        </p:nvSpPr>
        <p:spPr>
          <a:xfrm>
            <a:off x="5651500" y="3178175"/>
            <a:ext cx="2160588" cy="474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( 0 ≤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≤ 9 ) </a:t>
            </a:r>
            <a:endParaRPr lang="zh-CN" alt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44B935-348E-4893-A994-E9C90F0C604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84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949325" y="1171575"/>
            <a:ext cx="7410450" cy="4873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对于一个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进位计数制（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进制）的数，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为任意进制数，有：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990283" y="1609725"/>
            <a:ext cx="7640637" cy="20574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R-1 ;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个特殊符号：“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.”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进一”的计数规则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其中：“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为进位基数或基数。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8" name="Text Box 5"/>
          <p:cNvSpPr txBox="1"/>
          <p:nvPr/>
        </p:nvSpPr>
        <p:spPr>
          <a:xfrm>
            <a:off x="304800" y="3751263"/>
            <a:ext cx="8610600" cy="1192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二进制，数字符号有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，逢二进一；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，十进制，数字符号有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，逢十进一；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…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9" name="矩形 5"/>
          <p:cNvSpPr/>
          <p:nvPr/>
        </p:nvSpPr>
        <p:spPr>
          <a:xfrm>
            <a:off x="322263" y="623888"/>
            <a:ext cx="80740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任意进位计数制的特点、表示法和运算规则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40" name="Rectangle 2"/>
          <p:cNvSpPr txBox="1"/>
          <p:nvPr/>
        </p:nvSpPr>
        <p:spPr>
          <a:xfrm>
            <a:off x="5508625" y="52705"/>
            <a:ext cx="3111500" cy="39433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3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6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7" grpId="0" build="p"/>
      <p:bldP spid="184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C4AB4D-1CA3-4063-B38C-664CC06FAA7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94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572770" y="554038"/>
            <a:ext cx="8020050" cy="361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488633" y="787400"/>
            <a:ext cx="8716962" cy="950913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式表示法 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R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(0≤A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≤R-1)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6" name="Text Box 13"/>
          <p:cNvSpPr txBox="1"/>
          <p:nvPr/>
        </p:nvSpPr>
        <p:spPr>
          <a:xfrm>
            <a:off x="477520" y="1684338"/>
            <a:ext cx="51641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7" name="Rectangle 20"/>
          <p:cNvSpPr/>
          <p:nvPr/>
        </p:nvSpPr>
        <p:spPr>
          <a:xfrm>
            <a:off x="525145" y="2076450"/>
            <a:ext cx="8905875" cy="1028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+A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8" name="Text Box 22"/>
          <p:cNvSpPr txBox="1"/>
          <p:nvPr/>
        </p:nvSpPr>
        <p:spPr>
          <a:xfrm>
            <a:off x="5654358" y="3036888"/>
            <a:ext cx="13525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 -m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9" name="Text Box 23"/>
          <p:cNvSpPr txBox="1"/>
          <p:nvPr/>
        </p:nvSpPr>
        <p:spPr>
          <a:xfrm>
            <a:off x="5757545" y="2481263"/>
            <a:ext cx="830263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-1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0" name="Text Box 24"/>
          <p:cNvSpPr txBox="1"/>
          <p:nvPr/>
        </p:nvSpPr>
        <p:spPr>
          <a:xfrm>
            <a:off x="5397183" y="2716213"/>
            <a:ext cx="2819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 ∑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7" name="Text Box 25"/>
          <p:cNvSpPr txBox="1"/>
          <p:nvPr/>
        </p:nvSpPr>
        <p:spPr>
          <a:xfrm>
            <a:off x="466408" y="3435350"/>
            <a:ext cx="7631112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代表整数位数，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代表小数位数 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0≤A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≤R-1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为进位基数。当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括号及括号外的基数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可以省略。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8" name="Text Box 28"/>
          <p:cNvSpPr txBox="1"/>
          <p:nvPr/>
        </p:nvSpPr>
        <p:spPr>
          <a:xfrm>
            <a:off x="515620" y="4141788"/>
            <a:ext cx="89154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进制表示（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的八进制表示，即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3" name="Rectangle 2"/>
          <p:cNvSpPr txBox="1"/>
          <p:nvPr/>
        </p:nvSpPr>
        <p:spPr>
          <a:xfrm>
            <a:off x="579564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7" grpId="0"/>
      <p:bldP spid="194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E9BF36-3819-421B-9532-B2D68F1CA22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15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541338" y="762000"/>
            <a:ext cx="7412037" cy="151447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不同进位计数制的数值具有等值表示关系：</a:t>
            </a: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 =  N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 N 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b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5" name="Rectangle 21"/>
          <p:cNvSpPr>
            <a:spLocks noGrp="1"/>
          </p:cNvSpPr>
          <p:nvPr>
            <p:ph idx="1"/>
          </p:nvPr>
        </p:nvSpPr>
        <p:spPr>
          <a:xfrm>
            <a:off x="446088" y="2289175"/>
            <a:ext cx="8382000" cy="2405063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参见书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（见下页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）。如十进制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可查表得其八进制和二进制表示：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  = (13)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13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(15)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(1101)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运算规则：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进制中，相应的运算（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+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/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）规则与十进制一样。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必须特别注意：逢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进一。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1510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84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9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24" name="Group 32"/>
          <p:cNvGraphicFramePr>
            <a:graphicFrameLocks noGrp="1"/>
          </p:cNvGraphicFramePr>
          <p:nvPr/>
        </p:nvGraphicFramePr>
        <p:xfrm>
          <a:off x="609600" y="700088"/>
          <a:ext cx="7046913" cy="3971925"/>
        </p:xfrm>
        <a:graphic>
          <a:graphicData uri="http://schemas.openxmlformats.org/drawingml/2006/table">
            <a:tbl>
              <a:tblPr/>
              <a:tblGrid>
                <a:gridCol w="1132789"/>
                <a:gridCol w="1115645"/>
                <a:gridCol w="1197556"/>
                <a:gridCol w="1123899"/>
                <a:gridCol w="1123899"/>
                <a:gridCol w="1353124"/>
              </a:tblGrid>
              <a:tr h="251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R=2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R=3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R=4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R=8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R=16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04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55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56895" y="3515995"/>
            <a:ext cx="7152005" cy="266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69F2E2-48C6-4FEC-804E-4AF7F7DC7CE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35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391160" y="601980"/>
            <a:ext cx="8228965" cy="4000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特例：二进制数为计算机中的表示和运算的基础，特予以关注：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7" name="Rectangle 67"/>
          <p:cNvSpPr>
            <a:spLocks noGrp="1"/>
          </p:cNvSpPr>
          <p:nvPr>
            <p:ph idx="1"/>
          </p:nvPr>
        </p:nvSpPr>
        <p:spPr>
          <a:xfrm>
            <a:off x="301625" y="1049338"/>
            <a:ext cx="8556625" cy="1874837"/>
          </a:xfrm>
          <a:noFill/>
          <a:ln>
            <a:noFill/>
          </a:ln>
        </p:spPr>
        <p:txBody>
          <a:bodyPr/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运算规则：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、－、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÷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÷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运算可以由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－运算来实现）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加法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+ 0 = 0   0 + 1= 1+ 0 =1    1 + 1= 10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×0 = 0   0×1 = 1×0 =0    1×1 = 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②  常用的二进制常数要记住相应的十进制值（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注意数值缩写时与</a:t>
            </a:r>
            <a:r>
              <a:rPr lang="zh-CN" altLang="en-US" sz="18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通信速度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表述的数值差异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798" name="Group 12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36103" y="2962593"/>
          <a:ext cx="5882005" cy="2101850"/>
        </p:xfrm>
        <a:graphic>
          <a:graphicData uri="http://schemas.openxmlformats.org/drawingml/2006/table">
            <a:tbl>
              <a:tblPr/>
              <a:tblGrid>
                <a:gridCol w="515620"/>
                <a:gridCol w="1158177"/>
                <a:gridCol w="978482"/>
                <a:gridCol w="1066742"/>
                <a:gridCol w="1082040"/>
                <a:gridCol w="1080770"/>
              </a:tblGrid>
              <a:tr h="328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3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0.0078125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0.015625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0.03125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0.0625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1024(K)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2048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4096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8192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581" name="Rectangle 2"/>
          <p:cNvSpPr txBox="1"/>
          <p:nvPr/>
        </p:nvSpPr>
        <p:spPr>
          <a:xfrm>
            <a:off x="5508625" y="52705"/>
            <a:ext cx="3111500" cy="4279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42AD94-A963-4298-81E7-0EFB784E042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45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515938" y="974725"/>
            <a:ext cx="6005512" cy="60642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进位计数制的相互转换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788988" y="2830513"/>
            <a:ext cx="8686800" cy="400050"/>
          </a:xfrm>
          <a:noFill/>
          <a:ln>
            <a:noFill/>
          </a:ln>
        </p:spPr>
        <p:txBody>
          <a:bodyPr/>
          <a:p>
            <a:pPr marL="609600" indent="-609600" eaLnBrk="1" hangingPunct="1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）多项式替代法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582" name="Group 11"/>
          <p:cNvGrpSpPr/>
          <p:nvPr/>
        </p:nvGrpSpPr>
        <p:grpSpPr>
          <a:xfrm>
            <a:off x="1222375" y="1665288"/>
            <a:ext cx="6405563" cy="955637"/>
            <a:chOff x="611" y="956"/>
            <a:chExt cx="4608" cy="802"/>
          </a:xfrm>
        </p:grpSpPr>
        <p:sp>
          <p:nvSpPr>
            <p:cNvPr id="24585" name="Text Box 5"/>
            <p:cNvSpPr txBox="1"/>
            <p:nvPr/>
          </p:nvSpPr>
          <p:spPr>
            <a:xfrm>
              <a:off x="611" y="956"/>
              <a:ext cx="4608" cy="8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数值转换：      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转换是等值的 ：即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586" name="Text Box 7"/>
            <p:cNvSpPr txBox="1"/>
            <p:nvPr/>
          </p:nvSpPr>
          <p:spPr>
            <a:xfrm>
              <a:off x="2736" y="1104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7" name="Text Box 9"/>
            <p:cNvSpPr txBox="1"/>
            <p:nvPr/>
          </p:nvSpPr>
          <p:spPr>
            <a:xfrm>
              <a:off x="3792" y="1104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3" name="Text Box 31"/>
          <p:cNvSpPr txBox="1"/>
          <p:nvPr/>
        </p:nvSpPr>
        <p:spPr>
          <a:xfrm>
            <a:off x="1158875" y="3288030"/>
            <a:ext cx="773303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要点：在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的转换运算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4584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CD8C88-6123-48F2-BA7D-4B05510110C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56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4"/>
          <p:cNvSpPr>
            <a:spLocks noGrp="1"/>
          </p:cNvSpPr>
          <p:nvPr>
            <p:ph idx="1"/>
          </p:nvPr>
        </p:nvSpPr>
        <p:spPr>
          <a:xfrm>
            <a:off x="371475" y="844550"/>
            <a:ext cx="7543800" cy="742950"/>
          </a:xfrm>
          <a:noFill/>
          <a:ln>
            <a:noFill/>
          </a:ln>
        </p:spPr>
        <p:txBody>
          <a:bodyPr/>
          <a:p>
            <a:pPr marL="609600" indent="-609600"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(A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5" name="Text Box 22"/>
          <p:cNvSpPr txBox="1"/>
          <p:nvPr/>
        </p:nvSpPr>
        <p:spPr>
          <a:xfrm>
            <a:off x="900113" y="1346200"/>
            <a:ext cx="7110412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(A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 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  </a:t>
            </a:r>
            <a:endParaRPr lang="en-US" altLang="zh-CN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Rectangle 3"/>
          <p:cNvSpPr>
            <a:spLocks noGrp="1"/>
          </p:cNvSpPr>
          <p:nvPr>
            <p:ph type="title"/>
          </p:nvPr>
        </p:nvSpPr>
        <p:spPr>
          <a:xfrm>
            <a:off x="228600" y="586423"/>
            <a:ext cx="86868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的转换步骤，归纳如下，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1"/>
          <p:cNvSpPr txBox="1"/>
          <p:nvPr/>
        </p:nvSpPr>
        <p:spPr>
          <a:xfrm>
            <a:off x="5470525" y="99695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8" name="Text Box 12"/>
          <p:cNvSpPr txBox="1"/>
          <p:nvPr/>
        </p:nvSpPr>
        <p:spPr>
          <a:xfrm>
            <a:off x="6380163" y="1906588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85" name="Group 17"/>
          <p:cNvGrpSpPr/>
          <p:nvPr/>
        </p:nvGrpSpPr>
        <p:grpSpPr>
          <a:xfrm>
            <a:off x="58738" y="1958975"/>
            <a:ext cx="1111250" cy="2082856"/>
            <a:chOff x="192" y="2016"/>
            <a:chExt cx="700" cy="1749"/>
          </a:xfrm>
        </p:grpSpPr>
        <p:sp>
          <p:nvSpPr>
            <p:cNvPr id="25615" name="Text Box 14"/>
            <p:cNvSpPr txBox="1"/>
            <p:nvPr/>
          </p:nvSpPr>
          <p:spPr>
            <a:xfrm>
              <a:off x="192" y="2448"/>
              <a:ext cx="700" cy="1317"/>
            </a:xfrm>
            <a:prstGeom prst="rect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将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进制下的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 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等值转换成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对应的数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值</a:t>
              </a:r>
              <a:endPara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16" name="Line 15"/>
            <p:cNvSpPr/>
            <p:nvPr/>
          </p:nvSpPr>
          <p:spPr>
            <a:xfrm flipV="1">
              <a:off x="576" y="2016"/>
              <a:ext cx="192" cy="43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5610" name="Text Box 16"/>
          <p:cNvSpPr txBox="1"/>
          <p:nvPr/>
        </p:nvSpPr>
        <p:spPr>
          <a:xfrm>
            <a:off x="1260475" y="2209800"/>
            <a:ext cx="6716713" cy="1098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(B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 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endParaRPr lang="en-US" altLang="zh-CN" b="1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    = N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β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1" name="Text Box 18"/>
          <p:cNvSpPr txBox="1"/>
          <p:nvPr/>
        </p:nvSpPr>
        <p:spPr>
          <a:xfrm>
            <a:off x="3278188" y="3025775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2" name="Text Box 20"/>
          <p:cNvSpPr txBox="1"/>
          <p:nvPr/>
        </p:nvSpPr>
        <p:spPr>
          <a:xfrm>
            <a:off x="528638" y="4156075"/>
            <a:ext cx="775493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注意：多项式替代法是在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下完成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的转换的，因此，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四则算术运算规则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13" name="Text Box 27"/>
          <p:cNvSpPr txBox="1"/>
          <p:nvPr/>
        </p:nvSpPr>
        <p:spPr>
          <a:xfrm>
            <a:off x="1260475" y="3549650"/>
            <a:ext cx="5564188" cy="36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(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14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05233F-50A7-4920-9774-08FB4287CB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66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Text Box 15"/>
          <p:cNvSpPr txBox="1"/>
          <p:nvPr/>
        </p:nvSpPr>
        <p:spPr>
          <a:xfrm>
            <a:off x="1439863" y="1697038"/>
            <a:ext cx="6599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+12×16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+ 14×16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6" name="Text Box 16"/>
          <p:cNvSpPr txBox="1"/>
          <p:nvPr/>
        </p:nvSpPr>
        <p:spPr>
          <a:xfrm>
            <a:off x="1439863" y="2211388"/>
            <a:ext cx="426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(4096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+3072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+ 224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7"/>
          <p:cNvSpPr txBox="1"/>
          <p:nvPr/>
        </p:nvSpPr>
        <p:spPr>
          <a:xfrm>
            <a:off x="1439863" y="2703513"/>
            <a:ext cx="7123112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(7400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(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计算是按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进制计算规则进行的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Text Box 18"/>
          <p:cNvSpPr txBox="1"/>
          <p:nvPr/>
        </p:nvSpPr>
        <p:spPr>
          <a:xfrm>
            <a:off x="1439863" y="3189288"/>
            <a:ext cx="65405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7400           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十进制的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即“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可以省略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b="1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9" name="Text Box 19"/>
          <p:cNvSpPr txBox="1"/>
          <p:nvPr/>
        </p:nvSpPr>
        <p:spPr>
          <a:xfrm>
            <a:off x="648335" y="1223963"/>
            <a:ext cx="72802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+C×10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E×10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en-US" altLang="zh-CN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4" name="Text Box 20"/>
          <p:cNvSpPr txBox="1"/>
          <p:nvPr/>
        </p:nvSpPr>
        <p:spPr>
          <a:xfrm>
            <a:off x="76200" y="746125"/>
            <a:ext cx="838200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转换为十进制。</a:t>
            </a:r>
            <a:endParaRPr lang="zh-CN" altLang="en-US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6635" name="Rectangle 2"/>
          <p:cNvSpPr txBox="1"/>
          <p:nvPr/>
        </p:nvSpPr>
        <p:spPr>
          <a:xfrm>
            <a:off x="5508625" y="52705"/>
            <a:ext cx="3111500" cy="4533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25606" grpId="0"/>
      <p:bldP spid="25607" grpId="0"/>
      <p:bldP spid="25608" grpId="0"/>
      <p:bldP spid="2560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4C531-840C-43B8-AFBF-4A7248D34C8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76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358775" y="893763"/>
            <a:ext cx="84582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转换为二进制。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>
          <a:xfrm>
            <a:off x="904875" y="1593850"/>
            <a:ext cx="7715250" cy="1924685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+ 1×11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(1001 + 110 + 1 + 0.101010…)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( 10000.101010 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6" name="Rectangle 2"/>
          <p:cNvSpPr txBox="1"/>
          <p:nvPr/>
        </p:nvSpPr>
        <p:spPr>
          <a:xfrm>
            <a:off x="5508625" y="52705"/>
            <a:ext cx="311150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9285" y="3884295"/>
            <a:ext cx="490982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(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计算是按二进制计算规则进行的。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endParaRPr lang="en-US" altLang="zh-CN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5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10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155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C4ED09-00BE-457F-88FA-58E64250AF5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86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309563" y="544513"/>
            <a:ext cx="77724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Rectangle 4"/>
          <p:cNvSpPr>
            <a:spLocks noGrp="1"/>
          </p:cNvSpPr>
          <p:nvPr>
            <p:ph idx="1"/>
          </p:nvPr>
        </p:nvSpPr>
        <p:spPr>
          <a:xfrm>
            <a:off x="228600" y="887413"/>
            <a:ext cx="7669213" cy="12573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运算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⑴ 整数部分转换用基数除法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⑵ 小数部分转换用基数乘法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7654" name="Text Box 9"/>
          <p:cNvSpPr txBox="1"/>
          <p:nvPr/>
        </p:nvSpPr>
        <p:spPr>
          <a:xfrm>
            <a:off x="-411162" y="2374900"/>
            <a:ext cx="8050212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(0≤b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β- 1)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=  (b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Text Box 10"/>
          <p:cNvSpPr txBox="1"/>
          <p:nvPr/>
        </p:nvSpPr>
        <p:spPr>
          <a:xfrm>
            <a:off x="325438" y="3228975"/>
            <a:ext cx="51736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对应的数，则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8680" name="Group 20"/>
          <p:cNvGrpSpPr/>
          <p:nvPr/>
        </p:nvGrpSpPr>
        <p:grpSpPr>
          <a:xfrm>
            <a:off x="4724400" y="857250"/>
            <a:ext cx="2133600" cy="365125"/>
            <a:chOff x="2976" y="720"/>
            <a:chExt cx="1344" cy="307"/>
          </a:xfrm>
        </p:grpSpPr>
        <p:sp>
          <p:nvSpPr>
            <p:cNvPr id="28689" name="Text Box 5"/>
            <p:cNvSpPr txBox="1"/>
            <p:nvPr/>
          </p:nvSpPr>
          <p:spPr>
            <a:xfrm>
              <a:off x="2976" y="720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0" name="Text Box 13"/>
            <p:cNvSpPr txBox="1"/>
            <p:nvPr/>
          </p:nvSpPr>
          <p:spPr>
            <a:xfrm>
              <a:off x="4032" y="720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976" name="Text Box 16"/>
          <p:cNvSpPr txBox="1"/>
          <p:nvPr/>
        </p:nvSpPr>
        <p:spPr>
          <a:xfrm>
            <a:off x="7218363" y="2887663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7" name="Text Box 17"/>
          <p:cNvSpPr txBox="1"/>
          <p:nvPr/>
        </p:nvSpPr>
        <p:spPr>
          <a:xfrm>
            <a:off x="4302125" y="248920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659" name="Group 22"/>
          <p:cNvGrpSpPr/>
          <p:nvPr/>
        </p:nvGrpSpPr>
        <p:grpSpPr>
          <a:xfrm>
            <a:off x="393700" y="3697288"/>
            <a:ext cx="8445500" cy="1057830"/>
            <a:chOff x="183" y="3408"/>
            <a:chExt cx="3173" cy="1252"/>
          </a:xfrm>
        </p:grpSpPr>
        <p:sp>
          <p:nvSpPr>
            <p:cNvPr id="28686" name="Text Box 18"/>
            <p:cNvSpPr txBox="1"/>
            <p:nvPr/>
          </p:nvSpPr>
          <p:spPr>
            <a:xfrm>
              <a:off x="183" y="3408"/>
              <a:ext cx="3173" cy="1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 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endParaRPr lang="en-US" altLang="zh-CN" sz="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(0≤c 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α-1)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(x)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其中：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 ,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( 10 )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=(γ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,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 γ =β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687" name="Text Box 6"/>
            <p:cNvSpPr txBox="1"/>
            <p:nvPr/>
          </p:nvSpPr>
          <p:spPr>
            <a:xfrm>
              <a:off x="2456" y="3493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8" name="Text Box 19"/>
            <p:cNvSpPr txBox="1"/>
            <p:nvPr/>
          </p:nvSpPr>
          <p:spPr>
            <a:xfrm>
              <a:off x="432" y="3560"/>
              <a:ext cx="432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660" name="Text Box 23"/>
          <p:cNvSpPr txBox="1"/>
          <p:nvPr/>
        </p:nvSpPr>
        <p:spPr>
          <a:xfrm>
            <a:off x="228600" y="2000250"/>
            <a:ext cx="8610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整数转换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基数除法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5" name="Rectangle 2"/>
          <p:cNvSpPr txBox="1"/>
          <p:nvPr/>
        </p:nvSpPr>
        <p:spPr>
          <a:xfrm>
            <a:off x="5508625" y="52705"/>
            <a:ext cx="311150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00365" y="3129915"/>
            <a:ext cx="8801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16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γ</a:t>
            </a:r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不一定只是一个数字符号！</a:t>
            </a:r>
            <a:endParaRPr lang="zh-CN" altLang="en-US" sz="16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5" grpId="0"/>
      <p:bldP spid="40976" grpId="0"/>
      <p:bldP spid="40977" grpId="0"/>
      <p:bldP spid="27660" grpId="0"/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03F3E5-7C9B-456C-89E7-2CF8E726699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96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Grp="1"/>
          </p:cNvSpPr>
          <p:nvPr>
            <p:ph idx="1"/>
          </p:nvPr>
        </p:nvSpPr>
        <p:spPr>
          <a:xfrm>
            <a:off x="384175" y="639763"/>
            <a:ext cx="8175625" cy="1160462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 (((…((c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进制下，将该数除以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则余数分别为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,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再将得到的余数转化为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进制下的并列表示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1" name="Rectangle 42"/>
          <p:cNvSpPr/>
          <p:nvPr/>
        </p:nvSpPr>
        <p:spPr>
          <a:xfrm>
            <a:off x="231775" y="1654175"/>
            <a:ext cx="86868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7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179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γ=2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（？）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8" name="Rectangle 43"/>
          <p:cNvSpPr/>
          <p:nvPr/>
        </p:nvSpPr>
        <p:spPr>
          <a:xfrm>
            <a:off x="374650" y="2076450"/>
            <a:ext cx="5810885" cy="3121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179÷2 = 89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89÷2 = 44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44÷2 = 22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22÷2 = 11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11÷2 = 5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5÷2 = 2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2÷2 = 1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1÷2 = 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9" name="Text Box 44"/>
          <p:cNvSpPr txBox="1"/>
          <p:nvPr/>
        </p:nvSpPr>
        <p:spPr>
          <a:xfrm>
            <a:off x="684213" y="4446588"/>
            <a:ext cx="5334000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	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(179)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(10110011)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4" name="Rectangle 2"/>
          <p:cNvSpPr txBox="1"/>
          <p:nvPr/>
        </p:nvSpPr>
        <p:spPr>
          <a:xfrm>
            <a:off x="5508625" y="52705"/>
            <a:ext cx="3111500" cy="4025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9705" name="文本框 1"/>
          <p:cNvSpPr txBox="1"/>
          <p:nvPr/>
        </p:nvSpPr>
        <p:spPr>
          <a:xfrm>
            <a:off x="6457950" y="3917950"/>
            <a:ext cx="251714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一定要记得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运算进展到商为零这一步！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3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7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11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159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0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42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84" end="3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9705" grpId="0"/>
      <p:bldP spid="2970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B3DBC6-39DA-4356-8F19-019ECBD142B1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179388" y="554038"/>
            <a:ext cx="85344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3417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=16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5" name="Text Box 4"/>
          <p:cNvSpPr txBox="1"/>
          <p:nvPr/>
        </p:nvSpPr>
        <p:spPr>
          <a:xfrm>
            <a:off x="228600" y="2334260"/>
            <a:ext cx="891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(3417)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(D59)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注意：次序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6" name="Rectangle 5"/>
          <p:cNvSpPr>
            <a:spLocks noGrp="1"/>
          </p:cNvSpPr>
          <p:nvPr>
            <p:ph idx="1"/>
          </p:nvPr>
        </p:nvSpPr>
        <p:spPr>
          <a:xfrm>
            <a:off x="684213" y="985838"/>
            <a:ext cx="7924800" cy="14859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16  3417      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16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16   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13  … 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… D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Line 6"/>
          <p:cNvSpPr/>
          <p:nvPr/>
        </p:nvSpPr>
        <p:spPr>
          <a:xfrm>
            <a:off x="1287463" y="1104900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Line 7"/>
          <p:cNvSpPr/>
          <p:nvPr/>
        </p:nvSpPr>
        <p:spPr>
          <a:xfrm>
            <a:off x="1304925" y="1373188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Line 8"/>
          <p:cNvSpPr/>
          <p:nvPr/>
        </p:nvSpPr>
        <p:spPr>
          <a:xfrm>
            <a:off x="1439863" y="148748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9" name="Line 9"/>
          <p:cNvSpPr/>
          <p:nvPr/>
        </p:nvSpPr>
        <p:spPr>
          <a:xfrm flipV="1">
            <a:off x="1457325" y="1768475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0" name="Line 10"/>
          <p:cNvSpPr/>
          <p:nvPr/>
        </p:nvSpPr>
        <p:spPr>
          <a:xfrm>
            <a:off x="1592263" y="188753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1" name="Line 11"/>
          <p:cNvSpPr/>
          <p:nvPr/>
        </p:nvSpPr>
        <p:spPr>
          <a:xfrm flipV="1">
            <a:off x="1609725" y="2168525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9" name="Text Box 14"/>
          <p:cNvSpPr txBox="1"/>
          <p:nvPr/>
        </p:nvSpPr>
        <p:spPr>
          <a:xfrm>
            <a:off x="323850" y="2860675"/>
            <a:ext cx="8686800" cy="1447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将二进制的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转换成三进制数。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11  1011       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… 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11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… 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11  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… 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3" name="Line 15"/>
          <p:cNvSpPr/>
          <p:nvPr/>
        </p:nvSpPr>
        <p:spPr>
          <a:xfrm>
            <a:off x="825500" y="3235325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4" name="Line 16"/>
          <p:cNvSpPr/>
          <p:nvPr/>
        </p:nvSpPr>
        <p:spPr>
          <a:xfrm>
            <a:off x="842963" y="3503613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Line 17"/>
          <p:cNvSpPr/>
          <p:nvPr/>
        </p:nvSpPr>
        <p:spPr>
          <a:xfrm>
            <a:off x="977900" y="361791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6" name="Line 18"/>
          <p:cNvSpPr/>
          <p:nvPr/>
        </p:nvSpPr>
        <p:spPr>
          <a:xfrm flipV="1">
            <a:off x="995363" y="3898900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7" name="Line 19"/>
          <p:cNvSpPr/>
          <p:nvPr/>
        </p:nvSpPr>
        <p:spPr>
          <a:xfrm>
            <a:off x="1130300" y="401796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8" name="Line 20"/>
          <p:cNvSpPr/>
          <p:nvPr/>
        </p:nvSpPr>
        <p:spPr>
          <a:xfrm flipV="1">
            <a:off x="1147763" y="4298950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6" name="Text Box 22"/>
          <p:cNvSpPr txBox="1"/>
          <p:nvPr/>
        </p:nvSpPr>
        <p:spPr>
          <a:xfrm>
            <a:off x="533400" y="4470400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	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(1011)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(102)</a:t>
            </a:r>
            <a:r>
              <a:rPr lang="en-US" altLang="zh-CN" sz="1800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1800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41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9" grpId="0"/>
      <p:bldP spid="29716" grpId="0"/>
      <p:bldP spid="30725" grpId="0"/>
      <p:bldP spid="3072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93E9378-BC9D-4A92-8572-B9FC42B1243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1747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Grp="1"/>
          </p:cNvSpPr>
          <p:nvPr/>
        </p:nvSpPr>
        <p:spPr>
          <a:xfrm>
            <a:off x="481013" y="434975"/>
            <a:ext cx="8458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9" name="Rectangle 4"/>
          <p:cNvSpPr>
            <a:spLocks noGrp="1"/>
          </p:cNvSpPr>
          <p:nvPr/>
        </p:nvSpPr>
        <p:spPr>
          <a:xfrm>
            <a:off x="630238" y="1074738"/>
            <a:ext cx="8610600" cy="1695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b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( 0 . 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(0≤C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0" name="Text Box 6"/>
          <p:cNvSpPr txBox="1"/>
          <p:nvPr/>
        </p:nvSpPr>
        <p:spPr>
          <a:xfrm>
            <a:off x="755015" y="2859405"/>
            <a:ext cx="68814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对应的数，则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1" name="Text Box 17"/>
          <p:cNvSpPr txBox="1"/>
          <p:nvPr/>
        </p:nvSpPr>
        <p:spPr>
          <a:xfrm>
            <a:off x="1146175" y="3305175"/>
            <a:ext cx="75787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 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… 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α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α ,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γ =β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(0≤D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2" name="Text Box 13"/>
          <p:cNvSpPr txBox="1"/>
          <p:nvPr/>
        </p:nvSpPr>
        <p:spPr>
          <a:xfrm>
            <a:off x="3924300" y="1490663"/>
            <a:ext cx="536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3" name="Text Box 13"/>
          <p:cNvSpPr txBox="1"/>
          <p:nvPr/>
        </p:nvSpPr>
        <p:spPr>
          <a:xfrm>
            <a:off x="6157913" y="1995488"/>
            <a:ext cx="5349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A905B8-A63A-4A18-81F5-77AAEA06DEE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27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Rectangle 25"/>
          <p:cNvSpPr/>
          <p:nvPr/>
        </p:nvSpPr>
        <p:spPr>
          <a:xfrm>
            <a:off x="1044575" y="1303338"/>
            <a:ext cx="511175" cy="342900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30" name="Rectangle 21"/>
          <p:cNvSpPr/>
          <p:nvPr/>
        </p:nvSpPr>
        <p:spPr>
          <a:xfrm>
            <a:off x="2862263" y="2817813"/>
            <a:ext cx="542925" cy="354013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4" name="Rectangle 3"/>
          <p:cNvSpPr>
            <a:spLocks noGrp="1"/>
          </p:cNvSpPr>
          <p:nvPr>
            <p:ph type="title"/>
          </p:nvPr>
        </p:nvSpPr>
        <p:spPr>
          <a:xfrm>
            <a:off x="811213" y="760413"/>
            <a:ext cx="56388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将该数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5" name="Text Box 17"/>
          <p:cNvSpPr txBox="1"/>
          <p:nvPr/>
        </p:nvSpPr>
        <p:spPr>
          <a:xfrm>
            <a:off x="887413" y="1301750"/>
            <a:ext cx="7086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-m+1</a:t>
            </a:r>
            <a:endParaRPr lang="en-US" altLang="zh-CN" sz="1800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6" name="Text Box 23"/>
          <p:cNvSpPr txBox="1"/>
          <p:nvPr/>
        </p:nvSpPr>
        <p:spPr>
          <a:xfrm>
            <a:off x="887413" y="2101850"/>
            <a:ext cx="8458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4" name="Line 24"/>
          <p:cNvSpPr/>
          <p:nvPr/>
        </p:nvSpPr>
        <p:spPr>
          <a:xfrm flipV="1">
            <a:off x="1233488" y="1693863"/>
            <a:ext cx="12700" cy="436563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8" name="Rectangle 4"/>
          <p:cNvSpPr txBox="1"/>
          <p:nvPr/>
        </p:nvSpPr>
        <p:spPr>
          <a:xfrm>
            <a:off x="965200" y="2676525"/>
            <a:ext cx="52578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9" name="Text Box 15"/>
          <p:cNvSpPr txBox="1"/>
          <p:nvPr/>
        </p:nvSpPr>
        <p:spPr>
          <a:xfrm>
            <a:off x="1117600" y="2828925"/>
            <a:ext cx="7086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-m+2</a:t>
            </a:r>
            <a:endParaRPr lang="en-US" altLang="zh-CN" sz="1800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80" name="Text Box 16"/>
          <p:cNvSpPr txBox="1"/>
          <p:nvPr/>
        </p:nvSpPr>
        <p:spPr>
          <a:xfrm>
            <a:off x="1041400" y="3570288"/>
            <a:ext cx="63357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9" name="Line 20"/>
          <p:cNvSpPr/>
          <p:nvPr/>
        </p:nvSpPr>
        <p:spPr>
          <a:xfrm flipV="1">
            <a:off x="3128963" y="3217863"/>
            <a:ext cx="0" cy="40005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2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79113C-5FB4-41AF-9287-77E963B5BC8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37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663575" y="330200"/>
            <a:ext cx="7772400" cy="742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b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直至最后，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×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–1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b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>
          <a:xfrm>
            <a:off x="1062355" y="1016000"/>
            <a:ext cx="5715000" cy="10287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则为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8" name="Text Box 25"/>
          <p:cNvSpPr txBox="1"/>
          <p:nvPr/>
        </p:nvSpPr>
        <p:spPr>
          <a:xfrm>
            <a:off x="1044575" y="1385888"/>
            <a:ext cx="81534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则转换结束。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5" name="Rectangle 3"/>
          <p:cNvSpPr txBox="1"/>
          <p:nvPr/>
        </p:nvSpPr>
        <p:spPr>
          <a:xfrm>
            <a:off x="820738" y="2211388"/>
            <a:ext cx="7354887" cy="4270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=16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6" name="Rectangle 4"/>
          <p:cNvSpPr txBox="1"/>
          <p:nvPr/>
        </p:nvSpPr>
        <p:spPr>
          <a:xfrm>
            <a:off x="860425" y="2714625"/>
            <a:ext cx="8229600" cy="2114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N = 0.4321   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0.4321×16 = 6.9136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6  (6)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0.9136×16 =14.6176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0.6176×16 = 9.8816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9  (9)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0.8816×16 =14.1056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1171575" y="4378325"/>
            <a:ext cx="510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(0.6E9E)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  <p:bldP spid="3277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1AAF3A-A53F-4FB0-A244-EBD8697FCD0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481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520700" y="885825"/>
            <a:ext cx="8001000" cy="5254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=2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Rectangle 4"/>
          <p:cNvSpPr>
            <a:spLocks noGrp="1"/>
          </p:cNvSpPr>
          <p:nvPr>
            <p:ph idx="1"/>
          </p:nvPr>
        </p:nvSpPr>
        <p:spPr>
          <a:xfrm>
            <a:off x="1435100" y="1374775"/>
            <a:ext cx="7212013" cy="28003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0   .  3 7 5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[0] . 7 5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0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5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0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8" name="Group 19"/>
          <p:cNvGrpSpPr/>
          <p:nvPr/>
        </p:nvGrpSpPr>
        <p:grpSpPr>
          <a:xfrm>
            <a:off x="1358900" y="1989138"/>
            <a:ext cx="1854200" cy="1309687"/>
            <a:chOff x="720" y="1248"/>
            <a:chExt cx="1152" cy="1296"/>
          </a:xfrm>
        </p:grpSpPr>
        <p:sp>
          <p:nvSpPr>
            <p:cNvPr id="34824" name="Line 16"/>
            <p:cNvSpPr/>
            <p:nvPr/>
          </p:nvSpPr>
          <p:spPr>
            <a:xfrm>
              <a:off x="720" y="1248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5" name="Line 17"/>
            <p:cNvSpPr/>
            <p:nvPr/>
          </p:nvSpPr>
          <p:spPr>
            <a:xfrm>
              <a:off x="720" y="1872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6" name="Line 18"/>
            <p:cNvSpPr/>
            <p:nvPr/>
          </p:nvSpPr>
          <p:spPr>
            <a:xfrm>
              <a:off x="720" y="2544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799" name="Text Box 20"/>
          <p:cNvSpPr txBox="1"/>
          <p:nvPr/>
        </p:nvSpPr>
        <p:spPr>
          <a:xfrm>
            <a:off x="673100" y="3971925"/>
            <a:ext cx="784923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(0.011)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注意：每次运算都产生结果；   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不能搞错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结果的排放次序。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2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7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19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3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  <p:bldP spid="337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EE26E1-F1BE-423C-A63C-706818EF9F4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584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376238" y="688975"/>
            <a:ext cx="8610600" cy="742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任意两种进制之间的转换总结 </a:t>
            </a:r>
            <a:endParaRPr lang="zh-CN" altLang="en-US" sz="1800" b="1" baseline="30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1" name="Rectangle 4"/>
          <p:cNvSpPr>
            <a:spLocks noGrp="1"/>
          </p:cNvSpPr>
          <p:nvPr>
            <p:ph idx="1"/>
          </p:nvPr>
        </p:nvSpPr>
        <p:spPr>
          <a:xfrm>
            <a:off x="301625" y="1601788"/>
            <a:ext cx="8591550" cy="3175000"/>
          </a:xfrm>
          <a:noFill/>
          <a:ln>
            <a:noFill/>
          </a:ln>
        </p:spPr>
        <p:txBody>
          <a:bodyPr/>
          <a:p>
            <a:pPr marL="514350" indent="-514350" eaLnBrk="1" hangingPunct="1">
              <a:lnSpc>
                <a:spcPct val="11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要求熟悉单个数字字符的转换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 ：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a. γ =β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α;    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整数（部分）除以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得余数，小数（部分）乘以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取整数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   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再将“余数”及“整数”从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进制转换为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进制；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d.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转换结果用位置计数法书写时，要注意小数点及字符的次序。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③  若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四则运算规则，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则可</a:t>
            </a:r>
            <a:r>
              <a:rPr lang="zh-CN" altLang="en-US" sz="18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利用十进制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作为转换桥梁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846" name="Group 11"/>
          <p:cNvGrpSpPr/>
          <p:nvPr/>
        </p:nvGrpSpPr>
        <p:grpSpPr>
          <a:xfrm>
            <a:off x="1824038" y="1125538"/>
            <a:ext cx="3962400" cy="523875"/>
            <a:chOff x="2160" y="683"/>
            <a:chExt cx="1920" cy="440"/>
          </a:xfrm>
        </p:grpSpPr>
        <p:sp>
          <p:nvSpPr>
            <p:cNvPr id="35847" name="Text Box 8"/>
            <p:cNvSpPr txBox="1"/>
            <p:nvPr/>
          </p:nvSpPr>
          <p:spPr>
            <a:xfrm>
              <a:off x="2160" y="683"/>
              <a:ext cx="17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8" name="Text Box 9"/>
            <p:cNvSpPr txBox="1"/>
            <p:nvPr/>
          </p:nvSpPr>
          <p:spPr>
            <a:xfrm>
              <a:off x="2544" y="816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9" name="Text Box 10"/>
            <p:cNvSpPr txBox="1"/>
            <p:nvPr/>
          </p:nvSpPr>
          <p:spPr>
            <a:xfrm>
              <a:off x="3600" y="816"/>
              <a:ext cx="48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6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90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44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8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225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26532C-53D3-4BD6-B390-DE0271F125F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686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592138" y="860425"/>
            <a:ext cx="8839200" cy="8001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直接转换法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9" name="Rectangle 4"/>
          <p:cNvSpPr>
            <a:spLocks noGrp="1"/>
          </p:cNvSpPr>
          <p:nvPr>
            <p:ph idx="1"/>
          </p:nvPr>
        </p:nvSpPr>
        <p:spPr>
          <a:xfrm>
            <a:off x="900430" y="1373505"/>
            <a:ext cx="7304405" cy="95885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二进制数是计算机内部真正使用的数，但由于它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的表示既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易出错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不易交流（</a:t>
            </a: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位数太长！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，故书写文档（或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常常用八进制或十六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进制的形式表示。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6870" name="Text Box 48"/>
          <p:cNvSpPr txBox="1"/>
          <p:nvPr/>
        </p:nvSpPr>
        <p:spPr>
          <a:xfrm>
            <a:off x="897255" y="2844800"/>
            <a:ext cx="671131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inary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八进制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ctal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 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十六进制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exadecimal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0C4604-9963-46E2-B7D2-251CE3073BA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789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447675" y="746125"/>
            <a:ext cx="30480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 ：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3" name="Rectangle 4"/>
          <p:cNvSpPr>
            <a:spLocks noGrp="1"/>
          </p:cNvSpPr>
          <p:nvPr>
            <p:ph idx="1"/>
          </p:nvPr>
        </p:nvSpPr>
        <p:spPr>
          <a:xfrm>
            <a:off x="295275" y="1373188"/>
            <a:ext cx="8915400" cy="4572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当基数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均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幂次方（指数）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时，可以进行直接转换。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7894" name="Text Box 26"/>
          <p:cNvSpPr txBox="1"/>
          <p:nvPr/>
        </p:nvSpPr>
        <p:spPr>
          <a:xfrm>
            <a:off x="449263" y="1944688"/>
            <a:ext cx="916305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基数为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的进位制是将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数字字符表示，如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895" name="Group 28"/>
          <p:cNvGrpSpPr/>
          <p:nvPr/>
        </p:nvGrpSpPr>
        <p:grpSpPr>
          <a:xfrm>
            <a:off x="2352675" y="715963"/>
            <a:ext cx="3810000" cy="636587"/>
            <a:chOff x="2160" y="720"/>
            <a:chExt cx="1920" cy="535"/>
          </a:xfrm>
        </p:grpSpPr>
        <p:sp>
          <p:nvSpPr>
            <p:cNvPr id="37897" name="Text Box 29"/>
            <p:cNvSpPr txBox="1"/>
            <p:nvPr/>
          </p:nvSpPr>
          <p:spPr>
            <a:xfrm>
              <a:off x="2160" y="720"/>
              <a:ext cx="1776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3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α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→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β</a:t>
              </a:r>
              <a:endPara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8" name="Text Box 30"/>
            <p:cNvSpPr txBox="1"/>
            <p:nvPr/>
          </p:nvSpPr>
          <p:spPr>
            <a:xfrm>
              <a:off x="2544" y="816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9" name="Text Box 31"/>
            <p:cNvSpPr txBox="1"/>
            <p:nvPr/>
          </p:nvSpPr>
          <p:spPr>
            <a:xfrm>
              <a:off x="3600" y="816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872" name="Text Box 32"/>
          <p:cNvSpPr txBox="1"/>
          <p:nvPr/>
        </p:nvSpPr>
        <p:spPr>
          <a:xfrm>
            <a:off x="447675" y="3219450"/>
            <a:ext cx="86106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因此，用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划分相应字符串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的方法实现基数为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进位制与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之间的直接转换。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注意：以小数点位置为基准向左右划分，不足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位补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，但千万要注意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“0”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添加的位置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（只能在空挡处）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及个数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8E9A3A-2181-4678-A342-885CC935A20F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891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Text Box 16"/>
          <p:cNvSpPr txBox="1"/>
          <p:nvPr/>
        </p:nvSpPr>
        <p:spPr>
          <a:xfrm>
            <a:off x="1476375" y="1293813"/>
            <a:ext cx="6019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11 111 010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011 1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7" name="Rectangle 2"/>
          <p:cNvSpPr>
            <a:spLocks noGrp="1"/>
          </p:cNvSpPr>
          <p:nvPr>
            <p:ph type="title"/>
          </p:nvPr>
        </p:nvSpPr>
        <p:spPr>
          <a:xfrm>
            <a:off x="333375" y="836613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918" name="Group 24"/>
          <p:cNvGrpSpPr/>
          <p:nvPr/>
        </p:nvGrpSpPr>
        <p:grpSpPr>
          <a:xfrm>
            <a:off x="2717800" y="1576705"/>
            <a:ext cx="2433955" cy="76200"/>
            <a:chOff x="1584" y="3648"/>
            <a:chExt cx="1750" cy="0"/>
          </a:xfrm>
        </p:grpSpPr>
        <p:sp>
          <p:nvSpPr>
            <p:cNvPr id="2" name="Line 17"/>
            <p:cNvSpPr/>
            <p:nvPr/>
          </p:nvSpPr>
          <p:spPr>
            <a:xfrm>
              <a:off x="2278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Line 18"/>
            <p:cNvSpPr/>
            <p:nvPr/>
          </p:nvSpPr>
          <p:spPr>
            <a:xfrm>
              <a:off x="1920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19"/>
            <p:cNvSpPr/>
            <p:nvPr/>
          </p:nvSpPr>
          <p:spPr>
            <a:xfrm>
              <a:off x="1584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Line 20"/>
            <p:cNvSpPr/>
            <p:nvPr/>
          </p:nvSpPr>
          <p:spPr>
            <a:xfrm>
              <a:off x="3046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Line 21"/>
            <p:cNvSpPr/>
            <p:nvPr/>
          </p:nvSpPr>
          <p:spPr>
            <a:xfrm>
              <a:off x="2709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9" name="Text Box 22"/>
          <p:cNvSpPr txBox="1"/>
          <p:nvPr/>
        </p:nvSpPr>
        <p:spPr>
          <a:xfrm>
            <a:off x="1476375" y="1651000"/>
            <a:ext cx="6019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八进制数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3   7   2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3   4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20" name="Text Box 23"/>
          <p:cNvSpPr txBox="1"/>
          <p:nvPr/>
        </p:nvSpPr>
        <p:spPr>
          <a:xfrm>
            <a:off x="1028065" y="2020888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(372.34)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7" name="Text Box 37"/>
          <p:cNvSpPr txBox="1"/>
          <p:nvPr/>
        </p:nvSpPr>
        <p:spPr>
          <a:xfrm>
            <a:off x="314325" y="2459038"/>
            <a:ext cx="61722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(AF.16C)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8" name="Text Box 38"/>
          <p:cNvSpPr txBox="1"/>
          <p:nvPr/>
        </p:nvSpPr>
        <p:spPr>
          <a:xfrm>
            <a:off x="1628775" y="2913063"/>
            <a:ext cx="6934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十六进制数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       F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   6       C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9" name="Text Box 39"/>
          <p:cNvSpPr txBox="1"/>
          <p:nvPr/>
        </p:nvSpPr>
        <p:spPr>
          <a:xfrm>
            <a:off x="2092325" y="3273425"/>
            <a:ext cx="63865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1 0 1 0  1 1 1 1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.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0 0 0 1 0 1 1 0 1 1 0 0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900" name="Text Box 40"/>
          <p:cNvSpPr txBox="1"/>
          <p:nvPr/>
        </p:nvSpPr>
        <p:spPr>
          <a:xfrm>
            <a:off x="1019175" y="4202113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AF.16C 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(257.0554)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901" name="Group 41"/>
          <p:cNvGrpSpPr/>
          <p:nvPr/>
        </p:nvGrpSpPr>
        <p:grpSpPr>
          <a:xfrm>
            <a:off x="3481388" y="3579813"/>
            <a:ext cx="4762500" cy="0"/>
            <a:chOff x="1754" y="2640"/>
            <a:chExt cx="3299" cy="0"/>
          </a:xfrm>
        </p:grpSpPr>
        <p:sp>
          <p:nvSpPr>
            <p:cNvPr id="38928" name="Line 42"/>
            <p:cNvSpPr/>
            <p:nvPr/>
          </p:nvSpPr>
          <p:spPr>
            <a:xfrm>
              <a:off x="1754" y="2640"/>
              <a:ext cx="55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29" name="Line 43"/>
            <p:cNvSpPr/>
            <p:nvPr/>
          </p:nvSpPr>
          <p:spPr>
            <a:xfrm>
              <a:off x="2457" y="2640"/>
              <a:ext cx="50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0" name="Line 44"/>
            <p:cNvSpPr/>
            <p:nvPr/>
          </p:nvSpPr>
          <p:spPr>
            <a:xfrm>
              <a:off x="3206" y="2640"/>
              <a:ext cx="55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1" name="Line 45"/>
            <p:cNvSpPr/>
            <p:nvPr/>
          </p:nvSpPr>
          <p:spPr>
            <a:xfrm>
              <a:off x="3908" y="2640"/>
              <a:ext cx="49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2" name="Line 46"/>
            <p:cNvSpPr/>
            <p:nvPr/>
          </p:nvSpPr>
          <p:spPr>
            <a:xfrm>
              <a:off x="4525" y="2640"/>
              <a:ext cx="52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21205" y="3717925"/>
            <a:ext cx="7853045" cy="443230"/>
            <a:chOff x="3183" y="5855"/>
            <a:chExt cx="12367" cy="698"/>
          </a:xfrm>
        </p:grpSpPr>
        <p:sp>
          <p:nvSpPr>
            <p:cNvPr id="37902" name="Text Box 47"/>
            <p:cNvSpPr txBox="1"/>
            <p:nvPr/>
          </p:nvSpPr>
          <p:spPr>
            <a:xfrm>
              <a:off x="3183" y="5973"/>
              <a:ext cx="1236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八进制数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2     5     7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.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0     5     5     4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8935" name="Line 49"/>
            <p:cNvSpPr/>
            <p:nvPr/>
          </p:nvSpPr>
          <p:spPr>
            <a:xfrm>
              <a:off x="7493" y="5855"/>
              <a:ext cx="7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6" name="Line 50"/>
            <p:cNvSpPr/>
            <p:nvPr/>
          </p:nvSpPr>
          <p:spPr>
            <a:xfrm>
              <a:off x="6138" y="5855"/>
              <a:ext cx="943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7" name="Line 51"/>
            <p:cNvSpPr/>
            <p:nvPr/>
          </p:nvSpPr>
          <p:spPr>
            <a:xfrm>
              <a:off x="5331" y="5855"/>
              <a:ext cx="546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8" name="Line 52"/>
            <p:cNvSpPr/>
            <p:nvPr/>
          </p:nvSpPr>
          <p:spPr>
            <a:xfrm>
              <a:off x="8897" y="5855"/>
              <a:ext cx="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9" name="Line 53"/>
            <p:cNvSpPr/>
            <p:nvPr/>
          </p:nvSpPr>
          <p:spPr>
            <a:xfrm>
              <a:off x="10002" y="5855"/>
              <a:ext cx="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40" name="Line 54"/>
            <p:cNvSpPr/>
            <p:nvPr/>
          </p:nvSpPr>
          <p:spPr>
            <a:xfrm>
              <a:off x="11053" y="5855"/>
              <a:ext cx="75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41" name="Line 55"/>
            <p:cNvSpPr/>
            <p:nvPr/>
          </p:nvSpPr>
          <p:spPr>
            <a:xfrm>
              <a:off x="12181" y="5855"/>
              <a:ext cx="7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/>
      <p:bldP spid="37898" grpId="0"/>
      <p:bldP spid="37899" grpId="0"/>
      <p:bldP spid="3790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4507E3-6E30-4630-8E24-2DAD1200E7F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993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>
          <a:xfrm>
            <a:off x="466725" y="627063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）数制转换时小数位数的确定（有效位数的确定）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466725" y="1060450"/>
            <a:ext cx="7900035" cy="660400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α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进制的小数有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位有效位，转换成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进制后，至少具有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相同精度的小数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位，则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2" name="Rectangle 8"/>
          <p:cNvSpPr/>
          <p:nvPr/>
        </p:nvSpPr>
        <p:spPr>
          <a:xfrm>
            <a:off x="3347720" y="1492250"/>
            <a:ext cx="509524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最少的有效位数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3" name="Text Box 9"/>
          <p:cNvSpPr txBox="1"/>
          <p:nvPr/>
        </p:nvSpPr>
        <p:spPr>
          <a:xfrm>
            <a:off x="466725" y="1779588"/>
            <a:ext cx="3810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在十进制中可表示为：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4" name="Group 10"/>
          <p:cNvGrpSpPr/>
          <p:nvPr/>
        </p:nvGrpSpPr>
        <p:grpSpPr>
          <a:xfrm>
            <a:off x="4408488" y="1301750"/>
            <a:ext cx="655637" cy="615950"/>
            <a:chOff x="1536" y="846"/>
            <a:chExt cx="413" cy="517"/>
          </a:xfrm>
        </p:grpSpPr>
        <p:sp>
          <p:nvSpPr>
            <p:cNvPr id="39972" name="Text Box 11"/>
            <p:cNvSpPr txBox="1"/>
            <p:nvPr/>
          </p:nvSpPr>
          <p:spPr>
            <a:xfrm>
              <a:off x="1536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3" name="Text Box 12"/>
            <p:cNvSpPr txBox="1"/>
            <p:nvPr/>
          </p:nvSpPr>
          <p:spPr>
            <a:xfrm>
              <a:off x="1565" y="84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45" name="Group 13"/>
          <p:cNvGrpSpPr/>
          <p:nvPr/>
        </p:nvGrpSpPr>
        <p:grpSpPr>
          <a:xfrm>
            <a:off x="5672138" y="1352550"/>
            <a:ext cx="473075" cy="642938"/>
            <a:chOff x="3151" y="823"/>
            <a:chExt cx="396" cy="540"/>
          </a:xfrm>
        </p:grpSpPr>
        <p:sp>
          <p:nvSpPr>
            <p:cNvPr id="39970" name="Text Box 14"/>
            <p:cNvSpPr txBox="1"/>
            <p:nvPr/>
          </p:nvSpPr>
          <p:spPr>
            <a:xfrm>
              <a:off x="3151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1" name="Text Box 15"/>
            <p:cNvSpPr txBox="1"/>
            <p:nvPr/>
          </p:nvSpPr>
          <p:spPr>
            <a:xfrm>
              <a:off x="3163" y="823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46" name="Group 16"/>
          <p:cNvGrpSpPr/>
          <p:nvPr/>
        </p:nvGrpSpPr>
        <p:grpSpPr>
          <a:xfrm>
            <a:off x="4238625" y="2025650"/>
            <a:ext cx="1143000" cy="687388"/>
            <a:chOff x="1008" y="2666"/>
            <a:chExt cx="720" cy="577"/>
          </a:xfrm>
        </p:grpSpPr>
        <p:sp>
          <p:nvSpPr>
            <p:cNvPr id="39966" name="Text Box 17"/>
            <p:cNvSpPr txBox="1"/>
            <p:nvPr/>
          </p:nvSpPr>
          <p:spPr>
            <a:xfrm>
              <a:off x="1126" y="2666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7" name="Text Box 18"/>
            <p:cNvSpPr txBox="1"/>
            <p:nvPr/>
          </p:nvSpPr>
          <p:spPr>
            <a:xfrm>
              <a:off x="1125" y="2936"/>
              <a:ext cx="365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8" name="Text Box 19"/>
            <p:cNvSpPr txBox="1"/>
            <p:nvPr/>
          </p:nvSpPr>
          <p:spPr>
            <a:xfrm>
              <a:off x="1008" y="2784"/>
              <a:ext cx="72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9" name="Text Box 20"/>
            <p:cNvSpPr txBox="1"/>
            <p:nvPr/>
          </p:nvSpPr>
          <p:spPr>
            <a:xfrm>
              <a:off x="1392" y="2678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47" name="Text Box 21"/>
          <p:cNvSpPr txBox="1"/>
          <p:nvPr/>
        </p:nvSpPr>
        <p:spPr>
          <a:xfrm>
            <a:off x="5364163" y="2211388"/>
            <a:ext cx="720725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8" name="Group 22"/>
          <p:cNvGrpSpPr/>
          <p:nvPr/>
        </p:nvGrpSpPr>
        <p:grpSpPr>
          <a:xfrm>
            <a:off x="6146800" y="2070100"/>
            <a:ext cx="1143000" cy="636698"/>
            <a:chOff x="1008" y="2666"/>
            <a:chExt cx="720" cy="477"/>
          </a:xfrm>
        </p:grpSpPr>
        <p:sp>
          <p:nvSpPr>
            <p:cNvPr id="39962" name="Text Box 25"/>
            <p:cNvSpPr txBox="1"/>
            <p:nvPr/>
          </p:nvSpPr>
          <p:spPr>
            <a:xfrm>
              <a:off x="1008" y="2784"/>
              <a:ext cx="72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3" name="Text Box 23"/>
            <p:cNvSpPr txBox="1"/>
            <p:nvPr/>
          </p:nvSpPr>
          <p:spPr>
            <a:xfrm>
              <a:off x="1126" y="2666"/>
              <a:ext cx="192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4" name="Text Box 24"/>
            <p:cNvSpPr txBox="1"/>
            <p:nvPr/>
          </p:nvSpPr>
          <p:spPr>
            <a:xfrm>
              <a:off x="1116" y="2867"/>
              <a:ext cx="28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5" name="Text Box 26"/>
            <p:cNvSpPr txBox="1"/>
            <p:nvPr/>
          </p:nvSpPr>
          <p:spPr>
            <a:xfrm>
              <a:off x="1392" y="2678"/>
              <a:ext cx="24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49" name="Text Box 27"/>
          <p:cNvSpPr txBox="1"/>
          <p:nvPr/>
        </p:nvSpPr>
        <p:spPr>
          <a:xfrm>
            <a:off x="692150" y="2711450"/>
            <a:ext cx="5391150" cy="1049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=&lt;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两边取对数                ㏒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=&lt;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   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=&lt;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50" name="Text Box 28"/>
          <p:cNvSpPr txBox="1"/>
          <p:nvPr/>
        </p:nvSpPr>
        <p:spPr>
          <a:xfrm>
            <a:off x="539750" y="4445000"/>
            <a:ext cx="449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应满足不等式的整数：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51" name="Group 29"/>
          <p:cNvGrpSpPr/>
          <p:nvPr/>
        </p:nvGrpSpPr>
        <p:grpSpPr>
          <a:xfrm>
            <a:off x="1600200" y="3600450"/>
            <a:ext cx="2514600" cy="719138"/>
            <a:chOff x="1344" y="2688"/>
            <a:chExt cx="1200" cy="604"/>
          </a:xfrm>
        </p:grpSpPr>
        <p:sp>
          <p:nvSpPr>
            <p:cNvPr id="39959" name="Text Box 32"/>
            <p:cNvSpPr txBox="1"/>
            <p:nvPr/>
          </p:nvSpPr>
          <p:spPr>
            <a:xfrm>
              <a:off x="1344" y="2784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&gt;=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0" name="Text Box 30"/>
            <p:cNvSpPr txBox="1"/>
            <p:nvPr/>
          </p:nvSpPr>
          <p:spPr>
            <a:xfrm>
              <a:off x="1824" y="2688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1" name="Text Box 31"/>
            <p:cNvSpPr txBox="1"/>
            <p:nvPr/>
          </p:nvSpPr>
          <p:spPr>
            <a:xfrm>
              <a:off x="1824" y="2985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52" name="Group 33"/>
          <p:cNvGrpSpPr/>
          <p:nvPr/>
        </p:nvGrpSpPr>
        <p:grpSpPr>
          <a:xfrm>
            <a:off x="3419475" y="4300538"/>
            <a:ext cx="3816350" cy="719137"/>
            <a:chOff x="3072" y="3600"/>
            <a:chExt cx="2496" cy="604"/>
          </a:xfrm>
        </p:grpSpPr>
        <p:sp>
          <p:nvSpPr>
            <p:cNvPr id="39954" name="Text Box 36"/>
            <p:cNvSpPr txBox="1"/>
            <p:nvPr/>
          </p:nvSpPr>
          <p:spPr>
            <a:xfrm>
              <a:off x="3072" y="3745"/>
              <a:ext cx="249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</a:t>
              </a: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5" name="Text Box 34"/>
            <p:cNvSpPr txBox="1"/>
            <p:nvPr/>
          </p:nvSpPr>
          <p:spPr>
            <a:xfrm>
              <a:off x="31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6" name="Text Box 35"/>
            <p:cNvSpPr txBox="1"/>
            <p:nvPr/>
          </p:nvSpPr>
          <p:spPr>
            <a:xfrm>
              <a:off x="31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7" name="Text Box 37"/>
            <p:cNvSpPr txBox="1"/>
            <p:nvPr/>
          </p:nvSpPr>
          <p:spPr>
            <a:xfrm>
              <a:off x="43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8" name="Text Box 38"/>
            <p:cNvSpPr txBox="1"/>
            <p:nvPr/>
          </p:nvSpPr>
          <p:spPr>
            <a:xfrm>
              <a:off x="43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53" name="Text Box 39"/>
          <p:cNvSpPr txBox="1"/>
          <p:nvPr/>
        </p:nvSpPr>
        <p:spPr>
          <a:xfrm>
            <a:off x="4276725" y="381952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取最小的整数）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3F77CE-EE68-4434-9ACF-BCDCD185530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198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645795" y="741680"/>
            <a:ext cx="8170545" cy="7429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转换成十六进制时，小数位数应取几位？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1989" name="Group 38"/>
          <p:cNvGrpSpPr/>
          <p:nvPr/>
        </p:nvGrpSpPr>
        <p:grpSpPr>
          <a:xfrm>
            <a:off x="2720975" y="1985963"/>
            <a:ext cx="5495925" cy="750887"/>
            <a:chOff x="1488" y="1427"/>
            <a:chExt cx="3513" cy="630"/>
          </a:xfrm>
        </p:grpSpPr>
        <p:sp>
          <p:nvSpPr>
            <p:cNvPr id="41993" name="Text Box 30"/>
            <p:cNvSpPr txBox="1"/>
            <p:nvPr/>
          </p:nvSpPr>
          <p:spPr>
            <a:xfrm>
              <a:off x="1776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4" name="Text Box 31"/>
            <p:cNvSpPr txBox="1"/>
            <p:nvPr/>
          </p:nvSpPr>
          <p:spPr>
            <a:xfrm>
              <a:off x="1776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16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5" name="Text Box 32"/>
            <p:cNvSpPr txBox="1"/>
            <p:nvPr/>
          </p:nvSpPr>
          <p:spPr>
            <a:xfrm>
              <a:off x="1488" y="1545"/>
              <a:ext cx="351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≤ </a:t>
              </a:r>
              <a:r>
                <a:rPr lang="en-US" altLang="zh-CN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 4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6" name="Text Box 33"/>
            <p:cNvSpPr txBox="1"/>
            <p:nvPr/>
          </p:nvSpPr>
          <p:spPr>
            <a:xfrm>
              <a:off x="3401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7" name="Text Box 34"/>
            <p:cNvSpPr txBox="1"/>
            <p:nvPr/>
          </p:nvSpPr>
          <p:spPr>
            <a:xfrm>
              <a:off x="3401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endPara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1990" name="Rectangle 35"/>
          <p:cNvSpPr>
            <a:spLocks noGrp="1"/>
          </p:cNvSpPr>
          <p:nvPr>
            <p:ph idx="1"/>
          </p:nvPr>
        </p:nvSpPr>
        <p:spPr>
          <a:xfrm>
            <a:off x="1196975" y="1573213"/>
            <a:ext cx="7332663" cy="392112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应满足下列不等式：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1" name="Text Box 36"/>
          <p:cNvSpPr txBox="1"/>
          <p:nvPr/>
        </p:nvSpPr>
        <p:spPr>
          <a:xfrm>
            <a:off x="1196975" y="2798763"/>
            <a:ext cx="51784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3.320 ≤ 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  4.320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2" name="Text Box 37"/>
          <p:cNvSpPr txBox="1"/>
          <p:nvPr/>
        </p:nvSpPr>
        <p:spPr>
          <a:xfrm>
            <a:off x="1196975" y="3341688"/>
            <a:ext cx="4670425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所以，小数位数应取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37"/>
          <p:cNvSpPr txBox="1"/>
          <p:nvPr/>
        </p:nvSpPr>
        <p:spPr>
          <a:xfrm>
            <a:off x="1180465" y="4186238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数制转换总是会考试的，请大家掌握好。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08ABD4-BDB3-4D88-953F-C142E95A8E5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30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165100" y="658813"/>
            <a:ext cx="76200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数的表示及其运算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3" name="Rectangle 10"/>
          <p:cNvSpPr>
            <a:spLocks noGrp="1"/>
          </p:cNvSpPr>
          <p:nvPr>
            <p:ph idx="1"/>
          </p:nvPr>
        </p:nvSpPr>
        <p:spPr>
          <a:xfrm>
            <a:off x="532130" y="1135380"/>
            <a:ext cx="7850505" cy="188722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数的小数点的表示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小数点的位置在计算机中是怎样表示的呢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实际上，小数点在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中并不存在，它只是人们约定的一个位置。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计算机中表示小数点位置的方法通常有两种：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一种是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；另一种是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浮点表示法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0" name="Rectangle 85"/>
          <p:cNvSpPr/>
          <p:nvPr/>
        </p:nvSpPr>
        <p:spPr>
          <a:xfrm>
            <a:off x="478155" y="3022600"/>
            <a:ext cx="8345805" cy="17538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宋体" panose="02010600030101010101" pitchFamily="2" charset="-122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数的定点表示法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所谓定点表示法，在计算机中数的小数点位置是固定的，一般固定在数的最高（有效）位之前或数的最低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（有效）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位之后。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即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采用定点小数表示法；或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定点整数表示法。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通常将小数点约定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在符号位之后、最高有效位之前，即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定点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小数表示法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AFFEC0-F4B8-45E5-9221-E58A4F1246D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40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90500" y="498475"/>
            <a:ext cx="8042275" cy="21590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但实际处理的数可能既有整数部分，又有小数部分。这就需要选取比例因子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对数值进行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规格化处理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假设某计算机的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字长（Word）为8个二进制位（简称8位）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，规定最高位用来表示数的正、负号，其余7位表示数值。现有一组二进制数：1101.01，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-100.111和1110.1，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若用定点整数表示，可选取比例因子2</a:t>
            </a:r>
            <a:r>
              <a:rPr lang="zh-CN" altLang="en-US" sz="1800" baseline="30000" dirty="0">
                <a:solidFill>
                  <a:srgbClr val="FF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，并用该比例因子乘上述各数，可得：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3" name="Rectangle 4"/>
          <p:cNvSpPr/>
          <p:nvPr/>
        </p:nvSpPr>
        <p:spPr>
          <a:xfrm>
            <a:off x="1143953" y="2637790"/>
            <a:ext cx="6562725" cy="2289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1101.01×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1101010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-100.111×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-0100111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1110.1×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1110100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它们在机器中的表示形式为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二进制数值形式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1    1    0    1    0    1    0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0    l    0    0    1    1   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1    1    1    0    1    0    0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8E5F7D1-48E6-4FE9-AD06-2F9601DD04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50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542925" y="515938"/>
            <a:ext cx="7569200" cy="420370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若要用定点小数表示，则需提取比例因子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，可得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1101.01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0.110101           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-100.111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-0.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100111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1110.1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0.11101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它们在机器中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字长为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8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的表示形式为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66"/>
                </a:solidFill>
              </a:rPr>
              <a:t>原码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l    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    1    0    0    l    1    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1    0    l    0    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数的浮点表示法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所谓浮点表示法，就是计算机中数的小数点位置不是固定的，而是浮动的。因而，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必须在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计算机中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表示出小数点位置的浮动情况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90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99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DB6E9F-B052-4E15-9A1B-06F8FA0E42F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60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395605" y="266700"/>
            <a:ext cx="8547735" cy="477837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在数学中，我们学过数字的“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记阶表示法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也称“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科学表示法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</a:t>
            </a:r>
            <a:r>
              <a:rPr lang="zh-CN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。一般说来，十进制数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N=10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其中，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是整数，称为阶码；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为小数，称为尾数。显然，只要有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，即可表示出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的值。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  <a:endParaRPr lang="en-US" altLang="zh-CN" sz="1800" dirty="0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   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同样，二进制数也可用这种方法表示，其中的基数“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是十进制中的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(10)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=(2)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，二进制数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0.101l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0.1011  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0CC7C-48DD-4131-AACE-05B5F85A11C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71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4" name="Rectangle 4"/>
          <p:cNvSpPr>
            <a:spLocks noGrp="1"/>
          </p:cNvSpPr>
          <p:nvPr>
            <p:ph idx="1"/>
          </p:nvPr>
        </p:nvSpPr>
        <p:spPr>
          <a:xfrm>
            <a:off x="532130" y="509270"/>
            <a:ext cx="8049260" cy="464058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因此，这两个二进制数可用阶码和尾数表示为：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101.1—&gt;11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10.11—&gt;10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不难看出，其尾数完全相同，仅阶码不同。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这种用阶码和尾数表示数（值）的方法就是数的浮点表示法。</a:t>
            </a:r>
            <a:endParaRPr lang="zh-CN" altLang="en-US" sz="1800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表示浮点数时，需将计算机中的一个字长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Word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划分为两部分，其中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一部分表示阶码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另一部分表示尾数，其最高位都定为符号位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例如，假定计算机的字长为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位，字的前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位表示阶码的符号及数值，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位表示尾数的符号及数值，如下所示：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按此规定，数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的实际表示形式为：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0011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0011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0010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1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73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0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28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56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97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50AC81-C4DB-4BBC-8970-A3ECFB827A3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81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>
          <a:xfrm>
            <a:off x="395288" y="626745"/>
            <a:ext cx="7620000" cy="530225"/>
          </a:xfrm>
          <a:noFill/>
          <a:ln>
            <a:noFill/>
          </a:ln>
        </p:spPr>
        <p:txBody>
          <a:bodyPr/>
          <a:p>
            <a:pPr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带符号数的代码表示及其运算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461963" y="3443288"/>
            <a:ext cx="8305800" cy="14287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的代码表示是指（在计算机中）：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带符号数的数值位和符号位都用统一的代码（编码）形式，即仅取 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两种数字符号表示，并且数值位为二进制数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有三种代码表示：原码、反码和补码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1796" name="Group 4"/>
          <p:cNvGraphicFramePr>
            <a:graphicFrameLocks noGrp="1"/>
          </p:cNvGraphicFramePr>
          <p:nvPr/>
        </p:nvGraphicFramePr>
        <p:xfrm>
          <a:off x="497205" y="1171575"/>
          <a:ext cx="6324600" cy="1054735"/>
        </p:xfrm>
        <a:graphic>
          <a:graphicData uri="http://schemas.openxmlformats.org/drawingml/2006/table">
            <a:tbl>
              <a:tblPr/>
              <a:tblGrid>
                <a:gridCol w="1695450"/>
                <a:gridCol w="1123950"/>
                <a:gridCol w="1371600"/>
                <a:gridCol w="2133600"/>
              </a:tblGrid>
              <a:tr h="34798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带符号数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75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y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27" name="Line 21"/>
          <p:cNvSpPr/>
          <p:nvPr/>
        </p:nvSpPr>
        <p:spPr>
          <a:xfrm flipV="1">
            <a:off x="2711450" y="2228215"/>
            <a:ext cx="0" cy="400050"/>
          </a:xfrm>
          <a:prstGeom prst="line">
            <a:avLst/>
          </a:prstGeom>
          <a:ln w="28575" cap="flat" cmpd="sng">
            <a:solidFill>
              <a:srgbClr val="0D0D0D"/>
            </a:solidFill>
            <a:prstDash val="sysDot"/>
            <a:headEnd type="none" w="med" len="med"/>
            <a:tailEnd type="triangle" w="lg" len="lg"/>
          </a:ln>
        </p:spPr>
      </p:sp>
      <p:sp>
        <p:nvSpPr>
          <p:cNvPr id="47128" name="Text Box 22"/>
          <p:cNvSpPr txBox="1"/>
          <p:nvPr/>
        </p:nvSpPr>
        <p:spPr>
          <a:xfrm>
            <a:off x="723900" y="2616200"/>
            <a:ext cx="7696200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带符号（进位计数制）数的真值表示：      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(-111)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是带符号（二进制）数的真值表示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charRg st="2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uiExpand="1" build="p"/>
      <p:bldP spid="471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D87EF0-3502-4F2B-B07F-4ED21827627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91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381000" y="658813"/>
            <a:ext cx="8534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Ture form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7" name="Rectangle 4"/>
          <p:cNvSpPr>
            <a:spLocks noGrp="1"/>
          </p:cNvSpPr>
          <p:nvPr>
            <p:ph idx="1"/>
          </p:nvPr>
        </p:nvSpPr>
        <p:spPr>
          <a:xfrm>
            <a:off x="706438" y="1023938"/>
            <a:ext cx="2655887" cy="4191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原码的形成规则：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4" name="Text Box 13"/>
          <p:cNvSpPr txBox="1"/>
          <p:nvPr/>
        </p:nvSpPr>
        <p:spPr>
          <a:xfrm>
            <a:off x="609600" y="2565400"/>
            <a:ext cx="5648325" cy="87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二进制代码表示的原码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5" name="Text Box 28"/>
          <p:cNvSpPr txBox="1"/>
          <p:nvPr/>
        </p:nvSpPr>
        <p:spPr>
          <a:xfrm>
            <a:off x="641350" y="3600450"/>
            <a:ext cx="7675563" cy="1060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由原码写出所对应的十进制数值：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8852" name="Group 2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28900" y="1058863"/>
          <a:ext cx="3670300" cy="1220788"/>
        </p:xfrm>
        <a:graphic>
          <a:graphicData uri="http://schemas.openxmlformats.org/drawingml/2006/table">
            <a:tbl>
              <a:tblPr/>
              <a:tblGrid>
                <a:gridCol w="831850"/>
                <a:gridCol w="1419225"/>
                <a:gridCol w="1419225"/>
              </a:tblGrid>
              <a:tr h="587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341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原码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</a:t>
                      </a:r>
                      <a:endParaRPr kumimoji="1" lang="zh-CN" alt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" name="直接连接符 1"/>
          <p:cNvCxnSpPr>
            <a:endCxn id="5" idx="4"/>
          </p:cNvCxnSpPr>
          <p:nvPr/>
        </p:nvCxnSpPr>
        <p:spPr>
          <a:xfrm flipV="1">
            <a:off x="706755" y="4648835"/>
            <a:ext cx="7306945" cy="5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标注 4"/>
          <p:cNvSpPr/>
          <p:nvPr/>
        </p:nvSpPr>
        <p:spPr>
          <a:xfrm rot="10800000" flipV="1">
            <a:off x="6981825" y="2445385"/>
            <a:ext cx="1722120" cy="702945"/>
          </a:xfrm>
          <a:prstGeom prst="wedgeRoundRectCallout">
            <a:avLst>
              <a:gd name="adj1" fmla="val -9913"/>
              <a:gd name="adj2" fmla="val 263459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有两种表示法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  <p:bldP spid="48135" grpId="0"/>
      <p:bldP spid="5" grpId="0" bldLvl="0" animBg="1"/>
      <p:bldP spid="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4E86D9-E115-44E2-A141-074FC27A740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01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0" name="Text Box 6"/>
          <p:cNvSpPr txBox="1"/>
          <p:nvPr/>
        </p:nvSpPr>
        <p:spPr>
          <a:xfrm>
            <a:off x="169863" y="712153"/>
            <a:ext cx="8686800" cy="312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原码的加减法运算规则：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endParaRPr lang="zh-CN" altLang="en-US" sz="1800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1" name="Text Box 25"/>
          <p:cNvSpPr txBox="1"/>
          <p:nvPr/>
        </p:nvSpPr>
        <p:spPr>
          <a:xfrm>
            <a:off x="334010" y="1184275"/>
            <a:ext cx="825246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的数值为两加数的数值之和；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Text Box 26"/>
          <p:cNvSpPr txBox="1"/>
          <p:nvPr/>
        </p:nvSpPr>
        <p:spPr>
          <a:xfrm>
            <a:off x="311150" y="1990725"/>
            <a:ext cx="831342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，先判断两加数真值的绝对值的大小，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的符号同绝对值大的数的原码符号，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的数值为用大数减去小数的差。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9" name="Rectangle 3"/>
          <p:cNvSpPr>
            <a:spLocks noGrp="1"/>
          </p:cNvSpPr>
          <p:nvPr>
            <p:ph type="title"/>
          </p:nvPr>
        </p:nvSpPr>
        <p:spPr>
          <a:xfrm>
            <a:off x="0" y="2874010"/>
            <a:ext cx="6821805" cy="4572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②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Negative Number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60" name="Rectangle 4"/>
          <p:cNvSpPr txBox="1"/>
          <p:nvPr/>
        </p:nvSpPr>
        <p:spPr>
          <a:xfrm>
            <a:off x="628650" y="3545840"/>
            <a:ext cx="2798763" cy="454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反码的形成规则：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Group 4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00438" y="3504883"/>
          <a:ext cx="4672013" cy="1235075"/>
        </p:xfrm>
        <a:graphic>
          <a:graphicData uri="http://schemas.openxmlformats.org/drawingml/2006/table">
            <a:tbl>
              <a:tblPr/>
              <a:tblGrid>
                <a:gridCol w="1060450"/>
                <a:gridCol w="1804987"/>
                <a:gridCol w="1806575"/>
              </a:tblGrid>
              <a:tr h="6016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341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反码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0" lang="zh-CN" alt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</a:t>
                      </a:r>
                      <a:endParaRPr kumimoji="0" lang="zh-CN" altLang="en-US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/>
      <p:bldP spid="4916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628650" y="4839018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1A1D3B-957F-4425-A0BA-276E2C7FF05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12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839018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4" name="Text Box 5"/>
          <p:cNvSpPr txBox="1"/>
          <p:nvPr/>
        </p:nvSpPr>
        <p:spPr>
          <a:xfrm>
            <a:off x="592773" y="555625"/>
            <a:ext cx="7696200" cy="16503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位二进制代码表示的原码、反码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z = 0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5" name="Text Box 15"/>
          <p:cNvSpPr txBox="1"/>
          <p:nvPr/>
        </p:nvSpPr>
        <p:spPr>
          <a:xfrm>
            <a:off x="552450" y="2580005"/>
            <a:ext cx="830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Text Box 16"/>
          <p:cNvSpPr txBox="1"/>
          <p:nvPr/>
        </p:nvSpPr>
        <p:spPr>
          <a:xfrm>
            <a:off x="543878" y="2651443"/>
            <a:ext cx="6400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endParaRPr lang="zh-CN" altLang="en-US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3" name="Text Box 17"/>
          <p:cNvSpPr txBox="1"/>
          <p:nvPr/>
        </p:nvSpPr>
        <p:spPr>
          <a:xfrm>
            <a:off x="544195" y="3271838"/>
            <a:ext cx="84550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把符号位看作一位数值位参与运算，一律按加法规则来处理，所得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结果的符号位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也就是正确结果的符号（不出现进位）。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4" name="Text Box 18"/>
          <p:cNvSpPr txBox="1"/>
          <p:nvPr/>
        </p:nvSpPr>
        <p:spPr>
          <a:xfrm>
            <a:off x="544195" y="4228465"/>
            <a:ext cx="6925310" cy="423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当符号位产生进位时，将产生的进位加到数值位的最低位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1000125" cy="1628775"/>
          </a:xfrm>
          <a:prstGeom prst="wedgeRoundRectCallout">
            <a:avLst>
              <a:gd name="adj1" fmla="val -207460"/>
              <a:gd name="adj2" fmla="val -2590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586865" y="2211705"/>
            <a:ext cx="5864860" cy="43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标注 2"/>
          <p:cNvSpPr/>
          <p:nvPr/>
        </p:nvSpPr>
        <p:spPr>
          <a:xfrm rot="10800000" flipV="1">
            <a:off x="5905500" y="2445385"/>
            <a:ext cx="1857375" cy="702945"/>
          </a:xfrm>
          <a:prstGeom prst="wedgeRoundRectCallout">
            <a:avLst>
              <a:gd name="adj1" fmla="val 11025"/>
              <a:gd name="adj2" fmla="val -8288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也</a:t>
            </a:r>
            <a:r>
              <a:rPr lang="zh-CN" altLang="en-US">
                <a:solidFill>
                  <a:srgbClr val="FF0000"/>
                </a:solidFill>
              </a:rPr>
              <a:t>有两种表示法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0183" grpId="0"/>
      <p:bldP spid="50184" grpId="0"/>
      <p:bldP spid="5" grpId="0" bldLvl="0" animBg="1"/>
      <p:bldP spid="5" grpId="1" animBg="1"/>
      <p:bldP spid="3" grpId="0" bldLvl="0" animBg="1"/>
      <p:bldP spid="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ED0DD7-42FF-46DB-96AE-98FEED34F21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22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549275" y="659765"/>
            <a:ext cx="8534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补码（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complement number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20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9" name="Rectangle 4"/>
          <p:cNvSpPr>
            <a:spLocks noGrp="1"/>
          </p:cNvSpPr>
          <p:nvPr>
            <p:ph idx="1"/>
          </p:nvPr>
        </p:nvSpPr>
        <p:spPr>
          <a:xfrm>
            <a:off x="515620" y="1228725"/>
            <a:ext cx="2859088" cy="45561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补码的形成规则：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6" name="Text Box 5"/>
          <p:cNvSpPr txBox="1"/>
          <p:nvPr/>
        </p:nvSpPr>
        <p:spPr>
          <a:xfrm>
            <a:off x="466408" y="3027363"/>
            <a:ext cx="7696200" cy="1613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位二进制代码表示的原码、补码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y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1111001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z = 0  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Z=-128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10000000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2735" name="Group 3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87370" y="1428750"/>
          <a:ext cx="4638675" cy="1428750"/>
        </p:xfrm>
        <a:graphic>
          <a:graphicData uri="http://schemas.openxmlformats.org/drawingml/2006/table">
            <a:tbl>
              <a:tblPr/>
              <a:tblGrid>
                <a:gridCol w="1052513"/>
                <a:gridCol w="1793875"/>
                <a:gridCol w="1792287"/>
              </a:tblGrid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补码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</a:t>
                      </a:r>
                      <a:endParaRPr kumimoji="1" lang="zh-CN" altLang="en-US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圆角矩形标注 2"/>
          <p:cNvSpPr/>
          <p:nvPr/>
        </p:nvSpPr>
        <p:spPr>
          <a:xfrm rot="10800000" flipV="1">
            <a:off x="7087870" y="3992880"/>
            <a:ext cx="1610995" cy="702945"/>
          </a:xfrm>
          <a:prstGeom prst="wedgeRoundRectCallout">
            <a:avLst>
              <a:gd name="adj1" fmla="val 70512"/>
              <a:gd name="adj2" fmla="val -2299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只有一种</a:t>
            </a:r>
            <a:r>
              <a:rPr lang="zh-CN" altLang="en-US">
                <a:solidFill>
                  <a:srgbClr val="FF0000"/>
                </a:solidFill>
              </a:rPr>
              <a:t>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  <p:sp>
        <p:nvSpPr>
          <p:cNvPr id="2" name="圆角矩形标注 1"/>
          <p:cNvSpPr/>
          <p:nvPr/>
        </p:nvSpPr>
        <p:spPr>
          <a:xfrm rot="10800000" flipV="1">
            <a:off x="2434590" y="4351655"/>
            <a:ext cx="2131695" cy="614680"/>
          </a:xfrm>
          <a:prstGeom prst="wedgeRoundRectCallout">
            <a:avLst>
              <a:gd name="adj1" fmla="val 103685"/>
              <a:gd name="adj2" fmla="val -2299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多出的</a:t>
            </a:r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表示法用于表示</a:t>
            </a:r>
            <a:r>
              <a:rPr lang="en-US" altLang="zh-CN">
                <a:solidFill>
                  <a:srgbClr val="FF0000"/>
                </a:solidFill>
              </a:rPr>
              <a:t>-128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3" grpId="0" bldLvl="0" animBg="1"/>
      <p:bldP spid="3" grpId="1" animBg="1"/>
      <p:bldP spid="2" grpId="0" bldLvl="0" animBg="1"/>
      <p:bldP spid="2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773113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02A9D7-47FD-4EFE-B72C-7F1AE7964C4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32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2413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Text Box 19"/>
          <p:cNvSpPr txBox="1"/>
          <p:nvPr/>
        </p:nvSpPr>
        <p:spPr>
          <a:xfrm>
            <a:off x="736600" y="598170"/>
            <a:ext cx="6400800" cy="34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3" name="Text Box 20"/>
          <p:cNvSpPr txBox="1"/>
          <p:nvPr/>
        </p:nvSpPr>
        <p:spPr>
          <a:xfrm>
            <a:off x="890905" y="1054100"/>
            <a:ext cx="7840980" cy="6654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把符号位看作一位数值位，一律按加法规则来处理，所得结果的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符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号位也就是正确结果的符号。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4" name="Text Box 21"/>
          <p:cNvSpPr txBox="1"/>
          <p:nvPr/>
        </p:nvSpPr>
        <p:spPr>
          <a:xfrm>
            <a:off x="890588" y="1771333"/>
            <a:ext cx="6583362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当符号位产生进位时，将产生的进位丢掉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31" name="Rectangle 2"/>
          <p:cNvSpPr>
            <a:spLocks noGrp="1"/>
          </p:cNvSpPr>
          <p:nvPr>
            <p:ph type="title"/>
          </p:nvPr>
        </p:nvSpPr>
        <p:spPr>
          <a:xfrm>
            <a:off x="709295" y="2141538"/>
            <a:ext cx="3451225" cy="43021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补码的概念：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32" name="矩形 16"/>
          <p:cNvSpPr/>
          <p:nvPr/>
        </p:nvSpPr>
        <p:spPr>
          <a:xfrm>
            <a:off x="685800" y="2646998"/>
            <a:ext cx="8278813" cy="2294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由于补码加、减运算的简便性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，导致了它在计算机中被广泛应用，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了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理解补码，有必要对补码的本质做进一步的说明。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从数学上讲，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补码与其真值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构成了一个以某一值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由计算机字长或其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他规定所决定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为模的“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模数系统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”，或者说构成了一个“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同余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”结构的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代数系统。</a:t>
            </a:r>
            <a:endParaRPr lang="en-US" altLang="zh-CN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在此基础上，不仅能容易地构成二进制数的各种不同模数的补码，而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且能很容易地构成十进制或任何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进制中的补码。 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/>
      <p:bldP spid="522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A90896-693F-4F28-AB7C-7EC13739B31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42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450850" y="608330"/>
            <a:ext cx="8064500" cy="4086225"/>
          </a:xfrm>
          <a:noFill/>
          <a:ln>
            <a:noFill/>
          </a:ln>
        </p:spPr>
        <p:txBody>
          <a:bodyPr/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模”或称为“模数”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，就好比一个计量器具的容量，一个计量器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具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就构成了一个模数系统。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例如：我们的指针盘手表可显示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个小时，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“12”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就是这个手表的模数，手表也构成一个模为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模数减去一个数的值等于该数的补，或称这两个数互补。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12-1=11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的补，或称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互补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减去一个数就等于加上这个数的补。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例如在手表中，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X-1=X+11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，假如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X=3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而且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X+11=14,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在手表上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在这里我们也把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同余数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31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9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CC180B-504B-485A-B5E9-15A8B47E10E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52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463550" y="546100"/>
            <a:ext cx="8051800" cy="4327525"/>
          </a:xfrm>
          <a:noFill/>
          <a:ln>
            <a:noFill/>
          </a:ln>
        </p:spPr>
        <p:txBody>
          <a:bodyPr/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在二进制的计算机系统中，对于字长为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的机器，它表示正整数的容量是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，因为减去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，所以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互补，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的补，通常称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，也就是说减去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。实际上，这是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求补。如果对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求补，则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的补就是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，但是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这里往往不将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是二进制数字系统中带符号数的一种表示方式。</a:t>
            </a:r>
            <a:endParaRPr lang="zh-CN" altLang="en-US" sz="1800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在书中，常常也说，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，实际上是求反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7,7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，也是求反。所以书中常把求反称为求补就是这个原因。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求补是针对某个模数来说的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针对的数是二进制系统字长所表示的带符号数的模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194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628650" y="4767580"/>
            <a:ext cx="2057400" cy="274955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D21C9B-4BA6-4109-98A9-F667BFE4A46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63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146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4" name="Group 18"/>
          <p:cNvGrpSpPr/>
          <p:nvPr/>
        </p:nvGrpSpPr>
        <p:grpSpPr>
          <a:xfrm>
            <a:off x="3998595" y="2857500"/>
            <a:ext cx="4267200" cy="1028700"/>
            <a:chOff x="3024" y="1008"/>
            <a:chExt cx="2688" cy="864"/>
          </a:xfrm>
        </p:grpSpPr>
        <p:sp>
          <p:nvSpPr>
            <p:cNvPr id="56339" name="Line 19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40" name="Text Box 20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AutoShape 21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22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43" name="Text Box 23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变反加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1(S=1)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25" name="Rectangle 2"/>
          <p:cNvSpPr>
            <a:spLocks noGrp="1"/>
          </p:cNvSpPr>
          <p:nvPr>
            <p:ph type="title"/>
          </p:nvPr>
        </p:nvSpPr>
        <p:spPr>
          <a:xfrm>
            <a:off x="613410" y="679133"/>
            <a:ext cx="77724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原码、反码和补码之间的关系如下图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6" name="Text Box 5"/>
          <p:cNvSpPr txBox="1"/>
          <p:nvPr/>
        </p:nvSpPr>
        <p:spPr>
          <a:xfrm>
            <a:off x="452120" y="2514600"/>
            <a:ext cx="1143000" cy="3651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7" name="Text Box 6"/>
          <p:cNvSpPr txBox="1"/>
          <p:nvPr/>
        </p:nvSpPr>
        <p:spPr>
          <a:xfrm>
            <a:off x="4458970" y="25082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8" name="Text Box 7"/>
          <p:cNvSpPr txBox="1"/>
          <p:nvPr/>
        </p:nvSpPr>
        <p:spPr>
          <a:xfrm>
            <a:off x="4387533" y="114300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9" name="Text Box 8"/>
          <p:cNvSpPr txBox="1"/>
          <p:nvPr/>
        </p:nvSpPr>
        <p:spPr>
          <a:xfrm>
            <a:off x="4458970" y="38798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30" name="Group 16"/>
          <p:cNvGrpSpPr/>
          <p:nvPr/>
        </p:nvGrpSpPr>
        <p:grpSpPr>
          <a:xfrm>
            <a:off x="1620520" y="2373630"/>
            <a:ext cx="2838450" cy="783896"/>
            <a:chOff x="1104" y="1728"/>
            <a:chExt cx="2256" cy="660"/>
          </a:xfrm>
        </p:grpSpPr>
        <p:sp>
          <p:nvSpPr>
            <p:cNvPr id="56337" name="Line 9"/>
            <p:cNvSpPr/>
            <p:nvPr/>
          </p:nvSpPr>
          <p:spPr>
            <a:xfrm>
              <a:off x="1104" y="2016"/>
              <a:ext cx="22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38" name="Text Box 10"/>
            <p:cNvSpPr txBox="1"/>
            <p:nvPr/>
          </p:nvSpPr>
          <p:spPr>
            <a:xfrm>
              <a:off x="1200" y="1728"/>
              <a:ext cx="2064" cy="6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符号＋、－←→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数值位不变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6331" name="Group 17"/>
          <p:cNvGrpSpPr/>
          <p:nvPr/>
        </p:nvGrpSpPr>
        <p:grpSpPr>
          <a:xfrm>
            <a:off x="3998595" y="1485900"/>
            <a:ext cx="4267200" cy="1028700"/>
            <a:chOff x="3024" y="1008"/>
            <a:chExt cx="2688" cy="864"/>
          </a:xfrm>
        </p:grpSpPr>
        <p:sp>
          <p:nvSpPr>
            <p:cNvPr id="56332" name="Text Box 12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33" name="Line 11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" name="AutoShape 13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5" name="Text Box 14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36" name="Text Box 15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(S=1)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advTm="2500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41B354-4A68-47BD-89ED-E971B7B0877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734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24075" y="4083050"/>
            <a:ext cx="1727200" cy="793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349" name="Rectangle 2"/>
          <p:cNvSpPr>
            <a:spLocks noGrp="1"/>
          </p:cNvSpPr>
          <p:nvPr>
            <p:ph type="title"/>
          </p:nvPr>
        </p:nvSpPr>
        <p:spPr>
          <a:xfrm>
            <a:off x="304800" y="587375"/>
            <a:ext cx="8153400" cy="60801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④带符号数的加、减运算举例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0" name="Rectangle 8"/>
          <p:cNvSpPr>
            <a:spLocks noGrp="1"/>
          </p:cNvSpPr>
          <p:nvPr>
            <p:ph idx="1"/>
          </p:nvPr>
        </p:nvSpPr>
        <p:spPr>
          <a:xfrm>
            <a:off x="685800" y="971550"/>
            <a:ext cx="8153400" cy="5715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z = x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7" name="Text Box 9"/>
          <p:cNvSpPr txBox="1"/>
          <p:nvPr/>
        </p:nvSpPr>
        <p:spPr>
          <a:xfrm>
            <a:off x="685800" y="1431925"/>
            <a:ext cx="7848600" cy="1108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      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 x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y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假如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x=+0011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y=-1010)</a:t>
            </a:r>
            <a:endParaRPr lang="en-US" altLang="zh-CN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∴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=[ 01010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00011]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      z =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8" name="Text Box 10"/>
          <p:cNvSpPr txBox="1"/>
          <p:nvPr/>
        </p:nvSpPr>
        <p:spPr>
          <a:xfrm>
            <a:off x="685800" y="2830513"/>
            <a:ext cx="8001000" cy="725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29" name="Group 11"/>
          <p:cNvGrpSpPr/>
          <p:nvPr/>
        </p:nvGrpSpPr>
        <p:grpSpPr>
          <a:xfrm>
            <a:off x="989013" y="3587750"/>
            <a:ext cx="4114800" cy="1049338"/>
            <a:chOff x="1008" y="3120"/>
            <a:chExt cx="2592" cy="881"/>
          </a:xfrm>
        </p:grpSpPr>
        <p:sp>
          <p:nvSpPr>
            <p:cNvPr id="57355" name="Text Box 12"/>
            <p:cNvSpPr txBox="1"/>
            <p:nvPr/>
          </p:nvSpPr>
          <p:spPr>
            <a:xfrm>
              <a:off x="1008" y="3120"/>
              <a:ext cx="2592" cy="8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01010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11101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1 00111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Line 13"/>
            <p:cNvSpPr/>
            <p:nvPr/>
          </p:nvSpPr>
          <p:spPr>
            <a:xfrm>
              <a:off x="1581" y="3684"/>
              <a:ext cx="9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357" name="Rectangle 14"/>
            <p:cNvSpPr/>
            <p:nvPr/>
          </p:nvSpPr>
          <p:spPr>
            <a:xfrm>
              <a:off x="1812" y="3720"/>
              <a:ext cx="240" cy="240"/>
            </a:xfrm>
            <a:prstGeom prst="rect">
              <a:avLst/>
            </a:prstGeom>
            <a:noFill/>
            <a:ln w="381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8" name="Text Box 15"/>
            <p:cNvSpPr txBox="1"/>
            <p:nvPr/>
          </p:nvSpPr>
          <p:spPr>
            <a:xfrm>
              <a:off x="1188" y="3672"/>
              <a:ext cx="76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丢掉←</a:t>
              </a:r>
              <a:endPara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30" name="Text Box 16"/>
          <p:cNvSpPr txBox="1"/>
          <p:nvPr/>
        </p:nvSpPr>
        <p:spPr>
          <a:xfrm>
            <a:off x="4876800" y="3771900"/>
            <a:ext cx="31242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 =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6657975" y="807085"/>
            <a:ext cx="1000125" cy="1628775"/>
          </a:xfrm>
          <a:prstGeom prst="wedgeRoundRectCallout">
            <a:avLst>
              <a:gd name="adj1" fmla="val -384793"/>
              <a:gd name="adj2" fmla="val -224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1000125" cy="1628775"/>
          </a:xfrm>
          <a:prstGeom prst="wedgeRoundRectCallout">
            <a:avLst>
              <a:gd name="adj1" fmla="val -240222"/>
              <a:gd name="adj2" fmla="val -4035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</p:spTree>
  </p:cSld>
  <p:clrMapOvr>
    <a:masterClrMapping/>
  </p:clrMapOvr>
  <p:transition advTm="2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327" grpId="0"/>
      <p:bldP spid="56328" grpId="0"/>
      <p:bldP spid="56330" grpId="0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830357-65DF-4024-985C-9C6604333C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83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4"/>
          <p:cNvSpPr>
            <a:spLocks noGrp="1"/>
          </p:cNvSpPr>
          <p:nvPr>
            <p:ph idx="1"/>
          </p:nvPr>
        </p:nvSpPr>
        <p:spPr>
          <a:xfrm>
            <a:off x="566738" y="700088"/>
            <a:ext cx="8153400" cy="5715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z = x-y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9" name="Text Box 6"/>
          <p:cNvSpPr txBox="1"/>
          <p:nvPr/>
        </p:nvSpPr>
        <p:spPr>
          <a:xfrm>
            <a:off x="685800" y="1314450"/>
            <a:ext cx="80010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反码运算：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01010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11100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0" name="Text Box 12"/>
          <p:cNvSpPr txBox="1"/>
          <p:nvPr/>
        </p:nvSpPr>
        <p:spPr>
          <a:xfrm>
            <a:off x="5029200" y="2527300"/>
            <a:ext cx="31242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z =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7351" name="Group 16"/>
          <p:cNvGrpSpPr/>
          <p:nvPr/>
        </p:nvGrpSpPr>
        <p:grpSpPr>
          <a:xfrm>
            <a:off x="1214438" y="2408238"/>
            <a:ext cx="4221162" cy="1924050"/>
            <a:chOff x="765" y="2023"/>
            <a:chExt cx="2659" cy="1616"/>
          </a:xfrm>
        </p:grpSpPr>
        <p:sp>
          <p:nvSpPr>
            <p:cNvPr id="58376" name="Text Box 8"/>
            <p:cNvSpPr txBox="1"/>
            <p:nvPr/>
          </p:nvSpPr>
          <p:spPr>
            <a:xfrm>
              <a:off x="765" y="2023"/>
              <a:ext cx="2659" cy="161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01010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11100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1 00110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     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00111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7" name="Line 9"/>
            <p:cNvSpPr/>
            <p:nvPr/>
          </p:nvSpPr>
          <p:spPr>
            <a:xfrm>
              <a:off x="1248" y="2651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78" name="Rectangle 10"/>
            <p:cNvSpPr/>
            <p:nvPr/>
          </p:nvSpPr>
          <p:spPr>
            <a:xfrm>
              <a:off x="1659" y="2687"/>
              <a:ext cx="240" cy="240"/>
            </a:xfrm>
            <a:prstGeom prst="rect">
              <a:avLst/>
            </a:prstGeom>
            <a:noFill/>
            <a:ln w="28575" cap="rnd" cmpd="sng">
              <a:solidFill>
                <a:srgbClr val="C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9" name="Line 13"/>
            <p:cNvSpPr/>
            <p:nvPr/>
          </p:nvSpPr>
          <p:spPr>
            <a:xfrm>
              <a:off x="1488" y="2976"/>
              <a:ext cx="0" cy="240"/>
            </a:xfrm>
            <a:prstGeom prst="line">
              <a:avLst/>
            </a:prstGeom>
            <a:ln w="9525" cap="rnd" cmpd="sng">
              <a:solidFill>
                <a:srgbClr val="FFFF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8380" name="Line 14"/>
            <p:cNvSpPr/>
            <p:nvPr/>
          </p:nvSpPr>
          <p:spPr>
            <a:xfrm>
              <a:off x="1803" y="3156"/>
              <a:ext cx="480" cy="0"/>
            </a:xfrm>
            <a:prstGeom prst="line">
              <a:avLst/>
            </a:prstGeom>
            <a:ln w="28575" cap="rnd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58381" name="Line 15"/>
            <p:cNvSpPr/>
            <p:nvPr/>
          </p:nvSpPr>
          <p:spPr>
            <a:xfrm>
              <a:off x="1248" y="3360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992" name="Text Box 37"/>
          <p:cNvSpPr txBox="1"/>
          <p:nvPr/>
        </p:nvSpPr>
        <p:spPr>
          <a:xfrm>
            <a:off x="1062990" y="4371975"/>
            <a:ext cx="74091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啥是数字系统中的二进制数的代码表示？其加减运算有何特点？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A018EC-F4AE-41F2-9A2A-C67D23EF6F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93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>
          <a:xfrm>
            <a:off x="371475" y="673100"/>
            <a:ext cx="8086725" cy="4064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十进制数的编码（代码）表示及其运算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>
          <a:xfrm>
            <a:off x="343535" y="1214755"/>
            <a:ext cx="8455025" cy="342773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既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具有二进制数的形式，又具有十进制数的特点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，即用四位二进制数表示一位十进制数；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可按位直接相互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转换（某种规则）；如，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12.35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，编码成：</a:t>
            </a:r>
            <a:r>
              <a:rPr lang="en-US" altLang="zh-CN" sz="1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000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1 0010.0011 0101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运算（要修正）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主要有：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码，常称为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码（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Binary coded decimal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）或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(Excess-3)等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 rot="10800000" flipV="1">
            <a:off x="5397500" y="3939540"/>
            <a:ext cx="2967990" cy="702945"/>
          </a:xfrm>
          <a:prstGeom prst="wedgeRoundRectCallout">
            <a:avLst>
              <a:gd name="adj1" fmla="val 96893"/>
              <a:gd name="adj2" fmla="val -52981"/>
              <a:gd name="adj3" fmla="val 16667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>
                <a:solidFill>
                  <a:srgbClr val="0000FF"/>
                </a:solidFill>
              </a:rPr>
              <a:t>前两种有权码或加权码（</a:t>
            </a:r>
            <a:r>
              <a:rPr lang="en-US" altLang="zh-CN">
                <a:solidFill>
                  <a:srgbClr val="0000FF"/>
                </a:solidFill>
              </a:rPr>
              <a:t>weighted  code</a:t>
            </a:r>
            <a:r>
              <a:rPr lang="zh-CN">
                <a:solidFill>
                  <a:srgbClr val="0000FF"/>
                </a:solidFill>
              </a:rPr>
              <a:t>）</a:t>
            </a:r>
            <a:r>
              <a:rPr lang="zh-CN" altLang="en-US">
                <a:solidFill>
                  <a:srgbClr val="0000FF"/>
                </a:solidFill>
              </a:rPr>
              <a:t>！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5175" y="4629150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type="title"/>
          </p:nvPr>
        </p:nvSpPr>
        <p:spPr>
          <a:xfrm>
            <a:off x="2263775" y="587375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1—3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三种经典的十进制数的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87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5045" y="1074738"/>
          <a:ext cx="7162800" cy="3582988"/>
        </p:xfrm>
        <a:graphic>
          <a:graphicData uri="http://schemas.openxmlformats.org/drawingml/2006/table">
            <a:tbl>
              <a:tblPr/>
              <a:tblGrid>
                <a:gridCol w="2056765"/>
                <a:gridCol w="1871980"/>
                <a:gridCol w="1680210"/>
                <a:gridCol w="1553845"/>
              </a:tblGrid>
              <a:tr h="45721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十进制整数（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2#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577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0000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0100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0110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0111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500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144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type="title"/>
          </p:nvPr>
        </p:nvSpPr>
        <p:spPr>
          <a:xfrm>
            <a:off x="295910" y="600393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设：编码的码字形式为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5311" name="Group 7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0373" y="1022350"/>
          <a:ext cx="7724775" cy="3194051"/>
        </p:xfrm>
        <a:graphic>
          <a:graphicData uri="http://schemas.openxmlformats.org/drawingml/2006/table">
            <a:tbl>
              <a:tblPr/>
              <a:tblGrid>
                <a:gridCol w="998537"/>
                <a:gridCol w="2930525"/>
                <a:gridCol w="3795713"/>
              </a:tblGrid>
              <a:tr h="72068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对应的十进制数值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编码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直接按位转换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en-US" altLang="zh-CN" sz="17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Weighted code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有权码、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494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无权码、对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 (?)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(0100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(0100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467" name="Rectangle 78"/>
          <p:cNvSpPr/>
          <p:nvPr/>
        </p:nvSpPr>
        <p:spPr>
          <a:xfrm>
            <a:off x="304800" y="4257675"/>
            <a:ext cx="86868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代码运算若直接按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二进制数运算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，则运算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结果要修正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如何进行修正课后认真思考？</a:t>
            </a:r>
            <a:endParaRPr lang="zh-CN" altLang="en-US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Picture 4"/>
          <p:cNvPicPr>
            <a:picLocks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323850" y="1222375"/>
            <a:ext cx="8496300" cy="291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908040" y="1302385"/>
            <a:ext cx="1256030" cy="398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1992" name="Text Box 37"/>
          <p:cNvSpPr txBox="1"/>
          <p:nvPr/>
        </p:nvSpPr>
        <p:spPr>
          <a:xfrm>
            <a:off x="1995805" y="4300220"/>
            <a:ext cx="42862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nBCD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8421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）码是一种对九互补码吗？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>
          <a:xfrm>
            <a:off x="323850" y="555625"/>
            <a:ext cx="8569325" cy="41767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常见的有权码编码方法：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码，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四位二进制位的位权分别为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-2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-1)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其最方便使用的共同特点为：</a:t>
            </a:r>
            <a:br>
              <a:rPr lang="zh-CN" altLang="en-US" sz="2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码，任何两个十进制数位，采用这三种编码的任何一种编码，它们相加之和等于或大于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时，其结果的最高位向左产生进位，小于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时则不产生进位。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这一特点有利于实现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逢十进位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的计数和加法规则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码，任何两个十进制数位，采用这四种编码的任何一种编码，它们相加其和等于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时，即它们的二进制编码位互为反码，则其结果的四个二进制位一定是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能较好地体现十进制的按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取补与二进制的按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取补的对应关系，这对减法操作很有价值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灯片编号占位符 4"/>
          <p:cNvSpPr txBox="1">
            <a:spLocks noGrp="1"/>
          </p:cNvSpPr>
          <p:nvPr/>
        </p:nvSpPr>
        <p:spPr>
          <a:xfrm>
            <a:off x="8820150" y="4894263"/>
            <a:ext cx="396875" cy="250825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b="1" dirty="0">
                <a:solidFill>
                  <a:srgbClr val="FF0066"/>
                </a:solidFill>
              </a:rPr>
              <a:t>M</a:t>
            </a:r>
            <a:r>
              <a:rPr lang="zh-CN" altLang="en-US" b="1" dirty="0">
                <a:solidFill>
                  <a:srgbClr val="FF0066"/>
                </a:solidFill>
              </a:rPr>
              <a:t>中取</a:t>
            </a:r>
            <a:r>
              <a:rPr lang="en-US" altLang="zh-CN" b="1" dirty="0">
                <a:solidFill>
                  <a:srgbClr val="FF0066"/>
                </a:solidFill>
              </a:rPr>
              <a:t>N</a:t>
            </a:r>
            <a:r>
              <a:rPr lang="zh-CN" altLang="en-US" b="1" dirty="0">
                <a:solidFill>
                  <a:srgbClr val="FF0066"/>
                </a:solidFill>
              </a:rPr>
              <a:t>码</a:t>
            </a:r>
            <a:endParaRPr lang="zh-CN" altLang="en-US" b="1" dirty="0">
              <a:solidFill>
                <a:srgbClr val="FF0066"/>
              </a:solidFill>
            </a:endParaRPr>
          </a:p>
        </p:txBody>
      </p:sp>
      <p:pic>
        <p:nvPicPr>
          <p:cNvPr id="86021" name="Picture 4" descr="1-9"/>
          <p:cNvPicPr>
            <a:picLocks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750888" y="1485900"/>
            <a:ext cx="7642225" cy="3086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2" name="Text Box 37"/>
          <p:cNvSpPr txBox="1"/>
          <p:nvPr/>
        </p:nvSpPr>
        <p:spPr>
          <a:xfrm>
            <a:off x="3491865" y="555308"/>
            <a:ext cx="4670425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记住十进制数的最常用三种代码表示，了解其作用！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Text Box 6"/>
          <p:cNvSpPr txBox="1"/>
          <p:nvPr/>
        </p:nvSpPr>
        <p:spPr>
          <a:xfrm>
            <a:off x="892175" y="1446213"/>
            <a:ext cx="8305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：解决代码在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形成（运算）或传输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过程中可能会发生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1" name="Text Box 8"/>
          <p:cNvSpPr txBox="1"/>
          <p:nvPr/>
        </p:nvSpPr>
        <p:spPr>
          <a:xfrm>
            <a:off x="1680845" y="1903413"/>
            <a:ext cx="6477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的错误，提高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数字系统的安全性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2" name="Text Box 9"/>
          <p:cNvSpPr txBox="1"/>
          <p:nvPr/>
        </p:nvSpPr>
        <p:spPr>
          <a:xfrm>
            <a:off x="892175" y="2439988"/>
            <a:ext cx="8610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：使代码自身具有一种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特征或抗破坏能力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3" name="Text Box 10"/>
          <p:cNvSpPr txBox="1"/>
          <p:nvPr/>
        </p:nvSpPr>
        <p:spPr>
          <a:xfrm>
            <a:off x="892175" y="2989263"/>
            <a:ext cx="4114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作用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     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不易出错；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4" name="Text Box 11"/>
          <p:cNvSpPr txBox="1"/>
          <p:nvPr/>
        </p:nvSpPr>
        <p:spPr>
          <a:xfrm>
            <a:off x="2035175" y="3474403"/>
            <a:ext cx="4724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若出错时易发现错误；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5" name="Text Box 12"/>
          <p:cNvSpPr txBox="1"/>
          <p:nvPr/>
        </p:nvSpPr>
        <p:spPr>
          <a:xfrm>
            <a:off x="2035175" y="3960813"/>
            <a:ext cx="6248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出错时易查错且易纠错。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6" name="Rectangle 15"/>
          <p:cNvSpPr>
            <a:spLocks noGrp="1"/>
          </p:cNvSpPr>
          <p:nvPr>
            <p:ph type="title"/>
          </p:nvPr>
        </p:nvSpPr>
        <p:spPr>
          <a:xfrm>
            <a:off x="739775" y="768033"/>
            <a:ext cx="84582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1.2.4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可靠性编码（一种特殊的编码技术，使用广泛）	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519616-D2AC-4045-8484-604F718214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656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en-US" altLang="zh-CN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Oval 22"/>
          <p:cNvSpPr/>
          <p:nvPr/>
        </p:nvSpPr>
        <p:spPr>
          <a:xfrm>
            <a:off x="1120775" y="3200400"/>
            <a:ext cx="4267200" cy="62865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1" name="Text Box 27"/>
          <p:cNvSpPr txBox="1"/>
          <p:nvPr/>
        </p:nvSpPr>
        <p:spPr>
          <a:xfrm>
            <a:off x="3940175" y="2817813"/>
            <a:ext cx="1981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2" name="Text Box 26"/>
          <p:cNvSpPr txBox="1"/>
          <p:nvPr/>
        </p:nvSpPr>
        <p:spPr>
          <a:xfrm>
            <a:off x="1120775" y="2828925"/>
            <a:ext cx="1981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7" name="Rectangle 2"/>
          <p:cNvSpPr>
            <a:spLocks noGrp="1"/>
          </p:cNvSpPr>
          <p:nvPr>
            <p:ph type="title"/>
          </p:nvPr>
        </p:nvSpPr>
        <p:spPr>
          <a:xfrm>
            <a:off x="533400" y="574675"/>
            <a:ext cx="7772400" cy="8572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格雷码（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Gray)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8" name="Rectangle 3"/>
          <p:cNvSpPr>
            <a:spLocks noGrp="1"/>
          </p:cNvSpPr>
          <p:nvPr>
            <p:ph idx="1"/>
          </p:nvPr>
        </p:nvSpPr>
        <p:spPr>
          <a:xfrm>
            <a:off x="654050" y="1030288"/>
            <a:ext cx="8763000" cy="165735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：任意两个相邻数的代码（码字）只有一个二进制数位不同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减少代码生成时发生错误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例：某种四位二进制加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计数器，工作时有如下情况出现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5545" name="Group 5"/>
          <p:cNvGrpSpPr/>
          <p:nvPr/>
        </p:nvGrpSpPr>
        <p:grpSpPr>
          <a:xfrm>
            <a:off x="2111375" y="3143250"/>
            <a:ext cx="914400" cy="589758"/>
            <a:chOff x="1872" y="2496"/>
            <a:chExt cx="576" cy="495"/>
          </a:xfrm>
        </p:grpSpPr>
        <p:sp>
          <p:nvSpPr>
            <p:cNvPr id="66592" name="Line 6"/>
            <p:cNvSpPr/>
            <p:nvPr/>
          </p:nvSpPr>
          <p:spPr>
            <a:xfrm flipH="1">
              <a:off x="2160" y="249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3" name="Text Box 7"/>
            <p:cNvSpPr txBox="1"/>
            <p:nvPr/>
          </p:nvSpPr>
          <p:spPr>
            <a:xfrm>
              <a:off x="1872" y="2682"/>
              <a:ext cx="576" cy="309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6" name="Group 8"/>
          <p:cNvGrpSpPr/>
          <p:nvPr/>
        </p:nvGrpSpPr>
        <p:grpSpPr>
          <a:xfrm>
            <a:off x="2797175" y="2571750"/>
            <a:ext cx="914400" cy="589758"/>
            <a:chOff x="2304" y="2016"/>
            <a:chExt cx="576" cy="495"/>
          </a:xfrm>
        </p:grpSpPr>
        <p:sp>
          <p:nvSpPr>
            <p:cNvPr id="66590" name="Line 9"/>
            <p:cNvSpPr/>
            <p:nvPr/>
          </p:nvSpPr>
          <p:spPr>
            <a:xfrm>
              <a:off x="2592" y="201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1" name="Text Box 10"/>
            <p:cNvSpPr txBox="1"/>
            <p:nvPr/>
          </p:nvSpPr>
          <p:spPr>
            <a:xfrm>
              <a:off x="2304" y="220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7" name="Group 11"/>
          <p:cNvGrpSpPr/>
          <p:nvPr/>
        </p:nvGrpSpPr>
        <p:grpSpPr>
          <a:xfrm>
            <a:off x="3556000" y="3143250"/>
            <a:ext cx="917575" cy="800100"/>
            <a:chOff x="2782" y="2496"/>
            <a:chExt cx="578" cy="672"/>
          </a:xfrm>
        </p:grpSpPr>
        <p:sp>
          <p:nvSpPr>
            <p:cNvPr id="66585" name="Text Box 13"/>
            <p:cNvSpPr txBox="1"/>
            <p:nvPr/>
          </p:nvSpPr>
          <p:spPr>
            <a:xfrm>
              <a:off x="2784" y="2682"/>
              <a:ext cx="576" cy="310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6" name="Line 12"/>
            <p:cNvSpPr/>
            <p:nvPr/>
          </p:nvSpPr>
          <p:spPr>
            <a:xfrm>
              <a:off x="2880" y="2496"/>
              <a:ext cx="192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7" name="Line 14"/>
            <p:cNvSpPr/>
            <p:nvPr/>
          </p:nvSpPr>
          <p:spPr>
            <a:xfrm flipH="1">
              <a:off x="288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8" name="Text Box 13"/>
            <p:cNvSpPr txBox="1"/>
            <p:nvPr/>
          </p:nvSpPr>
          <p:spPr>
            <a:xfrm>
              <a:off x="2782" y="2686"/>
              <a:ext cx="576" cy="309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9" name="Line 12"/>
            <p:cNvSpPr/>
            <p:nvPr/>
          </p:nvSpPr>
          <p:spPr>
            <a:xfrm>
              <a:off x="2878" y="2500"/>
              <a:ext cx="192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48" name="Group 15"/>
          <p:cNvGrpSpPr/>
          <p:nvPr/>
        </p:nvGrpSpPr>
        <p:grpSpPr>
          <a:xfrm>
            <a:off x="2568575" y="3714750"/>
            <a:ext cx="1143000" cy="589758"/>
            <a:chOff x="2160" y="2976"/>
            <a:chExt cx="720" cy="495"/>
          </a:xfrm>
        </p:grpSpPr>
        <p:sp>
          <p:nvSpPr>
            <p:cNvPr id="66583" name="Line 16"/>
            <p:cNvSpPr/>
            <p:nvPr/>
          </p:nvSpPr>
          <p:spPr>
            <a:xfrm>
              <a:off x="216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4" name="Text Box 17"/>
            <p:cNvSpPr txBox="1"/>
            <p:nvPr/>
          </p:nvSpPr>
          <p:spPr>
            <a:xfrm>
              <a:off x="2304" y="316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9" name="Group 18"/>
          <p:cNvGrpSpPr/>
          <p:nvPr/>
        </p:nvGrpSpPr>
        <p:grpSpPr>
          <a:xfrm>
            <a:off x="2797175" y="4286250"/>
            <a:ext cx="914400" cy="800100"/>
            <a:chOff x="2304" y="3456"/>
            <a:chExt cx="576" cy="672"/>
          </a:xfrm>
        </p:grpSpPr>
        <p:sp>
          <p:nvSpPr>
            <p:cNvPr id="66580" name="Line 19"/>
            <p:cNvSpPr/>
            <p:nvPr/>
          </p:nvSpPr>
          <p:spPr>
            <a:xfrm>
              <a:off x="2592" y="345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1" name="Text Box 20"/>
            <p:cNvSpPr txBox="1"/>
            <p:nvPr/>
          </p:nvSpPr>
          <p:spPr>
            <a:xfrm>
              <a:off x="2304" y="364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2" name="Line 21"/>
            <p:cNvSpPr/>
            <p:nvPr/>
          </p:nvSpPr>
          <p:spPr>
            <a:xfrm>
              <a:off x="2592" y="393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50" name="Group 23"/>
          <p:cNvGrpSpPr/>
          <p:nvPr/>
        </p:nvGrpSpPr>
        <p:grpSpPr>
          <a:xfrm>
            <a:off x="1273175" y="2171700"/>
            <a:ext cx="2438400" cy="425450"/>
            <a:chOff x="1344" y="1680"/>
            <a:chExt cx="1536" cy="358"/>
          </a:xfrm>
        </p:grpSpPr>
        <p:sp>
          <p:nvSpPr>
            <p:cNvPr id="66578" name="Text Box 24"/>
            <p:cNvSpPr txBox="1"/>
            <p:nvPr/>
          </p:nvSpPr>
          <p:spPr>
            <a:xfrm>
              <a:off x="2304" y="1728"/>
              <a:ext cx="576" cy="31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79" name="Text Box 25"/>
            <p:cNvSpPr txBox="1"/>
            <p:nvPr/>
          </p:nvSpPr>
          <p:spPr>
            <a:xfrm>
              <a:off x="1344" y="1680"/>
              <a:ext cx="110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51" name="Group 28"/>
          <p:cNvGrpSpPr/>
          <p:nvPr/>
        </p:nvGrpSpPr>
        <p:grpSpPr>
          <a:xfrm>
            <a:off x="5387975" y="3257550"/>
            <a:ext cx="2057400" cy="645314"/>
            <a:chOff x="3936" y="2554"/>
            <a:chExt cx="1488" cy="541"/>
          </a:xfrm>
        </p:grpSpPr>
        <p:sp>
          <p:nvSpPr>
            <p:cNvPr id="66576" name="Text Box 29"/>
            <p:cNvSpPr txBox="1"/>
            <p:nvPr/>
          </p:nvSpPr>
          <p:spPr>
            <a:xfrm>
              <a:off x="4224" y="2554"/>
              <a:ext cx="1200" cy="54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不应当出现的暂态！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77" name="Line 30"/>
            <p:cNvSpPr/>
            <p:nvPr/>
          </p:nvSpPr>
          <p:spPr>
            <a:xfrm>
              <a:off x="3936" y="279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1" grpId="0"/>
      <p:bldP spid="655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type="title"/>
          </p:nvPr>
        </p:nvSpPr>
        <p:spPr>
          <a:xfrm>
            <a:off x="228600" y="546100"/>
            <a:ext cx="8763000" cy="5127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码、步进码和二进制码对照表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8345" name="Group 4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3700" y="1054100"/>
          <a:ext cx="7781925" cy="3654425"/>
        </p:xfrm>
        <a:graphic>
          <a:graphicData uri="http://schemas.openxmlformats.org/drawingml/2006/table">
            <a:tbl>
              <a:tblPr/>
              <a:tblGrid>
                <a:gridCol w="1295400"/>
                <a:gridCol w="1298575"/>
                <a:gridCol w="1263650"/>
                <a:gridCol w="1330325"/>
                <a:gridCol w="1295400"/>
                <a:gridCol w="1298575"/>
              </a:tblGrid>
              <a:tr h="5111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十进制数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典型</a:t>
                      </a: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码⑴ 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码⑵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步进码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432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1700530" y="3507105"/>
            <a:ext cx="6475095" cy="158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2" name="Text Box 6"/>
          <p:cNvSpPr txBox="1"/>
          <p:nvPr/>
        </p:nvSpPr>
        <p:spPr>
          <a:xfrm>
            <a:off x="827088" y="1563688"/>
            <a:ext cx="7239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设：二进制码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3" name="Text Box 8"/>
          <p:cNvSpPr txBox="1"/>
          <p:nvPr/>
        </p:nvSpPr>
        <p:spPr>
          <a:xfrm>
            <a:off x="1282700" y="2503488"/>
            <a:ext cx="2743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614" name="Group 64"/>
          <p:cNvGrpSpPr/>
          <p:nvPr/>
        </p:nvGrpSpPr>
        <p:grpSpPr>
          <a:xfrm>
            <a:off x="5051425" y="1866900"/>
            <a:ext cx="398463" cy="704850"/>
            <a:chOff x="4704" y="1056"/>
            <a:chExt cx="384" cy="768"/>
          </a:xfrm>
        </p:grpSpPr>
        <p:sp>
          <p:nvSpPr>
            <p:cNvPr id="68665" name="Text Box 10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6" name="Line 11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7" name="Line 12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8" name="Line 13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15" name="Text Box 30"/>
          <p:cNvSpPr txBox="1"/>
          <p:nvPr/>
        </p:nvSpPr>
        <p:spPr>
          <a:xfrm>
            <a:off x="3517900" y="1563688"/>
            <a:ext cx="609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6" name="Text Box 31"/>
          <p:cNvSpPr txBox="1"/>
          <p:nvPr/>
        </p:nvSpPr>
        <p:spPr>
          <a:xfrm>
            <a:off x="798830" y="2997200"/>
            <a:ext cx="79368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1     1    1    0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7" name="Text Box 32"/>
          <p:cNvSpPr txBox="1"/>
          <p:nvPr/>
        </p:nvSpPr>
        <p:spPr>
          <a:xfrm>
            <a:off x="1282700" y="4044950"/>
            <a:ext cx="3048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8" name="Text Box 54"/>
          <p:cNvSpPr txBox="1"/>
          <p:nvPr/>
        </p:nvSpPr>
        <p:spPr>
          <a:xfrm>
            <a:off x="3348355" y="2997200"/>
            <a:ext cx="8978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9" name="Text Box 56"/>
          <p:cNvSpPr txBox="1"/>
          <p:nvPr/>
        </p:nvSpPr>
        <p:spPr>
          <a:xfrm>
            <a:off x="5172075" y="2514600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0" name="Text Box 57"/>
          <p:cNvSpPr txBox="1"/>
          <p:nvPr/>
        </p:nvSpPr>
        <p:spPr>
          <a:xfrm>
            <a:off x="4092575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1" name="Text Box 58"/>
          <p:cNvSpPr txBox="1"/>
          <p:nvPr/>
        </p:nvSpPr>
        <p:spPr>
          <a:xfrm>
            <a:off x="3689350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2" name="Text Box 59"/>
          <p:cNvSpPr txBox="1"/>
          <p:nvPr/>
        </p:nvSpPr>
        <p:spPr>
          <a:xfrm>
            <a:off x="4246563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3" name="Text Box 60"/>
          <p:cNvSpPr txBox="1"/>
          <p:nvPr/>
        </p:nvSpPr>
        <p:spPr>
          <a:xfrm>
            <a:off x="4884738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4" name="Text Box 61"/>
          <p:cNvSpPr txBox="1"/>
          <p:nvPr/>
        </p:nvSpPr>
        <p:spPr>
          <a:xfrm>
            <a:off x="542290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5" name="Text Box 62"/>
          <p:cNvSpPr txBox="1"/>
          <p:nvPr/>
        </p:nvSpPr>
        <p:spPr>
          <a:xfrm>
            <a:off x="361315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626" name="Group 65"/>
          <p:cNvGrpSpPr/>
          <p:nvPr/>
        </p:nvGrpSpPr>
        <p:grpSpPr>
          <a:xfrm>
            <a:off x="5518150" y="1866900"/>
            <a:ext cx="398463" cy="704850"/>
            <a:chOff x="4704" y="1056"/>
            <a:chExt cx="384" cy="768"/>
          </a:xfrm>
        </p:grpSpPr>
        <p:sp>
          <p:nvSpPr>
            <p:cNvPr id="68661" name="Text Box 6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2" name="Line 6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3" name="Line 6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4" name="Line 6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7" name="Group 70"/>
          <p:cNvGrpSpPr/>
          <p:nvPr/>
        </p:nvGrpSpPr>
        <p:grpSpPr>
          <a:xfrm>
            <a:off x="4156075" y="1866900"/>
            <a:ext cx="396875" cy="704850"/>
            <a:chOff x="4704" y="1056"/>
            <a:chExt cx="384" cy="768"/>
          </a:xfrm>
        </p:grpSpPr>
        <p:sp>
          <p:nvSpPr>
            <p:cNvPr id="68657" name="Text Box 7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Line 7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9" name="Line 7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0" name="Line 7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8" name="Group 75"/>
          <p:cNvGrpSpPr/>
          <p:nvPr/>
        </p:nvGrpSpPr>
        <p:grpSpPr>
          <a:xfrm>
            <a:off x="3679825" y="1866900"/>
            <a:ext cx="398463" cy="704850"/>
            <a:chOff x="4704" y="1056"/>
            <a:chExt cx="384" cy="768"/>
          </a:xfrm>
        </p:grpSpPr>
        <p:sp>
          <p:nvSpPr>
            <p:cNvPr id="68653" name="Text Box 76"/>
            <p:cNvSpPr txBox="1"/>
            <p:nvPr/>
          </p:nvSpPr>
          <p:spPr>
            <a:xfrm>
              <a:off x="4707" y="1291"/>
              <a:ext cx="31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4" name="Line 7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5" name="Line 7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6" name="Line 7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9" name="Group 80"/>
          <p:cNvGrpSpPr/>
          <p:nvPr/>
        </p:nvGrpSpPr>
        <p:grpSpPr>
          <a:xfrm>
            <a:off x="5307013" y="3408363"/>
            <a:ext cx="398462" cy="704850"/>
            <a:chOff x="4704" y="1056"/>
            <a:chExt cx="384" cy="768"/>
          </a:xfrm>
        </p:grpSpPr>
        <p:sp>
          <p:nvSpPr>
            <p:cNvPr id="68649" name="Text Box 8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0" name="Line 8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1" name="Line 8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2" name="Line 8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0" name="Group 85"/>
          <p:cNvGrpSpPr/>
          <p:nvPr/>
        </p:nvGrpSpPr>
        <p:grpSpPr>
          <a:xfrm>
            <a:off x="4765675" y="3408363"/>
            <a:ext cx="396875" cy="704850"/>
            <a:chOff x="4704" y="1056"/>
            <a:chExt cx="384" cy="768"/>
          </a:xfrm>
        </p:grpSpPr>
        <p:sp>
          <p:nvSpPr>
            <p:cNvPr id="68645" name="Text Box 8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Line 8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7" name="Line 8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8" name="Line 8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1" name="Group 90"/>
          <p:cNvGrpSpPr/>
          <p:nvPr/>
        </p:nvGrpSpPr>
        <p:grpSpPr>
          <a:xfrm>
            <a:off x="4151313" y="3408363"/>
            <a:ext cx="398462" cy="704850"/>
            <a:chOff x="4704" y="1056"/>
            <a:chExt cx="384" cy="768"/>
          </a:xfrm>
        </p:grpSpPr>
        <p:sp>
          <p:nvSpPr>
            <p:cNvPr id="68641" name="Text Box 9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2" name="Line 9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3" name="Line 9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4" name="Line 9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2" name="Group 95"/>
          <p:cNvGrpSpPr/>
          <p:nvPr/>
        </p:nvGrpSpPr>
        <p:grpSpPr>
          <a:xfrm>
            <a:off x="3536950" y="3408363"/>
            <a:ext cx="398463" cy="704850"/>
            <a:chOff x="4704" y="1056"/>
            <a:chExt cx="384" cy="768"/>
          </a:xfrm>
        </p:grpSpPr>
        <p:sp>
          <p:nvSpPr>
            <p:cNvPr id="68637" name="Text Box 9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8" name="Line 9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9" name="Line 9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0" name="Line 9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33" name="Text Box 100"/>
          <p:cNvSpPr txBox="1"/>
          <p:nvPr/>
        </p:nvSpPr>
        <p:spPr>
          <a:xfrm>
            <a:off x="925830" y="1087438"/>
            <a:ext cx="678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异或运算（运算符⊕）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,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4" name="Text Box 101"/>
          <p:cNvSpPr txBox="1"/>
          <p:nvPr/>
        </p:nvSpPr>
        <p:spPr>
          <a:xfrm>
            <a:off x="4638675" y="245745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5" name="Rectangle 102"/>
          <p:cNvSpPr>
            <a:spLocks noGrp="1"/>
          </p:cNvSpPr>
          <p:nvPr>
            <p:ph type="title"/>
          </p:nvPr>
        </p:nvSpPr>
        <p:spPr>
          <a:xfrm>
            <a:off x="628650" y="658813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是由二进制码生成的。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6" name="Text Box 55"/>
          <p:cNvSpPr txBox="1"/>
          <p:nvPr/>
        </p:nvSpPr>
        <p:spPr>
          <a:xfrm>
            <a:off x="5634038" y="2503488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32"/>
          <p:cNvSpPr txBox="1"/>
          <p:nvPr/>
        </p:nvSpPr>
        <p:spPr>
          <a:xfrm>
            <a:off x="6659880" y="2628900"/>
            <a:ext cx="19380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注意：红的数字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都不是原有的数字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963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6" name="Text Box 5"/>
          <p:cNvSpPr txBox="1"/>
          <p:nvPr/>
        </p:nvSpPr>
        <p:spPr>
          <a:xfrm>
            <a:off x="2187575" y="1933575"/>
            <a:ext cx="5486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7" name="Text Box 6"/>
          <p:cNvSpPr txBox="1"/>
          <p:nvPr/>
        </p:nvSpPr>
        <p:spPr>
          <a:xfrm>
            <a:off x="1751648" y="1933575"/>
            <a:ext cx="762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8" name="Text Box 7"/>
          <p:cNvSpPr txBox="1"/>
          <p:nvPr/>
        </p:nvSpPr>
        <p:spPr>
          <a:xfrm>
            <a:off x="1779588" y="317500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9" name="Text Box 9"/>
          <p:cNvSpPr txBox="1"/>
          <p:nvPr/>
        </p:nvSpPr>
        <p:spPr>
          <a:xfrm>
            <a:off x="1196975" y="357187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0" name="Text Box 10"/>
          <p:cNvSpPr txBox="1"/>
          <p:nvPr/>
        </p:nvSpPr>
        <p:spPr>
          <a:xfrm>
            <a:off x="1273175" y="2332038"/>
            <a:ext cx="554355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则等式两边同时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1" name="Text Box 11"/>
          <p:cNvSpPr txBox="1"/>
          <p:nvPr/>
        </p:nvSpPr>
        <p:spPr>
          <a:xfrm>
            <a:off x="2263775" y="2776538"/>
            <a:ext cx="510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  <a:endParaRPr lang="en-US" altLang="zh-CN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2" name="Text Box 13"/>
          <p:cNvSpPr txBox="1"/>
          <p:nvPr/>
        </p:nvSpPr>
        <p:spPr>
          <a:xfrm>
            <a:off x="1492250" y="1089025"/>
            <a:ext cx="7696200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∵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∴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3" name="Text Box 14"/>
          <p:cNvSpPr txBox="1"/>
          <p:nvPr/>
        </p:nvSpPr>
        <p:spPr>
          <a:xfrm>
            <a:off x="2263775" y="3175000"/>
            <a:ext cx="48533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+1   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4" name="Text Box 23"/>
          <p:cNvSpPr txBox="1"/>
          <p:nvPr/>
        </p:nvSpPr>
        <p:spPr>
          <a:xfrm>
            <a:off x="2326640" y="4345305"/>
            <a:ext cx="2819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5546" name="Group 122"/>
          <p:cNvGrpSpPr/>
          <p:nvPr/>
        </p:nvGrpSpPr>
        <p:grpSpPr>
          <a:xfrm>
            <a:off x="2949575" y="3999230"/>
            <a:ext cx="76200" cy="285750"/>
            <a:chOff x="1632" y="3456"/>
            <a:chExt cx="48" cy="240"/>
          </a:xfrm>
          <a:solidFill>
            <a:schemeClr val="tx1"/>
          </a:solidFill>
        </p:grpSpPr>
        <p:sp>
          <p:nvSpPr>
            <p:cNvPr id="65547" name="Oval 118"/>
            <p:cNvSpPr/>
            <p:nvPr/>
          </p:nvSpPr>
          <p:spPr>
            <a:xfrm>
              <a:off x="1632" y="3456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8" name="Oval 119"/>
            <p:cNvSpPr/>
            <p:nvPr/>
          </p:nvSpPr>
          <p:spPr>
            <a:xfrm>
              <a:off x="1632" y="3552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9" name="Oval 120"/>
            <p:cNvSpPr/>
            <p:nvPr/>
          </p:nvSpPr>
          <p:spPr>
            <a:xfrm>
              <a:off x="1632" y="3648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9646" name="Rectangle 121"/>
          <p:cNvSpPr>
            <a:spLocks noGrp="1"/>
          </p:cNvSpPr>
          <p:nvPr>
            <p:ph type="title"/>
          </p:nvPr>
        </p:nvSpPr>
        <p:spPr>
          <a:xfrm>
            <a:off x="803275" y="715963"/>
            <a:ext cx="8458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反之，由典型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码也可以得到二进制码，如下：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065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60" name="Group 4"/>
          <p:cNvGrpSpPr/>
          <p:nvPr/>
        </p:nvGrpSpPr>
        <p:grpSpPr>
          <a:xfrm>
            <a:off x="5010150" y="2840038"/>
            <a:ext cx="495300" cy="714375"/>
            <a:chOff x="2784" y="624"/>
            <a:chExt cx="432" cy="768"/>
          </a:xfrm>
        </p:grpSpPr>
        <p:sp>
          <p:nvSpPr>
            <p:cNvPr id="70702" name="Text Box 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3" name="Line 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4" name="Line 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5" name="Line 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1" name="Group 9"/>
          <p:cNvGrpSpPr/>
          <p:nvPr/>
        </p:nvGrpSpPr>
        <p:grpSpPr>
          <a:xfrm>
            <a:off x="4248150" y="2840038"/>
            <a:ext cx="495300" cy="714375"/>
            <a:chOff x="2784" y="624"/>
            <a:chExt cx="432" cy="768"/>
          </a:xfrm>
        </p:grpSpPr>
        <p:sp>
          <p:nvSpPr>
            <p:cNvPr id="70698" name="Text Box 10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9" name="Line 11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0" name="Line 12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1" name="Line 13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2" name="Group 14"/>
          <p:cNvGrpSpPr/>
          <p:nvPr/>
        </p:nvGrpSpPr>
        <p:grpSpPr>
          <a:xfrm>
            <a:off x="3486150" y="2840038"/>
            <a:ext cx="495300" cy="714375"/>
            <a:chOff x="2784" y="624"/>
            <a:chExt cx="432" cy="768"/>
          </a:xfrm>
        </p:grpSpPr>
        <p:sp>
          <p:nvSpPr>
            <p:cNvPr id="70694" name="Text Box 1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5" name="Line 1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6" name="Line 1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7" name="Line 1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63" name="Line 19"/>
          <p:cNvSpPr/>
          <p:nvPr/>
        </p:nvSpPr>
        <p:spPr>
          <a:xfrm>
            <a:off x="3487738" y="2795588"/>
            <a:ext cx="0" cy="758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64" name="Text Box 20"/>
          <p:cNvSpPr txBox="1"/>
          <p:nvPr/>
        </p:nvSpPr>
        <p:spPr>
          <a:xfrm>
            <a:off x="1156335" y="3541713"/>
            <a:ext cx="2590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5" name="Text Box 21"/>
          <p:cNvSpPr txBox="1"/>
          <p:nvPr/>
        </p:nvSpPr>
        <p:spPr>
          <a:xfrm>
            <a:off x="4016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6" name="Text Box 22"/>
          <p:cNvSpPr txBox="1"/>
          <p:nvPr/>
        </p:nvSpPr>
        <p:spPr>
          <a:xfrm>
            <a:off x="4778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7" name="Text Box 23"/>
          <p:cNvSpPr txBox="1"/>
          <p:nvPr/>
        </p:nvSpPr>
        <p:spPr>
          <a:xfrm>
            <a:off x="5540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8" name="Text Box 24"/>
          <p:cNvSpPr txBox="1"/>
          <p:nvPr/>
        </p:nvSpPr>
        <p:spPr>
          <a:xfrm>
            <a:off x="3254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9" name="Text Box 25"/>
          <p:cNvSpPr txBox="1"/>
          <p:nvPr/>
        </p:nvSpPr>
        <p:spPr>
          <a:xfrm>
            <a:off x="658813" y="2484438"/>
            <a:ext cx="7315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例：典型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1   1      1     0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0670" name="Group 26"/>
          <p:cNvGrpSpPr/>
          <p:nvPr/>
        </p:nvGrpSpPr>
        <p:grpSpPr>
          <a:xfrm>
            <a:off x="5483225" y="1220788"/>
            <a:ext cx="374650" cy="652462"/>
            <a:chOff x="2784" y="624"/>
            <a:chExt cx="432" cy="768"/>
          </a:xfrm>
        </p:grpSpPr>
        <p:sp>
          <p:nvSpPr>
            <p:cNvPr id="70690" name="Text Box 2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1" name="Line 2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2" name="Line 2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3" name="Line 3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1" name="Group 31"/>
          <p:cNvGrpSpPr/>
          <p:nvPr/>
        </p:nvGrpSpPr>
        <p:grpSpPr>
          <a:xfrm>
            <a:off x="4721225" y="1220788"/>
            <a:ext cx="374650" cy="652462"/>
            <a:chOff x="2784" y="624"/>
            <a:chExt cx="432" cy="768"/>
          </a:xfrm>
        </p:grpSpPr>
        <p:sp>
          <p:nvSpPr>
            <p:cNvPr id="70686" name="Text Box 32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7" name="Line 33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8" name="Line 34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9" name="Line 35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2" name="Group 36"/>
          <p:cNvGrpSpPr/>
          <p:nvPr/>
        </p:nvGrpSpPr>
        <p:grpSpPr>
          <a:xfrm>
            <a:off x="3344863" y="1220788"/>
            <a:ext cx="374650" cy="652462"/>
            <a:chOff x="2784" y="624"/>
            <a:chExt cx="432" cy="768"/>
          </a:xfrm>
        </p:grpSpPr>
        <p:sp>
          <p:nvSpPr>
            <p:cNvPr id="70682" name="Text Box 3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3" name="Line 3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4" name="Line 3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5" name="Line 4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73" name="Line 41"/>
          <p:cNvSpPr/>
          <p:nvPr/>
        </p:nvSpPr>
        <p:spPr>
          <a:xfrm>
            <a:off x="3268663" y="1179513"/>
            <a:ext cx="1587" cy="6937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74" name="Text Box 42"/>
          <p:cNvSpPr txBox="1"/>
          <p:nvPr/>
        </p:nvSpPr>
        <p:spPr>
          <a:xfrm>
            <a:off x="1165225" y="1944688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5" name="Text Box 43"/>
          <p:cNvSpPr txBox="1"/>
          <p:nvPr/>
        </p:nvSpPr>
        <p:spPr>
          <a:xfrm>
            <a:off x="6086475" y="19208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6" name="Text Box 44"/>
          <p:cNvSpPr txBox="1"/>
          <p:nvPr/>
        </p:nvSpPr>
        <p:spPr>
          <a:xfrm>
            <a:off x="5400675" y="19335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7" name="Text Box 45"/>
          <p:cNvSpPr txBox="1"/>
          <p:nvPr/>
        </p:nvSpPr>
        <p:spPr>
          <a:xfrm>
            <a:off x="3800475" y="1933575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8" name="Text Box 46"/>
          <p:cNvSpPr txBox="1"/>
          <p:nvPr/>
        </p:nvSpPr>
        <p:spPr>
          <a:xfrm>
            <a:off x="3038475" y="1933575"/>
            <a:ext cx="1066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9" name="Text Box 47"/>
          <p:cNvSpPr txBox="1"/>
          <p:nvPr/>
        </p:nvSpPr>
        <p:spPr>
          <a:xfrm>
            <a:off x="4562475" y="1887538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80" name="Text Box 48"/>
          <p:cNvSpPr txBox="1"/>
          <p:nvPr/>
        </p:nvSpPr>
        <p:spPr>
          <a:xfrm>
            <a:off x="3059113" y="744538"/>
            <a:ext cx="44656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81" name="Rectangle 49"/>
          <p:cNvSpPr>
            <a:spLocks noGrp="1"/>
          </p:cNvSpPr>
          <p:nvPr>
            <p:ph type="title"/>
          </p:nvPr>
        </p:nvSpPr>
        <p:spPr>
          <a:xfrm>
            <a:off x="587375" y="860425"/>
            <a:ext cx="37338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EAAB41-636D-4C28-8BDC-C23F7590A7E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16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822325" y="700088"/>
            <a:ext cx="7853363" cy="406717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这种典型格雷码还有一个特点：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所有对应于十进制数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-1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(m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为正整数）的格雷码，都仅在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位上有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其他位都为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1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-1 = 1,       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0001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2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3,       3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0010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3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7,       7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0100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4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15,      15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这些数与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之间只有一位的差别，回到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仍能保持一位差别的特点，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所以称作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循环码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特别适用做二进制码计数器的编码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1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6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04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5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301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4469E7-86DF-42DB-9967-93334B0B5AF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27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>
          <a:xfrm>
            <a:off x="917575" y="949325"/>
            <a:ext cx="7031990" cy="49149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码：代码特征应符合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码的要求，且十六选十。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9" name="Rectangle 6"/>
          <p:cNvSpPr>
            <a:spLocks noGrp="1"/>
          </p:cNvSpPr>
          <p:nvPr>
            <p:ph idx="1"/>
          </p:nvPr>
        </p:nvSpPr>
        <p:spPr>
          <a:xfrm>
            <a:off x="1019810" y="1681480"/>
            <a:ext cx="7772400" cy="284543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回到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也只有一位差别，并保持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循环码的特色，表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中已列出了其中二种（教材中只给出了一种）：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0001,0011,0010,0110,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1110,1010,1011,1001,1000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0001,0011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0110,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0111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0101,0100,1100,1000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None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81B4FA-CC3C-4BBE-B998-15C345DF7FF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37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684213" y="771525"/>
            <a:ext cx="77724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奇偶校验码（</a:t>
            </a:r>
            <a:r>
              <a:rPr lang="en-US" altLang="zh-CN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Parity Code</a:t>
            </a:r>
            <a:r>
              <a:rPr lang="zh-CN" altLang="en-US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18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>
          <a:xfrm>
            <a:off x="654050" y="1987550"/>
            <a:ext cx="8915400" cy="30861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偶校验编码：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的取值使得整个</a:t>
            </a:r>
            <a:r>
              <a:rPr lang="zh-CN" altLang="en-US" sz="1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校验码</a:t>
            </a:r>
            <a:r>
              <a:rPr lang="zh-CN" altLang="en-US" sz="18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码字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的个数是偶数；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偶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奇校验编码：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得整个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校验码</a:t>
            </a:r>
            <a:r>
              <a:rPr lang="zh-CN" altLang="en-US" sz="18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码字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的个数是奇数；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奇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4" name="Text Box 6"/>
          <p:cNvSpPr txBox="1"/>
          <p:nvPr/>
        </p:nvSpPr>
        <p:spPr>
          <a:xfrm>
            <a:off x="3048000" y="1387475"/>
            <a:ext cx="2821940" cy="3683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 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～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5" name="Line 8"/>
          <p:cNvSpPr/>
          <p:nvPr/>
        </p:nvSpPr>
        <p:spPr>
          <a:xfrm rot="120000">
            <a:off x="5528945" y="1387475"/>
            <a:ext cx="13335" cy="36830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ash"/>
            <a:headEnd type="none" w="med" len="med"/>
            <a:tailEnd type="none" w="med" len="med"/>
          </a:ln>
        </p:spPr>
      </p:sp>
      <p:sp>
        <p:nvSpPr>
          <p:cNvPr id="73736" name="Text Box 9"/>
          <p:cNvSpPr txBox="1"/>
          <p:nvPr/>
        </p:nvSpPr>
        <p:spPr>
          <a:xfrm>
            <a:off x="721360" y="1387475"/>
            <a:ext cx="23152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奇偶校验码码字模式：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6655" y="1726565"/>
            <a:ext cx="11823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位信息位</a:t>
            </a:r>
            <a:endParaRPr lang="zh-CN" altLang="en-US" sz="1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45735" y="1798320"/>
            <a:ext cx="9893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校验位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33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7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81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110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22470B-E46A-4196-A9DA-E4435BB09F9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47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>
          <a:xfrm>
            <a:off x="744538" y="957263"/>
            <a:ext cx="8686800" cy="8572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问题：① 奇偶校验码能发现单错，但不能对单错定位；</a:t>
            </a:r>
            <a:b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② 奇偶校验码不能发现双错。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>
          <a:xfrm>
            <a:off x="730250" y="1929130"/>
            <a:ext cx="7957185" cy="125730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对于问题① ，或要求通信对方重新再发；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或通信双方约定在信息传送中采用横向和纵向奇偶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校验方式，即可对单错定位（按组为单位进行纵向编码）。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8" name="Text Box 6"/>
          <p:cNvSpPr txBox="1"/>
          <p:nvPr/>
        </p:nvSpPr>
        <p:spPr>
          <a:xfrm>
            <a:off x="730250" y="3228975"/>
            <a:ext cx="83089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对于问题② ，试想：为什么奇偶校验码不能发现双错？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7C8F5-D43E-4915-B5FC-EF279A27CCF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57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>
          <a:xfrm>
            <a:off x="533400" y="688975"/>
            <a:ext cx="7772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海明校验码（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Hamming codes</a:t>
            </a: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1" name="Rectangle 3"/>
          <p:cNvSpPr>
            <a:spLocks noGrp="1"/>
          </p:cNvSpPr>
          <p:nvPr>
            <p:ph idx="1"/>
          </p:nvPr>
        </p:nvSpPr>
        <p:spPr>
          <a:xfrm>
            <a:off x="685800" y="1030288"/>
            <a:ext cx="7772400" cy="971550"/>
          </a:xfrm>
          <a:noFill/>
          <a:ln>
            <a:noFill/>
          </a:ln>
        </p:spPr>
        <p:txBody>
          <a:bodyPr/>
          <a:p>
            <a:pPr eaLnBrk="1" hangingPunct="1"/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目的：不仅能检测出单错，还能校正单错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方法（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）：增加校验位及相应的异或运算逻辑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2" name="Text Box 5"/>
          <p:cNvSpPr txBox="1"/>
          <p:nvPr/>
        </p:nvSpPr>
        <p:spPr>
          <a:xfrm>
            <a:off x="-107950" y="2211705"/>
            <a:ext cx="858075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以四位数据信息位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为例，在数据传输前生成它的海明校验码：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⑴  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7   6   5   4   3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海明码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3" name="Text Box 6"/>
          <p:cNvSpPr txBox="1"/>
          <p:nvPr/>
        </p:nvSpPr>
        <p:spPr>
          <a:xfrm>
            <a:off x="659130" y="3507105"/>
            <a:ext cx="816356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校验位的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生成公式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            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偶校验？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680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type="title"/>
          </p:nvPr>
        </p:nvSpPr>
        <p:spPr>
          <a:xfrm>
            <a:off x="398463" y="458788"/>
            <a:ext cx="7772400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1-6  “8421”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海明码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703" name="Group 135"/>
          <p:cNvGraphicFramePr>
            <a:graphicFrameLocks noGrp="1"/>
          </p:cNvGraphicFramePr>
          <p:nvPr/>
        </p:nvGraphicFramePr>
        <p:xfrm>
          <a:off x="712788" y="744538"/>
          <a:ext cx="7239000" cy="4070350"/>
        </p:xfrm>
        <a:graphic>
          <a:graphicData uri="http://schemas.openxmlformats.org/drawingml/2006/table">
            <a:tbl>
              <a:tblPr/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517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位序</a:t>
                      </a:r>
                      <a:endParaRPr kumimoji="1" lang="zh-CN" alt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    .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1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1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6924" name="Line 125"/>
          <p:cNvSpPr/>
          <p:nvPr/>
        </p:nvSpPr>
        <p:spPr>
          <a:xfrm>
            <a:off x="1143000" y="1058863"/>
            <a:ext cx="9144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925" name="Line 126"/>
          <p:cNvSpPr/>
          <p:nvPr/>
        </p:nvSpPr>
        <p:spPr>
          <a:xfrm>
            <a:off x="713105" y="744855"/>
            <a:ext cx="848995" cy="752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advTm="2500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039009-4750-47B7-A32F-CC457F09A7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78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type="title"/>
          </p:nvPr>
        </p:nvSpPr>
        <p:spPr>
          <a:xfrm>
            <a:off x="533400" y="615950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对传输后的海明码进行检查错误和校正错误：</a:t>
            </a:r>
            <a:endParaRPr lang="zh-CN" altLang="en-US" sz="1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9" name="Rectangle 4"/>
          <p:cNvSpPr>
            <a:spLocks noGrp="1"/>
          </p:cNvSpPr>
          <p:nvPr>
            <p:ph idx="1"/>
          </p:nvPr>
        </p:nvSpPr>
        <p:spPr>
          <a:xfrm>
            <a:off x="533400" y="1146175"/>
            <a:ext cx="7772400" cy="954088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⑶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0" name="Text Box 5"/>
          <p:cNvSpPr txBox="1"/>
          <p:nvPr/>
        </p:nvSpPr>
        <p:spPr>
          <a:xfrm>
            <a:off x="533400" y="2100263"/>
            <a:ext cx="8382000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时，接收到的信息是正确的；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 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1≤S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所表示的二进制值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便是出错的那一位的位序值。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7" name="Text Box 7"/>
          <p:cNvSpPr txBox="1"/>
          <p:nvPr/>
        </p:nvSpPr>
        <p:spPr>
          <a:xfrm>
            <a:off x="539750" y="3363278"/>
            <a:ext cx="8382000" cy="1049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例：接收到的海明码为：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7   6   5   4  3   2   1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0   0   0   1  0   1   0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8" name="Text Box 10"/>
          <p:cNvSpPr txBox="1"/>
          <p:nvPr/>
        </p:nvSpPr>
        <p:spPr>
          <a:xfrm>
            <a:off x="1066800" y="4630738"/>
            <a:ext cx="7772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，表示第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出错，改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4" name="Rectangle 11"/>
          <p:cNvSpPr/>
          <p:nvPr/>
        </p:nvSpPr>
        <p:spPr>
          <a:xfrm>
            <a:off x="3727450" y="4011930"/>
            <a:ext cx="376555" cy="40005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endParaRPr kumimoji="0" altLang="zh-CN" b="1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7529" name="Text Box 9"/>
          <p:cNvSpPr txBox="1"/>
          <p:nvPr/>
        </p:nvSpPr>
        <p:spPr>
          <a:xfrm>
            <a:off x="3756343" y="4075113"/>
            <a:ext cx="301625" cy="2746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/>
          </a:ln>
        </p:spPr>
        <p:txBody>
          <a:bodyPr tIns="0" bIns="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sz="18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endParaRPr kumimoji="0" altLang="zh-CN" sz="1800" b="1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/>
      <p:bldP spid="76808" grpId="0"/>
      <p:bldP spid="73734" grpId="0" bldLvl="0" animBg="1"/>
      <p:bldP spid="107529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C347C1-5C4C-44B4-94F5-D1EF769B2E2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88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>
          <a:xfrm>
            <a:off x="685800" y="487363"/>
            <a:ext cx="7772400" cy="457200"/>
          </a:xfrm>
          <a:noFill/>
          <a:ln>
            <a:noFill/>
          </a:ln>
        </p:spPr>
        <p:txBody>
          <a:bodyPr/>
          <a:p>
            <a:pPr algn="ctr"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1-7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出错表的确定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9" name="Rectangle 3"/>
          <p:cNvSpPr>
            <a:spLocks noGrp="1"/>
          </p:cNvSpPr>
          <p:nvPr>
            <p:ph idx="1"/>
          </p:nvPr>
        </p:nvSpPr>
        <p:spPr>
          <a:xfrm>
            <a:off x="381000" y="3246438"/>
            <a:ext cx="8534400" cy="415925"/>
          </a:xfrm>
          <a:noFill/>
          <a:ln>
            <a:noFill/>
          </a:ln>
        </p:spPr>
        <p:txBody>
          <a:bodyPr/>
          <a:p>
            <a:pPr marL="609600" indent="-60960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设：信息位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位，校验位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 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≥ n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 ≥ 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 (?? n=5)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0643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1000" y="873125"/>
          <a:ext cx="7932738" cy="2212976"/>
        </p:xfrm>
        <a:graphic>
          <a:graphicData uri="http://schemas.openxmlformats.org/drawingml/2006/table">
            <a:tbl>
              <a:tblPr/>
              <a:tblGrid>
                <a:gridCol w="1700213"/>
                <a:gridCol w="6232525"/>
              </a:tblGrid>
              <a:tr h="10683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 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  <a:endParaRPr kumimoji="1" lang="zh-CN" alt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  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0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111    110    101    100    011     010   001   000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出错位序列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7      6      5      4      3       2     1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645" name="Group 53"/>
          <p:cNvGraphicFramePr>
            <a:graphicFrameLocks noGrp="1"/>
          </p:cNvGraphicFramePr>
          <p:nvPr/>
        </p:nvGraphicFramePr>
        <p:xfrm>
          <a:off x="363538" y="3571875"/>
          <a:ext cx="7964488" cy="1460500"/>
        </p:xfrm>
        <a:graphic>
          <a:graphicData uri="http://schemas.openxmlformats.org/drawingml/2006/table">
            <a:tbl>
              <a:tblPr/>
              <a:tblGrid>
                <a:gridCol w="1768475"/>
                <a:gridCol w="790575"/>
                <a:gridCol w="746125"/>
                <a:gridCol w="744537"/>
                <a:gridCol w="742950"/>
                <a:gridCol w="768350"/>
                <a:gridCol w="814388"/>
                <a:gridCol w="803275"/>
                <a:gridCol w="785812"/>
              </a:tblGrid>
              <a:tr h="39980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校验位数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6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最大信息位数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719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海明码位数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(2</a:t>
                      </a:r>
                      <a:r>
                        <a:rPr kumimoji="1" lang="en-US" altLang="zh-CN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1) 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624570" y="541020"/>
            <a:ext cx="411480" cy="4523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可靠性编码</a:t>
            </a:r>
            <a:endParaRPr lang="zh-CN" altLang="en-US" sz="1800">
              <a:solidFill>
                <a:srgbClr val="FF00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类型很多、使用无处不在</a:t>
            </a:r>
            <a:endParaRPr lang="zh-CN" altLang="en-US" sz="1800">
              <a:solidFill>
                <a:srgbClr val="FF00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 build="p"/>
      <p:bldP spid="2" grpId="0" bldLvl="0" animBg="1"/>
      <p:bldP spid="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987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55625"/>
            <a:ext cx="8229600" cy="50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作业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915988"/>
            <a:ext cx="8229600" cy="3851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1.7: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1.8: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、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、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1.9:        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改为计算 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z=</a:t>
            </a:r>
            <a:r>
              <a:rPr kumimoji="0" lang="en-US" altLang="zh-CN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x+y</a:t>
            </a:r>
            <a:r>
              <a:rPr kumimoji="0" lang="zh-CN" altLang="en-US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（老版教材有错误）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1.10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1.11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1.12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1.13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1.14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41992" name="Text Box 37"/>
          <p:cNvSpPr txBox="1"/>
          <p:nvPr/>
        </p:nvSpPr>
        <p:spPr>
          <a:xfrm>
            <a:off x="3924300" y="4442143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了解三种可靠性编码的作用及编码原理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DBA22D-A7DF-4A92-A429-83253D70D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0955"/>
            <a:ext cx="9144635" cy="51771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d1f1d91-ebc1-4232-8e98-2b1a8115b9ae}"/>
</p:tagLst>
</file>

<file path=ppt/tags/tag2.xml><?xml version="1.0" encoding="utf-8"?>
<p:tagLst xmlns:p="http://schemas.openxmlformats.org/presentationml/2006/main">
  <p:tag name="KSO_WM_UNIT_TABLE_BEAUTIFY" val="smartTable{97eb3eff-06e7-4d83-8c9f-488ec5d6f5fd}"/>
</p:tagLst>
</file>

<file path=ppt/tags/tag3.xml><?xml version="1.0" encoding="utf-8"?>
<p:tagLst xmlns:p="http://schemas.openxmlformats.org/presentationml/2006/main">
  <p:tag name="KSO_WM_UNIT_TABLE_BEAUTIFY" val="smartTable{9c5e4a40-90b3-4481-8418-12fb93830171}"/>
</p:tagLst>
</file>

<file path=ppt/tags/tag4.xml><?xml version="1.0" encoding="utf-8"?>
<p:tagLst xmlns:p="http://schemas.openxmlformats.org/presentationml/2006/main">
  <p:tag name="KSO_WM_UNIT_TABLE_BEAUTIFY" val="smartTable{992a2bdb-7469-4f34-86ef-49139dd9d5b6}"/>
</p:tagLst>
</file>

<file path=ppt/tags/tag5.xml><?xml version="1.0" encoding="utf-8"?>
<p:tagLst xmlns:p="http://schemas.openxmlformats.org/presentationml/2006/main">
  <p:tag name="KSO_WM_UNIT_TABLE_BEAUTIFY" val="smartTable{3b9c50da-89e9-4fc9-8f63-6f2ca57f95d4}"/>
</p:tagLst>
</file>

<file path=ppt/tags/tag6.xml><?xml version="1.0" encoding="utf-8"?>
<p:tagLst xmlns:p="http://schemas.openxmlformats.org/presentationml/2006/main">
  <p:tag name="KSO_WM_UNIT_TABLE_BEAUTIFY" val="smartTable{e8272d05-63d1-4eac-b44e-7e229faa5aa9}"/>
</p:tagLst>
</file>

<file path=ppt/tags/tag7.xml><?xml version="1.0" encoding="utf-8"?>
<p:tagLst xmlns:p="http://schemas.openxmlformats.org/presentationml/2006/main">
  <p:tag name="KSO_WM_UNIT_TABLE_BEAUTIFY" val="smartTable{b04cd0fd-efaf-401a-bb3c-c03913cfd4ad}"/>
</p:tagLst>
</file>

<file path=ppt/tags/tag8.xml><?xml version="1.0" encoding="utf-8"?>
<p:tagLst xmlns:p="http://schemas.openxmlformats.org/presentationml/2006/main">
  <p:tag name="KSO_WM_UNIT_TABLE_BEAUTIFY" val="smartTable{59e189f2-a1da-4511-9ee3-18ce1e4c7900}"/>
</p:tagLst>
</file>

<file path=ppt/tags/tag9.xml><?xml version="1.0" encoding="utf-8"?>
<p:tagLst xmlns:p="http://schemas.openxmlformats.org/presentationml/2006/main">
  <p:tag name="KSO_WPP_MARK_KEY" val="a330e4c1-978a-4e9a-a690-808d8a7f277e"/>
  <p:tag name="COMMONDATA" val="eyJoZGlkIjoiNDhiNjIzYzU1ZGEzZTY4YzZjM2Q5NDg5MTNkOWY5Nm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17963</Words>
  <Application>WPS 演示</Application>
  <PresentationFormat>全屏显示(16:9)</PresentationFormat>
  <Paragraphs>1993</Paragraphs>
  <Slides>67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2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Arial Unicode MS</vt:lpstr>
      <vt:lpstr>黑体</vt:lpstr>
      <vt:lpstr>微软雅黑</vt:lpstr>
      <vt:lpstr>楷体_GB2312</vt:lpstr>
      <vt:lpstr>新宋体</vt:lpstr>
      <vt:lpstr>华文新魏</vt:lpstr>
      <vt:lpstr>华文仿宋</vt:lpstr>
      <vt:lpstr>自定义设计方案</vt:lpstr>
      <vt:lpstr>数 字 逻 辑 电 路</vt:lpstr>
      <vt:lpstr>1.2   数制与编码</vt:lpstr>
      <vt:lpstr>PowerPoint 演示文稿</vt:lpstr>
      <vt:lpstr>1. 十进位计数制的特点、表示法</vt:lpstr>
      <vt:lpstr>①并列（式）表示法</vt:lpstr>
      <vt:lpstr>PowerPoint 演示文稿</vt:lpstr>
      <vt:lpstr>由此推出，任意一个十进制数 N 可以表示成：</vt:lpstr>
      <vt:lpstr>对于一个R进位计数制（R进制）的数，R为任意进制数，有：</vt:lpstr>
      <vt:lpstr>2）表示法</vt:lpstr>
      <vt:lpstr>不同进位计数制的数值具有等值表示关系：        N  =  N10=（N）10  =   N R =（M）R                           （N为十进制数）</vt:lpstr>
      <vt:lpstr>PowerPoint 演示文稿</vt:lpstr>
      <vt:lpstr>特例：二进制数为计算机中的表示和运算的基础，特予以关注：</vt:lpstr>
      <vt:lpstr>2. 进位计数制的相互转换</vt:lpstr>
      <vt:lpstr>多项式替代法的转换步骤，归纳如下，</vt:lpstr>
      <vt:lpstr>PowerPoint 演示文稿</vt:lpstr>
      <vt:lpstr>  例2：将(121.2)3转换为二进制。</vt:lpstr>
      <vt:lpstr>2） 基数乘除法</vt:lpstr>
      <vt:lpstr>PowerPoint 演示文稿</vt:lpstr>
      <vt:lpstr>例2  将十进制的3417 转换成十六进制数。 γ =16</vt:lpstr>
      <vt:lpstr>PowerPoint 演示文稿</vt:lpstr>
      <vt:lpstr>在α进制下, 将该数乘以 γ 得：</vt:lpstr>
      <vt:lpstr>    直至最后，D-m × γ–1 时，再乘以 γ 得： </vt:lpstr>
      <vt:lpstr>例2  将 (0.375)10 转换成二进制数。 γ=2 </vt:lpstr>
      <vt:lpstr>3） 任意两种进制之间的转换总结 </vt:lpstr>
      <vt:lpstr>4）  直接转换法 </vt:lpstr>
      <vt:lpstr>转换 ：        </vt:lpstr>
      <vt:lpstr>例1  将(11111010.0111) 2转换为八进制数。</vt:lpstr>
      <vt:lpstr>5）数制转换时小数位数的确定（有效位数的确定）</vt:lpstr>
      <vt:lpstr>例：将(0.4321)10转换成十六进制时，小数位数应取几位？</vt:lpstr>
      <vt:lpstr>1.2.2  数的表示及其运算 </vt:lpstr>
      <vt:lpstr>PowerPoint 演示文稿</vt:lpstr>
      <vt:lpstr>PowerPoint 演示文稿</vt:lpstr>
      <vt:lpstr>PowerPoint 演示文稿</vt:lpstr>
      <vt:lpstr>PowerPoint 演示文稿</vt:lpstr>
      <vt:lpstr>2 带符号数的代码表示及其运算 </vt:lpstr>
      <vt:lpstr>① 原码（Ture form ），又称“符号-数值”表示法</vt:lpstr>
      <vt:lpstr>  ②  反码（Negative Number），又称“对1的补码”</vt:lpstr>
      <vt:lpstr>PowerPoint 演示文稿</vt:lpstr>
      <vt:lpstr>③补码（complement number），又称“对2的补码”</vt:lpstr>
      <vt:lpstr>补码的概念：</vt:lpstr>
      <vt:lpstr>PowerPoint 演示文稿</vt:lpstr>
      <vt:lpstr>PowerPoint 演示文稿</vt:lpstr>
      <vt:lpstr>原码、反码和补码之间的关系如下图</vt:lpstr>
      <vt:lpstr>④带符号数的加、减运算举例</vt:lpstr>
      <vt:lpstr>PowerPoint 演示文稿</vt:lpstr>
      <vt:lpstr>1.2.3  十进制数的编码（代码）表示及其运算 </vt:lpstr>
      <vt:lpstr>表1—3  三种经典的十进制数的编码表示法</vt:lpstr>
      <vt:lpstr>设：编码的码字形式为  A3 A2 A1 A0</vt:lpstr>
      <vt:lpstr>PowerPoint 演示文稿</vt:lpstr>
      <vt:lpstr>PowerPoint 演示文稿</vt:lpstr>
      <vt:lpstr>M中取N码</vt:lpstr>
      <vt:lpstr>1.2.4  可靠性编码（一种特殊的编码技术，使用广泛）	</vt:lpstr>
      <vt:lpstr>1) 格雷码（Gray)</vt:lpstr>
      <vt:lpstr>表1－4   几种Gray码、步进码和二进制码对照表</vt:lpstr>
      <vt:lpstr>典型Gray码是由二进制码生成的。</vt:lpstr>
      <vt:lpstr>反之，由典型Gray码也可以得到二进制码，如下：</vt:lpstr>
      <vt:lpstr>设：典型Gray码 G</vt:lpstr>
      <vt:lpstr>PowerPoint 演示文稿</vt:lpstr>
      <vt:lpstr>十进制Gray码：代码特征应符合Gray码的要求，且十六选十。</vt:lpstr>
      <vt:lpstr>2) 奇偶校验码（Parity Code）</vt:lpstr>
      <vt:lpstr>问题：① 奇偶校验码能发现单错，但不能对单错定位；       ② 奇偶校验码不能发现双错。</vt:lpstr>
      <vt:lpstr>3) 海明校验码（Hamming codes）</vt:lpstr>
      <vt:lpstr>表1-6  “8421”海明码</vt:lpstr>
      <vt:lpstr>对传输后的海明码进行检查错误和校正错误：</vt:lpstr>
      <vt:lpstr>表1-7 出错表的确定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13193399337</cp:lastModifiedBy>
  <cp:revision>208</cp:revision>
  <dcterms:created xsi:type="dcterms:W3CDTF">2017-02-22T12:28:00Z</dcterms:created>
  <dcterms:modified xsi:type="dcterms:W3CDTF">2025-02-26T10:09:19Z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C04AD0D3B05945208BF11450FBB91A9A</vt:lpwstr>
  </property>
</Properties>
</file>