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528" r:id="rId2"/>
    <p:sldId id="599" r:id="rId3"/>
    <p:sldId id="600" r:id="rId4"/>
    <p:sldId id="603" r:id="rId5"/>
    <p:sldId id="610" r:id="rId6"/>
    <p:sldId id="605" r:id="rId7"/>
    <p:sldId id="606" r:id="rId8"/>
    <p:sldId id="611" r:id="rId9"/>
    <p:sldId id="612" r:id="rId10"/>
    <p:sldId id="609" r:id="rId11"/>
  </p:sldIdLst>
  <p:sldSz cx="9144000" cy="5143500" type="screen16x9"/>
  <p:notesSz cx="6858000" cy="9144000"/>
  <p:custDataLst>
    <p:tags r:id="rId1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7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2FE"/>
    <a:srgbClr val="008000"/>
    <a:srgbClr val="FFFFFF"/>
    <a:srgbClr val="339933"/>
    <a:srgbClr val="00CC00"/>
    <a:srgbClr val="FF9900"/>
    <a:srgbClr val="9966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58" autoAdjust="0"/>
    <p:restoredTop sz="82125" autoAdjust="0"/>
  </p:normalViewPr>
  <p:slideViewPr>
    <p:cSldViewPr showGuides="1">
      <p:cViewPr varScale="1">
        <p:scale>
          <a:sx n="177" d="100"/>
          <a:sy n="177" d="100"/>
        </p:scale>
        <p:origin x="1412" y="128"/>
      </p:cViewPr>
      <p:guideLst>
        <p:guide orient="horz" pos="1637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A704C7-0F72-4A45-B403-2BA2CC08A19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2025/9/17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D97A86-C926-4F84-A4F9-B547ADF891E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5381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8975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3413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110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483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80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1BFED1-3D5F-4D52-9463-F74A9C6F14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54C266-BAC9-4126-98AD-F509A6C70DCE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5FE43D6-B9B2-4AB9-8FB4-5359B71F34F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C40DF3-F782-4E32-A3A9-F5EADAD66B4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AD8BD2-D674-42AB-9C87-8873D3A00FF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5C87D92-BCD4-4E6C-8C05-402C318B394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1F84CC-62F9-4B83-B734-8602F1B1875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907F9F-4B2C-4405-AA2A-4A9194B9ACF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0ADEA5B-ECCC-44B0-9FA2-AE27413CBA5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792F68-F997-4D43-A731-96A33CA5144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F50A3E-FD16-46B3-9613-496D0B9F639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449A7C-1F96-4567-90E8-B36F26664AD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E32E04-3393-4324-8A92-8BFC09CD1D7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5EA635-7488-448F-8E8C-6D244698CDA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3C6846-DE58-42C1-83A0-44C0371AB3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457DB0E-A5FD-4569-B961-1F06625B78E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9B3225-28AE-48F0-946D-00F43259DE1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1A4988-16F2-419B-AE01-FB4392D48293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36CE3A-77B4-49CB-B1D8-37CFFC4126F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5687143-57E3-4C7D-9DC9-457F43CB00D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F7EE80-B1F3-4D71-BC90-695C0AECBB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464537-86D6-4051-9F2C-C78DA014B038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BB079D-B9CC-40BF-8E28-297C2CCF1AC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9FD6FF-8542-4D2B-9E9A-94DDE7BAACA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57821F-F8BA-4026-BE7E-639D592C17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2025/9/17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0CEBCA-5D43-4EF2-8092-A64EC1EF6DF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10" Type="http://schemas.openxmlformats.org/officeDocument/2006/relationships/image" Target="../media/image12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10" Type="http://schemas.openxmlformats.org/officeDocument/2006/relationships/image" Target="../media/image27.emf"/><Relationship Id="rId4" Type="http://schemas.openxmlformats.org/officeDocument/2006/relationships/image" Target="../media/image21.emf"/><Relationship Id="rId9" Type="http://schemas.openxmlformats.org/officeDocument/2006/relationships/image" Target="../media/image2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1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lstStyle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7412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5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grpSp>
        <p:nvGrpSpPr>
          <p:cNvPr id="17417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7418" name="图片 13" descr="交大矢量logo"/>
            <p:cNvPicPr>
              <a:picLocks noChangeAspect="1"/>
            </p:cNvPicPr>
            <p:nvPr/>
          </p:nvPicPr>
          <p:blipFill>
            <a:blip r:embed="rId2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2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A27EBB-4687-5DB9-9091-65D66CFF96BF}"/>
              </a:ext>
            </a:extLst>
          </p:cNvPr>
          <p:cNvSpPr txBox="1"/>
          <p:nvPr/>
        </p:nvSpPr>
        <p:spPr>
          <a:xfrm>
            <a:off x="791580" y="1563638"/>
            <a:ext cx="7560840" cy="1534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基本描述单位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一个模块可以包含整个设计模型或者设计模型的一部分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每个模块实现特定功能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使用一个或多个模块对数字电路建模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85418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3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4B2396-6614-631F-F96D-E86234074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843558"/>
            <a:ext cx="4584954" cy="391439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449CF92-AC77-99C0-F2CC-2A6372E12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800" y="909032"/>
            <a:ext cx="3880866" cy="4274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D933B3-45B3-E008-541A-D2F19BF99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943" y="1561355"/>
            <a:ext cx="1609344" cy="4274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23436F8-7514-FA16-8A80-29BF96CCD3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9752" y="1850061"/>
            <a:ext cx="2531364" cy="4274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AC05C8-6306-0784-012A-C0977402BF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6029" y="1401988"/>
            <a:ext cx="402336" cy="8046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3CFDBDF-E218-7C1F-CBCF-AD1F0D213B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4666" y="1621543"/>
            <a:ext cx="1441704" cy="3855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6DE58B-60F5-DBE8-0F8E-6EE4AB9E0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9758" y="2997264"/>
            <a:ext cx="2112264" cy="4274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32D90F-E1E8-76B7-F3A0-D12201B5F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9752" y="3669710"/>
            <a:ext cx="2564892" cy="6957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0EB5AA2-9721-F5EF-4360-9072F8C06C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6029" y="2444651"/>
            <a:ext cx="402336" cy="17015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3C241E4-9944-BA76-04FC-429FB0D3BB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4666" y="3102638"/>
            <a:ext cx="1844040" cy="3855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3E5D708-11E6-3D3A-36A0-8DE3E41C5A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424" y="2277184"/>
            <a:ext cx="1542288" cy="3939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8D2802-2EBE-E92F-70FD-8834567760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424" y="2912743"/>
            <a:ext cx="1542288" cy="39395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F64690A-8A20-7E97-6EBB-E972A6CA4BF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424" y="3623609"/>
            <a:ext cx="1542288" cy="39395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1707137-5ECF-ADAF-0B9C-4BD7315C1BB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56915" y="1282140"/>
            <a:ext cx="3227070" cy="42748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8267D7E-17D2-E678-4BC2-BD5951461E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39993" y="2371854"/>
            <a:ext cx="3101340" cy="42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7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4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600BE3-B635-487D-5EB1-3367B2F122B5}"/>
              </a:ext>
            </a:extLst>
          </p:cNvPr>
          <p:cNvSpPr txBox="1"/>
          <p:nvPr/>
        </p:nvSpPr>
        <p:spPr>
          <a:xfrm>
            <a:off x="-24305" y="1347614"/>
            <a:ext cx="8794619" cy="2278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600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在一个模块中可以使用包含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连续赋值语句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结构化描述方式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，并且这些描述方式在程序中排列的先后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顺序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00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模块定义语句中，除了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语句外，每个语句后必须有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分号。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00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注释：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//…    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00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/*…*/       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70788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5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1069975" y="376238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</a:p>
        </p:txBody>
      </p:sp>
      <p:sp>
        <p:nvSpPr>
          <p:cNvPr id="56326" name="Text Box 4"/>
          <p:cNvSpPr txBox="1"/>
          <p:nvPr/>
        </p:nvSpPr>
        <p:spPr>
          <a:xfrm>
            <a:off x="592138" y="844543"/>
            <a:ext cx="8440738" cy="66562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</a:pPr>
            <a:r>
              <a:rPr lang="zh-CN" altLang="en-US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 </a:t>
            </a:r>
            <a:r>
              <a:rPr lang="zh-CN" altLang="en-US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一位半加器门级电路描述</a:t>
            </a:r>
            <a:endParaRPr lang="zh-CN" altLang="en-US" sz="17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</a:pPr>
            <a:endParaRPr lang="en-US" altLang="zh-CN" sz="17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BF1A1AC-B0E5-CD81-1B71-825EE7F52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051" y="524044"/>
            <a:ext cx="2400300" cy="16859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C320D41-22FF-E1D4-2A17-8F0B02B85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792318"/>
            <a:ext cx="5229225" cy="2971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D7597E-99F2-59C0-DEE1-3D2484113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1843011"/>
            <a:ext cx="3038475" cy="4857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92297D-FB73-2A9A-B6C3-745961303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439" y="2167828"/>
            <a:ext cx="3657600" cy="7905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DF8F5E-BB0E-318B-16A1-5CF0A96B32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439" y="2832828"/>
            <a:ext cx="5676900" cy="5524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B08F0F-B0B1-4C07-FDBD-5807919317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34" y="3470811"/>
            <a:ext cx="2133600" cy="762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AD65801-EC63-6FC5-1675-39CCC93D56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7851" y="2254599"/>
            <a:ext cx="457200" cy="6000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C6A7A07-431C-21DD-C2D3-9FA0B8D2A1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5051" y="2224575"/>
            <a:ext cx="2047875" cy="447675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5B2E44E1-1C7B-4870-B132-1AC6F572B6C3}"/>
              </a:ext>
            </a:extLst>
          </p:cNvPr>
          <p:cNvSpPr/>
          <p:nvPr/>
        </p:nvSpPr>
        <p:spPr>
          <a:xfrm rot="10800000">
            <a:off x="3059833" y="3435846"/>
            <a:ext cx="1800200" cy="837497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55827E-D1D5-46C2-BBE5-962A75844400}"/>
              </a:ext>
            </a:extLst>
          </p:cNvPr>
          <p:cNvSpPr txBox="1"/>
          <p:nvPr/>
        </p:nvSpPr>
        <p:spPr>
          <a:xfrm>
            <a:off x="3209172" y="3654541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门级原语描述</a:t>
            </a:r>
          </a:p>
        </p:txBody>
      </p:sp>
    </p:spTree>
    <p:extLst>
      <p:ext uri="{BB962C8B-B14F-4D97-AF65-F5344CB8AC3E}">
        <p14:creationId xmlns:p14="http://schemas.microsoft.com/office/powerpoint/2010/main" val="741856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6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D891E5-270B-4E46-0A56-583D3F7AF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4" y="570203"/>
            <a:ext cx="4575048" cy="27013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02D213-699C-43FA-C529-6807F6F28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570203"/>
            <a:ext cx="4227576" cy="27048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2665B2B-0B80-531E-4276-AECC848A38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730729"/>
            <a:ext cx="1911287" cy="3837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9CAFD04-82F8-7E17-92F9-D1E134220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048" y="1635646"/>
            <a:ext cx="3511391" cy="35461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8797B78-E84F-9EA6-495F-0BB210BCD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520" y="2099633"/>
            <a:ext cx="4364355" cy="60198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010A9FB-7CDF-DDD6-AAE3-238B95B52B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27" y="3147814"/>
            <a:ext cx="2905125" cy="1685925"/>
          </a:xfrm>
          <a:prstGeom prst="rect">
            <a:avLst/>
          </a:prstGeom>
        </p:spPr>
      </p:pic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67D4CAC5-338C-D22E-3D3B-5EF682D00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897" y="3563771"/>
            <a:ext cx="5184576" cy="123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00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同一电路，尤其是组合逻辑电路可以采用多种不同的方式描述电路结构，其逻辑功能不变。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18109A9-A2E3-8EF9-BE6C-1874849662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4048" y="2030343"/>
            <a:ext cx="3845147" cy="97345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319E3F-B367-4E1E-B5AF-0C5EC4A1DA12}"/>
              </a:ext>
            </a:extLst>
          </p:cNvPr>
          <p:cNvSpPr txBox="1"/>
          <p:nvPr/>
        </p:nvSpPr>
        <p:spPr>
          <a:xfrm>
            <a:off x="2097322" y="1730245"/>
            <a:ext cx="2584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//</a:t>
            </a:r>
            <a:r>
              <a:rPr lang="zh-CN" altLang="en-US" sz="1400" dirty="0">
                <a:solidFill>
                  <a:schemeClr val="tx1"/>
                </a:solidFill>
              </a:rPr>
              <a:t>声明端口数据类型为连线型</a:t>
            </a:r>
          </a:p>
        </p:txBody>
      </p:sp>
    </p:spTree>
    <p:extLst>
      <p:ext uri="{BB962C8B-B14F-4D97-AF65-F5344CB8AC3E}">
        <p14:creationId xmlns:p14="http://schemas.microsoft.com/office/powerpoint/2010/main" val="11858722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7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0A1A685-A893-C8FD-10B1-1455606B5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627534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半加器与全加器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D2CA22-68E3-C807-7BE7-9E0027DD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17" y="1138288"/>
            <a:ext cx="2105875" cy="11845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856810-FA33-E361-C360-FFE96428D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96" y="3084933"/>
            <a:ext cx="1963316" cy="926977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3C454C8F-D8A7-6B05-AAE0-76788A7BA261}"/>
              </a:ext>
            </a:extLst>
          </p:cNvPr>
          <p:cNvSpPr/>
          <p:nvPr/>
        </p:nvSpPr>
        <p:spPr>
          <a:xfrm>
            <a:off x="1607242" y="2537492"/>
            <a:ext cx="216024" cy="3271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0DF49D7-93D4-1632-D9CC-64EC38F01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004" y="1156087"/>
            <a:ext cx="3506471" cy="11845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CA95AC-054F-5DC1-4308-AC767E6C5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837" y="2956143"/>
            <a:ext cx="2192804" cy="1184555"/>
          </a:xfrm>
          <a:prstGeom prst="rect">
            <a:avLst/>
          </a:prstGeom>
        </p:spPr>
      </p:pic>
      <p:sp>
        <p:nvSpPr>
          <p:cNvPr id="10" name="箭头: 下 9">
            <a:extLst>
              <a:ext uri="{FF2B5EF4-FFF2-40B4-BE49-F238E27FC236}">
                <a16:creationId xmlns:a16="http://schemas.microsoft.com/office/drawing/2014/main" id="{3DC518E5-EB4F-57CD-2263-E79082F40B39}"/>
              </a:ext>
            </a:extLst>
          </p:cNvPr>
          <p:cNvSpPr/>
          <p:nvPr/>
        </p:nvSpPr>
        <p:spPr>
          <a:xfrm>
            <a:off x="6253227" y="2473767"/>
            <a:ext cx="216024" cy="3271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BDBB8BC-09FF-BA44-1ED9-22432B22D5D9}"/>
              </a:ext>
            </a:extLst>
          </p:cNvPr>
          <p:cNvSpPr/>
          <p:nvPr/>
        </p:nvSpPr>
        <p:spPr>
          <a:xfrm rot="20035100">
            <a:off x="3430567" y="2567914"/>
            <a:ext cx="504056" cy="327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058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676456" y="4982429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8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8262D9-A36C-F4A2-043D-B8ADBD65A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2067694"/>
            <a:ext cx="540060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一位半加器 ********</a:t>
            </a: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手机屏幕截图&#10;&#10;AI-generated content may be incorrect.">
            <a:extLst>
              <a:ext uri="{FF2B5EF4-FFF2-40B4-BE49-F238E27FC236}">
                <a16:creationId xmlns:a16="http://schemas.microsoft.com/office/drawing/2014/main" id="{D72AF998-143F-EB10-18BF-916730B42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404" y="2574659"/>
            <a:ext cx="5969307" cy="1809843"/>
          </a:xfrm>
          <a:prstGeom prst="rect">
            <a:avLst/>
          </a:prstGeom>
        </p:spPr>
      </p:pic>
      <p:pic>
        <p:nvPicPr>
          <p:cNvPr id="9" name="图片 8" descr="图示, 示意图&#10;&#10;AI-generated content may be incorrect.">
            <a:extLst>
              <a:ext uri="{FF2B5EF4-FFF2-40B4-BE49-F238E27FC236}">
                <a16:creationId xmlns:a16="http://schemas.microsoft.com/office/drawing/2014/main" id="{3C0626C6-6F19-9398-9310-49C2143F23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73534"/>
            <a:ext cx="2939393" cy="187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613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9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385B820-CEDE-52A9-CF67-CBBDA914E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2675805"/>
            <a:ext cx="662473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一位全加器 ********</a:t>
            </a: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 descr="文本, 信件&#10;&#10;AI-generated content may be incorrect.">
            <a:extLst>
              <a:ext uri="{FF2B5EF4-FFF2-40B4-BE49-F238E27FC236}">
                <a16:creationId xmlns:a16="http://schemas.microsoft.com/office/drawing/2014/main" id="{FC6EBA84-DBA4-53FB-29DB-4A01DE63D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234" y="3077423"/>
            <a:ext cx="6768877" cy="1701466"/>
          </a:xfrm>
          <a:prstGeom prst="rect">
            <a:avLst/>
          </a:prstGeom>
        </p:spPr>
      </p:pic>
      <p:pic>
        <p:nvPicPr>
          <p:cNvPr id="15" name="图片 14" descr="图形用户界面, 应用程序&#10;&#10;AI-generated content may be incorrect.">
            <a:extLst>
              <a:ext uri="{FF2B5EF4-FFF2-40B4-BE49-F238E27FC236}">
                <a16:creationId xmlns:a16="http://schemas.microsoft.com/office/drawing/2014/main" id="{DD823B19-32C5-2D40-6888-8F3A47019B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34009"/>
            <a:ext cx="7092280" cy="21661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DB9365E-796B-441A-859B-F43CF2DD1CAB}"/>
              </a:ext>
            </a:extLst>
          </p:cNvPr>
          <p:cNvSpPr txBox="1"/>
          <p:nvPr/>
        </p:nvSpPr>
        <p:spPr>
          <a:xfrm>
            <a:off x="3563888" y="1563638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zh-CN" altLang="en-US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8E027D-2B56-42FB-8639-AE0B821E8831}"/>
              </a:ext>
            </a:extLst>
          </p:cNvPr>
          <p:cNvSpPr txBox="1"/>
          <p:nvPr/>
        </p:nvSpPr>
        <p:spPr>
          <a:xfrm>
            <a:off x="3635896" y="907673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C01</a:t>
            </a:r>
            <a:endParaRPr lang="zh-CN" altLang="en-US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6059A9-8629-4AE0-9738-D96EAA55DE96}"/>
              </a:ext>
            </a:extLst>
          </p:cNvPr>
          <p:cNvSpPr txBox="1"/>
          <p:nvPr/>
        </p:nvSpPr>
        <p:spPr>
          <a:xfrm>
            <a:off x="5076056" y="2019152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C02</a:t>
            </a:r>
            <a:endParaRPr lang="zh-CN" altLang="en-US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141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  <a:t>09:58:20</a:t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  <a:t>10</a:t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7D211-7C88-E1DC-5F3A-2EC2730DC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530" y="627534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模块引用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module_name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instance_name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port_associations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C231F6-AEBA-59A9-E913-5C1902ACE224}"/>
              </a:ext>
            </a:extLst>
          </p:cNvPr>
          <p:cNvSpPr txBox="1"/>
          <p:nvPr/>
        </p:nvSpPr>
        <p:spPr>
          <a:xfrm>
            <a:off x="1169622" y="1435447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子模块名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3209F2-43A4-9B53-D4E5-EB34AA37A880}"/>
              </a:ext>
            </a:extLst>
          </p:cNvPr>
          <p:cNvSpPr txBox="1"/>
          <p:nvPr/>
        </p:nvSpPr>
        <p:spPr>
          <a:xfrm>
            <a:off x="2465766" y="1435447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实例引用名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606ACD-077F-B558-5366-5C4F257B2A9A}"/>
              </a:ext>
            </a:extLst>
          </p:cNvPr>
          <p:cNvSpPr txBox="1"/>
          <p:nvPr/>
        </p:nvSpPr>
        <p:spPr>
          <a:xfrm>
            <a:off x="4077730" y="1432409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父、子模块端口的关联方式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1EF92F-3D6F-9133-3FE4-850CD9F2DC6A}"/>
              </a:ext>
            </a:extLst>
          </p:cNvPr>
          <p:cNvSpPr txBox="1"/>
          <p:nvPr/>
        </p:nvSpPr>
        <p:spPr>
          <a:xfrm>
            <a:off x="980686" y="2016344"/>
            <a:ext cx="72728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位置关联法</a:t>
            </a:r>
            <a:r>
              <a:rPr lang="en-US" altLang="zh-CN" sz="2000" b="0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父模块与子模块的端口按照位置（即端口排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列次序）对应关联；</a:t>
            </a: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pl-PL" altLang="zh-CN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fulladder U0_FA (S[0],C0,A[0],B[0],C_1);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0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名称关联法</a:t>
            </a:r>
            <a:r>
              <a:rPr lang="en-US" altLang="zh-CN" sz="2000" b="0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父模块与子模块之间的端口直接通过名称建立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连接关系，不需要考虑端口的排列次序</a:t>
            </a: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/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halfadder</a:t>
            </a:r>
            <a:r>
              <a:rPr lang="en-US" altLang="zh-CN" dirty="0">
                <a:solidFill>
                  <a:schemeClr val="tx1"/>
                </a:solidFill>
              </a:rPr>
              <a:t> HA1 (.A(A),.B(B),.S(S1),.C(D1));</a:t>
            </a:r>
            <a:br>
              <a:rPr lang="zh-CN" altLang="en-US" dirty="0">
                <a:solidFill>
                  <a:schemeClr val="tx1"/>
                </a:solidFill>
              </a:rPr>
            </a:b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039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M1OWY0MGVhYmU5NTRkZGZlMzJmNTI0MzdiODI0Mjc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361</Words>
  <Application>Microsoft Office PowerPoint</Application>
  <PresentationFormat>全屏显示(16:9)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等线</vt:lpstr>
      <vt:lpstr>方正综艺简体</vt:lpstr>
      <vt:lpstr>黑体</vt:lpstr>
      <vt:lpstr>华文新魏</vt:lpstr>
      <vt:lpstr>Arial</vt:lpstr>
      <vt:lpstr>Calibri</vt:lpstr>
      <vt:lpstr>Calibri Light</vt:lpstr>
      <vt:lpstr>Times New Roman</vt:lpstr>
      <vt:lpstr>Wingdings</vt:lpstr>
      <vt:lpstr>自定义设计方案</vt:lpstr>
      <vt:lpstr>数 字 逻 辑 电 路</vt:lpstr>
      <vt:lpstr>PowerPoint 演示文稿</vt:lpstr>
      <vt:lpstr>PowerPoint 演示文稿</vt:lpstr>
      <vt:lpstr>PowerPoint 演示文稿</vt:lpstr>
      <vt:lpstr> Verilog HDL程序结构</vt:lpstr>
      <vt:lpstr> Verilog HDL程序结构</vt:lpstr>
      <vt:lpstr> Verilog HDL程序结构</vt:lpstr>
      <vt:lpstr> Verilog HDL程序结构</vt:lpstr>
      <vt:lpstr> Verilog HDL程序结构</vt:lpstr>
      <vt:lpstr> Verilog HDL程序结构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NUC</cp:lastModifiedBy>
  <cp:revision>425</cp:revision>
  <dcterms:created xsi:type="dcterms:W3CDTF">2002-09-09T07:46:00Z</dcterms:created>
  <dcterms:modified xsi:type="dcterms:W3CDTF">2025-09-17T01:59:56Z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2052-12.1.0.16412</vt:lpwstr>
  </property>
  <property fmtid="{D5CDD505-2E9C-101B-9397-08002B2CF9AE}" pid="3" name="ICV">
    <vt:lpwstr>76C7E1550ED74E03A73617173E4B9CD1</vt:lpwstr>
  </property>
</Properties>
</file>