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  <p:sldMasterId id="2147483756" r:id="rId10"/>
    <p:sldMasterId id="2147483768" r:id="rId11"/>
  </p:sldMasterIdLst>
  <p:notesMasterIdLst>
    <p:notesMasterId r:id="rId29"/>
  </p:notesMasterIdLst>
  <p:sldIdLst>
    <p:sldId id="528" r:id="rId12"/>
    <p:sldId id="529" r:id="rId13"/>
    <p:sldId id="530" r:id="rId14"/>
    <p:sldId id="531" r:id="rId15"/>
    <p:sldId id="532" r:id="rId16"/>
    <p:sldId id="533" r:id="rId17"/>
    <p:sldId id="534" r:id="rId18"/>
    <p:sldId id="535" r:id="rId19"/>
    <p:sldId id="536" r:id="rId20"/>
    <p:sldId id="537" r:id="rId21"/>
    <p:sldId id="538" r:id="rId22"/>
    <p:sldId id="539" r:id="rId23"/>
    <p:sldId id="540" r:id="rId24"/>
    <p:sldId id="541" r:id="rId25"/>
    <p:sldId id="544" r:id="rId26"/>
    <p:sldId id="542" r:id="rId27"/>
    <p:sldId id="543" r:id="rId28"/>
  </p:sldIdLst>
  <p:sldSz cx="9144000" cy="5143500" type="screen16x9"/>
  <p:notesSz cx="6858000" cy="9144000"/>
  <p:custDataLst>
    <p:tags r:id="rId30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9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339933"/>
    <a:srgbClr val="00CC00"/>
    <a:srgbClr val="FF9900"/>
    <a:srgbClr val="996633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49" autoAdjust="0"/>
  </p:normalViewPr>
  <p:slideViewPr>
    <p:cSldViewPr showGuides="1">
      <p:cViewPr varScale="1">
        <p:scale>
          <a:sx n="99" d="100"/>
          <a:sy n="99" d="100"/>
        </p:scale>
        <p:origin x="555" y="39"/>
      </p:cViewPr>
      <p:guideLst>
        <p:guide orient="horz" pos="1609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2C849E-B8F9-424B-B0CC-6137B68863F2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493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noFill/>
          </a:ln>
        </p:spPr>
      </p:sp>
      <p:sp>
        <p:nvSpPr>
          <p:cNvPr id="12293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229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3791F3-ADEE-412A-9C9E-A1908D534B9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5631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EA45D9-C7BF-4487-86AF-225215BE6BA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43506C-2151-4124-AA37-4577E1DFFF3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6DF81B-3A4B-4279-B3E3-F24C802A16D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BB4D69-D68E-47C0-B592-B4D9563F344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75D5F1F-A9C7-4BD5-BF2F-124EB5B7B02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14AC52-9306-4084-83CD-4DE19180F5C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917929-F5E6-4B9E-BE76-345315DB124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6C4754-BACC-4DF9-B2BB-AED0805A077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8CF968-9BAD-4D35-AA28-7FE1644138D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863241-0BFB-4BC3-9AC5-9E85A0826C3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03EB60-DBF8-44E2-8B04-17D7482D64A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8660E5-50EE-456A-960F-EF9686B840E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6AFC410-8656-4510-81D0-2D73475AE6D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2A3593-09D5-432E-800D-BBB2028B5FF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0E07CC-BA51-454E-9B1A-A4FDA74F465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9470E15-6CB8-4083-8006-A3B38B6C6F4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35F8391-DA09-4027-874B-4E12054118D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75CF28-BD6A-4AA1-AD50-92CB5A7AD55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BE28784-DCF3-4263-A9D0-4B967A92FF6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8D52E42-D5A0-4FE2-B67A-33EFBD7A67F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703700-6DFD-4A8B-98FC-5D5DEAD821F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838CEB-19C6-414C-B087-072260740E5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C850D9-00CF-4700-BD4D-626A7DDC44E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92B70AF-FEE8-4EE3-AEC4-785D96C4F44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1FF1B1-2E88-4932-8F42-3C6DBC1CE34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F8A0902-997F-4E32-8E61-83B39314295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26CF85-1595-4FFC-B03F-9D0369856E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A868C0-EF4E-46E8-A3C9-861227E0A30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F188E0-5D72-4E48-AB6E-6E70D5678C5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25FD976-BAD5-4810-A4C2-508A9960E92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ACF11E1-7E51-4604-A038-39A6975360F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F3B405-004F-44DC-B26A-C85767C9FF4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0B8E1F-79AF-4A7A-997E-11E7C1BC7AD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065843-BAC6-489D-BED6-C8FD3ABEDBC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FFC7D3-D797-4D92-8FF9-F2476D5A67B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8F830D-FF22-4FD4-943D-367BFD11C3A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503D36-5DF4-4D0C-8045-8A339D15A12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5FA27A6-B571-4CFB-B9A2-178D6160192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652497C-9081-47FB-A8D1-2A53339E7D4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A6771DF-1B47-4BCF-8ED9-9967666FA61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66EDAE9-21A8-43F4-887E-8AC54AC7ED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0FF66-2EDE-45FE-968E-2844588D9E2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EA5C82-1494-463D-ADE0-69F258C9AA2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195605-84B2-43FF-A0CF-64162A32524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B8CD220-9EC4-47C7-AA19-F169D2D06C4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635340-61C7-40C3-BD29-5506AF524FA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99BFA64-E849-4BFB-AF10-F66875A3017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046A15-6979-415C-B991-A45D2D7B439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D3E6831-B00A-454A-97E4-002CB606332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2DCB289-A22B-4259-BC98-B7C4D0C2C95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706468-C04D-4135-95EB-FC88AFD71F0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CC19D1-6F6F-4832-907C-CA2836FB78D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B8E0517-BAB0-433D-8E6A-A6A8E7E566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756FE4-21B3-43E8-A1B6-6717491D7B4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0A648C-3E18-4392-87F1-300C37F5149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5165AA-7A0C-4762-AD14-98030766450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4C6FF80-81CC-41E7-9866-9743917EA8F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9E549F0-032F-4AE3-B151-5B1B21EAB5C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D091365-C13D-4AD6-9CF4-A23E89D3E10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8B04087-137E-45F2-815E-306DA5AD3A0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47149E-D09B-4051-8207-5790B952B40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A3BE53F-496D-4B20-AFAB-C543A358DBC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0E1DA04-3650-49B2-9BA0-7862A36DCC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B4DF0B-63C9-4DB1-9E34-A9663929526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135564-26BF-4DCE-8C94-429D939A46E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6F9DC9F-1282-4186-AE4F-75406C09927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AEAF65-1759-48B3-98B9-A09CBFE26E3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28EE1B3-3123-4CCB-A863-BA393198DE5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E41A249-5218-43B7-BB84-8B29E476203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9B1113-D651-4DB4-9BC5-D4B9830A2FE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FCAD06-E546-4343-B1E9-2EE5C8E26B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F52F01-3157-4F50-8D90-ACD644C7B59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A2B16D4-1178-4669-B41D-C6465B6C5B6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06C166-715E-43F0-ADC5-4BB793BE854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E35AF04-2698-45BC-BDC7-34F9E93CD5EB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28C2C1-02E9-428D-838D-BA786806CBD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189B7C-90A6-4FD4-BE39-0C372625A0A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E922010-B6B9-41A4-B216-EA5B713472C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1B19E5-A9A8-4544-8531-48CA9F9D553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F6D0005-68A9-4107-BEC6-57D0A467685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5D4147-9879-4B7D-A5BB-5D44B07C38D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7292C6-F961-4911-A694-3F5D6DF06CA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81B7AB1-6A80-435A-85CD-C4B69FB2AB4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1076938-CD42-4EAE-898F-25D3614CB92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B731-777E-4574-85A9-C3085849DCC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256926-7C1B-463C-9282-FCD153587D1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B23B13-3025-4537-B621-B4775DCF079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6727F4-06D7-4F7F-B2B8-10E02324C61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44D52C-3CDC-4C4B-B66D-994E92B2313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6735EE-34B1-4734-A89D-F69AD8F3D2B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CD608A-ED17-40D6-A6F5-1FE01C3AD28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C0E2CD-0A5D-4420-97B2-93DCAA71BD7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8E6A9F1-EDEE-476A-9EC7-7DA8E76FD67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09E82D-CC54-4157-83D5-2061BFA3074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AD70ABA-E87F-4186-8745-477DDBBF205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27E4FC-18C5-42FF-9900-55DDAFF026C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E29CB38-CEF0-497E-8FFE-AE236F5241E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F8269E-993B-448B-993F-4B67605CDAE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A051E2-7BD7-479F-A99C-05D5C97CF30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F3B133-6E2A-465A-BC16-57FD44EA836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6E701BC-1061-4FFF-8BBE-B9B623FC9F6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47BE60C-FEEE-4409-8C29-C5943F3F4383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F12FAB9-92BB-4878-8315-8049BB37FDD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29A07D6-9B8C-4169-926C-47600641DB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437896D-8128-4FBB-9C08-67F06A51604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CD0B5B3-1D13-4981-904C-EF595C74C74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86717F-58AD-4FAD-AFE8-93104DE473A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B7543D-7AB4-454E-9C30-03EFFD4C680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2CE368-3E6D-4FC5-B98C-EFAAC2B64D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556F5E-C50A-45F2-8997-7B76F290DD9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F3547B8-FF70-4E5F-BEF8-7C9CB469791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E534D0D-5AE4-4286-BF59-8A9BADE2B09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271403-F270-43A5-B8A5-5970CA3E91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4DB2C1-D893-4BFE-8FCA-C61A4151424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FC32932-69EF-4A84-8279-A67E3BCAEC5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CF7DE6-3FEB-4B1A-A42F-FE0B646C58F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225CDD-219B-4F60-9C12-73E4775D3A6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55B715D-63C1-45F1-A8ED-FF07BDA29A4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C4FF7A-43CF-49BD-88E3-5CFD01C514E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CFB771-FDA8-41AF-90E5-972E849DEC57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CDD4A7D-97E3-4C4C-9362-C1B78C32006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13CE14-A986-4A6E-AC80-9F758B05351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3D9C279-9D69-4922-9F11-C45FF5DC99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5C97A42-FEE2-48A3-8810-1282E0C32FF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7054F1-9104-49B0-8B21-907CCF0CEAA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F01F9-EBA7-45BC-BF56-C959F3E0A2B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CA9AF35-DB13-4D6E-AED4-94003DCE36C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73FE4B-2534-468A-A93E-2E292C0B3B3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B7BA4EC-9EAE-43C3-8414-F35CD225A8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A69364F-03B2-409A-AC74-92EB2353125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F387DF5-8F95-4AE2-8D75-760A23D0E45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E30412-1379-4687-904E-E8EE033DDF3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20A1887-7B6D-4AE2-B2A9-289F8791CF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3B13634-A509-4CF1-9FC6-D23B8BCB4C2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E808E98-A875-4401-8E87-4D86CF65BAC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D2A0C74-2681-4F4E-B8F7-A896A74470D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836C6E-16AE-4D97-9C5E-AD69B367BC6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DCB4AFF-E4B4-4EF3-8858-848A4A3D380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1B371DB-5A8E-4560-B6CF-2317B2E580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C407124-5755-46AF-8F0B-0EBB299B74AB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D71D2E9-103F-47DB-9B28-D652F2C488C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5428AE-D6EE-4205-A930-D6868D9C513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07349B-A094-45DA-9255-C4FF47D44D8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385F461-A814-4A78-BC9D-401A9E0EBBF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0D9EE0E-CFE1-41A1-B73B-33640D04D45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3DE0417-3B8A-4BD3-8B92-F3F3B18BE08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3DBD74-AA6C-4C68-9E0C-47F8A53FE9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C1B9A1C-4C45-4BBF-878A-2104CD8AD735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CD68445-4EC4-4765-B98C-6B2BD9C239F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F51BCA-7FD6-41C6-95DD-AF14A555801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10E8D32-4145-4A56-82C0-EC06A711871E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A96D35-196F-4A62-B5A5-CD46D41441D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B42958-C5BC-48C7-9029-0815FD92B23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F83D1ED-A4CB-4EB0-8ED0-48DA9C3D053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1595CC-2179-40BD-8AE1-94C3CD8E73E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B576C1-0288-42B9-91D1-DC35E25DA5C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CA5DA4-3833-4F69-8F45-B6E43DD59F2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BB6A7B-5683-48D3-AAB4-414D1E970B8A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DC03717-0E46-4160-9836-3C814DF567D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C37B17-D284-4314-955A-3EF692BB01B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B71EF48-28FC-4531-B3CF-4A220F23A4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716F6D-54CA-4042-9361-A9F0E3DF8FEC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AA95D0-CF52-4A7C-82F1-A326DE12861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BB86042-125D-4AD8-9126-44E90E01871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CCC38CE-3661-4871-8C4A-94308D437BA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D29C4B-71B8-4220-A11C-A2488C3BA49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356B232-9588-42AB-8C84-B0FEFF504EF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7C59740-9D0E-451D-A44D-542BBEA6A7F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C0370-BB83-4937-8DE6-1198CDCEC7B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CF3A7AA-E132-4A38-A58C-C9C9AE1D380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8A0535-0226-4023-B786-F530A8EBF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740EBD-5F8A-400F-ADD9-9FCAC6DA3269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8B2E7B7-FC94-4857-B9CC-9E162F63682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742B09A-7523-4D5B-B0A0-F0AEEBD2FB3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3262362-9467-48FD-A003-9273D24167E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8D14F6-2A0D-4032-B01A-BBA586875F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80BEE6-53F4-45A2-916E-2D211537A03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B453B2E-AA60-4A8D-8596-7270C916DBA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CA0F10-5025-490E-9A39-7FC477F1DC9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D80CB2-11A6-4656-9289-176A9A0FDF2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13BAD0A-89EC-4CB2-B0A6-DC8AAC9548E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D7AC9B8-E5A6-4E5A-A6B2-45E82F37A71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504EAB4-50F1-44F6-A3B7-08DB2AF4158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310B84-4C0B-4899-9794-46F0D96A36C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C00E859-75FA-4EAE-82DC-AB46B67FE3FA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326609D-35C4-479C-B0BE-72188ED0D4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50D966-21F8-4DC1-8B13-A95A12D8DA1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99E1E6A-6FE9-42A5-9BEE-9D6DB53DA047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078B8B-4B11-4216-AB86-0780A821F31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C764388-F9DF-4060-89E1-47AE47B4882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A99E274-70A7-433E-928E-05E1721863C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0DDAF4-1BD1-47DA-9509-576B26CAA2E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D897A76-7E28-44F7-9BB9-6C75FB327FA3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9814317-5409-416F-965A-C528D677865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872DAE7-B1FE-48B6-83FC-EF895EFB74E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4ADBD89-5ACB-4B65-8FA0-AF08585A518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98D0E3-DDBE-47E1-B029-0E08574789B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A2CBD0A-F0D0-4D4A-B0AE-F4B5CA91E77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2025/9/9</a:t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4.jpe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4.jpe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4.jpe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F04115-95D0-428B-8D82-334670F40DB1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32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2056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053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203172-185A-4B82-9DE3-432D9B9F760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075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3080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077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76D2936-44F8-4EC3-8C10-B6B218A6717E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099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4104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101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5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8016096-DADA-4069-9828-B38824287F5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23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5128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125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7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9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1C560CF-C5F3-4301-A9C6-CEEEB39D792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147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6152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6149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151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3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0CD4385-839F-48EF-A8D9-1AF398F45988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171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7176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3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5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7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3963FC-32BB-4746-88DF-B6B702053054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195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8200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197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9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1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9E40D22-92CF-43AA-BB1D-9AF1DC682B6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9223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221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22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E4D0FC9-1B18-4D4E-AFEC-5C5C3D07B9A7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243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0246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5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10" descr="电路幻灯片1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7" name="组合 9"/>
          <p:cNvGrpSpPr/>
          <p:nvPr userDrawn="1"/>
        </p:nvGrpSpPr>
        <p:grpSpPr>
          <a:xfrm>
            <a:off x="539750" y="52388"/>
            <a:ext cx="1628775" cy="487362"/>
            <a:chOff x="0" y="0"/>
            <a:chExt cx="5804" cy="1740"/>
          </a:xfrm>
        </p:grpSpPr>
        <p:pic>
          <p:nvPicPr>
            <p:cNvPr id="11270" name="图片 7" descr="交大矢量logo"/>
            <p:cNvPicPr>
              <a:picLocks noChangeAspect="1"/>
            </p:cNvPicPr>
            <p:nvPr userDrawn="1"/>
          </p:nvPicPr>
          <p:blipFill>
            <a:blip r:embed="rId14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269" name="矩形 8"/>
            <p:cNvSpPr>
              <a:spLocks noChangeArrowheads="1"/>
            </p:cNvSpPr>
            <p:nvPr/>
          </p:nvSpPr>
          <p:spPr bwMode="auto">
            <a:xfrm>
              <a:off x="5465" y="1162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000">
                  <a:solidFill>
                    <a:srgbClr val="FFFF0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4767263"/>
            <a:ext cx="2057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4767263"/>
            <a:ext cx="30861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21016;&#38026;&#21326;/ppt_index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5.xml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rgbClr val="BDD7EE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</a:pPr>
            <a:endParaRPr lang="en-US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5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数 字 逻 辑 电 路</a:t>
            </a:r>
          </a:p>
        </p:txBody>
      </p:sp>
      <p:sp>
        <p:nvSpPr>
          <p:cNvPr id="125956" name="文本框 2"/>
          <p:cNvSpPr txBox="1"/>
          <p:nvPr/>
        </p:nvSpPr>
        <p:spPr>
          <a:xfrm>
            <a:off x="3703638" y="2646363"/>
            <a:ext cx="107315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朱正东</a:t>
            </a:r>
          </a:p>
        </p:txBody>
      </p:sp>
      <p:sp>
        <p:nvSpPr>
          <p:cNvPr id="125957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</a:pPr>
            <a:endParaRPr lang="en-US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8" name="矩形 9"/>
          <p:cNvSpPr/>
          <p:nvPr/>
        </p:nvSpPr>
        <p:spPr>
          <a:xfrm>
            <a:off x="0" y="1563688"/>
            <a:ext cx="9169400" cy="1646237"/>
          </a:xfrm>
          <a:prstGeom prst="rect">
            <a:avLst/>
          </a:prstGeom>
          <a:solidFill>
            <a:srgbClr val="BDD7EE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</a:pPr>
            <a:endParaRPr lang="en-US" altLang="en-US" dirty="0">
              <a:solidFill>
                <a:srgbClr val="FFFF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5959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 字 逻 辑 电 路</a:t>
            </a:r>
          </a:p>
        </p:txBody>
      </p:sp>
      <p:grpSp>
        <p:nvGrpSpPr>
          <p:cNvPr id="125960" name="组合 12"/>
          <p:cNvGrpSpPr/>
          <p:nvPr/>
        </p:nvGrpSpPr>
        <p:grpSpPr>
          <a:xfrm>
            <a:off x="466725" y="268288"/>
            <a:ext cx="2322513" cy="696912"/>
            <a:chOff x="0" y="0"/>
            <a:chExt cx="5804" cy="1740"/>
          </a:xfrm>
        </p:grpSpPr>
        <p:pic>
          <p:nvPicPr>
            <p:cNvPr id="125961" name="图片 13" descr="交大矢量logo"/>
            <p:cNvPicPr>
              <a:picLocks noChangeAspect="1"/>
            </p:cNvPicPr>
            <p:nvPr/>
          </p:nvPicPr>
          <p:blipFill>
            <a:blip r:embed="rId2"/>
            <a:srcRect l="-1437" t="-9560" r="41219" b="-10179"/>
            <a:stretch>
              <a:fillRect/>
            </a:stretch>
          </p:blipFill>
          <p:spPr>
            <a:xfrm>
              <a:off x="0" y="0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25962" name="矩形 14"/>
            <p:cNvSpPr/>
            <p:nvPr/>
          </p:nvSpPr>
          <p:spPr>
            <a:xfrm>
              <a:off x="5463" y="1161"/>
              <a:ext cx="341" cy="33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</a:pPr>
              <a:endParaRPr lang="en-US" altLang="en-US" dirty="0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49512" name="文本框 11"/>
          <p:cNvSpPr txBox="1"/>
          <p:nvPr/>
        </p:nvSpPr>
        <p:spPr>
          <a:xfrm>
            <a:off x="4165600" y="2692400"/>
            <a:ext cx="142875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刘</a:t>
            </a:r>
            <a:r>
              <a:rPr lang="en-US" altLang="zh-CN" dirty="0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黑体" panose="02010609060101010101" pitchFamily="49" charset="-122"/>
              </a:rPr>
              <a:t>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3"/>
          <p:cNvSpPr>
            <a:spLocks noGrp="1"/>
          </p:cNvSpPr>
          <p:nvPr>
            <p:ph type="title"/>
          </p:nvPr>
        </p:nvSpPr>
        <p:spPr>
          <a:xfrm>
            <a:off x="542925" y="776288"/>
            <a:ext cx="7091363" cy="5826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第四章   可编程逻辑器件</a:t>
            </a:r>
            <a:endParaRPr lang="zh-CN" altLang="en-US" sz="28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6979" name="Rectangle 4"/>
          <p:cNvSpPr txBox="1"/>
          <p:nvPr/>
        </p:nvSpPr>
        <p:spPr>
          <a:xfrm>
            <a:off x="644525" y="1552575"/>
            <a:ext cx="8104188" cy="31067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学习要求：</a:t>
            </a:r>
          </a:p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  <a:buAutoNum type="arabicPeriod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了解可编程逻辑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的发展、结构分类、编程工艺、表示方法、设计过程</a:t>
            </a: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2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熟悉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、可编程逻辑阵列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PLA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、可编程阵列逻辑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和通用逻辑阵列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GAL</a:t>
            </a: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2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掌握现场可编程门阵列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、在系统可编程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的结构与编程原理</a:t>
            </a:r>
          </a:p>
          <a:p>
            <a:pPr marL="342900" indent="-342900" eaLnBrk="1" hangingPunct="1">
              <a:lnSpc>
                <a:spcPct val="120000"/>
              </a:lnSpc>
              <a:buFont typeface="Calibri Light" panose="020F0302020204030204" pitchFamily="34" charset="0"/>
              <a:buAutoNum type="arabicPeriod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熟悉并掌握硬件描述语言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VHDL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Group 2"/>
          <p:cNvGraphicFramePr>
            <a:graphicFrameLocks noGrp="1"/>
          </p:cNvGraphicFramePr>
          <p:nvPr/>
        </p:nvGraphicFramePr>
        <p:xfrm>
          <a:off x="684213" y="842963"/>
          <a:ext cx="8172450" cy="3290887"/>
        </p:xfrm>
        <a:graphic>
          <a:graphicData uri="http://schemas.openxmlformats.org/drawingml/2006/table">
            <a:tbl>
              <a:tblPr/>
              <a:tblGrid>
                <a:gridCol w="7550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0887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0" fontAlgn="base" latinLnBrk="0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0" fontAlgn="base" latinLnBrk="0" hangingPunct="0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的基本结构（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：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P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rogrammable 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ogic 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evice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）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2. 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的编程工艺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AutoNum type="arabicPeriod" startAt="3"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 PLD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的设计过程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9" marR="91439" marT="34293" marB="3429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91439" marR="91439" marT="34293" marB="3429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005" name="矩形 13"/>
          <p:cNvSpPr/>
          <p:nvPr/>
        </p:nvSpPr>
        <p:spPr>
          <a:xfrm>
            <a:off x="287338" y="1066800"/>
            <a:ext cx="34734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4.1</a:t>
            </a:r>
            <a:r>
              <a:rPr lang="zh-CN" altLang="en-US" sz="2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、可编程逻辑概述</a:t>
            </a:r>
          </a:p>
        </p:txBody>
      </p:sp>
      <p:sp>
        <p:nvSpPr>
          <p:cNvPr id="128006" name="Rectangle 8">
            <a:hlinkClick r:id="rId3" action="ppaction://hlinkfile"/>
          </p:cNvPr>
          <p:cNvSpPr/>
          <p:nvPr/>
        </p:nvSpPr>
        <p:spPr>
          <a:xfrm>
            <a:off x="8027988" y="58738"/>
            <a:ext cx="7207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en-US" altLang="zh-CN" sz="2400" dirty="0">
              <a:solidFill>
                <a:schemeClr val="accent2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3"/>
          <p:cNvSpPr>
            <a:spLocks noGrp="1"/>
          </p:cNvSpPr>
          <p:nvPr>
            <p:ph type="title"/>
          </p:nvPr>
        </p:nvSpPr>
        <p:spPr>
          <a:xfrm>
            <a:off x="357188" y="717550"/>
            <a:ext cx="4214812" cy="581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4.1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、可编程逻辑概述</a:t>
            </a:r>
            <a:endParaRPr lang="zh-CN" altLang="en-US" sz="2800" b="1" i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9027" name="Rectangle 4"/>
          <p:cNvSpPr>
            <a:spLocks noGrp="1"/>
          </p:cNvSpPr>
          <p:nvPr>
            <p:ph type="body"/>
          </p:nvPr>
        </p:nvSpPr>
        <p:spPr>
          <a:xfrm>
            <a:off x="468630" y="1336675"/>
            <a:ext cx="8267700" cy="317754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PLD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是由半导体工厂制好，不需要定制任何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掩模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，用户可以利用软件开发工具（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EDA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</a:t>
            </a:r>
            <a:r>
              <a:rPr lang="en-US" altLang="zh-CN" dirty="0"/>
              <a:t>lectronics </a:t>
            </a: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esign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utomation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）和编程器设备，对芯片功能进行编程的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大规模集成电路器件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掩模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：在硅片上铺上一层导电膜将独立的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元件、模组（三极管、门等）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连接起来 ，然后加工形成不同功能的芯片 。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是为了降低</a:t>
            </a:r>
            <a:r>
              <a:rPr lang="zh-CN" altLang="en-US" sz="20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电子系统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体积和成本、提高系统可靠性，完善设计方法和简化设计过程中产生的。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9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4"/>
          <p:cNvSpPr>
            <a:spLocks noGrp="1"/>
          </p:cNvSpPr>
          <p:nvPr>
            <p:ph type="body"/>
          </p:nvPr>
        </p:nvSpPr>
        <p:spPr>
          <a:xfrm>
            <a:off x="339725" y="673100"/>
            <a:ext cx="8553450" cy="425640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60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年代出现了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PROM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70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年代末和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年代初，市场上大量出现了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；结构简单、芯片和编程器设备便宜；使用双极型工艺器件；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硬编程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；端点数和封装形式不同。（一般情况下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能代替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4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5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片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SSI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）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自上世纪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80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年代以来，编程工艺和辅助开发环境变化最大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——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以工作站（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workstation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，当时的高性能计算机）为基础的软件开发环境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，功能强大；使用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工艺；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EPROM, EEPROM, SRAM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和逆熔丝工艺（相对熔丝和反熔丝工艺）；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除端点（引脚）数和封装形式不同，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触发器的数目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也是区别之一。市场上主要有两大类：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PGA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最有影响的是：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可编程门阵列（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PGA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，属于现场可编程逻辑器件的一种。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0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0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4"/>
          <p:cNvSpPr>
            <a:spLocks noGrp="1"/>
          </p:cNvSpPr>
          <p:nvPr>
            <p:ph type="body"/>
          </p:nvPr>
        </p:nvSpPr>
        <p:spPr>
          <a:xfrm>
            <a:off x="500063" y="661988"/>
            <a:ext cx="7558087" cy="482600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algn="just" eaLnBrk="1" hangingPunct="1">
              <a:buNone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1.  PLD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的电路结构和分类         </a:t>
            </a:r>
          </a:p>
        </p:txBody>
      </p:sp>
      <p:sp>
        <p:nvSpPr>
          <p:cNvPr id="131075" name="Text Box 73"/>
          <p:cNvSpPr txBox="1"/>
          <p:nvPr/>
        </p:nvSpPr>
        <p:spPr>
          <a:xfrm>
            <a:off x="2867025" y="4443413"/>
            <a:ext cx="3505200" cy="396875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早期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的基本结构</a:t>
            </a:r>
          </a:p>
        </p:txBody>
      </p:sp>
      <p:grpSp>
        <p:nvGrpSpPr>
          <p:cNvPr id="131076" name="Group 4"/>
          <p:cNvGrpSpPr/>
          <p:nvPr/>
        </p:nvGrpSpPr>
        <p:grpSpPr>
          <a:xfrm>
            <a:off x="1258888" y="1787843"/>
            <a:ext cx="6626225" cy="2673969"/>
            <a:chOff x="0" y="0"/>
            <a:chExt cx="9840" cy="4229"/>
          </a:xfrm>
        </p:grpSpPr>
        <p:sp>
          <p:nvSpPr>
            <p:cNvPr id="131078" name="Rectangle 75"/>
            <p:cNvSpPr/>
            <p:nvPr/>
          </p:nvSpPr>
          <p:spPr>
            <a:xfrm>
              <a:off x="0" y="0"/>
              <a:ext cx="3240" cy="2069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79" name="Rectangle 76"/>
            <p:cNvSpPr/>
            <p:nvPr/>
          </p:nvSpPr>
          <p:spPr>
            <a:xfrm>
              <a:off x="6037" y="0"/>
              <a:ext cx="3240" cy="2069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0" name="Line 77"/>
            <p:cNvSpPr/>
            <p:nvPr/>
          </p:nvSpPr>
          <p:spPr>
            <a:xfrm>
              <a:off x="3240" y="269"/>
              <a:ext cx="2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1" name="Line 78"/>
            <p:cNvSpPr/>
            <p:nvPr/>
          </p:nvSpPr>
          <p:spPr>
            <a:xfrm>
              <a:off x="3240" y="1889"/>
              <a:ext cx="27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2" name="Text Box 79"/>
            <p:cNvSpPr txBox="1"/>
            <p:nvPr/>
          </p:nvSpPr>
          <p:spPr>
            <a:xfrm>
              <a:off x="4055" y="1039"/>
              <a:ext cx="726" cy="1979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</a:p>
          </p:txBody>
        </p:sp>
        <p:sp>
          <p:nvSpPr>
            <p:cNvPr id="131083" name="Text Box 80"/>
            <p:cNvSpPr txBox="1"/>
            <p:nvPr/>
          </p:nvSpPr>
          <p:spPr>
            <a:xfrm>
              <a:off x="2520" y="0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4" name="Text Box 81"/>
            <p:cNvSpPr txBox="1"/>
            <p:nvPr/>
          </p:nvSpPr>
          <p:spPr>
            <a:xfrm>
              <a:off x="2374" y="1446"/>
              <a:ext cx="1080" cy="62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</a:t>
              </a:r>
              <a:r>
                <a:rPr lang="en-US" altLang="zh-CN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m-1</a:t>
              </a:r>
              <a:endPara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5" name="Text Box 82"/>
            <p:cNvSpPr txBox="1"/>
            <p:nvPr/>
          </p:nvSpPr>
          <p:spPr>
            <a:xfrm>
              <a:off x="2563" y="673"/>
              <a:ext cx="726" cy="1275"/>
            </a:xfrm>
            <a:prstGeom prst="rect">
              <a:avLst/>
            </a:prstGeom>
            <a:noFill/>
            <a:ln w="28575">
              <a:noFill/>
            </a:ln>
          </p:spPr>
          <p:txBody>
            <a:bodyPr vert="eaVert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</a:p>
          </p:txBody>
        </p:sp>
        <p:sp>
          <p:nvSpPr>
            <p:cNvPr id="131086" name="Line 83"/>
            <p:cNvSpPr/>
            <p:nvPr/>
          </p:nvSpPr>
          <p:spPr>
            <a:xfrm flipV="1">
              <a:off x="305" y="2069"/>
              <a:ext cx="0" cy="11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87" name="AutoShape 84"/>
            <p:cNvSpPr/>
            <p:nvPr/>
          </p:nvSpPr>
          <p:spPr>
            <a:xfrm>
              <a:off x="480" y="2429"/>
              <a:ext cx="360" cy="1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8" name="Oval 85"/>
            <p:cNvSpPr/>
            <p:nvPr/>
          </p:nvSpPr>
          <p:spPr>
            <a:xfrm>
              <a:off x="600" y="2339"/>
              <a:ext cx="120" cy="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89" name="Line 86"/>
            <p:cNvSpPr/>
            <p:nvPr/>
          </p:nvSpPr>
          <p:spPr>
            <a:xfrm>
              <a:off x="665" y="206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0" name="Line 87"/>
            <p:cNvSpPr/>
            <p:nvPr/>
          </p:nvSpPr>
          <p:spPr>
            <a:xfrm>
              <a:off x="665" y="260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1" name="Line 88"/>
            <p:cNvSpPr/>
            <p:nvPr/>
          </p:nvSpPr>
          <p:spPr>
            <a:xfrm>
              <a:off x="332" y="2858"/>
              <a:ext cx="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2" name="Line 89"/>
            <p:cNvSpPr/>
            <p:nvPr/>
          </p:nvSpPr>
          <p:spPr>
            <a:xfrm flipV="1">
              <a:off x="2585" y="2069"/>
              <a:ext cx="0" cy="11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093" name="AutoShape 90"/>
            <p:cNvSpPr/>
            <p:nvPr/>
          </p:nvSpPr>
          <p:spPr>
            <a:xfrm>
              <a:off x="2760" y="2429"/>
              <a:ext cx="360" cy="1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4" name="Oval 91"/>
            <p:cNvSpPr/>
            <p:nvPr/>
          </p:nvSpPr>
          <p:spPr>
            <a:xfrm>
              <a:off x="2880" y="2339"/>
              <a:ext cx="120" cy="90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5" name="Line 92"/>
            <p:cNvSpPr/>
            <p:nvPr/>
          </p:nvSpPr>
          <p:spPr>
            <a:xfrm>
              <a:off x="2945" y="206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6" name="Line 93"/>
            <p:cNvSpPr/>
            <p:nvPr/>
          </p:nvSpPr>
          <p:spPr>
            <a:xfrm>
              <a:off x="2945" y="2609"/>
              <a:ext cx="0" cy="27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7" name="Line 94"/>
            <p:cNvSpPr/>
            <p:nvPr/>
          </p:nvSpPr>
          <p:spPr>
            <a:xfrm>
              <a:off x="2612" y="2858"/>
              <a:ext cx="3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98" name="Text Box 95"/>
            <p:cNvSpPr txBox="1"/>
            <p:nvPr/>
          </p:nvSpPr>
          <p:spPr>
            <a:xfrm>
              <a:off x="65" y="3238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          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099" name="Text Box 96"/>
            <p:cNvSpPr txBox="1"/>
            <p:nvPr/>
          </p:nvSpPr>
          <p:spPr>
            <a:xfrm>
              <a:off x="2270" y="3303"/>
              <a:ext cx="10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n-1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0" name="Text Box 97"/>
            <p:cNvSpPr txBox="1"/>
            <p:nvPr/>
          </p:nvSpPr>
          <p:spPr>
            <a:xfrm>
              <a:off x="947" y="3014"/>
              <a:ext cx="1561" cy="63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• • •</a:t>
              </a:r>
            </a:p>
          </p:txBody>
        </p:sp>
        <p:sp>
          <p:nvSpPr>
            <p:cNvPr id="131101" name="Text Box 98"/>
            <p:cNvSpPr txBox="1"/>
            <p:nvPr/>
          </p:nvSpPr>
          <p:spPr>
            <a:xfrm>
              <a:off x="6120" y="3148"/>
              <a:ext cx="132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          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2" name="Line 99"/>
            <p:cNvSpPr/>
            <p:nvPr/>
          </p:nvSpPr>
          <p:spPr>
            <a:xfrm>
              <a:off x="6360" y="2069"/>
              <a:ext cx="0" cy="108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103" name="Line 100"/>
            <p:cNvSpPr/>
            <p:nvPr/>
          </p:nvSpPr>
          <p:spPr>
            <a:xfrm>
              <a:off x="8880" y="2118"/>
              <a:ext cx="0" cy="1079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31104" name="Text Box 101"/>
            <p:cNvSpPr txBox="1"/>
            <p:nvPr/>
          </p:nvSpPr>
          <p:spPr>
            <a:xfrm>
              <a:off x="8520" y="3148"/>
              <a:ext cx="132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b="1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b-1</a:t>
              </a:r>
              <a:endPara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05" name="Text Box 102"/>
            <p:cNvSpPr txBox="1"/>
            <p:nvPr/>
          </p:nvSpPr>
          <p:spPr>
            <a:xfrm>
              <a:off x="600" y="3598"/>
              <a:ext cx="2160" cy="6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n 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个输入</a:t>
              </a:r>
            </a:p>
          </p:txBody>
        </p:sp>
        <p:sp>
          <p:nvSpPr>
            <p:cNvPr id="131106" name="Text Box 103"/>
            <p:cNvSpPr txBox="1"/>
            <p:nvPr/>
          </p:nvSpPr>
          <p:spPr>
            <a:xfrm>
              <a:off x="6840" y="3525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 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个输出</a:t>
              </a:r>
            </a:p>
          </p:txBody>
        </p:sp>
        <p:sp>
          <p:nvSpPr>
            <p:cNvPr id="131107" name="Text Box 104"/>
            <p:cNvSpPr txBox="1"/>
            <p:nvPr/>
          </p:nvSpPr>
          <p:spPr>
            <a:xfrm>
              <a:off x="3600" y="464"/>
              <a:ext cx="2159" cy="62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m</a:t>
              </a: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个乘积项</a:t>
              </a:r>
            </a:p>
          </p:txBody>
        </p:sp>
        <p:sp>
          <p:nvSpPr>
            <p:cNvPr id="131108" name="Text Box 105"/>
            <p:cNvSpPr txBox="1"/>
            <p:nvPr/>
          </p:nvSpPr>
          <p:spPr>
            <a:xfrm>
              <a:off x="720" y="790"/>
              <a:ext cx="16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与阵列</a:t>
              </a:r>
            </a:p>
          </p:txBody>
        </p:sp>
        <p:sp>
          <p:nvSpPr>
            <p:cNvPr id="131109" name="Text Box 106"/>
            <p:cNvSpPr txBox="1"/>
            <p:nvPr/>
          </p:nvSpPr>
          <p:spPr>
            <a:xfrm>
              <a:off x="6840" y="810"/>
              <a:ext cx="168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或阵列</a:t>
              </a:r>
            </a:p>
          </p:txBody>
        </p:sp>
        <p:sp>
          <p:nvSpPr>
            <p:cNvPr id="131110" name="Oval 107"/>
            <p:cNvSpPr/>
            <p:nvPr/>
          </p:nvSpPr>
          <p:spPr>
            <a:xfrm>
              <a:off x="240" y="2811"/>
              <a:ext cx="120" cy="9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1111" name="Oval 108"/>
            <p:cNvSpPr/>
            <p:nvPr/>
          </p:nvSpPr>
          <p:spPr>
            <a:xfrm>
              <a:off x="2520" y="2811"/>
              <a:ext cx="120" cy="90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31077" name="Rectangle 4"/>
          <p:cNvSpPr txBox="1"/>
          <p:nvPr/>
        </p:nvSpPr>
        <p:spPr>
          <a:xfrm>
            <a:off x="795338" y="1108075"/>
            <a:ext cx="4746625" cy="482600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marL="342900" indent="-342900" algn="just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早期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的结构（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大部分）  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65655" y="184277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51245" y="184277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029460" y="320675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222365" y="3210560"/>
            <a:ext cx="5588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/>
          </p:cNvSpPr>
          <p:nvPr>
            <p:ph type="title"/>
          </p:nvPr>
        </p:nvSpPr>
        <p:spPr>
          <a:xfrm>
            <a:off x="536575" y="571183"/>
            <a:ext cx="7391400" cy="4175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的一般分类方法（主要还是针对早期产品及制造工艺分）</a:t>
            </a:r>
          </a:p>
        </p:txBody>
      </p:sp>
      <p:sp>
        <p:nvSpPr>
          <p:cNvPr id="132099" name="Rectangle 3"/>
          <p:cNvSpPr>
            <a:spLocks noGrp="1"/>
          </p:cNvSpPr>
          <p:nvPr>
            <p:ph type="body"/>
          </p:nvPr>
        </p:nvSpPr>
        <p:spPr>
          <a:xfrm>
            <a:off x="5568950" y="781050"/>
            <a:ext cx="3346450" cy="2428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组合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时序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只读存储器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(ROM)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可编程逻辑阵列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(PLA)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可编程阵列逻辑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(PAL)</a:t>
            </a: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通用逻辑阵列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(GAL)</a:t>
            </a:r>
          </a:p>
        </p:txBody>
      </p:sp>
      <p:sp>
        <p:nvSpPr>
          <p:cNvPr id="132100" name="AutoShape 15"/>
          <p:cNvSpPr/>
          <p:nvPr/>
        </p:nvSpPr>
        <p:spPr>
          <a:xfrm>
            <a:off x="5383213" y="1009968"/>
            <a:ext cx="147637" cy="514350"/>
          </a:xfrm>
          <a:prstGeom prst="leftBrace">
            <a:avLst>
              <a:gd name="adj1" fmla="val 38709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1" name="AutoShape 16"/>
          <p:cNvSpPr/>
          <p:nvPr/>
        </p:nvSpPr>
        <p:spPr>
          <a:xfrm>
            <a:off x="5383213" y="1954213"/>
            <a:ext cx="184150" cy="1227137"/>
          </a:xfrm>
          <a:prstGeom prst="leftBrace">
            <a:avLst>
              <a:gd name="adj1" fmla="val 74042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2" name="Text Box 17"/>
          <p:cNvSpPr txBox="1"/>
          <p:nvPr/>
        </p:nvSpPr>
        <p:spPr>
          <a:xfrm>
            <a:off x="1622425" y="1211263"/>
            <a:ext cx="4191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根据输出是否包含寄存器分为</a:t>
            </a:r>
          </a:p>
        </p:txBody>
      </p:sp>
      <p:sp>
        <p:nvSpPr>
          <p:cNvPr id="132103" name="Text Box 18"/>
          <p:cNvSpPr txBox="1"/>
          <p:nvPr/>
        </p:nvSpPr>
        <p:spPr>
          <a:xfrm>
            <a:off x="1622425" y="2411413"/>
            <a:ext cx="430847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根据编程内容分为</a:t>
            </a:r>
          </a:p>
        </p:txBody>
      </p:sp>
      <p:sp>
        <p:nvSpPr>
          <p:cNvPr id="132104" name="AutoShape 19"/>
          <p:cNvSpPr/>
          <p:nvPr/>
        </p:nvSpPr>
        <p:spPr>
          <a:xfrm>
            <a:off x="1470025" y="1403350"/>
            <a:ext cx="255905" cy="2525395"/>
          </a:xfrm>
          <a:prstGeom prst="leftBrace">
            <a:avLst>
              <a:gd name="adj1" fmla="val 73318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5" name="Text Box 20"/>
          <p:cNvSpPr txBox="1"/>
          <p:nvPr/>
        </p:nvSpPr>
        <p:spPr>
          <a:xfrm>
            <a:off x="403225" y="1839913"/>
            <a:ext cx="1143000" cy="642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</a:p>
          <a:p>
            <a:pPr algn="ctr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的分类</a:t>
            </a:r>
          </a:p>
        </p:txBody>
      </p:sp>
      <p:sp>
        <p:nvSpPr>
          <p:cNvPr id="132106" name="Text Box 18"/>
          <p:cNvSpPr txBox="1"/>
          <p:nvPr/>
        </p:nvSpPr>
        <p:spPr>
          <a:xfrm>
            <a:off x="1679575" y="3805238"/>
            <a:ext cx="31432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根据容量大小可分为</a:t>
            </a:r>
          </a:p>
        </p:txBody>
      </p:sp>
      <p:sp>
        <p:nvSpPr>
          <p:cNvPr id="132107" name="AutoShape 15"/>
          <p:cNvSpPr/>
          <p:nvPr/>
        </p:nvSpPr>
        <p:spPr>
          <a:xfrm>
            <a:off x="4392613" y="3465513"/>
            <a:ext cx="214312" cy="1177925"/>
          </a:xfrm>
          <a:prstGeom prst="leftBrace">
            <a:avLst>
              <a:gd name="adj1" fmla="val 38677"/>
              <a:gd name="adj2" fmla="val 50000"/>
            </a:avLst>
          </a:prstGeom>
          <a:noFill/>
          <a:ln w="28575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2108" name="Rectangle 3"/>
          <p:cNvSpPr txBox="1"/>
          <p:nvPr/>
        </p:nvSpPr>
        <p:spPr>
          <a:xfrm>
            <a:off x="4606925" y="3375025"/>
            <a:ext cx="4357688" cy="15541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简单可编程逻辑器件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引脚数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24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28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复杂可编程逻辑器件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  </a:t>
            </a:r>
          </a:p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IC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引脚数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44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~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多路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</a:p>
        </p:txBody>
      </p:sp>
      <p:sp>
        <p:nvSpPr>
          <p:cNvPr id="132109" name="Text Box 17"/>
          <p:cNvSpPr txBox="1"/>
          <p:nvPr/>
        </p:nvSpPr>
        <p:spPr>
          <a:xfrm>
            <a:off x="107504" y="4086981"/>
            <a:ext cx="5048696" cy="9271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制造商：</a:t>
            </a:r>
            <a:endParaRPr lang="en-US" altLang="zh-CN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en-US" altLang="zh-CN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Lattice, Altera, Xilinx, Cypress</a:t>
            </a:r>
          </a:p>
          <a:p>
            <a:pPr marL="342900" indent="-342900"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安路科技、京微齐力、紫光同创、复旦微电子</a:t>
            </a:r>
            <a:endParaRPr lang="en-US" altLang="zh-CN" sz="14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1677C-67AE-4BCD-825F-B01F85C2BF7C}"/>
              </a:ext>
            </a:extLst>
          </p:cNvPr>
          <p:cNvSpPr txBox="1"/>
          <p:nvPr/>
        </p:nvSpPr>
        <p:spPr>
          <a:xfrm>
            <a:off x="7812360" y="1701413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或阵列可编程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DECB31C-066A-471D-8FA9-79D0BE069EAF}"/>
              </a:ext>
            </a:extLst>
          </p:cNvPr>
          <p:cNvSpPr txBox="1"/>
          <p:nvPr/>
        </p:nvSpPr>
        <p:spPr>
          <a:xfrm>
            <a:off x="7803626" y="2158753"/>
            <a:ext cx="1500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与、或阵列可编程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5D44C1F-B613-479E-9DAC-B7C4FCB26F11}"/>
              </a:ext>
            </a:extLst>
          </p:cNvPr>
          <p:cNvSpPr txBox="1"/>
          <p:nvPr/>
        </p:nvSpPr>
        <p:spPr>
          <a:xfrm>
            <a:off x="7884368" y="2569083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与阵列可编程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A2E62B4-2039-46F7-96D8-E8F19933F171}"/>
              </a:ext>
            </a:extLst>
          </p:cNvPr>
          <p:cNvSpPr txBox="1"/>
          <p:nvPr/>
        </p:nvSpPr>
        <p:spPr>
          <a:xfrm>
            <a:off x="7689025" y="3076344"/>
            <a:ext cx="147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tx1"/>
                </a:solidFill>
              </a:rPr>
              <a:t>与阵列、输出逻辑可编程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/>
          </p:cNvSpPr>
          <p:nvPr>
            <p:ph type="title"/>
          </p:nvPr>
        </p:nvSpPr>
        <p:spPr>
          <a:xfrm>
            <a:off x="641350" y="571500"/>
            <a:ext cx="7747000" cy="374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PLD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的分类（按器件内部可编程资源（内容）分类）</a:t>
            </a:r>
          </a:p>
        </p:txBody>
      </p:sp>
      <p:sp>
        <p:nvSpPr>
          <p:cNvPr id="133123" name="Rectangle 21"/>
          <p:cNvSpPr/>
          <p:nvPr/>
        </p:nvSpPr>
        <p:spPr>
          <a:xfrm>
            <a:off x="971550" y="1071563"/>
            <a:ext cx="7200900" cy="373221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简单可编程逻辑器件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SPLD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只读存储器 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(ROM)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固定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可编程逻辑阵列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(PLA)  :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可编程阵列逻辑 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(PAL)  :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可编程  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或阵列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固定</a:t>
            </a:r>
            <a:endParaRPr lang="en-US" altLang="zh-CN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通用逻辑阵列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(GAL)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兼容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，增加可擦除、可重新编程及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可组态结构等特点。使用最广泛的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产品之一。</a:t>
            </a: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endParaRPr lang="en-US" altLang="zh-CN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目前流行的可编程逻辑器件有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FPGA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ISP, </a:t>
            </a: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是更高层次的</a:t>
            </a:r>
            <a:r>
              <a:rPr lang="en-US" altLang="zh-CN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CPLD ,</a:t>
            </a:r>
          </a:p>
          <a:p>
            <a:pPr marL="342900" indent="-3429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技术上更先进。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/>
          </p:cNvSpPr>
          <p:nvPr>
            <p:ph type="title"/>
          </p:nvPr>
        </p:nvSpPr>
        <p:spPr>
          <a:xfrm>
            <a:off x="963613" y="501650"/>
            <a:ext cx="60007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的编程工艺和表示方法</a:t>
            </a:r>
          </a:p>
        </p:txBody>
      </p:sp>
      <p:sp>
        <p:nvSpPr>
          <p:cNvPr id="134147" name="Rectangle 3"/>
          <p:cNvSpPr>
            <a:spLocks noGrp="1"/>
          </p:cNvSpPr>
          <p:nvPr>
            <p:ph type="body"/>
          </p:nvPr>
        </p:nvSpPr>
        <p:spPr>
          <a:xfrm>
            <a:off x="1116013" y="906463"/>
            <a:ext cx="6048375" cy="885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 PLD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的编程工艺（含矩形排列的存储单元阵列）</a:t>
            </a: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掩膜可编程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mask   PLD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)</a:t>
            </a:r>
          </a:p>
        </p:txBody>
      </p:sp>
      <p:pic>
        <p:nvPicPr>
          <p:cNvPr id="13414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3" y="1841500"/>
            <a:ext cx="6143625" cy="3302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5003800" y="4300220"/>
            <a:ext cx="8293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</a:rPr>
              <a:t>7</a:t>
            </a:r>
            <a:r>
              <a:rPr lang="en-US" altLang="zh-CN" sz="1200" dirty="0">
                <a:solidFill>
                  <a:srgbClr val="FF0000"/>
                </a:solidFill>
              </a:rPr>
              <a:t>          </a:t>
            </a:r>
            <a:r>
              <a:rPr lang="en-US" altLang="zh-CN" sz="1200" dirty="0">
                <a:solidFill>
                  <a:schemeClr val="tx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/>
          </p:cNvSpPr>
          <p:nvPr>
            <p:ph type="title"/>
          </p:nvPr>
        </p:nvSpPr>
        <p:spPr>
          <a:xfrm>
            <a:off x="179388" y="511175"/>
            <a:ext cx="60007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的编程工艺和表示方法</a:t>
            </a:r>
          </a:p>
        </p:txBody>
      </p:sp>
      <p:sp>
        <p:nvSpPr>
          <p:cNvPr id="135171" name="Rectangle 3"/>
          <p:cNvSpPr>
            <a:spLocks noGrp="1"/>
          </p:cNvSpPr>
          <p:nvPr>
            <p:ph type="body"/>
          </p:nvPr>
        </p:nvSpPr>
        <p:spPr>
          <a:xfrm>
            <a:off x="244475" y="904875"/>
            <a:ext cx="8720138" cy="10191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70000"/>
              </a:lnSpc>
              <a:buNone/>
            </a:pP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 PLD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的编程工艺（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内部除与或阵列，还含矩形排列的存储单元阵列）</a:t>
            </a:r>
          </a:p>
          <a:p>
            <a:pPr eaLnBrk="1" hangingPunct="1">
              <a:lnSpc>
                <a:spcPct val="7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掩膜可编程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mask   PLD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)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：编程内容要通过半导体公司协助用户完成。</a:t>
            </a:r>
          </a:p>
          <a:p>
            <a:pPr eaLnBrk="1" hangingPunct="1">
              <a:lnSpc>
                <a:spcPct val="70000"/>
              </a:lnSpc>
              <a:buFont typeface="Arial" panose="020B0604020202020204" pitchFamily="34" charset="0"/>
              <a:buAutoNum type="circleNumDbPlain"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现场可编程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：编程内容（过程）由用户独立完成。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517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275" y="1995488"/>
            <a:ext cx="5984875" cy="3148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5174" name="Line 6"/>
          <p:cNvSpPr/>
          <p:nvPr/>
        </p:nvSpPr>
        <p:spPr>
          <a:xfrm>
            <a:off x="1763713" y="2284413"/>
            <a:ext cx="2881312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63" y="555625"/>
            <a:ext cx="7439025" cy="4610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6196" name="Line 4"/>
          <p:cNvSpPr/>
          <p:nvPr/>
        </p:nvSpPr>
        <p:spPr>
          <a:xfrm>
            <a:off x="754063" y="842963"/>
            <a:ext cx="4105275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/>
          </p:cNvSpPr>
          <p:nvPr>
            <p:ph type="title"/>
          </p:nvPr>
        </p:nvSpPr>
        <p:spPr>
          <a:xfrm>
            <a:off x="611188" y="688975"/>
            <a:ext cx="5367337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 PLD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2400" b="1" u="sng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编程工艺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和表示方法</a:t>
            </a:r>
          </a:p>
        </p:txBody>
      </p:sp>
      <p:sp>
        <p:nvSpPr>
          <p:cNvPr id="137219" name="Rectangle 3"/>
          <p:cNvSpPr>
            <a:spLocks noGrp="1"/>
          </p:cNvSpPr>
          <p:nvPr>
            <p:ph type="body"/>
          </p:nvPr>
        </p:nvSpPr>
        <p:spPr>
          <a:xfrm>
            <a:off x="395288" y="1420813"/>
            <a:ext cx="8353425" cy="3382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编程工艺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 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内部除与或阵列，含矩形排列的存储单元阵列）</a:t>
            </a: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发展过程：掩模工艺、熔丝、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TTL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NMOS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CMOS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及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en-US" altLang="zh-CN" sz="1600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</a:p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/>
            </a:pPr>
            <a:endParaRPr lang="zh-CN" altLang="en-US" sz="1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Font typeface="Arial" panose="020B0604020202020204" pitchFamily="34" charset="0"/>
              <a:buAutoNum type="arabicParenR" startAt="2"/>
            </a:pP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PPLD 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：内部存储位由二极管或晶体管连接，在交付前通常为逻辑状态“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”，电击毁方式，编程点由地址线和数据线确定，高压脉冲由专门引脚输入。为一次性可编程。也称</a:t>
            </a:r>
            <a:r>
              <a:rPr lang="en-US" altLang="zh-CN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OTP</a:t>
            </a: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器件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EPPLD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 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可擦除可编程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：浮栅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管连接，有两个门（栅），被高绝缘材料包围；之前无电荷，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MOS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管截止（存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），编程时加高压，使电荷雪崩注入到浮栅，从而导通（存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），可以保存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年。紫外线照射擦除。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514350" indent="-514350" eaLnBrk="1" hangingPunct="1">
              <a:lnSpc>
                <a:spcPct val="110000"/>
              </a:lnSpc>
              <a:buNone/>
            </a:pP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en-US" altLang="zh-CN" sz="16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EEPPLD 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电可擦除可编程</a:t>
            </a:r>
            <a:r>
              <a:rPr lang="en-US" altLang="zh-CN" sz="1600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PLD)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7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7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7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6"/>
          <p:cNvSpPr txBox="1"/>
          <p:nvPr/>
        </p:nvSpPr>
        <p:spPr>
          <a:xfrm>
            <a:off x="569913" y="787400"/>
            <a:ext cx="8610600" cy="749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  <a:buAutoNum type="arabicPeriod" startAt="2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的内部资源表示方法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——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逻辑描述规则和符号</a:t>
            </a: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输入缓冲器</a:t>
            </a:r>
          </a:p>
        </p:txBody>
      </p:sp>
      <p:grpSp>
        <p:nvGrpSpPr>
          <p:cNvPr id="138243" name="组合 16"/>
          <p:cNvGrpSpPr/>
          <p:nvPr/>
        </p:nvGrpSpPr>
        <p:grpSpPr>
          <a:xfrm>
            <a:off x="1074738" y="1924050"/>
            <a:ext cx="3048000" cy="1012825"/>
            <a:chOff x="0" y="0"/>
            <a:chExt cx="3048000" cy="687189"/>
          </a:xfrm>
        </p:grpSpPr>
        <p:sp>
          <p:nvSpPr>
            <p:cNvPr id="138259" name="Oval 29"/>
            <p:cNvSpPr/>
            <p:nvPr/>
          </p:nvSpPr>
          <p:spPr>
            <a:xfrm>
              <a:off x="1440160" y="576064"/>
              <a:ext cx="111125" cy="111125"/>
            </a:xfrm>
            <a:prstGeom prst="ellipse">
              <a:avLst/>
            </a:prstGeom>
            <a:solidFill>
              <a:schemeClr val="bg1"/>
            </a:solidFill>
            <a:ln w="12700" cap="flat" cmpd="sng">
              <a:solidFill>
                <a:schemeClr val="tx2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138260" name="组合 15"/>
            <p:cNvGrpSpPr/>
            <p:nvPr/>
          </p:nvGrpSpPr>
          <p:grpSpPr>
            <a:xfrm>
              <a:off x="0" y="0"/>
              <a:ext cx="3048000" cy="685800"/>
              <a:chOff x="0" y="0"/>
              <a:chExt cx="3048000" cy="685800"/>
            </a:xfrm>
          </p:grpSpPr>
          <p:sp>
            <p:nvSpPr>
              <p:cNvPr id="138261" name="AutoShape 27"/>
              <p:cNvSpPr/>
              <p:nvPr/>
            </p:nvSpPr>
            <p:spPr>
              <a:xfrm rot="5400000">
                <a:off x="1236663" y="190500"/>
                <a:ext cx="457200" cy="533400"/>
              </a:xfrm>
              <a:prstGeom prst="flowChartExtract">
                <a:avLst/>
              </a:prstGeom>
              <a:solidFill>
                <a:schemeClr val="accent1"/>
              </a:solidFill>
              <a:ln w="19050" cap="flat" cmpd="sng">
                <a:solidFill>
                  <a:schemeClr val="accent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/>
              <a:lstStyle/>
              <a:p>
                <a:pPr eaLnBrk="1" hangingPunct="1">
                  <a:buFont typeface="Arial" panose="020B0604020202020204" pitchFamily="34" charset="0"/>
                </a:pPr>
                <a:endPara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38262" name="Line 28"/>
              <p:cNvSpPr/>
              <p:nvPr/>
            </p:nvSpPr>
            <p:spPr>
              <a:xfrm>
                <a:off x="433388" y="460375"/>
                <a:ext cx="762000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3" name="Line 30"/>
              <p:cNvSpPr/>
              <p:nvPr/>
            </p:nvSpPr>
            <p:spPr>
              <a:xfrm>
                <a:off x="1535430" y="639763"/>
                <a:ext cx="935038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4" name="Line 31"/>
              <p:cNvSpPr/>
              <p:nvPr/>
            </p:nvSpPr>
            <p:spPr>
              <a:xfrm>
                <a:off x="1436688" y="333375"/>
                <a:ext cx="1022350" cy="0"/>
              </a:xfrm>
              <a:prstGeom prst="line">
                <a:avLst/>
              </a:prstGeom>
              <a:ln w="28575" cap="flat" cmpd="sng">
                <a:solidFill>
                  <a:srgbClr val="4472C4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265" name="Text Box 32"/>
              <p:cNvSpPr txBox="1"/>
              <p:nvPr/>
            </p:nvSpPr>
            <p:spPr>
              <a:xfrm>
                <a:off x="0" y="229318"/>
                <a:ext cx="609600" cy="2691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Ａ</a:t>
                </a:r>
              </a:p>
            </p:txBody>
          </p:sp>
          <p:sp>
            <p:nvSpPr>
              <p:cNvPr id="138266" name="Text Box 33"/>
              <p:cNvSpPr txBox="1"/>
              <p:nvPr/>
            </p:nvSpPr>
            <p:spPr>
              <a:xfrm>
                <a:off x="2438400" y="0"/>
                <a:ext cx="609600" cy="2691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Ｂ</a:t>
                </a:r>
              </a:p>
            </p:txBody>
          </p:sp>
          <p:sp>
            <p:nvSpPr>
              <p:cNvPr id="138267" name="Text Box 34"/>
              <p:cNvSpPr txBox="1"/>
              <p:nvPr/>
            </p:nvSpPr>
            <p:spPr>
              <a:xfrm>
                <a:off x="2438400" y="415877"/>
                <a:ext cx="609600" cy="2693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Font typeface="Arial" panose="020B0604020202020204" pitchFamily="34" charset="0"/>
                </a:pPr>
                <a:r>
                  <a:rPr lang="zh-CN" altLang="en-US" b="1" dirty="0">
                    <a:solidFill>
                      <a:schemeClr val="tx1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Ｃ</a:t>
                </a:r>
              </a:p>
            </p:txBody>
          </p:sp>
        </p:grpSp>
      </p:grpSp>
      <p:graphicFrame>
        <p:nvGraphicFramePr>
          <p:cNvPr id="138244" name="Group 13"/>
          <p:cNvGraphicFramePr>
            <a:graphicFrameLocks noGrp="1"/>
          </p:cNvGraphicFramePr>
          <p:nvPr/>
        </p:nvGraphicFramePr>
        <p:xfrm>
          <a:off x="5106988" y="2192338"/>
          <a:ext cx="1860550" cy="1293813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B  C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13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1   0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8258" name="Text Box 26"/>
          <p:cNvSpPr txBox="1"/>
          <p:nvPr/>
        </p:nvSpPr>
        <p:spPr>
          <a:xfrm>
            <a:off x="569913" y="3922713"/>
            <a:ext cx="86106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为了减少外部电路驱动该输入引脚的电流量，采用缓冲器。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/>
          </p:cNvSpPr>
          <p:nvPr>
            <p:ph type="title"/>
          </p:nvPr>
        </p:nvSpPr>
        <p:spPr>
          <a:xfrm>
            <a:off x="655638" y="814388"/>
            <a:ext cx="5410200" cy="457200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2"/>
            </a:pP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编程点的连结方法</a:t>
            </a:r>
          </a:p>
        </p:txBody>
      </p:sp>
      <p:sp>
        <p:nvSpPr>
          <p:cNvPr id="139267" name="Rectangle 92"/>
          <p:cNvSpPr>
            <a:spLocks noGrp="1"/>
          </p:cNvSpPr>
          <p:nvPr>
            <p:ph type="body"/>
          </p:nvPr>
        </p:nvSpPr>
        <p:spPr>
          <a:xfrm>
            <a:off x="687388" y="2605088"/>
            <a:ext cx="7772400" cy="809625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3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与门的表示</a:t>
            </a:r>
          </a:p>
        </p:txBody>
      </p:sp>
      <p:grpSp>
        <p:nvGrpSpPr>
          <p:cNvPr id="139268" name="Group 4"/>
          <p:cNvGrpSpPr/>
          <p:nvPr/>
        </p:nvGrpSpPr>
        <p:grpSpPr>
          <a:xfrm>
            <a:off x="2027238" y="1271588"/>
            <a:ext cx="5562600" cy="1025525"/>
            <a:chOff x="0" y="0"/>
            <a:chExt cx="8760" cy="1615"/>
          </a:xfrm>
        </p:grpSpPr>
        <p:sp>
          <p:nvSpPr>
            <p:cNvPr id="139299" name="Line 94"/>
            <p:cNvSpPr/>
            <p:nvPr/>
          </p:nvSpPr>
          <p:spPr>
            <a:xfrm>
              <a:off x="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0" name="Line 95"/>
            <p:cNvSpPr/>
            <p:nvPr/>
          </p:nvSpPr>
          <p:spPr>
            <a:xfrm>
              <a:off x="96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1" name="Oval 96"/>
            <p:cNvSpPr/>
            <p:nvPr/>
          </p:nvSpPr>
          <p:spPr>
            <a:xfrm>
              <a:off x="905" y="408"/>
              <a:ext cx="120" cy="9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302" name="Line 97"/>
            <p:cNvSpPr/>
            <p:nvPr/>
          </p:nvSpPr>
          <p:spPr>
            <a:xfrm>
              <a:off x="324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3" name="Line 98"/>
            <p:cNvSpPr/>
            <p:nvPr/>
          </p:nvSpPr>
          <p:spPr>
            <a:xfrm>
              <a:off x="420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4" name="Line 99"/>
            <p:cNvSpPr/>
            <p:nvPr/>
          </p:nvSpPr>
          <p:spPr>
            <a:xfrm>
              <a:off x="6360" y="450"/>
              <a:ext cx="192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5" name="Line 100"/>
            <p:cNvSpPr/>
            <p:nvPr/>
          </p:nvSpPr>
          <p:spPr>
            <a:xfrm>
              <a:off x="7320" y="0"/>
              <a:ext cx="0" cy="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306" name="Text Box 101"/>
            <p:cNvSpPr txBox="1"/>
            <p:nvPr/>
          </p:nvSpPr>
          <p:spPr>
            <a:xfrm>
              <a:off x="0" y="97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固定连接</a:t>
              </a:r>
            </a:p>
          </p:txBody>
        </p:sp>
        <p:sp>
          <p:nvSpPr>
            <p:cNvPr id="139307" name="Text Box 102"/>
            <p:cNvSpPr txBox="1"/>
            <p:nvPr/>
          </p:nvSpPr>
          <p:spPr>
            <a:xfrm>
              <a:off x="3240" y="99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编程连接</a:t>
              </a:r>
            </a:p>
          </p:txBody>
        </p:sp>
        <p:sp>
          <p:nvSpPr>
            <p:cNvPr id="139308" name="Text Box 103"/>
            <p:cNvSpPr txBox="1"/>
            <p:nvPr/>
          </p:nvSpPr>
          <p:spPr>
            <a:xfrm>
              <a:off x="6600" y="990"/>
              <a:ext cx="21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不连接</a:t>
              </a:r>
            </a:p>
          </p:txBody>
        </p:sp>
        <p:sp>
          <p:nvSpPr>
            <p:cNvPr id="139309" name="Text Box 104"/>
            <p:cNvSpPr txBox="1"/>
            <p:nvPr/>
          </p:nvSpPr>
          <p:spPr>
            <a:xfrm>
              <a:off x="3855" y="198"/>
              <a:ext cx="69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sym typeface="黑体" panose="02010609060101010101" pitchFamily="49" charset="-122"/>
                </a:rPr>
                <a:t>×</a:t>
              </a:r>
            </a:p>
          </p:txBody>
        </p:sp>
      </p:grpSp>
      <p:grpSp>
        <p:nvGrpSpPr>
          <p:cNvPr id="139269" name="Group 16"/>
          <p:cNvGrpSpPr/>
          <p:nvPr/>
        </p:nvGrpSpPr>
        <p:grpSpPr>
          <a:xfrm>
            <a:off x="1106488" y="3230563"/>
            <a:ext cx="6393180" cy="1285875"/>
            <a:chOff x="0" y="-115"/>
            <a:chExt cx="10068" cy="2025"/>
          </a:xfrm>
        </p:grpSpPr>
        <p:sp>
          <p:nvSpPr>
            <p:cNvPr id="139270" name="Line 106"/>
            <p:cNvSpPr/>
            <p:nvPr/>
          </p:nvSpPr>
          <p:spPr>
            <a:xfrm>
              <a:off x="497" y="669"/>
              <a:ext cx="6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1" name="Line 107"/>
            <p:cNvSpPr/>
            <p:nvPr/>
          </p:nvSpPr>
          <p:spPr>
            <a:xfrm>
              <a:off x="512" y="871"/>
              <a:ext cx="55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2" name="Line 108"/>
            <p:cNvSpPr/>
            <p:nvPr/>
          </p:nvSpPr>
          <p:spPr>
            <a:xfrm flipV="1">
              <a:off x="2150" y="511"/>
              <a:ext cx="760" cy="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3" name="Text Box 109"/>
            <p:cNvSpPr txBox="1"/>
            <p:nvPr/>
          </p:nvSpPr>
          <p:spPr>
            <a:xfrm>
              <a:off x="30" y="715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</a:p>
          </p:txBody>
        </p:sp>
        <p:sp>
          <p:nvSpPr>
            <p:cNvPr id="139274" name="Line 110"/>
            <p:cNvSpPr/>
            <p:nvPr/>
          </p:nvSpPr>
          <p:spPr>
            <a:xfrm>
              <a:off x="510" y="241"/>
              <a:ext cx="687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5" name="Line 111"/>
            <p:cNvSpPr/>
            <p:nvPr/>
          </p:nvSpPr>
          <p:spPr>
            <a:xfrm>
              <a:off x="510" y="453"/>
              <a:ext cx="67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76" name="Text Box 112"/>
            <p:cNvSpPr txBox="1"/>
            <p:nvPr/>
          </p:nvSpPr>
          <p:spPr>
            <a:xfrm>
              <a:off x="3" y="-115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139277" name="Text Box 113"/>
            <p:cNvSpPr txBox="1"/>
            <p:nvPr/>
          </p:nvSpPr>
          <p:spPr>
            <a:xfrm>
              <a:off x="30" y="16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139278" name="Text Box 114"/>
            <p:cNvSpPr txBox="1"/>
            <p:nvPr/>
          </p:nvSpPr>
          <p:spPr>
            <a:xfrm>
              <a:off x="0" y="453"/>
              <a:ext cx="463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139279" name="Text Box 115"/>
            <p:cNvSpPr txBox="1"/>
            <p:nvPr/>
          </p:nvSpPr>
          <p:spPr>
            <a:xfrm>
              <a:off x="2910" y="22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139280" name="AutoShape 116"/>
            <p:cNvSpPr/>
            <p:nvPr/>
          </p:nvSpPr>
          <p:spPr>
            <a:xfrm>
              <a:off x="1067" y="151"/>
              <a:ext cx="1105" cy="810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1" name="Line 117"/>
            <p:cNvSpPr/>
            <p:nvPr/>
          </p:nvSpPr>
          <p:spPr>
            <a:xfrm>
              <a:off x="5082" y="423"/>
              <a:ext cx="25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82" name="Line 118"/>
            <p:cNvSpPr/>
            <p:nvPr/>
          </p:nvSpPr>
          <p:spPr>
            <a:xfrm flipV="1">
              <a:off x="8750" y="401"/>
              <a:ext cx="76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83" name="Text Box 119"/>
            <p:cNvSpPr txBox="1"/>
            <p:nvPr/>
          </p:nvSpPr>
          <p:spPr>
            <a:xfrm>
              <a:off x="6685" y="785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</a:p>
          </p:txBody>
        </p:sp>
        <p:sp>
          <p:nvSpPr>
            <p:cNvPr id="139284" name="Text Box 120"/>
            <p:cNvSpPr txBox="1"/>
            <p:nvPr/>
          </p:nvSpPr>
          <p:spPr>
            <a:xfrm>
              <a:off x="5185" y="78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</a:p>
          </p:txBody>
        </p:sp>
        <p:sp>
          <p:nvSpPr>
            <p:cNvPr id="139285" name="Text Box 121"/>
            <p:cNvSpPr txBox="1"/>
            <p:nvPr/>
          </p:nvSpPr>
          <p:spPr>
            <a:xfrm>
              <a:off x="5738" y="783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</a:p>
          </p:txBody>
        </p:sp>
        <p:sp>
          <p:nvSpPr>
            <p:cNvPr id="139286" name="Text Box 122"/>
            <p:cNvSpPr txBox="1"/>
            <p:nvPr/>
          </p:nvSpPr>
          <p:spPr>
            <a:xfrm>
              <a:off x="6173" y="790"/>
              <a:ext cx="557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</a:p>
          </p:txBody>
        </p:sp>
        <p:sp>
          <p:nvSpPr>
            <p:cNvPr id="139287" name="Text Box 123"/>
            <p:cNvSpPr txBox="1"/>
            <p:nvPr/>
          </p:nvSpPr>
          <p:spPr>
            <a:xfrm>
              <a:off x="9510" y="113"/>
              <a:ext cx="558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F</a:t>
              </a:r>
            </a:p>
          </p:txBody>
        </p:sp>
        <p:sp>
          <p:nvSpPr>
            <p:cNvPr id="139288" name="AutoShape 124"/>
            <p:cNvSpPr/>
            <p:nvPr/>
          </p:nvSpPr>
          <p:spPr>
            <a:xfrm>
              <a:off x="7667" y="0"/>
              <a:ext cx="1105" cy="810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89" name="Line 125"/>
            <p:cNvSpPr/>
            <p:nvPr/>
          </p:nvSpPr>
          <p:spPr>
            <a:xfrm>
              <a:off x="550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0" name="Line 126"/>
            <p:cNvSpPr/>
            <p:nvPr/>
          </p:nvSpPr>
          <p:spPr>
            <a:xfrm>
              <a:off x="598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1" name="Line 127"/>
            <p:cNvSpPr/>
            <p:nvPr/>
          </p:nvSpPr>
          <p:spPr>
            <a:xfrm>
              <a:off x="646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2" name="Line 128"/>
            <p:cNvSpPr/>
            <p:nvPr/>
          </p:nvSpPr>
          <p:spPr>
            <a:xfrm>
              <a:off x="6947" y="63"/>
              <a:ext cx="0" cy="72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9293" name="Text Box 129"/>
            <p:cNvSpPr txBox="1"/>
            <p:nvPr/>
          </p:nvSpPr>
          <p:spPr>
            <a:xfrm>
              <a:off x="468" y="1170"/>
              <a:ext cx="27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分立元件</a:t>
              </a:r>
            </a:p>
          </p:txBody>
        </p:sp>
        <p:sp>
          <p:nvSpPr>
            <p:cNvPr id="139294" name="Text Box 130"/>
            <p:cNvSpPr txBox="1"/>
            <p:nvPr/>
          </p:nvSpPr>
          <p:spPr>
            <a:xfrm>
              <a:off x="7256" y="1285"/>
              <a:ext cx="2760" cy="62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PLD </a:t>
              </a:r>
              <a:r>
                <a:rPr lang="zh-CN" altLang="en-US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结构</a:t>
              </a:r>
            </a:p>
          </p:txBody>
        </p:sp>
        <p:sp>
          <p:nvSpPr>
            <p:cNvPr id="139295" name="Oval 131"/>
            <p:cNvSpPr/>
            <p:nvPr/>
          </p:nvSpPr>
          <p:spPr>
            <a:xfrm>
              <a:off x="5455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6" name="Oval 132"/>
            <p:cNvSpPr/>
            <p:nvPr/>
          </p:nvSpPr>
          <p:spPr>
            <a:xfrm>
              <a:off x="5935" y="380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7" name="Oval 133"/>
            <p:cNvSpPr/>
            <p:nvPr/>
          </p:nvSpPr>
          <p:spPr>
            <a:xfrm>
              <a:off x="6415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39298" name="Oval 134"/>
            <p:cNvSpPr/>
            <p:nvPr/>
          </p:nvSpPr>
          <p:spPr>
            <a:xfrm>
              <a:off x="6890" y="382"/>
              <a:ext cx="102" cy="77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Line 136"/>
          <p:cNvSpPr/>
          <p:nvPr/>
        </p:nvSpPr>
        <p:spPr>
          <a:xfrm flipV="1">
            <a:off x="2651125" y="2060575"/>
            <a:ext cx="482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291" name="Text Box 137"/>
          <p:cNvSpPr txBox="1"/>
          <p:nvPr/>
        </p:nvSpPr>
        <p:spPr>
          <a:xfrm>
            <a:off x="3128963" y="1798638"/>
            <a:ext cx="354012" cy="6667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</a:t>
            </a:r>
          </a:p>
        </p:txBody>
      </p:sp>
      <p:sp>
        <p:nvSpPr>
          <p:cNvPr id="140292" name="Text Box 138"/>
          <p:cNvSpPr txBox="1"/>
          <p:nvPr/>
        </p:nvSpPr>
        <p:spPr>
          <a:xfrm>
            <a:off x="7091363" y="1703388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</a:p>
        </p:txBody>
      </p:sp>
      <p:sp>
        <p:nvSpPr>
          <p:cNvPr id="140293" name="Text Box 139"/>
          <p:cNvSpPr txBox="1"/>
          <p:nvPr/>
        </p:nvSpPr>
        <p:spPr>
          <a:xfrm>
            <a:off x="1223963" y="2751138"/>
            <a:ext cx="1752600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分立元件</a:t>
            </a:r>
          </a:p>
        </p:txBody>
      </p:sp>
      <p:sp>
        <p:nvSpPr>
          <p:cNvPr id="140294" name="Text Box 140"/>
          <p:cNvSpPr txBox="1"/>
          <p:nvPr/>
        </p:nvSpPr>
        <p:spPr>
          <a:xfrm>
            <a:off x="5840413" y="2770188"/>
            <a:ext cx="1752600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结构</a:t>
            </a:r>
          </a:p>
        </p:txBody>
      </p:sp>
      <p:sp>
        <p:nvSpPr>
          <p:cNvPr id="140295" name="Line 141"/>
          <p:cNvSpPr/>
          <p:nvPr/>
        </p:nvSpPr>
        <p:spPr>
          <a:xfrm flipV="1">
            <a:off x="6557963" y="1987550"/>
            <a:ext cx="482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0296" name="Object 142"/>
          <p:cNvGraphicFramePr>
            <a:graphicFrameLocks noChangeAspect="1"/>
          </p:cNvGraphicFramePr>
          <p:nvPr/>
        </p:nvGraphicFramePr>
        <p:xfrm>
          <a:off x="1985963" y="1585913"/>
          <a:ext cx="685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5800" imgH="762000" progId="PBrush">
                  <p:embed/>
                </p:oleObj>
              </mc:Choice>
              <mc:Fallback>
                <p:oleObj r:id="rId2" imgW="685800" imgH="762000" progId="PBrush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85963" y="1585913"/>
                        <a:ext cx="685800" cy="95250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297" name="Text Box 143"/>
          <p:cNvSpPr txBox="1"/>
          <p:nvPr/>
        </p:nvSpPr>
        <p:spPr>
          <a:xfrm>
            <a:off x="1147763" y="2274888"/>
            <a:ext cx="354012" cy="6667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</a:p>
        </p:txBody>
      </p:sp>
      <p:sp>
        <p:nvSpPr>
          <p:cNvPr id="140298" name="Line 144"/>
          <p:cNvSpPr/>
          <p:nvPr/>
        </p:nvSpPr>
        <p:spPr>
          <a:xfrm>
            <a:off x="1571625" y="1751013"/>
            <a:ext cx="547688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299" name="Line 145"/>
          <p:cNvSpPr/>
          <p:nvPr/>
        </p:nvSpPr>
        <p:spPr>
          <a:xfrm flipV="1">
            <a:off x="1577975" y="1965325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0" name="Text Box 146"/>
          <p:cNvSpPr txBox="1"/>
          <p:nvPr/>
        </p:nvSpPr>
        <p:spPr>
          <a:xfrm>
            <a:off x="1174750" y="1465263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</a:p>
        </p:txBody>
      </p:sp>
      <p:sp>
        <p:nvSpPr>
          <p:cNvPr id="140301" name="Text Box 147"/>
          <p:cNvSpPr txBox="1"/>
          <p:nvPr/>
        </p:nvSpPr>
        <p:spPr>
          <a:xfrm>
            <a:off x="1174750" y="1739900"/>
            <a:ext cx="354013" cy="665163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140302" name="Text Box 148"/>
          <p:cNvSpPr txBox="1"/>
          <p:nvPr/>
        </p:nvSpPr>
        <p:spPr>
          <a:xfrm>
            <a:off x="1147763" y="2012950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</a:p>
        </p:txBody>
      </p:sp>
      <p:sp>
        <p:nvSpPr>
          <p:cNvPr id="140303" name="Line 149"/>
          <p:cNvSpPr/>
          <p:nvPr/>
        </p:nvSpPr>
        <p:spPr>
          <a:xfrm flipV="1">
            <a:off x="1577975" y="2203450"/>
            <a:ext cx="6096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04" name="Line 150"/>
          <p:cNvSpPr/>
          <p:nvPr/>
        </p:nvSpPr>
        <p:spPr>
          <a:xfrm>
            <a:off x="1589088" y="2417763"/>
            <a:ext cx="511175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40305" name="Object 151"/>
          <p:cNvGraphicFramePr>
            <a:graphicFrameLocks noChangeAspect="1"/>
          </p:cNvGraphicFramePr>
          <p:nvPr/>
        </p:nvGraphicFramePr>
        <p:xfrm>
          <a:off x="5872163" y="1533525"/>
          <a:ext cx="685800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85800" imgH="762000" progId="PBrush">
                  <p:embed/>
                </p:oleObj>
              </mc:Choice>
              <mc:Fallback>
                <p:oleObj r:id="rId4" imgW="685800" imgH="762000" progId="PBrush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72163" y="1533525"/>
                        <a:ext cx="685800" cy="950913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0306" name="Text Box 152"/>
          <p:cNvSpPr txBox="1"/>
          <p:nvPr/>
        </p:nvSpPr>
        <p:spPr>
          <a:xfrm>
            <a:off x="541020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</a:p>
        </p:txBody>
      </p:sp>
      <p:sp>
        <p:nvSpPr>
          <p:cNvPr id="140307" name="Text Box 153"/>
          <p:cNvSpPr txBox="1"/>
          <p:nvPr/>
        </p:nvSpPr>
        <p:spPr>
          <a:xfrm>
            <a:off x="4503738" y="2465388"/>
            <a:ext cx="354012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</a:p>
        </p:txBody>
      </p:sp>
      <p:sp>
        <p:nvSpPr>
          <p:cNvPr id="140308" name="Text Box 154"/>
          <p:cNvSpPr txBox="1"/>
          <p:nvPr/>
        </p:nvSpPr>
        <p:spPr>
          <a:xfrm>
            <a:off x="483235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</a:p>
        </p:txBody>
      </p:sp>
      <p:sp>
        <p:nvSpPr>
          <p:cNvPr id="140309" name="Text Box 155"/>
          <p:cNvSpPr txBox="1"/>
          <p:nvPr/>
        </p:nvSpPr>
        <p:spPr>
          <a:xfrm>
            <a:off x="5137150" y="2465388"/>
            <a:ext cx="354013" cy="400050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</a:p>
        </p:txBody>
      </p:sp>
      <p:sp>
        <p:nvSpPr>
          <p:cNvPr id="140310" name="Line 156"/>
          <p:cNvSpPr/>
          <p:nvPr/>
        </p:nvSpPr>
        <p:spPr>
          <a:xfrm flipV="1">
            <a:off x="4424363" y="2008188"/>
            <a:ext cx="1655762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1" name="Line 157"/>
          <p:cNvSpPr/>
          <p:nvPr/>
        </p:nvSpPr>
        <p:spPr>
          <a:xfrm>
            <a:off x="4697413" y="1598613"/>
            <a:ext cx="0" cy="855662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2" name="Line 158"/>
          <p:cNvSpPr/>
          <p:nvPr/>
        </p:nvSpPr>
        <p:spPr>
          <a:xfrm>
            <a:off x="50022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3" name="Line 159"/>
          <p:cNvSpPr/>
          <p:nvPr/>
        </p:nvSpPr>
        <p:spPr>
          <a:xfrm>
            <a:off x="53070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4" name="Line 160"/>
          <p:cNvSpPr/>
          <p:nvPr/>
        </p:nvSpPr>
        <p:spPr>
          <a:xfrm>
            <a:off x="5611813" y="1628775"/>
            <a:ext cx="0" cy="855663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0315" name="Oval 161"/>
          <p:cNvSpPr/>
          <p:nvPr/>
        </p:nvSpPr>
        <p:spPr>
          <a:xfrm>
            <a:off x="4672648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6" name="Oval 162"/>
          <p:cNvSpPr/>
          <p:nvPr/>
        </p:nvSpPr>
        <p:spPr>
          <a:xfrm>
            <a:off x="4970463" y="1965325"/>
            <a:ext cx="65087" cy="80963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7" name="Oval 163"/>
          <p:cNvSpPr/>
          <p:nvPr/>
        </p:nvSpPr>
        <p:spPr>
          <a:xfrm>
            <a:off x="5275263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8" name="Oval 164"/>
          <p:cNvSpPr/>
          <p:nvPr/>
        </p:nvSpPr>
        <p:spPr>
          <a:xfrm>
            <a:off x="5583873" y="1966913"/>
            <a:ext cx="65087" cy="80962"/>
          </a:xfrm>
          <a:prstGeom prst="ellipse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eaLnBrk="1" hangingPunct="1"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0319" name="Rectangle 165"/>
          <p:cNvSpPr/>
          <p:nvPr/>
        </p:nvSpPr>
        <p:spPr>
          <a:xfrm>
            <a:off x="767080" y="1046480"/>
            <a:ext cx="7772400" cy="500380"/>
          </a:xfrm>
          <a:prstGeom prst="rect">
            <a:avLst/>
          </a:prstGeom>
          <a:noFill/>
          <a:ln w="28575">
            <a:noFill/>
          </a:ln>
        </p:spPr>
        <p:txBody>
          <a:bodyPr/>
          <a:lstStyle/>
          <a:p>
            <a:pPr marL="514350" indent="-514350" eaLnBrk="1" hangingPunct="1">
              <a:spcBef>
                <a:spcPct val="20000"/>
              </a:spcBef>
              <a:buFont typeface="宋体" panose="02010600030101010101" pitchFamily="2" charset="-122"/>
              <a:buAutoNum type="circleNumDbPlain" startAt="4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或门的表示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/>
          </p:cNvSpPr>
          <p:nvPr>
            <p:ph type="title"/>
          </p:nvPr>
        </p:nvSpPr>
        <p:spPr>
          <a:xfrm>
            <a:off x="470535" y="530543"/>
            <a:ext cx="42672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514350" indent="-514350" eaLnBrk="1" hangingPunct="1">
              <a:buFont typeface="宋体" panose="02010600030101010101" pitchFamily="2" charset="-122"/>
              <a:buAutoNum type="circleNumDbPlain" startAt="5"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与门的缺省状态</a:t>
            </a:r>
          </a:p>
        </p:txBody>
      </p:sp>
      <p:sp>
        <p:nvSpPr>
          <p:cNvPr id="141315" name="Rectangle 3"/>
          <p:cNvSpPr>
            <a:spLocks noGrp="1"/>
          </p:cNvSpPr>
          <p:nvPr>
            <p:ph type="body"/>
          </p:nvPr>
        </p:nvSpPr>
        <p:spPr>
          <a:xfrm>
            <a:off x="250825" y="915988"/>
            <a:ext cx="8639175" cy="1223962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一个输入缓冲器的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互补输出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同时接到某一个单独乘积项时，该乘积项的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输出总为０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。如图中Ｄ。这种状态称为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与门的缺省状态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。可用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乘积项Ｅ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的记符号表示。</a:t>
            </a:r>
          </a:p>
        </p:txBody>
      </p:sp>
      <p:grpSp>
        <p:nvGrpSpPr>
          <p:cNvPr id="141316" name="Group 75"/>
          <p:cNvGrpSpPr/>
          <p:nvPr/>
        </p:nvGrpSpPr>
        <p:grpSpPr>
          <a:xfrm>
            <a:off x="400050" y="2286000"/>
            <a:ext cx="3651250" cy="2571750"/>
            <a:chOff x="0" y="0"/>
            <a:chExt cx="2300" cy="2160"/>
          </a:xfrm>
        </p:grpSpPr>
        <p:sp>
          <p:nvSpPr>
            <p:cNvPr id="141337" name="AutoShape 76"/>
            <p:cNvSpPr/>
            <p:nvPr/>
          </p:nvSpPr>
          <p:spPr>
            <a:xfrm>
              <a:off x="288" y="426"/>
              <a:ext cx="336" cy="288"/>
            </a:xfrm>
            <a:prstGeom prst="flowChartMerg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38" name="Oval 77"/>
            <p:cNvSpPr/>
            <p:nvPr/>
          </p:nvSpPr>
          <p:spPr>
            <a:xfrm>
              <a:off x="539" y="54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39" name="Line 78"/>
            <p:cNvSpPr/>
            <p:nvPr/>
          </p:nvSpPr>
          <p:spPr>
            <a:xfrm>
              <a:off x="369" y="559"/>
              <a:ext cx="0" cy="160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0" name="Line 79"/>
            <p:cNvSpPr/>
            <p:nvPr/>
          </p:nvSpPr>
          <p:spPr>
            <a:xfrm>
              <a:off x="587" y="612"/>
              <a:ext cx="0" cy="15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1" name="Text Box 80"/>
            <p:cNvSpPr txBox="1"/>
            <p:nvPr/>
          </p:nvSpPr>
          <p:spPr>
            <a:xfrm>
              <a:off x="454" y="0"/>
              <a:ext cx="288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Ａ</a:t>
              </a:r>
            </a:p>
          </p:txBody>
        </p:sp>
        <p:sp>
          <p:nvSpPr>
            <p:cNvPr id="141342" name="Line 81"/>
            <p:cNvSpPr/>
            <p:nvPr/>
          </p:nvSpPr>
          <p:spPr>
            <a:xfrm>
              <a:off x="458" y="9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3" name="AutoShape 82"/>
            <p:cNvSpPr/>
            <p:nvPr/>
          </p:nvSpPr>
          <p:spPr>
            <a:xfrm>
              <a:off x="912" y="426"/>
              <a:ext cx="336" cy="288"/>
            </a:xfrm>
            <a:prstGeom prst="flowChartMerge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4" name="Oval 83"/>
            <p:cNvSpPr/>
            <p:nvPr/>
          </p:nvSpPr>
          <p:spPr>
            <a:xfrm>
              <a:off x="1163" y="544"/>
              <a:ext cx="73" cy="73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45" name="Line 84"/>
            <p:cNvSpPr/>
            <p:nvPr/>
          </p:nvSpPr>
          <p:spPr>
            <a:xfrm>
              <a:off x="993" y="559"/>
              <a:ext cx="0" cy="160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6" name="Line 85"/>
            <p:cNvSpPr/>
            <p:nvPr/>
          </p:nvSpPr>
          <p:spPr>
            <a:xfrm>
              <a:off x="1211" y="612"/>
              <a:ext cx="0" cy="153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7" name="Text Box 86"/>
            <p:cNvSpPr txBox="1"/>
            <p:nvPr/>
          </p:nvSpPr>
          <p:spPr>
            <a:xfrm>
              <a:off x="1078" y="0"/>
              <a:ext cx="288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Ｂ</a:t>
              </a:r>
            </a:p>
          </p:txBody>
        </p:sp>
        <p:sp>
          <p:nvSpPr>
            <p:cNvPr id="141348" name="Line 87"/>
            <p:cNvSpPr/>
            <p:nvPr/>
          </p:nvSpPr>
          <p:spPr>
            <a:xfrm>
              <a:off x="1082" y="90"/>
              <a:ext cx="0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49" name="Line 88"/>
            <p:cNvSpPr/>
            <p:nvPr/>
          </p:nvSpPr>
          <p:spPr>
            <a:xfrm>
              <a:off x="0" y="1013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0" name="Line 89"/>
            <p:cNvSpPr/>
            <p:nvPr/>
          </p:nvSpPr>
          <p:spPr>
            <a:xfrm flipV="1">
              <a:off x="1926" y="1013"/>
              <a:ext cx="304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1" name="Text Box 90"/>
            <p:cNvSpPr txBox="1"/>
            <p:nvPr/>
          </p:nvSpPr>
          <p:spPr>
            <a:xfrm>
              <a:off x="2007" y="724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Ｄ</a:t>
              </a:r>
            </a:p>
          </p:txBody>
        </p:sp>
        <p:sp>
          <p:nvSpPr>
            <p:cNvPr id="141352" name="AutoShape 91"/>
            <p:cNvSpPr>
              <a:spLocks noChangeAspect="1"/>
            </p:cNvSpPr>
            <p:nvPr/>
          </p:nvSpPr>
          <p:spPr>
            <a:xfrm>
              <a:off x="1601" y="858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3" name="Line 92"/>
            <p:cNvSpPr/>
            <p:nvPr/>
          </p:nvSpPr>
          <p:spPr>
            <a:xfrm>
              <a:off x="0" y="1455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4" name="Line 93"/>
            <p:cNvSpPr/>
            <p:nvPr/>
          </p:nvSpPr>
          <p:spPr>
            <a:xfrm flipV="1">
              <a:off x="1926" y="1455"/>
              <a:ext cx="304" cy="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5" name="Text Box 94"/>
            <p:cNvSpPr txBox="1"/>
            <p:nvPr/>
          </p:nvSpPr>
          <p:spPr>
            <a:xfrm>
              <a:off x="2007" y="1180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Ｅ</a:t>
              </a:r>
            </a:p>
          </p:txBody>
        </p:sp>
        <p:sp>
          <p:nvSpPr>
            <p:cNvPr id="141356" name="AutoShape 95"/>
            <p:cNvSpPr>
              <a:spLocks noChangeAspect="1"/>
            </p:cNvSpPr>
            <p:nvPr/>
          </p:nvSpPr>
          <p:spPr>
            <a:xfrm>
              <a:off x="1601" y="1300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57" name="Line 96"/>
            <p:cNvSpPr/>
            <p:nvPr/>
          </p:nvSpPr>
          <p:spPr>
            <a:xfrm>
              <a:off x="0" y="1887"/>
              <a:ext cx="160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8" name="Line 97"/>
            <p:cNvSpPr/>
            <p:nvPr/>
          </p:nvSpPr>
          <p:spPr>
            <a:xfrm flipV="1">
              <a:off x="1926" y="1887"/>
              <a:ext cx="30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59" name="Text Box 98"/>
            <p:cNvSpPr txBox="1"/>
            <p:nvPr/>
          </p:nvSpPr>
          <p:spPr>
            <a:xfrm>
              <a:off x="2007" y="1622"/>
              <a:ext cx="293" cy="33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b="1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Ｆ</a:t>
              </a:r>
            </a:p>
          </p:txBody>
        </p:sp>
        <p:sp>
          <p:nvSpPr>
            <p:cNvPr id="141360" name="AutoShape 99"/>
            <p:cNvSpPr>
              <a:spLocks noChangeAspect="1"/>
            </p:cNvSpPr>
            <p:nvPr/>
          </p:nvSpPr>
          <p:spPr>
            <a:xfrm>
              <a:off x="1601" y="1732"/>
              <a:ext cx="329" cy="322"/>
            </a:xfrm>
            <a:prstGeom prst="flowChartDelay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41361" name="Line 100"/>
            <p:cNvSpPr/>
            <p:nvPr/>
          </p:nvSpPr>
          <p:spPr>
            <a:xfrm>
              <a:off x="1691" y="1386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2" name="Line 101"/>
            <p:cNvSpPr/>
            <p:nvPr/>
          </p:nvSpPr>
          <p:spPr>
            <a:xfrm rot="5400000">
              <a:off x="1680" y="1386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3" name="Line 102"/>
            <p:cNvSpPr/>
            <p:nvPr/>
          </p:nvSpPr>
          <p:spPr>
            <a:xfrm>
              <a:off x="299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4" name="Line 103"/>
            <p:cNvSpPr/>
            <p:nvPr/>
          </p:nvSpPr>
          <p:spPr>
            <a:xfrm rot="5400000">
              <a:off x="288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5" name="Line 104"/>
            <p:cNvSpPr/>
            <p:nvPr/>
          </p:nvSpPr>
          <p:spPr>
            <a:xfrm>
              <a:off x="513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6" name="Line 105"/>
            <p:cNvSpPr/>
            <p:nvPr/>
          </p:nvSpPr>
          <p:spPr>
            <a:xfrm rot="5400000">
              <a:off x="502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7" name="Line 106"/>
            <p:cNvSpPr/>
            <p:nvPr/>
          </p:nvSpPr>
          <p:spPr>
            <a:xfrm>
              <a:off x="923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8" name="Line 107"/>
            <p:cNvSpPr/>
            <p:nvPr/>
          </p:nvSpPr>
          <p:spPr>
            <a:xfrm rot="5400000">
              <a:off x="912" y="954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69" name="Line 108"/>
            <p:cNvSpPr/>
            <p:nvPr/>
          </p:nvSpPr>
          <p:spPr>
            <a:xfrm>
              <a:off x="1152" y="943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370" name="Line 109"/>
            <p:cNvSpPr/>
            <p:nvPr/>
          </p:nvSpPr>
          <p:spPr>
            <a:xfrm rot="5400000">
              <a:off x="1141" y="943"/>
              <a:ext cx="144" cy="14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28711" name="Group 39"/>
          <p:cNvGraphicFramePr>
            <a:graphicFrameLocks noGrp="1"/>
          </p:cNvGraphicFramePr>
          <p:nvPr/>
        </p:nvGraphicFramePr>
        <p:xfrm>
          <a:off x="4306888" y="2457450"/>
          <a:ext cx="2787650" cy="2095500"/>
        </p:xfrm>
        <a:graphic>
          <a:graphicData uri="http://schemas.openxmlformats.org/drawingml/2006/table">
            <a:tbl>
              <a:tblPr/>
              <a:tblGrid>
                <a:gridCol w="982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   B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    E    F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0   0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1   0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1   1</a:t>
                      </a:r>
                    </a:p>
                  </a:txBody>
                  <a:tcPr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defTabSz="685800" eaLnBrk="0" hangingPunct="0">
                        <a:lnSpc>
                          <a:spcPct val="90000"/>
                        </a:lnSpc>
                        <a:spcBef>
                          <a:spcPts val="750"/>
                        </a:spcBef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40005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4572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5715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685800" defTabSz="685800" eaLnBrk="0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685800" defTabSz="6858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0    0    1</a:t>
                      </a:r>
                    </a:p>
                  </a:txBody>
                  <a:tcPr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/>
          </p:cNvSpPr>
          <p:nvPr>
            <p:ph type="title"/>
          </p:nvPr>
        </p:nvSpPr>
        <p:spPr>
          <a:xfrm>
            <a:off x="174625" y="515938"/>
            <a:ext cx="568325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基于</a:t>
            </a:r>
            <a:r>
              <a:rPr lang="en-US" altLang="zh-CN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 </a:t>
            </a:r>
            <a:r>
              <a:rPr lang="zh-CN" altLang="en-US" sz="20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的逻辑电路设计过程及主要优点</a:t>
            </a:r>
          </a:p>
        </p:txBody>
      </p:sp>
      <p:sp>
        <p:nvSpPr>
          <p:cNvPr id="142339" name="Rectangle 3"/>
          <p:cNvSpPr>
            <a:spLocks noGrp="1"/>
          </p:cNvSpPr>
          <p:nvPr>
            <p:ph type="body"/>
          </p:nvPr>
        </p:nvSpPr>
        <p:spPr>
          <a:xfrm>
            <a:off x="325755" y="844550"/>
            <a:ext cx="8701405" cy="418655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）基于</a:t>
            </a:r>
            <a:r>
              <a:rPr lang="en-US" altLang="zh-CN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的逻辑电路设计过程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所需设备：两大类</a:t>
            </a:r>
            <a:r>
              <a:rPr lang="en-US" altLang="zh-CN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—EDA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（电脑），专用 设备（编程器，今天具有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ISP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功能的器件不需要编程器）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设计过程分三个阶段：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设计输入：图形、逻辑表达式、状态图、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HDL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设计实现：把经过仿真的设计输入编译成编程文件，将该编程文件写入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</a:p>
          <a:p>
            <a:pPr marL="323850" indent="-323850" algn="l" eaLnBrk="1" hangingPunct="1">
              <a:lnSpc>
                <a:spcPct val="130000"/>
              </a:lnSpc>
              <a:buClrTx/>
              <a:buSz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过程。理解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P150</a:t>
            </a: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图</a:t>
            </a:r>
            <a:r>
              <a:rPr lang="en-US" altLang="zh-CN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4.6.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该图中把整个过程分为：设计输入、生成、实现和</a:t>
            </a:r>
          </a:p>
          <a:p>
            <a:pPr marL="323850" indent="-323850" algn="l" eaLnBrk="1" hangingPunct="1">
              <a:lnSpc>
                <a:spcPct val="130000"/>
              </a:lnSpc>
              <a:buClrTx/>
              <a:buSzTx/>
              <a:buNone/>
            </a:pP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下载验证四个阶段</a:t>
            </a:r>
            <a:endParaRPr lang="zh-CN" altLang="en-US" sz="1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 startAt="3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　设计验证：仿真（有时把这一步归于设计实现部分）、在板实测。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en-US" altLang="zh-CN" sz="16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PLD</a:t>
            </a:r>
            <a:r>
              <a:rPr lang="zh-CN" altLang="en-US" sz="16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的主要优点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简化系统设计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（满足各种使用要求，最有效地利用芯片，减少芯片数量；能快速进行设计。）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功能集成度高</a:t>
            </a:r>
            <a:r>
              <a:rPr lang="zh-CN" altLang="en-US" sz="16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（高于中小规模集成电路，且具有更高的利用率。）</a:t>
            </a:r>
          </a:p>
          <a:p>
            <a:pPr marL="323850" indent="-323850" eaLnBrk="1" hangingPunct="1">
              <a:lnSpc>
                <a:spcPct val="130000"/>
              </a:lnSpc>
              <a:spcBef>
                <a:spcPct val="0"/>
              </a:spcBef>
              <a:buFont typeface="Arial" panose="020B0604020202020204" pitchFamily="34" charset="0"/>
              <a:buAutoNum type="circleNumDbPlain"/>
            </a:pPr>
            <a:r>
              <a:rPr lang="zh-CN" altLang="en-US" sz="1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可靠性高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2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2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2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42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42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42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945035e5-7431-4418-bc72-f43fe9e286ec"/>
  <p:tag name="COMMONDATA" val="eyJoZGlkIjoiYWM1OWY0MGVhYmU5NTRkZGZlMzJmNTI0MzdiODI0MjcifQ=="/>
</p:tagLst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3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自定义设计方案">
  <a:themeElements>
    <a:clrScheme name="4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自定义设计方案">
  <a:themeElements>
    <a:clrScheme name="5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自定义设计方案">
  <a:themeElements>
    <a:clrScheme name="6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自定义设计方案">
  <a:themeElements>
    <a:clrScheme name="7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自定义设计方案">
  <a:themeElements>
    <a:clrScheme name="8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自定义设计方案">
  <a:themeElements>
    <a:clrScheme name="9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自定义设计方案">
  <a:themeElements>
    <a:clrScheme name="10_自定义设计方案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自定义设计方案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20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自定义设计方案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1289</Words>
  <Application>Microsoft Office PowerPoint</Application>
  <PresentationFormat>全屏显示(16:9)</PresentationFormat>
  <Paragraphs>165</Paragraphs>
  <Slides>17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9" baseType="lpstr">
      <vt:lpstr>方正综艺简体</vt:lpstr>
      <vt:lpstr>黑体</vt:lpstr>
      <vt:lpstr>华文楷体</vt:lpstr>
      <vt:lpstr>华文新魏</vt:lpstr>
      <vt:lpstr>宋体</vt:lpstr>
      <vt:lpstr>微软雅黑</vt:lpstr>
      <vt:lpstr>Arial</vt:lpstr>
      <vt:lpstr>Calibri</vt:lpstr>
      <vt:lpstr>Calibri Light</vt:lpstr>
      <vt:lpstr>Times New Roman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7_自定义设计方案</vt:lpstr>
      <vt:lpstr>8_自定义设计方案</vt:lpstr>
      <vt:lpstr>9_自定义设计方案</vt:lpstr>
      <vt:lpstr>10_自定义设计方案</vt:lpstr>
      <vt:lpstr>PBrush</vt:lpstr>
      <vt:lpstr>数 字 逻 辑 电 路</vt:lpstr>
      <vt:lpstr>第四章   可编程逻辑器件</vt:lpstr>
      <vt:lpstr>PowerPoint 演示文稿</vt:lpstr>
      <vt:lpstr>4.1、可编程逻辑概述</vt:lpstr>
      <vt:lpstr>PowerPoint 演示文稿</vt:lpstr>
      <vt:lpstr>PowerPoint 演示文稿</vt:lpstr>
      <vt:lpstr> 2）PLD的一般分类方法（主要还是针对早期产品及制造工艺分）</vt:lpstr>
      <vt:lpstr>2）  PLD的分类（按器件内部可编程资源（内容）分类）</vt:lpstr>
      <vt:lpstr>2.  PLD 的编程工艺和表示方法</vt:lpstr>
      <vt:lpstr>2.  PLD 的编程工艺和表示方法</vt:lpstr>
      <vt:lpstr>PowerPoint 演示文稿</vt:lpstr>
      <vt:lpstr>2.  PLD 的编程工艺和表示方法</vt:lpstr>
      <vt:lpstr>PowerPoint 演示文稿</vt:lpstr>
      <vt:lpstr> PLD 编程点的连结方法</vt:lpstr>
      <vt:lpstr>PowerPoint 演示文稿</vt:lpstr>
      <vt:lpstr>与门的缺省状态</vt:lpstr>
      <vt:lpstr>3.  基于PLD 的逻辑电路设计过程及主要优点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松 刘</cp:lastModifiedBy>
  <cp:revision>260</cp:revision>
  <dcterms:created xsi:type="dcterms:W3CDTF">2002-09-09T07:46:00Z</dcterms:created>
  <dcterms:modified xsi:type="dcterms:W3CDTF">2025-09-09T08:13:17Z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533AA104574A4EA08C0E42B1794DBA6F_13</vt:lpwstr>
  </property>
</Properties>
</file>