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83" r:id="rId4"/>
    <p:sldId id="257" r:id="rId6"/>
    <p:sldId id="258" r:id="rId7"/>
    <p:sldId id="259" r:id="rId8"/>
    <p:sldId id="264" r:id="rId9"/>
    <p:sldId id="275" r:id="rId10"/>
    <p:sldId id="276" r:id="rId11"/>
    <p:sldId id="277" r:id="rId12"/>
    <p:sldId id="278" r:id="rId13"/>
    <p:sldId id="279" r:id="rId14"/>
    <p:sldId id="274" r:id="rId15"/>
    <p:sldId id="284" r:id="rId16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-127304" y="5"/>
            <a:ext cx="12428722" cy="2108195"/>
            <a:chOff x="-127311" y="5"/>
            <a:chExt cx="12429370" cy="2108195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 rot="4971377">
              <a:off x="5633770" y="-4560088"/>
              <a:ext cx="907207" cy="12429370"/>
            </a:xfrm>
            <a:custGeom>
              <a:avLst/>
              <a:gdLst>
                <a:gd name="connsiteX0" fmla="*/ 0 w 1132861"/>
                <a:gd name="connsiteY0" fmla="*/ 0 h 12429370"/>
                <a:gd name="connsiteX1" fmla="*/ 421422 w 1132861"/>
                <a:gd name="connsiteY1" fmla="*/ 52817 h 12429370"/>
                <a:gd name="connsiteX2" fmla="*/ 1132861 w 1132861"/>
                <a:gd name="connsiteY2" fmla="*/ 12429370 h 12429370"/>
                <a:gd name="connsiteX3" fmla="*/ 0 w 1132861"/>
                <a:gd name="connsiteY3" fmla="*/ 12287388 h 1242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61" h="12429370">
                  <a:moveTo>
                    <a:pt x="0" y="0"/>
                  </a:moveTo>
                  <a:lnTo>
                    <a:pt x="421422" y="52817"/>
                  </a:lnTo>
                  <a:lnTo>
                    <a:pt x="1132861" y="12429370"/>
                  </a:lnTo>
                  <a:lnTo>
                    <a:pt x="0" y="1228738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>
              <p:custDataLst>
                <p:tags r:id="rId4"/>
              </p:custDataLst>
            </p:nvPr>
          </p:nvSpPr>
          <p:spPr>
            <a:xfrm rot="5400000">
              <a:off x="5215200" y="-5215203"/>
              <a:ext cx="1761592" cy="12192007"/>
            </a:xfrm>
            <a:custGeom>
              <a:avLst/>
              <a:gdLst>
                <a:gd name="connsiteX0" fmla="*/ 0 w 1930397"/>
                <a:gd name="connsiteY0" fmla="*/ 12192007 h 12192007"/>
                <a:gd name="connsiteX1" fmla="*/ 0 w 1930397"/>
                <a:gd name="connsiteY1" fmla="*/ 0 h 12192007"/>
                <a:gd name="connsiteX2" fmla="*/ 758239 w 1930397"/>
                <a:gd name="connsiteY2" fmla="*/ 0 h 12192007"/>
                <a:gd name="connsiteX3" fmla="*/ 1930397 w 1930397"/>
                <a:gd name="connsiteY3" fmla="*/ 12192007 h 1219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0397" h="12192007">
                  <a:moveTo>
                    <a:pt x="0" y="12192007"/>
                  </a:moveTo>
                  <a:lnTo>
                    <a:pt x="0" y="0"/>
                  </a:lnTo>
                  <a:lnTo>
                    <a:pt x="758239" y="0"/>
                  </a:lnTo>
                  <a:lnTo>
                    <a:pt x="1930397" y="121920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>
              <p:custDataLst>
                <p:tags r:id="rId5"/>
              </p:custDataLst>
            </p:nvPr>
          </p:nvSpPr>
          <p:spPr>
            <a:xfrm rot="5107084">
              <a:off x="4552342" y="-3275210"/>
              <a:ext cx="536239" cy="9742831"/>
            </a:xfrm>
            <a:custGeom>
              <a:avLst/>
              <a:gdLst>
                <a:gd name="connsiteX0" fmla="*/ 0 w 587624"/>
                <a:gd name="connsiteY0" fmla="*/ 0 h 9742831"/>
                <a:gd name="connsiteX1" fmla="*/ 587624 w 587624"/>
                <a:gd name="connsiteY1" fmla="*/ 9742831 h 9742831"/>
                <a:gd name="connsiteX2" fmla="*/ 0 w 587624"/>
                <a:gd name="connsiteY2" fmla="*/ 9685968 h 974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7624" h="9742831">
                  <a:moveTo>
                    <a:pt x="0" y="0"/>
                  </a:moveTo>
                  <a:lnTo>
                    <a:pt x="587624" y="9742831"/>
                  </a:lnTo>
                  <a:lnTo>
                    <a:pt x="0" y="968596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15897560">
              <a:off x="9001004" y="-1390393"/>
              <a:ext cx="846410" cy="5663579"/>
            </a:xfrm>
            <a:custGeom>
              <a:avLst/>
              <a:gdLst>
                <a:gd name="connsiteX0" fmla="*/ 927517 w 927517"/>
                <a:gd name="connsiteY0" fmla="*/ 5663579 h 5663579"/>
                <a:gd name="connsiteX1" fmla="*/ 0 w 927517"/>
                <a:gd name="connsiteY1" fmla="*/ 5577535 h 5663579"/>
                <a:gd name="connsiteX2" fmla="*/ 419317 w 927517"/>
                <a:gd name="connsiteY2" fmla="*/ 0 h 566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7517" h="5663579">
                  <a:moveTo>
                    <a:pt x="927517" y="5663579"/>
                  </a:moveTo>
                  <a:lnTo>
                    <a:pt x="0" y="5577535"/>
                  </a:lnTo>
                  <a:lnTo>
                    <a:pt x="419317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等腰三角形 11"/>
          <p:cNvSpPr/>
          <p:nvPr userDrawn="1">
            <p:custDataLst>
              <p:tags r:id="rId7"/>
            </p:custDataLst>
          </p:nvPr>
        </p:nvSpPr>
        <p:spPr>
          <a:xfrm rot="16200000">
            <a:off x="7825704" y="2492335"/>
            <a:ext cx="997432" cy="7733897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2730177" y="2702823"/>
            <a:ext cx="7117174" cy="111847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6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2730177" y="3886702"/>
            <a:ext cx="7117174" cy="676284"/>
          </a:xfrm>
        </p:spPr>
        <p:txBody>
          <a:bodyPr lIns="90000" tIns="46800" rIns="90000" bIns="46800" anchor="t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3630353" y="4681997"/>
            <a:ext cx="2522998" cy="412804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 hasCustomPrompt="1"/>
            <p:custDataLst>
              <p:tags r:id="rId14"/>
            </p:custDataLst>
          </p:nvPr>
        </p:nvSpPr>
        <p:spPr>
          <a:xfrm>
            <a:off x="6401854" y="4681997"/>
            <a:ext cx="2522996" cy="412804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47" y="952648"/>
            <a:ext cx="10851672" cy="5388626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4001389" y="5613400"/>
            <a:ext cx="8189976" cy="1244600"/>
            <a:chOff x="4001597" y="5613400"/>
            <a:chExt cx="8190403" cy="1244600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等腰三角形 8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 userDrawn="1">
            <p:custDataLst>
              <p:tags r:id="rId5"/>
            </p:custDataLst>
          </p:nvPr>
        </p:nvGrpSpPr>
        <p:grpSpPr>
          <a:xfrm>
            <a:off x="5186732" y="2377406"/>
            <a:ext cx="570140" cy="707849"/>
            <a:chOff x="10608342" y="5053054"/>
            <a:chExt cx="1583658" cy="1966165"/>
          </a:xfrm>
        </p:grpSpPr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>
              <p:custDataLst>
                <p:tags r:id="rId7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75000" lnSpcReduction="10000"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>
            <p:custDataLst>
              <p:tags r:id="rId8"/>
            </p:custDataLst>
          </p:nvPr>
        </p:nvGrpSpPr>
        <p:grpSpPr>
          <a:xfrm rot="10800000">
            <a:off x="-1" y="0"/>
            <a:ext cx="12191365" cy="1244600"/>
            <a:chOff x="4001597" y="5613400"/>
            <a:chExt cx="8190403" cy="1244600"/>
          </a:xfrm>
        </p:grpSpPr>
        <p:sp>
          <p:nvSpPr>
            <p:cNvPr id="15" name="任意多边形: 形状 14"/>
            <p:cNvSpPr/>
            <p:nvPr>
              <p:custDataLst>
                <p:tags r:id="rId9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>
              <p:custDataLst>
                <p:tags r:id="rId10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500725" y="3090063"/>
            <a:ext cx="5189915" cy="740688"/>
          </a:xfrm>
        </p:spPr>
        <p:txBody>
          <a:bodyPr lIns="90170" tIns="46990" rIns="90170" bIns="0" anchor="b" anchorCtr="0">
            <a:normAutofit/>
          </a:bodyPr>
          <a:lstStyle>
            <a:lvl1pPr algn="ctr">
              <a:defRPr sz="4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3500725" y="3883151"/>
            <a:ext cx="5189915" cy="1476950"/>
          </a:xfrm>
        </p:spPr>
        <p:txBody>
          <a:bodyPr lIns="90170" tIns="0" rIns="90170" bIns="4699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79696" y="6349841"/>
            <a:ext cx="2699859" cy="316784"/>
          </a:xfrm>
        </p:spPr>
        <p:txBody>
          <a:bodyPr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5682" y="6349833"/>
            <a:ext cx="3960000" cy="316800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081" y="6349833"/>
            <a:ext cx="2700000" cy="316800"/>
          </a:xfrm>
        </p:spPr>
        <p:txBody>
          <a:bodyPr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895" y="952648"/>
            <a:ext cx="5282967" cy="5388626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552" y="952648"/>
            <a:ext cx="5282967" cy="5388626"/>
          </a:xfrm>
        </p:spPr>
        <p:txBody>
          <a:bodyPr lIns="90170" tIns="46990" rIns="90170" bIns="4699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696" y="6349841"/>
            <a:ext cx="2699859" cy="316784"/>
          </a:xfrm>
        </p:spPr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5682" y="6349833"/>
            <a:ext cx="3960000" cy="316800"/>
          </a:xfrm>
        </p:spPr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081" y="6349833"/>
            <a:ext cx="2700000" cy="316800"/>
          </a:xfrm>
        </p:spPr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895" y="952518"/>
            <a:ext cx="5282967" cy="38098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890" y="1406654"/>
            <a:ext cx="5282925" cy="493449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425" y="952518"/>
            <a:ext cx="5282967" cy="38098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425" y="1406654"/>
            <a:ext cx="5282967" cy="493449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10607789" y="5053054"/>
            <a:ext cx="1583576" cy="1966165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3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>
              <p:custDataLst>
                <p:tags r:id="rId4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47" y="443242"/>
            <a:ext cx="10851672" cy="441941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95" y="443246"/>
            <a:ext cx="10851672" cy="441941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895" y="952648"/>
            <a:ext cx="5282967" cy="5388626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600" y="952648"/>
            <a:ext cx="5282967" cy="5388626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0584" y="952648"/>
            <a:ext cx="950934" cy="5388626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890" y="952640"/>
            <a:ext cx="9827589" cy="5388626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895" y="952648"/>
            <a:ext cx="10851672" cy="5388626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588187" y="2588694"/>
            <a:ext cx="5014989" cy="1519628"/>
          </a:xfrm>
        </p:spPr>
        <p:txBody>
          <a:bodyPr vert="horz" lIns="90170" tIns="46990" rIns="90170" bIns="4699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696" y="6349841"/>
            <a:ext cx="2699859" cy="316784"/>
          </a:xfrm>
        </p:spPr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5682" y="6349833"/>
            <a:ext cx="3960000" cy="316800"/>
          </a:xfrm>
        </p:spPr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081" y="6349833"/>
            <a:ext cx="2700000" cy="316800"/>
          </a:xfrm>
        </p:spPr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 flipH="1">
            <a:off x="8603178" y="3112896"/>
            <a:ext cx="436716" cy="542199"/>
            <a:chOff x="10608342" y="5053054"/>
            <a:chExt cx="1583658" cy="1966165"/>
          </a:xfrm>
        </p:grpSpPr>
        <p:sp>
          <p:nvSpPr>
            <p:cNvPr id="7" name="任意多边形: 形状 6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65" tIns="46987" rIns="90165" bIns="46987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65" tIns="46987" rIns="90165" bIns="46987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" name="组合 8"/>
          <p:cNvGrpSpPr/>
          <p:nvPr userDrawn="1">
            <p:custDataLst>
              <p:tags r:id="rId9"/>
            </p:custDataLst>
          </p:nvPr>
        </p:nvGrpSpPr>
        <p:grpSpPr>
          <a:xfrm>
            <a:off x="3151471" y="3119513"/>
            <a:ext cx="436716" cy="542199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10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65" tIns="46987" rIns="90165" bIns="46987" rtlCol="0" anchor="ctr">
              <a:norm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11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65" tIns="46987" rIns="90165" bIns="46987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4001389" y="6045200"/>
            <a:ext cx="8189976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838156" y="794340"/>
            <a:ext cx="10515052" cy="540456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 baseline="0">
                <a:latin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>
                <a:latin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>
                <a:latin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20" y="304165"/>
            <a:ext cx="11605925" cy="6249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>
            <a:off x="11009056" y="351814"/>
            <a:ext cx="737832" cy="916257"/>
            <a:chOff x="10608342" y="5053054"/>
            <a:chExt cx="1583658" cy="1966165"/>
          </a:xfrm>
        </p:grpSpPr>
        <p:sp>
          <p:nvSpPr>
            <p:cNvPr id="12" name="任意多边形: 形状 11"/>
            <p:cNvSpPr/>
            <p:nvPr>
              <p:custDataLst>
                <p:tags r:id="rId4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>
              <p:custDataLst>
                <p:tags r:id="rId5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 userDrawn="1">
            <p:custDataLst>
              <p:tags r:id="rId6"/>
            </p:custDataLst>
          </p:nvPr>
        </p:nvGrpSpPr>
        <p:grpSpPr>
          <a:xfrm rot="5400000">
            <a:off x="443842" y="5584849"/>
            <a:ext cx="737832" cy="916257"/>
            <a:chOff x="10608342" y="5053054"/>
            <a:chExt cx="1583658" cy="1966165"/>
          </a:xfrm>
        </p:grpSpPr>
        <p:sp>
          <p:nvSpPr>
            <p:cNvPr id="16" name="任意多边形: 形状 15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533" y="1249219"/>
            <a:ext cx="9625899" cy="723562"/>
          </a:xfrm>
        </p:spPr>
        <p:txBody>
          <a:bodyPr anchor="ctr"/>
          <a:lstStyle>
            <a:lvl1pPr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10"/>
            </p:custDataLst>
          </p:nvPr>
        </p:nvSpPr>
        <p:spPr>
          <a:xfrm>
            <a:off x="1281046" y="2163690"/>
            <a:ext cx="9626099" cy="3445021"/>
          </a:xfrm>
        </p:spPr>
        <p:txBody>
          <a:bodyPr>
            <a:normAutofit/>
          </a:bodyPr>
          <a:lstStyle>
            <a:lvl1pPr marL="0" indent="0"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209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583170" y="770423"/>
            <a:ext cx="3959794" cy="881954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586769" y="1764107"/>
            <a:ext cx="3956194" cy="4092987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5100934" y="770070"/>
            <a:ext cx="6479663" cy="508767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11" name="组合 10"/>
          <p:cNvGrpSpPr/>
          <p:nvPr userDrawn="1">
            <p:custDataLst>
              <p:tags r:id="rId9"/>
            </p:custDataLst>
          </p:nvPr>
        </p:nvGrpSpPr>
        <p:grpSpPr>
          <a:xfrm>
            <a:off x="-1" y="0"/>
            <a:ext cx="4823209" cy="769938"/>
            <a:chOff x="-1" y="0"/>
            <a:chExt cx="4823460" cy="769938"/>
          </a:xfrm>
        </p:grpSpPr>
        <p:sp>
          <p:nvSpPr>
            <p:cNvPr id="12" name="任意多边形: 形状 11"/>
            <p:cNvSpPr/>
            <p:nvPr>
              <p:custDataLst>
                <p:tags r:id="rId10"/>
              </p:custDataLst>
            </p:nvPr>
          </p:nvSpPr>
          <p:spPr>
            <a:xfrm rot="10800000">
              <a:off x="0" y="0"/>
              <a:ext cx="4823459" cy="769938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11"/>
              </p:custDataLst>
            </p:nvPr>
          </p:nvSpPr>
          <p:spPr>
            <a:xfrm rot="10800000">
              <a:off x="-1" y="0"/>
              <a:ext cx="3754576" cy="56217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3"/>
            </p:custDataLst>
          </p:nvPr>
        </p:nvSpPr>
        <p:spPr>
          <a:xfrm>
            <a:off x="611968" y="781216"/>
            <a:ext cx="10975828" cy="626367"/>
          </a:xfrm>
        </p:spPr>
        <p:txBody>
          <a:bodyPr anchor="ctr"/>
          <a:lstStyle>
            <a:lvl1pPr algn="ctr">
              <a:defRPr sz="36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611968" y="1659622"/>
            <a:ext cx="10975403" cy="82795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612743" y="2808089"/>
            <a:ext cx="10965029" cy="343062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9"/>
            </p:custDataLst>
          </p:nvPr>
        </p:nvGrpSpPr>
        <p:grpSpPr>
          <a:xfrm flipV="1">
            <a:off x="5921521" y="0"/>
            <a:ext cx="6269844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10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11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 flipV="1">
            <a:off x="5921521" y="0"/>
            <a:ext cx="6269844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5"/>
            </p:custDataLst>
          </p:nvPr>
        </p:nvSpPr>
        <p:spPr>
          <a:xfrm>
            <a:off x="0" y="5041901"/>
            <a:ext cx="12191365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04489" y="669305"/>
            <a:ext cx="10976038" cy="565121"/>
          </a:xfrm>
        </p:spPr>
        <p:txBody>
          <a:bodyPr anchor="ctr"/>
          <a:lstStyle>
            <a:lvl1pPr algn="ctr">
              <a:lnSpc>
                <a:spcPct val="100000"/>
              </a:lnSpc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0"/>
            </p:custDataLst>
          </p:nvPr>
        </p:nvSpPr>
        <p:spPr>
          <a:xfrm>
            <a:off x="604805" y="1681284"/>
            <a:ext cx="10990227" cy="321103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1"/>
            </p:custDataLst>
          </p:nvPr>
        </p:nvSpPr>
        <p:spPr>
          <a:xfrm>
            <a:off x="593969" y="5180426"/>
            <a:ext cx="11001027" cy="1011547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2"/>
            </p:custDataLst>
          </p:nvPr>
        </p:nvGrpSpPr>
        <p:grpSpPr>
          <a:xfrm>
            <a:off x="4001389" y="6045200"/>
            <a:ext cx="8189976" cy="812800"/>
            <a:chOff x="4001597" y="5613400"/>
            <a:chExt cx="8190403" cy="1244600"/>
          </a:xfrm>
        </p:grpSpPr>
        <p:sp>
          <p:nvSpPr>
            <p:cNvPr id="17" name="任意多边形: 形状 16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8" name="等腰三角形 17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1365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bg1"/>
              </a:solidFill>
              <a:latin typeface="Viner Hand ITC" panose="03070502030502020203" charset="0"/>
              <a:ea typeface="微软雅黑" panose="020B0503020204020204" pitchFamily="34" charset="-122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79570" y="237612"/>
            <a:ext cx="11037025" cy="44194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570" y="1663275"/>
            <a:ext cx="5342122" cy="2894249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242075" y="1663275"/>
            <a:ext cx="5367320" cy="2894249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572370" y="4816820"/>
            <a:ext cx="5342122" cy="781159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6252874" y="4813220"/>
            <a:ext cx="5367320" cy="781159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353"/>
            <a:ext cx="12191365" cy="493929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0800000">
            <a:off x="0" y="0"/>
            <a:ext cx="5457541" cy="1529715"/>
            <a:chOff x="4001597" y="5613400"/>
            <a:chExt cx="8190403" cy="1244600"/>
          </a:xfrm>
        </p:grpSpPr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5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 userDrawn="1">
            <p:custDataLst>
              <p:tags r:id="rId6"/>
            </p:custDataLst>
          </p:nvPr>
        </p:nvGrpSpPr>
        <p:grpSpPr>
          <a:xfrm>
            <a:off x="6733824" y="5323840"/>
            <a:ext cx="5457541" cy="1529715"/>
            <a:chOff x="4001597" y="5613400"/>
            <a:chExt cx="8190403" cy="1244600"/>
          </a:xfrm>
        </p:grpSpPr>
        <p:sp>
          <p:nvSpPr>
            <p:cNvPr id="19" name="任意多边形: 形状 18"/>
            <p:cNvSpPr/>
            <p:nvPr>
              <p:custDataLst>
                <p:tags r:id="rId7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0" name="等腰三角形 19"/>
            <p:cNvSpPr/>
            <p:nvPr>
              <p:custDataLst>
                <p:tags r:id="rId8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9"/>
            </p:custDataLst>
          </p:nvPr>
        </p:nvSpPr>
        <p:spPr>
          <a:xfrm>
            <a:off x="1522721" y="1339262"/>
            <a:ext cx="9143524" cy="2386676"/>
          </a:xfrm>
        </p:spPr>
        <p:txBody>
          <a:bodyPr anchor="b"/>
          <a:lstStyle>
            <a:lvl1pPr algn="ctr">
              <a:defRPr sz="60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3"/>
            </p:custDataLst>
          </p:nvPr>
        </p:nvSpPr>
        <p:spPr>
          <a:xfrm>
            <a:off x="1522334" y="3862843"/>
            <a:ext cx="9143524" cy="1655914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6" Type="http://schemas.openxmlformats.org/officeDocument/2006/relationships/theme" Target="../theme/theme2.xml"/><Relationship Id="rId25" Type="http://schemas.openxmlformats.org/officeDocument/2006/relationships/tags" Target="../tags/tag160.xml"/><Relationship Id="rId24" Type="http://schemas.openxmlformats.org/officeDocument/2006/relationships/tags" Target="../tags/tag159.xml"/><Relationship Id="rId23" Type="http://schemas.openxmlformats.org/officeDocument/2006/relationships/tags" Target="../tags/tag158.xml"/><Relationship Id="rId22" Type="http://schemas.openxmlformats.org/officeDocument/2006/relationships/tags" Target="../tags/tag157.xml"/><Relationship Id="rId21" Type="http://schemas.openxmlformats.org/officeDocument/2006/relationships/tags" Target="../tags/tag156.xml"/><Relationship Id="rId20" Type="http://schemas.openxmlformats.org/officeDocument/2006/relationships/tags" Target="../tags/tag155.xml"/><Relationship Id="rId2" Type="http://schemas.openxmlformats.org/officeDocument/2006/relationships/slideLayout" Target="../slideLayouts/slideLayout3.xml"/><Relationship Id="rId19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47" y="443386"/>
            <a:ext cx="10851672" cy="441941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47" y="952637"/>
            <a:ext cx="10851672" cy="5388626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696" y="6349681"/>
            <a:ext cx="2699859" cy="316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5786" y="6349681"/>
            <a:ext cx="3959794" cy="316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152" y="6349681"/>
            <a:ext cx="2699859" cy="316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179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tags" Target="../tags/tag17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023620" y="2473325"/>
            <a:ext cx="10563225" cy="1118235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600" b="1" u="none" strike="noStrike" kern="1200" cap="none" spc="6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4665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UNION 的底层实现逻辑介绍</a:t>
            </a:r>
            <a:endParaRPr lang="en-US" sz="4665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副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895976" y="3886684"/>
            <a:ext cx="7117545" cy="676319"/>
          </a:xfrm>
          <a:prstGeom prst="rect">
            <a:avLst/>
          </a:prstGeom>
        </p:spPr>
        <p:txBody>
          <a:bodyPr vert="horz" lIns="90000" tIns="46800" rIns="90000" bIns="46800" rtlCol="0" anchor="t">
            <a:norm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en-US" altLang="zh-CN" sz="18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——  计算机2303  尤颢辰  杨宇</a:t>
            </a:r>
            <a:endParaRPr lang="en-US" altLang="zh-CN" sz="1800" b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0E9594"/>
          </a:solidFill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18819" y="575183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250" b="1" kern="0" spc="200" dirty="0">
                <a:solidFill>
                  <a:srgbClr val="0E95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关于</a:t>
            </a:r>
            <a:r>
              <a:rPr lang="en-US" altLang="zh-CN" sz="1250" b="1" kern="0" spc="200" dirty="0">
                <a:solidFill>
                  <a:srgbClr val="0E95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</a:t>
            </a:r>
            <a:r>
              <a:rPr lang="zh-CN" altLang="en-US" sz="1250" b="1" kern="0" spc="200" dirty="0">
                <a:solidFill>
                  <a:srgbClr val="0E95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复合查询</a:t>
            </a:r>
            <a:r>
              <a:rPr lang="en-US" altLang="zh-CN" sz="1250" b="1" kern="0" spc="200" dirty="0">
                <a:solidFill>
                  <a:srgbClr val="0E95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”</a:t>
            </a:r>
            <a:endParaRPr lang="en-US" altLang="zh-CN" sz="1250" b="1" kern="0" spc="200" dirty="0">
              <a:solidFill>
                <a:srgbClr val="0E959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UNION  VS  UNION </a:t>
            </a:r>
            <a:r>
              <a:rPr lang="en-US" sz="3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</a:t>
            </a:r>
            <a:endParaRPr lang="en-US" sz="3100" b="1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640080" y="2057400"/>
            <a:ext cx="6562090" cy="960120"/>
          </a:xfrm>
          <a:prstGeom prst="roundRect">
            <a:avLst>
              <a:gd name="adj" fmla="val 7619"/>
            </a:avLst>
          </a:prstGeom>
          <a:solidFill>
            <a:srgbClr val="111A2E"/>
          </a:solidFill>
          <a:effectLst>
            <a:outerShdw blurRad="114300" dist="38100" dir="5400000" algn="bl" rotWithShape="0">
              <a:srgbClr val="1E293B">
                <a:alpha val="16000"/>
              </a:srgbClr>
            </a:outerShdw>
          </a:effectLst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896112" y="2180590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7D2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x FROM t1</a:t>
            </a:r>
            <a:endParaRPr lang="en-US" sz="1400" dirty="0">
              <a:solidFill>
                <a:srgbClr val="C7D2E5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UNION</a:t>
            </a:r>
            <a:endParaRPr lang="en-US" sz="1400" b="1" dirty="0">
              <a:solidFill>
                <a:srgbClr val="5EEAD4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7D2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x FROM t2;</a:t>
            </a:r>
            <a:endParaRPr lang="en-US" sz="14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640080" y="3054096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结果去重</a:t>
            </a:r>
            <a:endParaRPr lang="en-US" sz="1300" dirty="0"/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640080" y="3611880"/>
            <a:ext cx="6574790" cy="960120"/>
          </a:xfrm>
          <a:prstGeom prst="roundRect">
            <a:avLst>
              <a:gd name="adj" fmla="val 7619"/>
            </a:avLst>
          </a:prstGeom>
          <a:solidFill>
            <a:srgbClr val="111A2E"/>
          </a:solidFill>
          <a:effectLst>
            <a:outerShdw blurRad="114300" dist="38100" dir="5400000" algn="bl" rotWithShape="0">
              <a:srgbClr val="1E293B">
                <a:alpha val="16000"/>
              </a:srgbClr>
            </a:outerShdw>
          </a:effectLst>
        </p:spPr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896112" y="3749040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7D2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x FROM t1</a:t>
            </a:r>
            <a:endParaRPr lang="en-US" sz="1400" dirty="0">
              <a:solidFill>
                <a:srgbClr val="C7D2E5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2B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UNION ALL</a:t>
            </a:r>
            <a:endParaRPr lang="en-US" sz="1400" b="1" dirty="0">
              <a:solidFill>
                <a:srgbClr val="F2B27A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7D2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x FROM t2;</a:t>
            </a:r>
            <a:endParaRPr lang="en-US" sz="14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640080" y="4640326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结果不去重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11415" y="2066290"/>
            <a:ext cx="4073525" cy="2507615"/>
          </a:xfrm>
          <a:prstGeom prst="roundRect">
            <a:avLst>
              <a:gd name="adj" fmla="val 3390"/>
            </a:avLst>
          </a:prstGeom>
          <a:solidFill>
            <a:srgbClr val="0F172A"/>
          </a:solidFill>
          <a:effectLst>
            <a:outerShdw blurRad="114300" dist="38100" dir="5400000" algn="bl" rotWithShape="0">
              <a:srgbClr val="1E293B">
                <a:alpha val="16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795260" y="2295525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2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95260" y="3027045"/>
            <a:ext cx="361823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 的有无，决定要不要做去</a:t>
            </a:r>
            <a:r>
              <a:rPr lang="zh-CN" alt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</a:t>
            </a:r>
            <a:r>
              <a:rPr lang="en-US" sz="145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这件事。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95260" y="3777615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Q:“去重”到底怎么实现？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40893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What’s more :  </a:t>
            </a:r>
            <a:r>
              <a:rPr lang="en-US" i="1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INTERSECT  EXCEPT</a:t>
            </a:r>
            <a:endParaRPr lang="en-US" i="1" dirty="0"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UNION 源码分析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37215" y="64373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64748B"/>
          </a:solidFill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2144" y="5669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250" b="1" kern="0" spc="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去重的</a:t>
            </a:r>
            <a:r>
              <a:rPr lang="zh-CN" altLang="en-US" sz="1250" b="1" kern="0" spc="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实现思路</a:t>
            </a:r>
            <a:endParaRPr lang="zh-CN" altLang="en-US" sz="1250" b="1" kern="0" spc="20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如何实现两个集合的</a:t>
            </a:r>
            <a:r>
              <a:rPr lang="en-US" sz="3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去重</a:t>
            </a:r>
            <a:r>
              <a:rPr lang="zh-CN" altLang="en-US" sz="3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altLang="en-US" sz="3100" b="1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考虑实现的思路，无非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下面两种：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E9594"/>
            </a:solidFill>
            <a:prstDash val="solid"/>
          </a:ln>
          <a:effectLst>
            <a:outerShdw blurRad="101600" dist="25400" dir="5400000" algn="bl" rotWithShape="0">
              <a:srgbClr val="94A3B8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514600"/>
            <a:ext cx="5257800" cy="109728"/>
          </a:xfrm>
          <a:prstGeom prst="rect">
            <a:avLst/>
          </a:prstGeom>
          <a:solidFill>
            <a:srgbClr val="0E9594"/>
          </a:solidFill>
        </p:spPr>
      </p:sp>
      <p:sp>
        <p:nvSpPr>
          <p:cNvPr id="9" name="Text 7"/>
          <p:cNvSpPr/>
          <p:nvPr/>
        </p:nvSpPr>
        <p:spPr>
          <a:xfrm>
            <a:off x="1005840" y="28346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6E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069080" y="29718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E959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611880"/>
            <a:ext cx="45262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5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采用归并排序的</a:t>
            </a:r>
            <a:r>
              <a:rPr lang="zh-CN" altLang="en-US" sz="15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实现思路</a:t>
            </a:r>
            <a:endParaRPr lang="zh-CN" altLang="en-US" sz="15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endParaRPr lang="zh-CN" altLang="en-US" sz="15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zh-CN" altLang="en-US" sz="15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如果两个部分都有序，就可以在</a:t>
            </a:r>
            <a:r>
              <a:rPr lang="en-US" altLang="zh-CN" sz="15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merge</a:t>
            </a:r>
            <a:r>
              <a:rPr lang="zh-CN" altLang="en-US" sz="15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的过程中</a:t>
            </a:r>
            <a:r>
              <a:rPr lang="zh-CN" altLang="en-US" sz="15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</a:t>
            </a:r>
            <a:endParaRPr lang="zh-CN" altLang="en-US" sz="15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4690872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</a:t>
            </a:r>
            <a:r>
              <a:rPr lang="en-US" sz="15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</a:t>
            </a:r>
            <a:r>
              <a:rPr lang="zh-CN" altLang="en-US" sz="15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的做法（基于</a:t>
            </a:r>
            <a:r>
              <a:rPr lang="en-US" altLang="zh-CN" sz="15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3.52.0</a:t>
            </a:r>
            <a:r>
              <a:rPr lang="zh-CN" altLang="en-US" sz="15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endParaRPr lang="zh-CN" altLang="en-US" sz="150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43345" y="251460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D97A34"/>
            </a:solidFill>
            <a:prstDash val="solid"/>
          </a:ln>
          <a:effectLst>
            <a:outerShdw blurRad="101600" dist="25400" dir="5400000" algn="bl" rotWithShape="0">
              <a:srgbClr val="94A3B8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2514600"/>
            <a:ext cx="5257800" cy="109728"/>
          </a:xfrm>
          <a:prstGeom prst="rect">
            <a:avLst/>
          </a:prstGeom>
          <a:solidFill>
            <a:srgbClr val="D97A34"/>
          </a:solidFill>
        </p:spPr>
      </p:sp>
      <p:sp>
        <p:nvSpPr>
          <p:cNvPr id="15" name="Text 13"/>
          <p:cNvSpPr/>
          <p:nvPr/>
        </p:nvSpPr>
        <p:spPr>
          <a:xfrm>
            <a:off x="6812280" y="28346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45F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哈希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875520" y="29718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97A3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HASH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12280" y="3611880"/>
            <a:ext cx="45262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5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对每一行的内容算出来其</a:t>
            </a:r>
            <a:r>
              <a:rPr lang="zh-CN" altLang="en-US" sz="15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哈希值</a:t>
            </a:r>
            <a:endParaRPr lang="zh-CN" altLang="en-US" sz="15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endParaRPr lang="zh-CN" altLang="en-US" sz="15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zh-CN" altLang="en-US" sz="15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如果算出来的哈希值之前出现过，则丢弃。</a:t>
            </a:r>
            <a:endParaRPr lang="en-US" altLang="zh-CN" sz="15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12280" y="4690872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F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</a:t>
            </a:r>
            <a:r>
              <a:rPr lang="en-US" sz="15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</a:t>
            </a:r>
            <a:r>
              <a:rPr lang="zh-CN" altLang="en-US" sz="15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的做法（基于</a:t>
            </a:r>
            <a:r>
              <a:rPr lang="en-US" altLang="zh-CN" sz="15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8.0.45</a:t>
            </a:r>
            <a:r>
              <a:rPr lang="zh-CN" altLang="en-US" sz="15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endParaRPr lang="zh-CN" altLang="en-US" sz="150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UNION 源码分析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37215" y="64373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9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130" y="1038225"/>
            <a:ext cx="9277350" cy="4781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64748B"/>
          </a:solidFill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2144" y="5669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250" b="1" kern="0" spc="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针对上面的问题，不同</a:t>
            </a:r>
            <a:r>
              <a:rPr lang="en-US" altLang="zh-CN" sz="1250" b="1" kern="0" spc="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DBMS</a:t>
            </a:r>
            <a:r>
              <a:rPr lang="zh-CN" altLang="en-US" sz="1250" b="1" kern="0" spc="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的实现方法</a:t>
            </a:r>
            <a:r>
              <a:rPr lang="zh-CN" altLang="en-US" sz="1250" b="1" kern="0" spc="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是不同的</a:t>
            </a:r>
            <a:endParaRPr lang="zh-CN" altLang="en-US" sz="1250" b="1" kern="0" spc="20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 VS  </a:t>
            </a:r>
            <a:r>
              <a:rPr lang="en-US" sz="3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</a:t>
            </a:r>
            <a:endParaRPr lang="en-US" sz="3100" b="1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73405" y="2084705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4A3B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03120"/>
            <a:ext cx="128016" cy="3246120"/>
          </a:xfrm>
          <a:prstGeom prst="rect">
            <a:avLst/>
          </a:prstGeom>
          <a:solidFill>
            <a:srgbClr val="0E9594"/>
          </a:solidFill>
        </p:spPr>
      </p:sp>
      <p:sp>
        <p:nvSpPr>
          <p:cNvPr id="8" name="Text 6"/>
          <p:cNvSpPr/>
          <p:nvPr/>
        </p:nvSpPr>
        <p:spPr>
          <a:xfrm>
            <a:off x="1051560" y="23774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6E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297180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≈ 25 万行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051560" y="3794760"/>
            <a:ext cx="45262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轻量</a:t>
            </a: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zh-CN" alt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嵌入式、</a:t>
            </a:r>
            <a:r>
              <a:rPr lang="zh-CN" alt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本地数据库；</a:t>
            </a:r>
            <a:endParaRPr lang="zh-CN" altLang="en-US" sz="14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整个引擎能合并成一个 sqlite3.c 文件就编译运行。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源码</a:t>
            </a: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下载：</a:t>
            </a:r>
            <a:r>
              <a:rPr lang="en-US" altLang="zh-CN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https://github.com/sqlite/sqlite/archive/refs/tags/version-3.52.0.zip</a:t>
            </a:r>
            <a:endParaRPr lang="en-US" altLang="zh-CN" sz="140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46520" y="210312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4A3B8">
                <a:alpha val="22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318250" y="2029460"/>
            <a:ext cx="128016" cy="3246120"/>
          </a:xfrm>
          <a:prstGeom prst="rect">
            <a:avLst/>
          </a:prstGeom>
          <a:solidFill>
            <a:srgbClr val="D97A34"/>
          </a:solidFill>
        </p:spPr>
      </p:sp>
      <p:sp>
        <p:nvSpPr>
          <p:cNvPr id="13" name="Text 11"/>
          <p:cNvSpPr/>
          <p:nvPr/>
        </p:nvSpPr>
        <p:spPr>
          <a:xfrm>
            <a:off x="6858000" y="23774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45F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0" y="297180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≈ 数百万行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58000" y="3794760"/>
            <a:ext cx="45262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C-S</a:t>
            </a:r>
            <a:r>
              <a:rPr lang="zh-CN" alt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模式的</a:t>
            </a: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工业级服务器</a:t>
            </a:r>
            <a:r>
              <a:rPr lang="zh-CN" alt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几千个文件、几十个模块。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源码</a:t>
            </a: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下载：</a:t>
            </a:r>
            <a:endParaRPr lang="en-US" sz="140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altLang="zh-CN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https://github.com/mysql/mysql-server/archive/refs/tags/mysql-8.0.45.zip</a:t>
            </a:r>
            <a:endParaRPr lang="en-US" altLang="zh-CN" sz="140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55138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两者体量差距很大！</a:t>
            </a:r>
            <a:r>
              <a:rPr lang="en-US" altLang="zh-CN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</a:t>
            </a:r>
            <a:r>
              <a:rPr lang="zh-CN" alt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更为复杂。由于时间限制，下面主要介绍基于</a:t>
            </a:r>
            <a:r>
              <a:rPr lang="en-US" altLang="zh-CN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</a:t>
            </a:r>
            <a:r>
              <a:rPr lang="zh-CN" alt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r>
              <a:rPr lang="en-US" altLang="zh-CN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Union</a:t>
            </a:r>
            <a:r>
              <a:rPr lang="zh-CN" alt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实现原理。</a:t>
            </a:r>
            <a:endParaRPr lang="zh-CN" altLang="en-US" sz="14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UNION 源码分析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37215" y="64373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0E9594"/>
          </a:solidFill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2144" y="5669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250" b="1" kern="0" spc="200" dirty="0">
                <a:solidFill>
                  <a:srgbClr val="0E95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去重的</a:t>
            </a:r>
            <a:r>
              <a:rPr lang="zh-CN" altLang="en-US" sz="1250" b="1" kern="0" spc="200" dirty="0">
                <a:solidFill>
                  <a:srgbClr val="0E95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</a:t>
            </a:r>
            <a:endParaRPr lang="zh-CN" altLang="en-US" sz="1250" b="1" kern="0" spc="200" dirty="0">
              <a:solidFill>
                <a:srgbClr val="0E959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100" b="1" dirty="0">
                <a:solidFill>
                  <a:srgbClr val="0B6E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关于</a:t>
            </a:r>
            <a:r>
              <a:rPr lang="en-US" sz="3100" b="1" dirty="0">
                <a:solidFill>
                  <a:srgbClr val="0B6E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SQLite：SQL 被编译成字节码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901825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把每条 SQL 编译成一串虚拟机指令（</a:t>
            </a:r>
            <a:r>
              <a:rPr lang="en-US" sz="1600" b="1" dirty="0">
                <a:solidFill>
                  <a:srgbClr val="0B6E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VDBE 字节码</a:t>
            </a:r>
            <a:r>
              <a:rPr 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）。</a:t>
            </a:r>
            <a:endParaRPr 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B6E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EXPLAIN</a:t>
            </a:r>
            <a:r>
              <a:rPr 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能把这串指令直接打印出来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，看到其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内部逻辑。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我们建立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t1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t2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两个表，给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t1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插入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；给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t2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插入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看看字节码：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UNION 源码分析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37215" y="64373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9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75" y="3629660"/>
            <a:ext cx="6240780" cy="266319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7502525" y="103505"/>
            <a:ext cx="3282315" cy="6650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0E9594"/>
          </a:solidFill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2144" y="5669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250" b="1" kern="0" spc="200" dirty="0">
                <a:solidFill>
                  <a:srgbClr val="0E95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去重的实现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UNION 源码分析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37215" y="64373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767080" y="100152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3100" b="1" dirty="0">
                <a:solidFill>
                  <a:srgbClr val="0B6E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UNION</a:t>
            </a:r>
            <a:endParaRPr lang="en-US" altLang="zh-CN" sz="3100" b="1" dirty="0">
              <a:solidFill>
                <a:srgbClr val="0B6E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8080375" y="64770"/>
            <a:ext cx="3282315" cy="665099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8080375" y="6055995"/>
            <a:ext cx="3282315" cy="47625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513195" y="60559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主循环</a:t>
            </a:r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7376795" y="6226175"/>
            <a:ext cx="61214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Text 4"/>
          <p:cNvSpPr/>
          <p:nvPr/>
        </p:nvSpPr>
        <p:spPr>
          <a:xfrm>
            <a:off x="640080" y="1901825"/>
            <a:ext cx="10881360" cy="461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从入口开始执行，登记两个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排序的协程。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协程：可以执行一段，暂停，下次再从暂停处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继续。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想想去重要在哪里执行？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怎么执行？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1.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单个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SELECT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内部如果有重复的，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需要去除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2.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两个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SELECT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有相同的元素，只输出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一个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080375" y="290195"/>
            <a:ext cx="3282315" cy="143510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7376795" y="972820"/>
            <a:ext cx="61214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241800" y="79184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协程</a:t>
            </a:r>
            <a:r>
              <a:rPr lang="en-US" altLang="zh-CN"/>
              <a:t>A:</a:t>
            </a:r>
            <a:r>
              <a:rPr lang="zh-CN" altLang="en-US"/>
              <a:t>扫描并排序左侧 </a:t>
            </a:r>
            <a:r>
              <a:rPr lang="en-US" altLang="zh-CN"/>
              <a:t>SELECT</a:t>
            </a:r>
            <a:endParaRPr lang="en-US" altLang="zh-CN"/>
          </a:p>
          <a:p>
            <a:r>
              <a:rPr lang="zh-CN" altLang="en-US"/>
              <a:t>之后每次调用</a:t>
            </a:r>
            <a:r>
              <a:rPr lang="en-US" altLang="zh-CN"/>
              <a:t>,</a:t>
            </a:r>
            <a:endParaRPr lang="en-US" altLang="zh-CN"/>
          </a:p>
          <a:p>
            <a:r>
              <a:rPr lang="zh-CN" altLang="en-US"/>
              <a:t>返回排好序的左侧</a:t>
            </a:r>
            <a:r>
              <a:rPr lang="en-US" altLang="zh-CN"/>
              <a:t>SELECT</a:t>
            </a:r>
            <a:r>
              <a:rPr lang="zh-CN" altLang="en-US"/>
              <a:t>的下一条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241800" y="221932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协程</a:t>
            </a:r>
            <a:r>
              <a:rPr lang="en-US" altLang="zh-CN"/>
              <a:t>B:</a:t>
            </a:r>
            <a:r>
              <a:rPr lang="zh-CN" altLang="en-US"/>
              <a:t>扫描并排序右侧 </a:t>
            </a:r>
            <a:r>
              <a:rPr lang="en-US" altLang="zh-CN"/>
              <a:t>SELECT</a:t>
            </a:r>
            <a:endParaRPr lang="en-US" altLang="zh-CN"/>
          </a:p>
          <a:p>
            <a:r>
              <a:rPr lang="zh-CN" altLang="en-US">
                <a:sym typeface="+mn-ea"/>
              </a:rPr>
              <a:t>之后每次调用</a:t>
            </a:r>
            <a:r>
              <a:rPr lang="en-US" altLang="zh-CN">
                <a:sym typeface="+mn-ea"/>
              </a:rPr>
              <a:t>,</a:t>
            </a:r>
            <a:endParaRPr lang="en-US" altLang="zh-CN"/>
          </a:p>
          <a:p>
            <a:r>
              <a:rPr lang="zh-CN" altLang="en-US">
                <a:sym typeface="+mn-ea"/>
              </a:rPr>
              <a:t>返回排好序的</a:t>
            </a:r>
            <a:r>
              <a:rPr lang="zh-CN" altLang="en-US">
                <a:sym typeface="+mn-ea"/>
              </a:rPr>
              <a:t>右侧</a:t>
            </a:r>
            <a:r>
              <a:rPr lang="en-US" altLang="zh-CN">
                <a:sym typeface="+mn-ea"/>
              </a:rPr>
              <a:t>SELECT</a:t>
            </a:r>
            <a:r>
              <a:rPr lang="zh-CN" altLang="en-US">
                <a:sym typeface="+mn-ea"/>
              </a:rPr>
              <a:t>的下一条</a:t>
            </a:r>
            <a:endParaRPr lang="zh-CN" altLang="en-US"/>
          </a:p>
          <a:p>
            <a:endParaRPr lang="en-US" altLang="zh-CN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7376795" y="2450465"/>
            <a:ext cx="61214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8080375" y="1725295"/>
            <a:ext cx="3282315" cy="142811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080375" y="3168650"/>
            <a:ext cx="3282315" cy="76644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080375" y="3934460"/>
            <a:ext cx="3282315" cy="77470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080375" y="4723765"/>
            <a:ext cx="3282315" cy="36639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8080375" y="5090160"/>
            <a:ext cx="3282315" cy="3810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8080375" y="5500370"/>
            <a:ext cx="3282315" cy="52578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5115560" y="34067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out-A:</a:t>
            </a:r>
            <a:r>
              <a:rPr lang="zh-CN" altLang="en-US"/>
              <a:t>输出</a:t>
            </a:r>
            <a:r>
              <a:rPr lang="en-US" altLang="zh-CN"/>
              <a:t>A</a:t>
            </a:r>
            <a:r>
              <a:rPr lang="zh-CN" altLang="en-US"/>
              <a:t>的</a:t>
            </a:r>
            <a:r>
              <a:rPr lang="zh-CN" altLang="en-US"/>
              <a:t>一条</a:t>
            </a:r>
            <a:endParaRPr lang="zh-CN" altLang="en-US"/>
          </a:p>
        </p:txBody>
      </p:sp>
      <p:cxnSp>
        <p:nvCxnSpPr>
          <p:cNvPr id="29" name="直接箭头连接符 28"/>
          <p:cNvCxnSpPr/>
          <p:nvPr/>
        </p:nvCxnSpPr>
        <p:spPr>
          <a:xfrm>
            <a:off x="7376795" y="3575050"/>
            <a:ext cx="61214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7376795" y="4318000"/>
            <a:ext cx="61214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15560" y="41370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out-B:</a:t>
            </a:r>
            <a:r>
              <a:rPr lang="zh-CN" altLang="en-US"/>
              <a:t>输出</a:t>
            </a:r>
            <a:r>
              <a:rPr lang="en-US" altLang="zh-CN"/>
              <a:t>B</a:t>
            </a:r>
            <a:r>
              <a:rPr lang="zh-CN" altLang="en-US"/>
              <a:t>的</a:t>
            </a:r>
            <a:r>
              <a:rPr lang="zh-CN" altLang="en-US"/>
              <a:t>一条</a:t>
            </a:r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>
            <a:off x="7376795" y="4878705"/>
            <a:ext cx="61214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7376795" y="5280025"/>
            <a:ext cx="61214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4933315" y="46824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eof-A:A</a:t>
            </a:r>
            <a:r>
              <a:rPr lang="zh-CN" altLang="en-US"/>
              <a:t>输出完了</a:t>
            </a:r>
            <a:r>
              <a:rPr lang="en-US" altLang="zh-CN"/>
              <a:t>,</a:t>
            </a:r>
            <a:r>
              <a:rPr lang="zh-CN" altLang="en-US"/>
              <a:t>输出</a:t>
            </a:r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35" name="文本框 34"/>
          <p:cNvSpPr txBox="1"/>
          <p:nvPr/>
        </p:nvSpPr>
        <p:spPr>
          <a:xfrm>
            <a:off x="4933315" y="50609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</a:t>
            </a:r>
            <a:r>
              <a:rPr lang="en-US" altLang="zh-CN"/>
              <a:t>of-B:</a:t>
            </a:r>
            <a:r>
              <a:rPr lang="en-US"/>
              <a:t>B</a:t>
            </a:r>
            <a:r>
              <a:rPr lang="zh-CN" altLang="en-US"/>
              <a:t>输出完了</a:t>
            </a:r>
            <a:r>
              <a:rPr lang="en-US" altLang="zh-CN"/>
              <a:t>,</a:t>
            </a:r>
            <a:r>
              <a:rPr lang="zh-CN" altLang="en-US"/>
              <a:t>输出</a:t>
            </a:r>
            <a:r>
              <a:rPr lang="en-US" altLang="zh-CN"/>
              <a:t>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0E9594"/>
          </a:solidFill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2144" y="5669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250" b="1" kern="0" spc="200" dirty="0">
                <a:solidFill>
                  <a:srgbClr val="0E95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去重的实现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UNION 源码分析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37215" y="64373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767080" y="100152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3100" b="1" dirty="0">
                <a:solidFill>
                  <a:srgbClr val="0B6E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UNION</a:t>
            </a:r>
            <a:endParaRPr lang="en-US" altLang="zh-CN" sz="3100" b="1" dirty="0">
              <a:solidFill>
                <a:srgbClr val="0B6E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8080375" y="64770"/>
            <a:ext cx="3282315" cy="665099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8080375" y="6055995"/>
            <a:ext cx="3282315" cy="47625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028690" y="5681345"/>
            <a:ext cx="42259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</a:t>
            </a:r>
            <a:r>
              <a:rPr lang="zh-CN" altLang="en-US"/>
              <a:t>主循环</a:t>
            </a:r>
            <a:r>
              <a:rPr lang="en-US" altLang="zh-CN"/>
              <a:t> +</a:t>
            </a:r>
            <a:endParaRPr lang="zh-CN" altLang="en-US"/>
          </a:p>
          <a:p>
            <a:r>
              <a:rPr lang="zh-CN" altLang="en-US"/>
              <a:t>比较具体逻辑</a:t>
            </a:r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7376795" y="5958205"/>
            <a:ext cx="61214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Text 4"/>
          <p:cNvSpPr/>
          <p:nvPr/>
        </p:nvSpPr>
        <p:spPr>
          <a:xfrm>
            <a:off x="640080" y="1901825"/>
            <a:ext cx="10881360" cy="461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初始化两个协程，跳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转执行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主程序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主循环循环执行取数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比较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比较具体逻辑如何？（这里是去重逻辑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的实现）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080375" y="290195"/>
            <a:ext cx="3282315" cy="143510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7376795" y="972820"/>
            <a:ext cx="61214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512560" y="757555"/>
            <a:ext cx="1793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next</a:t>
            </a:r>
            <a:r>
              <a:rPr lang="en-US" altLang="zh-CN"/>
              <a:t>A</a:t>
            </a:r>
            <a:endParaRPr lang="en-US" altLang="zh-CN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7376795" y="2450465"/>
            <a:ext cx="61214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8080375" y="1725295"/>
            <a:ext cx="3282315" cy="142811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080375" y="3168650"/>
            <a:ext cx="3282315" cy="76644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080375" y="3934460"/>
            <a:ext cx="3282315" cy="77470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080375" y="4723765"/>
            <a:ext cx="3282315" cy="36639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8080375" y="5090160"/>
            <a:ext cx="3282315" cy="3810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8080375" y="5488305"/>
            <a:ext cx="3282315" cy="53784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6518275" y="3406775"/>
            <a:ext cx="2506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out</a:t>
            </a:r>
            <a:r>
              <a:rPr lang="en-US" altLang="zh-CN"/>
              <a:t>A</a:t>
            </a:r>
            <a:endParaRPr lang="en-US" altLang="zh-CN"/>
          </a:p>
        </p:txBody>
      </p:sp>
      <p:cxnSp>
        <p:nvCxnSpPr>
          <p:cNvPr id="29" name="直接箭头连接符 28"/>
          <p:cNvCxnSpPr/>
          <p:nvPr/>
        </p:nvCxnSpPr>
        <p:spPr>
          <a:xfrm>
            <a:off x="7376795" y="3575050"/>
            <a:ext cx="61214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7376795" y="4318000"/>
            <a:ext cx="61214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6518275" y="4137025"/>
            <a:ext cx="2661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out</a:t>
            </a:r>
            <a:r>
              <a:rPr lang="en-US" altLang="zh-CN"/>
              <a:t>B</a:t>
            </a:r>
            <a:endParaRPr lang="en-US" altLang="zh-CN"/>
          </a:p>
        </p:txBody>
      </p:sp>
      <p:cxnSp>
        <p:nvCxnSpPr>
          <p:cNvPr id="32" name="直接箭头连接符 31"/>
          <p:cNvCxnSpPr/>
          <p:nvPr/>
        </p:nvCxnSpPr>
        <p:spPr>
          <a:xfrm>
            <a:off x="7376795" y="4878705"/>
            <a:ext cx="61214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7376795" y="5280025"/>
            <a:ext cx="61214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6518275" y="4682490"/>
            <a:ext cx="2479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eof</a:t>
            </a:r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35" name="文本框 34"/>
          <p:cNvSpPr txBox="1"/>
          <p:nvPr/>
        </p:nvSpPr>
        <p:spPr>
          <a:xfrm>
            <a:off x="6524625" y="5060950"/>
            <a:ext cx="2472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</a:t>
            </a:r>
            <a:r>
              <a:rPr lang="en-US" altLang="zh-CN"/>
              <a:t>ofB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6513195" y="2262505"/>
            <a:ext cx="1793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next</a:t>
            </a:r>
            <a:r>
              <a:rPr lang="en-US" altLang="zh-CN"/>
              <a:t>B</a:t>
            </a:r>
            <a:endParaRPr lang="en-US" altLang="zh-CN"/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80" y="4258945"/>
            <a:ext cx="5261610" cy="1972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0E9594"/>
          </a:solidFill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2144" y="5669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250" b="1" kern="0" spc="200" dirty="0">
                <a:solidFill>
                  <a:srgbClr val="0E95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去重的实现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UNION 源码分析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767080" y="100152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3100" b="1" dirty="0">
                <a:solidFill>
                  <a:srgbClr val="0B6E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UNION</a:t>
            </a:r>
            <a:endParaRPr lang="en-US" altLang="zh-CN" sz="3100" b="1" dirty="0">
              <a:solidFill>
                <a:srgbClr val="0B6E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0080" y="1901825"/>
            <a:ext cx="10881360" cy="461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代码实现：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multiSelect() 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函数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负责判断是哪种复合查询，走相应的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逻辑。</a:t>
            </a:r>
            <a:endParaRPr lang="en-US" altLang="zh-CN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36570"/>
            <a:ext cx="5267960" cy="3401060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365" y="1078865"/>
            <a:ext cx="7048500" cy="4581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0E9594"/>
          </a:solidFill>
        </p:spPr>
        <p:txBody>
          <a:bodyPr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2144" y="5669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250" b="1" kern="0" spc="200" dirty="0">
                <a:solidFill>
                  <a:srgbClr val="0E95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去重的实现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UNION 源码分析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767080" y="100152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3100" b="1" dirty="0">
                <a:solidFill>
                  <a:srgbClr val="0B6E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UNION</a:t>
            </a:r>
            <a:endParaRPr lang="en-US" altLang="zh-CN" sz="3100" b="1" dirty="0">
              <a:solidFill>
                <a:srgbClr val="0B6E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0080" y="1901825"/>
            <a:ext cx="10881360" cy="461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代码实现：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multiSelectByMerge() 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函数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multiSelect()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用于处理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UNION INTERSECT EXCEPT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的逻辑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去重逻辑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的字节码在这里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generateOutputSubroutine()</a:t>
            </a:r>
            <a:endParaRPr lang="en-US" altLang="zh-CN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生成去重逻辑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的字节码</a:t>
            </a:r>
            <a:endParaRPr lang="en-US" altLang="zh-CN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8560" y="299720"/>
            <a:ext cx="7094220" cy="6257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0E9594"/>
          </a:solidFill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2144" y="5669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250" b="1" kern="0" spc="200" dirty="0">
                <a:solidFill>
                  <a:srgbClr val="0E95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去重的实现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UNION 源码分析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767080" y="1001522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3100" b="1" dirty="0">
                <a:solidFill>
                  <a:srgbClr val="0B6E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UNION</a:t>
            </a:r>
            <a:endParaRPr lang="en-US" altLang="zh-CN" sz="3100" b="1" dirty="0">
              <a:solidFill>
                <a:srgbClr val="0B6E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0080" y="1901825"/>
            <a:ext cx="10881360" cy="461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代码实现：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generateOutputSubroutine() 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multiSelect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Merge()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去重逻辑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就写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在这里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文字描述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逻辑：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</a:t>
            </a:r>
            <a:r>
              <a:rPr lang="zh-CN" altLang="en-US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如果这一行的输出和上一次相同，就不输出</a:t>
            </a:r>
            <a:r>
              <a:rPr lang="en-US" altLang="zh-CN" sz="16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”</a:t>
            </a: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6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6005" y="1494790"/>
            <a:ext cx="7225030" cy="27908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005" y="4516755"/>
            <a:ext cx="7244715" cy="16992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51890" y="95123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</a:t>
            </a:r>
            <a:r>
              <a:rPr lang="zh-CN" altLang="en-US" sz="3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为什么选择</a:t>
            </a:r>
            <a:r>
              <a:rPr lang="zh-CN" altLang="en-US" sz="3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排序？</a:t>
            </a:r>
            <a:endParaRPr lang="zh-CN" altLang="en-US" sz="3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1005840" y="1920240"/>
            <a:ext cx="5074920" cy="3842385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5875">
            <a:solidFill>
              <a:srgbClr val="0E9594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1280160" y="2327275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FF0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</a:t>
            </a:r>
            <a:endParaRPr lang="en-US" sz="28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1189355" y="3429000"/>
            <a:ext cx="45262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追求代码复用，希望更为精简！</a:t>
            </a:r>
            <a:endParaRPr lang="zh-CN" altLang="en-US" sz="2000" dirty="0">
              <a:solidFill>
                <a:srgbClr val="E2E8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000" dirty="0">
              <a:solidFill>
                <a:srgbClr val="E2E8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所以，直接复用已有的排序器。</a:t>
            </a:r>
            <a:endParaRPr lang="zh-CN" altLang="en-US" sz="2000" dirty="0">
              <a:solidFill>
                <a:srgbClr val="E2E8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6537960" y="1939290"/>
            <a:ext cx="5074920" cy="3823335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5875">
            <a:solidFill>
              <a:srgbClr val="D97A34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6925310" y="2327275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E0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</a:t>
            </a:r>
            <a:endParaRPr lang="en-US" sz="28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6812280" y="3429000"/>
            <a:ext cx="45262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追求大数据吞吐下，更快的复杂度。</a:t>
            </a:r>
            <a:endParaRPr lang="zh-CN" altLang="en-US" sz="2000" dirty="0">
              <a:solidFill>
                <a:srgbClr val="E2E8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0E9594"/>
          </a:solidFill>
        </p:spPr>
      </p:sp>
      <p:sp>
        <p:nvSpPr>
          <p:cNvPr id="16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1152144" y="5669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250" b="1" kern="0" spc="200" dirty="0">
                <a:solidFill>
                  <a:srgbClr val="0E95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去重的实现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023620" y="2870200"/>
            <a:ext cx="10563225" cy="1118235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600" b="1" u="none" strike="noStrike" kern="1200" cap="none" spc="6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665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谢谢！</a:t>
            </a:r>
            <a:endParaRPr lang="zh-CN" altLang="en-US" sz="4665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6*i*6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6*i*7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6*i*8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1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4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1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1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1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1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2"/>
</p:tagLst>
</file>

<file path=ppt/tags/tag14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1"/>
</p:tagLst>
</file>

<file path=ppt/tags/tag148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TEMPLATE_SUBCATEGORY" val="0"/>
  <p:tag name="KSO_WM_TEMPLATE_COLOR_TYPE" val="1"/>
  <p:tag name="KSO_WM_TEMPLATE_MASTER_THUMB_INDEX" val="12"/>
  <p:tag name="KSO_WM_UNIT_SHOW_EDIT_AREA_INDICATION" val="0"/>
  <p:tag name="KSO_WM_TEMPLATE_THUMBS_INDEX" val="1、2、3、11、14"/>
  <p:tag name="KSO_WM_TAG_VERSION" val="1.0"/>
  <p:tag name="KSO_WM_BEAUTIFY_FLAG" val="#wm#"/>
  <p:tag name="KSO_WM_TEMPLATE_CATEGORY" val="custom"/>
  <p:tag name="KSO_WM_TEMPLATE_INDEX" val="20202545"/>
  <p:tag name="KSO_WM_TEMPLATE_MASTER_TYPE" val="1"/>
</p:tagLst>
</file>

<file path=ppt/tags/tag161.xml><?xml version="1.0" encoding="utf-8"?>
<p:tagLst xmlns:p="http://schemas.openxmlformats.org/presentationml/2006/main">
  <p:tag name="KSO_WM_UNIT_ISCONTENTSTITLE" val="0"/>
  <p:tag name="KSO_WM_UNIT_ISNUMDGMTITLE" val="0"/>
  <p:tag name="KSO_WM_UNIT_PRESET_TEXT" val="极简大气通用模板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6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2545_1*b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63.xml><?xml version="1.0" encoding="utf-8"?>
<p:tagLst xmlns:p="http://schemas.openxmlformats.org/presentationml/2006/main">
  <p:tag name="KSO_WM_TEMPLATE_THUMBS_INDEX" val="1、2、6、7、9、11、14、15"/>
  <p:tag name="KSO_WM_SLIDE_ID" val="custom20202545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EMPLATE_MASTER_THUMB_INDEX" val="12"/>
  <p:tag name="KSO_WM_TAG_VERSION" val="1.0"/>
  <p:tag name="KSO_WM_BEAUTIFY_FLAG" val="#wm#"/>
  <p:tag name="KSO_WM_TEMPLATE_CATEGORY" val="custom"/>
  <p:tag name="KSO_WM_TEMPLATE_INDEX" val="20202545"/>
  <p:tag name="KSO_WM_SLIDE_LAYOUT" val="a_b"/>
  <p:tag name="KSO_WM_SLIDE_LAYOUT_CNT" val="1_3"/>
</p:tagLst>
</file>

<file path=ppt/tags/tag164.xml><?xml version="1.0" encoding="utf-8"?>
<p:tagLst xmlns:p="http://schemas.openxmlformats.org/presentationml/2006/main">
  <p:tag name="KSO_WM_DIAGRAM_VIRTUALLY_FRAME" val="{&quot;height&quot;:232.17999999999998,&quot;left&quot;:50.4,&quot;top&quot;:162,&quot;width&quot;:532.8}"/>
</p:tagLst>
</file>

<file path=ppt/tags/tag165.xml><?xml version="1.0" encoding="utf-8"?>
<p:tagLst xmlns:p="http://schemas.openxmlformats.org/presentationml/2006/main">
  <p:tag name="KSO_WM_DIAGRAM_VIRTUALLY_FRAME" val="{&quot;height&quot;:232.17999999999998,&quot;left&quot;:50.4,&quot;top&quot;:162,&quot;width&quot;:532.8}"/>
</p:tagLst>
</file>

<file path=ppt/tags/tag166.xml><?xml version="1.0" encoding="utf-8"?>
<p:tagLst xmlns:p="http://schemas.openxmlformats.org/presentationml/2006/main">
  <p:tag name="KSO_WM_DIAGRAM_VIRTUALLY_FRAME" val="{&quot;height&quot;:232.17999999999998,&quot;left&quot;:50.4,&quot;top&quot;:162,&quot;width&quot;:532.8}"/>
</p:tagLst>
</file>

<file path=ppt/tags/tag167.xml><?xml version="1.0" encoding="utf-8"?>
<p:tagLst xmlns:p="http://schemas.openxmlformats.org/presentationml/2006/main">
  <p:tag name="KSO_WM_DIAGRAM_VIRTUALLY_FRAME" val="{&quot;height&quot;:232.17999999999998,&quot;left&quot;:50.4,&quot;top&quot;:162,&quot;width&quot;:532.8}"/>
</p:tagLst>
</file>

<file path=ppt/tags/tag168.xml><?xml version="1.0" encoding="utf-8"?>
<p:tagLst xmlns:p="http://schemas.openxmlformats.org/presentationml/2006/main">
  <p:tag name="KSO_WM_DIAGRAM_VIRTUALLY_FRAME" val="{&quot;height&quot;:232.17999999999998,&quot;left&quot;:50.4,&quot;top&quot;:162,&quot;width&quot;:532.8}"/>
</p:tagLst>
</file>

<file path=ppt/tags/tag169.xml><?xml version="1.0" encoding="utf-8"?>
<p:tagLst xmlns:p="http://schemas.openxmlformats.org/presentationml/2006/main">
  <p:tag name="KSO_WM_DIAGRAM_VIRTUALLY_FRAME" val="{&quot;height&quot;:232.17999999999998,&quot;left&quot;:50.4,&quot;top&quot;:162,&quot;width&quot;:532.8}"/>
</p:tagLst>
</file>

<file path=ppt/tags/tag170.xml><?xml version="1.0" encoding="utf-8"?>
<p:tagLst xmlns:p="http://schemas.openxmlformats.org/presentationml/2006/main">
  <p:tag name="KSO_WM_DIAGRAM_VIRTUALLY_FRAME" val="{&quot;height&quot;:302.55,&quot;left&quot;:79.2,&quot;top&quot;:151.2,&quot;width&quot;:835.2}"/>
</p:tagLst>
</file>

<file path=ppt/tags/tag171.xml><?xml version="1.0" encoding="utf-8"?>
<p:tagLst xmlns:p="http://schemas.openxmlformats.org/presentationml/2006/main">
  <p:tag name="KSO_WM_DIAGRAM_VIRTUALLY_FRAME" val="{&quot;height&quot;:302.55,&quot;left&quot;:79.2,&quot;top&quot;:151.2,&quot;width&quot;:835.2}"/>
</p:tagLst>
</file>

<file path=ppt/tags/tag172.xml><?xml version="1.0" encoding="utf-8"?>
<p:tagLst xmlns:p="http://schemas.openxmlformats.org/presentationml/2006/main">
  <p:tag name="KSO_WM_DIAGRAM_VIRTUALLY_FRAME" val="{&quot;height&quot;:302.55,&quot;left&quot;:79.2,&quot;top&quot;:151.2,&quot;width&quot;:835.2}"/>
</p:tagLst>
</file>

<file path=ppt/tags/tag173.xml><?xml version="1.0" encoding="utf-8"?>
<p:tagLst xmlns:p="http://schemas.openxmlformats.org/presentationml/2006/main">
  <p:tag name="KSO_WM_DIAGRAM_VIRTUALLY_FRAME" val="{&quot;height&quot;:302.55,&quot;left&quot;:79.2,&quot;top&quot;:151.2,&quot;width&quot;:835.2}"/>
</p:tagLst>
</file>

<file path=ppt/tags/tag174.xml><?xml version="1.0" encoding="utf-8"?>
<p:tagLst xmlns:p="http://schemas.openxmlformats.org/presentationml/2006/main">
  <p:tag name="KSO_WM_DIAGRAM_VIRTUALLY_FRAME" val="{&quot;height&quot;:302.55,&quot;left&quot;:79.2,&quot;top&quot;:151.2,&quot;width&quot;:835.2}"/>
</p:tagLst>
</file>

<file path=ppt/tags/tag175.xml><?xml version="1.0" encoding="utf-8"?>
<p:tagLst xmlns:p="http://schemas.openxmlformats.org/presentationml/2006/main">
  <p:tag name="KSO_WM_DIAGRAM_VIRTUALLY_FRAME" val="{&quot;height&quot;:302.55,&quot;left&quot;:79.2,&quot;top&quot;:151.2,&quot;width&quot;:835.2}"/>
</p:tagLst>
</file>

<file path=ppt/tags/tag176.xml><?xml version="1.0" encoding="utf-8"?>
<p:tagLst xmlns:p="http://schemas.openxmlformats.org/presentationml/2006/main">
  <p:tag name="KSO_WM_UNIT_ISCONTENTSTITLE" val="0"/>
  <p:tag name="KSO_WM_UNIT_ISNUMDGMTITLE" val="0"/>
  <p:tag name="KSO_WM_UNIT_PRESET_TEXT" val="极简大气通用模板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77.xml><?xml version="1.0" encoding="utf-8"?>
<p:tagLst xmlns:p="http://schemas.openxmlformats.org/presentationml/2006/main">
  <p:tag name="KSO_WM_TEMPLATE_THUMBS_INDEX" val="1、2、6、7、9、11、14、15"/>
  <p:tag name="KSO_WM_SLIDE_ID" val="custom20202545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EMPLATE_MASTER_THUMB_INDEX" val="12"/>
  <p:tag name="KSO_WM_TAG_VERSION" val="1.0"/>
  <p:tag name="KSO_WM_BEAUTIFY_FLAG" val="#wm#"/>
  <p:tag name="KSO_WM_TEMPLATE_CATEGORY" val="custom"/>
  <p:tag name="KSO_WM_TEMPLATE_INDEX" val="20202545"/>
  <p:tag name="KSO_WM_SLIDE_LAYOUT" val="a_b"/>
  <p:tag name="KSO_WM_SLIDE_LAYOUT_CNT" val="1_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5C8FC7"/>
      </a:accent1>
      <a:accent2>
        <a:srgbClr val="6E82BA"/>
      </a:accent2>
      <a:accent3>
        <a:srgbClr val="8376B0"/>
      </a:accent3>
      <a:accent4>
        <a:srgbClr val="9868A3"/>
      </a:accent4>
      <a:accent5>
        <a:srgbClr val="AE5B97"/>
      </a:accent5>
      <a:accent6>
        <a:srgbClr val="C44B8A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1698</Words>
  <Application>WPS 演示</Application>
  <PresentationFormat>On-screen Show (16:9)</PresentationFormat>
  <Paragraphs>258</Paragraphs>
  <Slides>12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Arial Unicode MS</vt:lpstr>
      <vt:lpstr>Calibri</vt:lpstr>
      <vt:lpstr>等线</vt:lpstr>
      <vt:lpstr>等线 Light</vt:lpstr>
      <vt:lpstr>Calibri Light</vt:lpstr>
      <vt:lpstr>汉仪旗黑-85S</vt:lpstr>
      <vt:lpstr>黑体</vt:lpstr>
      <vt:lpstr>Viner Hand ITC</vt:lpstr>
      <vt:lpstr>Office Theme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UNION 的两种世界观</dc:title>
  <dc:creator>DB Systems Lab</dc:creator>
  <dc:subject>PptxGenJS Presentation</dc:subject>
  <cp:lastModifiedBy>尤尤</cp:lastModifiedBy>
  <cp:revision>53</cp:revision>
  <dcterms:created xsi:type="dcterms:W3CDTF">2026-06-15T05:12:00Z</dcterms:created>
  <dcterms:modified xsi:type="dcterms:W3CDTF">2026-06-16T17:32:28Z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B7336213353646BCA98097B117A7212C_12</vt:lpwstr>
  </property>
</Properties>
</file>