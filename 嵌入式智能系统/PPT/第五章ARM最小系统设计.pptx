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  <p:sldMasterId id="2147483686" r:id="rId5"/>
    <p:sldMasterId id="2147483700" r:id="rId6"/>
  </p:sldMasterIdLst>
  <p:notesMasterIdLst>
    <p:notesMasterId r:id="rId8"/>
  </p:notesMasterIdLst>
  <p:sldIdLst>
    <p:sldId id="1063" r:id="rId7"/>
    <p:sldId id="1064" r:id="rId9"/>
    <p:sldId id="1075" r:id="rId10"/>
    <p:sldId id="1159" r:id="rId11"/>
    <p:sldId id="1078" r:id="rId12"/>
    <p:sldId id="1182" r:id="rId13"/>
    <p:sldId id="1077" r:id="rId14"/>
    <p:sldId id="1134" r:id="rId15"/>
    <p:sldId id="1135" r:id="rId16"/>
    <p:sldId id="1224" r:id="rId17"/>
    <p:sldId id="1225" r:id="rId18"/>
    <p:sldId id="1204" r:id="rId19"/>
    <p:sldId id="1226" r:id="rId20"/>
    <p:sldId id="1227" r:id="rId21"/>
    <p:sldId id="1176" r:id="rId22"/>
    <p:sldId id="1177" r:id="rId23"/>
    <p:sldId id="1228" r:id="rId24"/>
    <p:sldId id="1229" r:id="rId25"/>
    <p:sldId id="1080" r:id="rId26"/>
    <p:sldId id="1081" r:id="rId27"/>
    <p:sldId id="1082" r:id="rId28"/>
    <p:sldId id="1208" r:id="rId29"/>
    <p:sldId id="1085" r:id="rId30"/>
    <p:sldId id="1086" r:id="rId31"/>
    <p:sldId id="1088" r:id="rId32"/>
    <p:sldId id="1158" r:id="rId33"/>
    <p:sldId id="1094" r:id="rId34"/>
    <p:sldId id="1095" r:id="rId35"/>
    <p:sldId id="1096" r:id="rId36"/>
    <p:sldId id="1160" r:id="rId37"/>
    <p:sldId id="1124" r:id="rId38"/>
    <p:sldId id="1166" r:id="rId39"/>
    <p:sldId id="1161" r:id="rId40"/>
    <p:sldId id="1097" r:id="rId41"/>
    <p:sldId id="1098" r:id="rId42"/>
    <p:sldId id="1099" r:id="rId43"/>
    <p:sldId id="1100" r:id="rId44"/>
    <p:sldId id="1101" r:id="rId45"/>
    <p:sldId id="1102" r:id="rId46"/>
    <p:sldId id="1103" r:id="rId47"/>
    <p:sldId id="1104" r:id="rId48"/>
    <p:sldId id="1105" r:id="rId49"/>
    <p:sldId id="1147" r:id="rId50"/>
    <p:sldId id="1183" r:id="rId51"/>
    <p:sldId id="1162" r:id="rId52"/>
    <p:sldId id="1106" r:id="rId53"/>
    <p:sldId id="1108" r:id="rId54"/>
    <p:sldId id="1109" r:id="rId55"/>
    <p:sldId id="1110" r:id="rId56"/>
    <p:sldId id="1195" r:id="rId57"/>
    <p:sldId id="1137" r:id="rId58"/>
    <p:sldId id="1186" r:id="rId59"/>
    <p:sldId id="1187" r:id="rId60"/>
    <p:sldId id="1239" r:id="rId61"/>
    <p:sldId id="1188" r:id="rId62"/>
    <p:sldId id="1184" r:id="rId63"/>
    <p:sldId id="1209" r:id="rId64"/>
    <p:sldId id="1196" r:id="rId65"/>
    <p:sldId id="1197" r:id="rId66"/>
    <p:sldId id="1194" r:id="rId67"/>
    <p:sldId id="1230" r:id="rId68"/>
    <p:sldId id="1211" r:id="rId69"/>
    <p:sldId id="1164" r:id="rId70"/>
    <p:sldId id="1212" r:id="rId71"/>
    <p:sldId id="1215" r:id="rId72"/>
    <p:sldId id="1216" r:id="rId73"/>
    <p:sldId id="1240" r:id="rId74"/>
    <p:sldId id="1244" r:id="rId75"/>
    <p:sldId id="1148" r:id="rId76"/>
    <p:sldId id="1167" r:id="rId77"/>
    <p:sldId id="1193" r:id="rId78"/>
    <p:sldId id="1236" r:id="rId79"/>
    <p:sldId id="1231" r:id="rId80"/>
    <p:sldId id="1235" r:id="rId81"/>
    <p:sldId id="1190" r:id="rId82"/>
    <p:sldId id="1198" r:id="rId83"/>
    <p:sldId id="1165" r:id="rId84"/>
    <p:sldId id="1112" r:id="rId85"/>
    <p:sldId id="1201" r:id="rId86"/>
    <p:sldId id="1214" r:id="rId87"/>
    <p:sldId id="1113" r:id="rId88"/>
    <p:sldId id="1173" r:id="rId89"/>
    <p:sldId id="1174" r:id="rId90"/>
    <p:sldId id="933" r:id="rId91"/>
    <p:sldId id="1115" r:id="rId92"/>
    <p:sldId id="1114" r:id="rId93"/>
    <p:sldId id="1245" r:id="rId94"/>
    <p:sldId id="1246" r:id="rId95"/>
    <p:sldId id="1247" r:id="rId96"/>
    <p:sldId id="1175" r:id="rId97"/>
    <p:sldId id="1213" r:id="rId98"/>
    <p:sldId id="1199" r:id="rId99"/>
    <p:sldId id="1200" r:id="rId100"/>
    <p:sldId id="1223" r:id="rId101"/>
    <p:sldId id="1237" r:id="rId102"/>
    <p:sldId id="1238" r:id="rId103"/>
    <p:sldId id="1222" r:id="rId104"/>
    <p:sldId id="1248" r:id="rId105"/>
    <p:sldId id="1219" r:id="rId106"/>
    <p:sldId id="1249" r:id="rId107"/>
    <p:sldId id="1118" r:id="rId108"/>
    <p:sldId id="1141" r:id="rId109"/>
    <p:sldId id="938" r:id="rId110"/>
    <p:sldId id="1119" r:id="rId111"/>
    <p:sldId id="1145" r:id="rId112"/>
    <p:sldId id="1146" r:id="rId113"/>
    <p:sldId id="1202" r:id="rId114"/>
    <p:sldId id="1121" r:id="rId115"/>
    <p:sldId id="1120" r:id="rId116"/>
    <p:sldId id="939" r:id="rId117"/>
    <p:sldId id="1221" r:id="rId118"/>
    <p:sldId id="1125" r:id="rId119"/>
    <p:sldId id="1126" r:id="rId120"/>
    <p:sldId id="1127" r:id="rId121"/>
    <p:sldId id="1128" r:id="rId122"/>
    <p:sldId id="1143" r:id="rId123"/>
    <p:sldId id="1129" r:id="rId124"/>
    <p:sldId id="1144" r:id="rId125"/>
    <p:sldId id="1153" r:id="rId126"/>
    <p:sldId id="1152" r:id="rId127"/>
    <p:sldId id="1154" r:id="rId128"/>
    <p:sldId id="1155" r:id="rId129"/>
    <p:sldId id="1130" r:id="rId130"/>
    <p:sldId id="1131" r:id="rId131"/>
    <p:sldId id="1171" r:id="rId132"/>
    <p:sldId id="1203" r:id="rId133"/>
    <p:sldId id="1157" r:id="rId134"/>
    <p:sldId id="1156" r:id="rId135"/>
    <p:sldId id="1168" r:id="rId1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anqi Su" initials="Y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3E6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7" autoAdjust="0"/>
    <p:restoredTop sz="92834" autoAdjust="0"/>
  </p:normalViewPr>
  <p:slideViewPr>
    <p:cSldViewPr showGuides="1">
      <p:cViewPr>
        <p:scale>
          <a:sx n="66" d="100"/>
          <a:sy n="66" d="100"/>
        </p:scale>
        <p:origin x="-1588" y="56"/>
      </p:cViewPr>
      <p:guideLst>
        <p:guide orient="horz" pos="2157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-2808" y="-108"/>
      </p:cViewPr>
      <p:guideLst>
        <p:guide orient="horz" pos="2876"/>
        <p:guide pos="21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" Type="http://schemas.openxmlformats.org/officeDocument/2006/relationships/slide" Target="slides/slide2.xml"/><Relationship Id="rId89" Type="http://schemas.openxmlformats.org/officeDocument/2006/relationships/slide" Target="slides/slide82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80" Type="http://schemas.openxmlformats.org/officeDocument/2006/relationships/slide" Target="slides/slide73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0" Type="http://schemas.openxmlformats.org/officeDocument/2006/relationships/commentAuthors" Target="commentAuthors.xml"/><Relationship Id="rId14" Type="http://schemas.openxmlformats.org/officeDocument/2006/relationships/slide" Target="slides/slide7.xml"/><Relationship Id="rId139" Type="http://schemas.openxmlformats.org/officeDocument/2006/relationships/tableStyles" Target="tableStyles.xml"/><Relationship Id="rId138" Type="http://schemas.openxmlformats.org/officeDocument/2006/relationships/viewProps" Target="viewProps.xml"/><Relationship Id="rId137" Type="http://schemas.openxmlformats.org/officeDocument/2006/relationships/presProps" Target="presProps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" Type="http://schemas.openxmlformats.org/officeDocument/2006/relationships/slide" Target="slides/slide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" Type="http://schemas.openxmlformats.org/officeDocument/2006/relationships/slide" Target="slides/slide5.xml"/><Relationship Id="rId119" Type="http://schemas.openxmlformats.org/officeDocument/2006/relationships/slide" Target="slides/slide112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110" Type="http://schemas.openxmlformats.org/officeDocument/2006/relationships/slide" Target="slides/slide103.xml"/><Relationship Id="rId11" Type="http://schemas.openxmlformats.org/officeDocument/2006/relationships/slide" Target="slides/slide4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0D21A-B70E-4579-8526-B279C64CD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lecfans.com/tags/%E6%97%B6%E9%92%9F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一方面与一般计算机系统相同，另一方面接口方面有一定的特殊性</a:t>
            </a:r>
            <a:endParaRPr lang="en-US" altLang="zh-CN" dirty="0" smtClean="0"/>
          </a:p>
          <a:p>
            <a:r>
              <a:rPr lang="zh-CN" altLang="en-US" dirty="0" smtClean="0"/>
              <a:t>对于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，涉及刷新、</a:t>
            </a:r>
            <a:r>
              <a:rPr lang="en-US" altLang="zh-CN" dirty="0" smtClean="0"/>
              <a:t>RAS/CAS</a:t>
            </a:r>
            <a:r>
              <a:rPr lang="zh-CN" altLang="en-US" dirty="0" smtClean="0"/>
              <a:t>信号产生、地址分时传送等一系列问题，需要电路实现，不能直接挂在总线上了事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CPU:</a:t>
            </a:r>
            <a:r>
              <a:rPr lang="zh-CN" altLang="en-US" dirty="0" smtClean="0"/>
              <a:t>比如</a:t>
            </a:r>
            <a:r>
              <a:rPr lang="en-US" altLang="zh-CN" dirty="0" smtClean="0"/>
              <a:t>ARM9TDMI</a:t>
            </a:r>
            <a:endParaRPr lang="en-US" altLang="zh-CN" dirty="0" smtClean="0"/>
          </a:p>
          <a:p>
            <a:r>
              <a:rPr lang="en-US" altLang="zh-CN" dirty="0" smtClean="0"/>
              <a:t>MPU:</a:t>
            </a:r>
            <a:r>
              <a:rPr lang="zh-CN" altLang="en-US" dirty="0" smtClean="0"/>
              <a:t>比如</a:t>
            </a:r>
            <a:r>
              <a:rPr lang="en-US" altLang="zh-CN" dirty="0" smtClean="0"/>
              <a:t>ARM920T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dirty="0" smtClean="0"/>
              <a:t>SDRAM</a:t>
            </a:r>
            <a:r>
              <a:rPr lang="zh-CN" altLang="en-US" sz="1200" dirty="0" smtClean="0"/>
              <a:t>：同步</a:t>
            </a:r>
            <a:r>
              <a:rPr lang="en-US" altLang="zh-CN" sz="1200" dirty="0" smtClean="0"/>
              <a:t>DRAM</a:t>
            </a:r>
            <a:r>
              <a:rPr lang="zh-CN" altLang="en-US" sz="1200" dirty="0" smtClean="0"/>
              <a:t>。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早期的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读取周期有四个步骤。第一步，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RAS#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与地址总线上的行地址变低。第二步，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CAS#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与地址总线上的列地址变低。第三步，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OE#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变低，读取数据出现在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DQ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数据针脚上。在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DQ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针脚上提供数据时，从第一步第三步的时间称为时延。最后一步是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RAS#, CAS#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OE#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变高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不活动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，等待内部预充电操作在破坏性读取后完成行数据的恢复工作。从第一步开始到最后一步结束的时间是内存周期时间。上述信号的信号定时与边沿顺序有关，是异步的。这些早期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没有同步</a:t>
            </a:r>
            <a:r>
              <a:rPr lang="zh-CN" altLang="en-US" sz="1200" b="0" i="0" u="sng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时钟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操作。</a:t>
            </a:r>
            <a:endParaRPr lang="en-US" altLang="zh-CN" sz="1200" dirty="0" smtClean="0"/>
          </a:p>
          <a:p>
            <a:r>
              <a:rPr lang="zh-CN" altLang="zh-CN" sz="1200" dirty="0" smtClean="0"/>
              <a:t>NAND Flash</a:t>
            </a:r>
            <a:r>
              <a:rPr lang="zh-CN" altLang="en-US" sz="1200" dirty="0" smtClean="0"/>
              <a:t>及</a:t>
            </a:r>
            <a:r>
              <a:rPr lang="en-US" altLang="zh-CN" sz="1200" dirty="0" smtClean="0"/>
              <a:t>SDRAM</a:t>
            </a:r>
            <a:r>
              <a:rPr lang="zh-CN" altLang="en-US" sz="1200" dirty="0" smtClean="0"/>
              <a:t>都没有直接挂在总线的接口</a:t>
            </a:r>
            <a:endParaRPr lang="en-US" altLang="zh-CN" sz="1200" dirty="0" smtClean="0"/>
          </a:p>
          <a:p>
            <a:r>
              <a:rPr lang="en-US" altLang="zh-CN" sz="1200" dirty="0" smtClean="0"/>
              <a:t>ARM920T</a:t>
            </a:r>
            <a:r>
              <a:rPr lang="zh-CN" altLang="en-US" sz="1200" dirty="0" smtClean="0"/>
              <a:t>只有两个外部中断，所以需要中断控制器，内部有什么？</a:t>
            </a:r>
            <a:endParaRPr lang="en-US" altLang="zh-CN" sz="1200" dirty="0" smtClean="0"/>
          </a:p>
          <a:p>
            <a:r>
              <a:rPr lang="zh-CN" altLang="en-US" sz="1200" dirty="0" smtClean="0"/>
              <a:t>红字部分后续会打交道</a:t>
            </a:r>
            <a:endParaRPr lang="en-US" altLang="zh-CN" sz="1200" dirty="0" smtClean="0"/>
          </a:p>
          <a:p>
            <a:endParaRPr lang="en-US" altLang="zh-CN" sz="12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1</a:t>
            </a:r>
            <a:r>
              <a:rPr lang="zh-CN" altLang="en-US" smtClean="0"/>
              <a:t>、安排地址</a:t>
            </a:r>
            <a:endParaRPr lang="en-US" altLang="zh-CN" smtClean="0"/>
          </a:p>
          <a:p>
            <a:r>
              <a:rPr lang="en-US" altLang="zh-CN" smtClean="0"/>
              <a:t>2</a:t>
            </a:r>
            <a:r>
              <a:rPr lang="zh-CN" altLang="en-US" smtClean="0"/>
              <a:t>、换低位地址产生片选</a:t>
            </a:r>
            <a:endParaRPr lang="zh-CN" altLang="en-US" smtClean="0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CE8C6B-D0DC-42D2-B10F-CF23B1DA212F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23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（</a:t>
            </a:r>
            <a:r>
              <a:rPr lang="en-US" altLang="zh-CN" smtClean="0"/>
              <a:t>1</a:t>
            </a:r>
            <a:r>
              <a:rPr lang="zh-CN" altLang="en-US" smtClean="0"/>
              <a:t>）芯片用量及扩展方式；（</a:t>
            </a:r>
            <a:r>
              <a:rPr lang="en-US" altLang="zh-CN" smtClean="0"/>
              <a:t>2</a:t>
            </a:r>
            <a:r>
              <a:rPr lang="zh-CN" altLang="en-US" smtClean="0"/>
              <a:t>）每个芯片需</a:t>
            </a:r>
            <a:r>
              <a:rPr lang="en-US" altLang="zh-CN" smtClean="0"/>
              <a:t>16</a:t>
            </a:r>
            <a:r>
              <a:rPr lang="zh-CN" altLang="en-US" smtClean="0"/>
              <a:t>位地址，由多路选择器分两部分；（</a:t>
            </a:r>
            <a:r>
              <a:rPr lang="en-US" altLang="zh-CN" smtClean="0"/>
              <a:t>3</a:t>
            </a:r>
            <a:r>
              <a:rPr lang="zh-CN" altLang="en-US" smtClean="0"/>
              <a:t>）高</a:t>
            </a:r>
            <a:r>
              <a:rPr lang="en-US" altLang="zh-CN" smtClean="0"/>
              <a:t>4</a:t>
            </a:r>
            <a:r>
              <a:rPr lang="zh-CN" altLang="en-US" smtClean="0"/>
              <a:t>位片选，</a:t>
            </a:r>
            <a:r>
              <a:rPr lang="en-US" altLang="zh-CN" smtClean="0"/>
              <a:t>0000</a:t>
            </a:r>
            <a:r>
              <a:rPr lang="zh-CN" altLang="en-US" smtClean="0"/>
              <a:t>、</a:t>
            </a:r>
            <a:r>
              <a:rPr lang="en-US" altLang="zh-CN" smtClean="0"/>
              <a:t>0001</a:t>
            </a:r>
            <a:r>
              <a:rPr lang="zh-CN" altLang="en-US" smtClean="0"/>
              <a:t>、</a:t>
            </a:r>
            <a:r>
              <a:rPr lang="en-US" altLang="zh-CN" smtClean="0"/>
              <a:t>0010</a:t>
            </a:r>
            <a:r>
              <a:rPr lang="zh-CN" altLang="en-US" smtClean="0"/>
              <a:t>、</a:t>
            </a:r>
            <a:r>
              <a:rPr lang="en-US" altLang="zh-CN" smtClean="0"/>
              <a:t>0011</a:t>
            </a:r>
            <a:r>
              <a:rPr lang="zh-CN" altLang="en-US" smtClean="0"/>
              <a:t>；（</a:t>
            </a:r>
            <a:r>
              <a:rPr lang="en-US" altLang="zh-CN" smtClean="0"/>
              <a:t>4</a:t>
            </a:r>
            <a:r>
              <a:rPr lang="zh-CN" altLang="en-US" smtClean="0"/>
              <a:t>）数据线</a:t>
            </a:r>
            <a:endParaRPr lang="zh-CN" altLang="en-US" smtClean="0"/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37E2058-1B15-46A5-B721-BBC4DFCF8FBF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详解内存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原理</a:t>
            </a:r>
            <a:r>
              <a:rPr lang="en-US" altLang="zh-CN" dirty="0" smtClean="0"/>
              <a:t>(P-Bank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L-Bank</a:t>
            </a:r>
            <a:r>
              <a:rPr lang="zh-CN" altLang="en-US" dirty="0" smtClean="0"/>
              <a:t>、刷新、预充电等</a:t>
            </a:r>
            <a:r>
              <a:rPr lang="en-US" altLang="zh-CN" dirty="0" smtClean="0"/>
              <a:t>) https://blog.csdn.net/freestep96/article/details/126526611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一文搞懂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DDRSDRAM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工作原理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https://www.eet-china.com/mp/a203340.html 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该文说明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流水原理，以下是对其的总结：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 smtClean="0"/>
              <a:t>一次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读写包括：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发送指令（</a:t>
            </a:r>
            <a:r>
              <a:rPr lang="en-US" altLang="zh-CN" dirty="0" smtClean="0"/>
              <a:t>WE\RAS\CAS\CLK\CKE</a:t>
            </a:r>
            <a:r>
              <a:rPr lang="zh-CN" altLang="en-US" dirty="0" smtClean="0"/>
              <a:t>等控制信号的组合，表示读、写、预充电、设置模式寄存器、开始</a:t>
            </a:r>
            <a:r>
              <a:rPr lang="en-US" altLang="zh-CN" dirty="0" smtClean="0"/>
              <a:t>burst</a:t>
            </a:r>
            <a:r>
              <a:rPr lang="zh-CN" altLang="en-US" dirty="0" smtClean="0"/>
              <a:t>、结束</a:t>
            </a:r>
            <a:r>
              <a:rPr lang="en-US" altLang="zh-CN" dirty="0" smtClean="0"/>
              <a:t>burst</a:t>
            </a:r>
            <a:r>
              <a:rPr lang="zh-CN" altLang="en-US" dirty="0" smtClean="0"/>
              <a:t>等，详见数据手册）给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控制器。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控制器解析指令，并送到控制总线（读写、</a:t>
            </a:r>
            <a:r>
              <a:rPr lang="en-US" altLang="zh-CN" dirty="0" smtClean="0"/>
              <a:t>RAS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CAS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CLK</a:t>
            </a:r>
            <a:r>
              <a:rPr lang="zh-CN" altLang="en-US" dirty="0" smtClean="0"/>
              <a:t>等）。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、某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接收控制信息，并读取数据。</a:t>
            </a:r>
            <a:r>
              <a:rPr lang="en-US" altLang="zh-CN" dirty="0" smtClean="0"/>
              <a:t>4</a:t>
            </a:r>
            <a:r>
              <a:rPr lang="zh-CN" altLang="en-US" dirty="0" smtClean="0"/>
              <a:t>、内存芯片把读取出的数据放到数据总线。</a:t>
            </a:r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控制器收取数据，并将其交给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。上述过程比较耗时，需要采取措施加快。</a:t>
            </a:r>
            <a:br>
              <a:rPr lang="zh-CN" altLang="en-US" dirty="0" smtClean="0"/>
            </a:br>
            <a:r>
              <a:rPr lang="zh-CN" altLang="en-US" dirty="0" smtClean="0"/>
              <a:t>措施</a:t>
            </a:r>
            <a:r>
              <a:rPr lang="en-US" altLang="zh-CN" dirty="0" smtClean="0"/>
              <a:t>1——Burst</a:t>
            </a:r>
            <a:r>
              <a:rPr lang="zh-CN" altLang="en-US" dirty="0" smtClean="0"/>
              <a:t>读写方式，解决第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步问题。第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又包括开启单元行、放大、读写数、写回等过程，其中开启单元行需要给读放电路充电，时间较长。如果连续读写的多个单元在一行存储元（的不同列）上，则多次读写只需要一次性开启单元行，节约时间，因此宜采用</a:t>
            </a:r>
            <a:r>
              <a:rPr lang="en-US" altLang="zh-CN" dirty="0" smtClean="0"/>
              <a:t>burst</a:t>
            </a:r>
            <a:r>
              <a:rPr lang="zh-CN" altLang="en-US" dirty="0" smtClean="0"/>
              <a:t>方式，即只给一次地址，连读读写多个单元，它们的行地址相同，列地址连续</a:t>
            </a:r>
            <a:r>
              <a:rPr lang="zh-CN" altLang="en-US" smtClean="0"/>
              <a:t>。相当于一定程度上并行</a:t>
            </a:r>
            <a:r>
              <a:rPr lang="zh-CN" altLang="en-US" dirty="0" smtClean="0"/>
              <a:t>读写多个单元，理论上可以在一个读写周期完成。</a:t>
            </a:r>
            <a:br>
              <a:rPr lang="zh-CN" altLang="en-US" dirty="0" smtClean="0"/>
            </a:br>
            <a:r>
              <a:rPr lang="zh-CN" altLang="en-US" dirty="0" smtClean="0"/>
              <a:t>措施</a:t>
            </a:r>
            <a:r>
              <a:rPr lang="en-US" altLang="zh-CN" dirty="0" smtClean="0"/>
              <a:t>2——bank</a:t>
            </a:r>
            <a:r>
              <a:rPr lang="zh-CN" altLang="en-US" dirty="0" smtClean="0"/>
              <a:t>并行。该措施建立在措施</a:t>
            </a:r>
            <a:r>
              <a:rPr lang="en-US" altLang="zh-CN" dirty="0" smtClean="0"/>
              <a:t>1</a:t>
            </a:r>
            <a:r>
              <a:rPr lang="zh-CN" altLang="en-US" dirty="0" smtClean="0"/>
              <a:t>上。为了加快读写一批数据，数据分四组，分别放在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的相同行上，即一组数据行地址相同，列地址连续，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以流水方式完成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读写的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个步骤，而每个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采用</a:t>
            </a:r>
            <a:r>
              <a:rPr lang="en-US" altLang="zh-CN" dirty="0" smtClean="0"/>
              <a:t>burst</a:t>
            </a:r>
            <a:r>
              <a:rPr lang="zh-CN" altLang="en-US" dirty="0" smtClean="0"/>
              <a:t>方式。</a:t>
            </a:r>
            <a:br>
              <a:rPr lang="zh-CN" altLang="en-US" dirty="0" smtClean="0"/>
            </a:br>
            <a:r>
              <a:rPr lang="zh-CN" altLang="en-US" dirty="0" smtClean="0"/>
              <a:t>措施</a:t>
            </a:r>
            <a:r>
              <a:rPr lang="en-US" altLang="zh-CN" dirty="0" smtClean="0"/>
              <a:t>3——address interleaving</a:t>
            </a:r>
            <a:r>
              <a:rPr lang="zh-CN" altLang="en-US" dirty="0" smtClean="0"/>
              <a:t>（地址交错）：上述原理意味着需要将一组逻辑地址连续的数据，物理上存放在不同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上，即物理地址不连续。这通过虚拟存储的地址映射阶段完成，只需要用逻辑地址的低位映射为物理地址中的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地址即可，其效果是逻辑地址连续（即逻辑地址高位部分想相同）的两个数据，物理地址的高位（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地址）不同，但行地址相同。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一方面与一般计算机系统相同，另一方面接口方面有一定的特殊性</a:t>
            </a:r>
            <a:endParaRPr lang="en-US" altLang="zh-CN" dirty="0" smtClean="0"/>
          </a:p>
          <a:p>
            <a:r>
              <a:rPr lang="zh-CN" altLang="en-US" dirty="0" smtClean="0"/>
              <a:t>对于</a:t>
            </a:r>
            <a:r>
              <a:rPr lang="en-US" altLang="zh-CN" dirty="0" smtClean="0"/>
              <a:t>SDRAM</a:t>
            </a:r>
            <a:r>
              <a:rPr lang="zh-CN" altLang="en-US" dirty="0" smtClean="0"/>
              <a:t>，涉及刷新、</a:t>
            </a:r>
            <a:r>
              <a:rPr lang="en-US" altLang="zh-CN" dirty="0" smtClean="0"/>
              <a:t>RAS/CAS</a:t>
            </a:r>
            <a:r>
              <a:rPr lang="zh-CN" altLang="en-US" dirty="0" smtClean="0"/>
              <a:t>信号产生、地址分时传送等一系列问题，需要电路实现，不能直接挂在总线上了事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FIQ</a:t>
            </a:r>
            <a:r>
              <a:rPr lang="zh-CN" altLang="en-US" smtClean="0"/>
              <a:t>比</a:t>
            </a:r>
            <a:r>
              <a:rPr lang="en-US" altLang="zh-CN" smtClean="0"/>
              <a:t>IRQ</a:t>
            </a:r>
            <a:r>
              <a:rPr lang="zh-CN" altLang="en-US" smtClean="0"/>
              <a:t>快的第</a:t>
            </a:r>
            <a:r>
              <a:rPr lang="en-US" altLang="zh-CN" smtClean="0"/>
              <a:t>2</a:t>
            </a:r>
            <a:r>
              <a:rPr lang="zh-CN" altLang="en-US" smtClean="0"/>
              <a:t>个原因</a:t>
            </a:r>
            <a:endParaRPr lang="zh-CN" altLang="en-US" smtClean="0"/>
          </a:p>
        </p:txBody>
      </p:sp>
      <p:sp>
        <p:nvSpPr>
          <p:cNvPr id="174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91DCD95-F5F2-46B3-9A01-B03C81C48693}" type="slidenum">
              <a:rPr lang="en-US" altLang="zh-CN" sz="1200">
                <a:solidFill>
                  <a:prstClr val="black"/>
                </a:solidFill>
              </a:rPr>
            </a:fld>
            <a:endParaRPr lang="en-US" altLang="zh-CN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子中断源是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内部各接口使用的中断源，而</a:t>
            </a:r>
            <a:r>
              <a:rPr lang="zh-CN" altLang="en-US" dirty="0" smtClean="0">
                <a:solidFill>
                  <a:srgbClr val="FF0000"/>
                </a:solidFill>
              </a:rPr>
              <a:t>外部中断源则是系统扩展时用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ARM902T</a:t>
            </a:r>
            <a:r>
              <a:rPr lang="zh-CN" altLang="en-US" dirty="0" smtClean="0"/>
              <a:t>部分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嵌入式</a:t>
            </a:r>
            <a:r>
              <a:rPr lang="en-US" altLang="zh-CN" dirty="0" smtClean="0"/>
              <a:t>ICE(In Circuit Emulator)</a:t>
            </a:r>
            <a:r>
              <a:rPr lang="zh-CN" altLang="en-US" dirty="0" smtClean="0"/>
              <a:t>，支持片上断点和调试点。</a:t>
            </a:r>
            <a:r>
              <a:rPr lang="en-US" altLang="zh-CN" dirty="0" smtClean="0"/>
              <a:t>ARM7TDMI</a:t>
            </a:r>
            <a:r>
              <a:rPr lang="zh-CN" altLang="en-US" dirty="0" smtClean="0"/>
              <a:t>内核包含一个称为嵌入式</a:t>
            </a:r>
            <a:r>
              <a:rPr lang="en-US" altLang="zh-CN" dirty="0" smtClean="0"/>
              <a:t>ICE-RT</a:t>
            </a:r>
            <a:r>
              <a:rPr lang="zh-CN" altLang="en-US" dirty="0" smtClean="0"/>
              <a:t>的逻辑单元，用于提供片内调试支持，它包含一个调试通信通道</a:t>
            </a:r>
            <a:r>
              <a:rPr lang="en-US" altLang="zh-CN" dirty="0" smtClean="0"/>
              <a:t>(Debug Communication </a:t>
            </a:r>
            <a:r>
              <a:rPr lang="en-US" altLang="zh-CN" dirty="0" err="1" smtClean="0"/>
              <a:t>Channel,DCC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，在主机调试器和目标之间传送信息，嵌入式</a:t>
            </a:r>
            <a:r>
              <a:rPr lang="en-US" altLang="zh-CN" dirty="0" smtClean="0"/>
              <a:t>ICE-RT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JTAG</a:t>
            </a:r>
            <a:r>
              <a:rPr lang="zh-CN" altLang="en-US" smtClean="0"/>
              <a:t>测试访问接口进行控制</a:t>
            </a:r>
            <a:endParaRPr lang="zh-CN" altLang="en-US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高性能总线</a:t>
            </a:r>
            <a:r>
              <a:rPr lang="en-US" altLang="zh-CN" b="1" dirty="0" smtClean="0"/>
              <a:t>AHB</a:t>
            </a:r>
            <a:r>
              <a:rPr lang="zh-CN" altLang="en-US" dirty="0" smtClean="0"/>
              <a:t>，外设总线</a:t>
            </a:r>
            <a:r>
              <a:rPr lang="en-US" altLang="zh-CN" b="1" dirty="0" smtClean="0"/>
              <a:t>APB</a:t>
            </a:r>
            <a:r>
              <a:rPr lang="zh-CN" altLang="en-US" dirty="0" smtClean="0"/>
              <a:t>。两种总线性能不同，挂接外设不同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当然还可以增加</a:t>
            </a:r>
            <a:r>
              <a:rPr lang="en-US" altLang="zh-CN" dirty="0" smtClean="0"/>
              <a:t>SRAM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、上面是</a:t>
            </a:r>
            <a:r>
              <a:rPr lang="en-US" altLang="zh-CN" dirty="0" smtClean="0"/>
              <a:t>1.8V</a:t>
            </a:r>
            <a:r>
              <a:rPr lang="zh-CN" altLang="en-US" dirty="0" smtClean="0"/>
              <a:t>的电池后备电路、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电源指示灯电路。电池小于</a:t>
            </a:r>
            <a:r>
              <a:rPr lang="en-US" altLang="zh-CN" dirty="0" smtClean="0"/>
              <a:t>1.8+2x0.7V</a:t>
            </a:r>
            <a:r>
              <a:rPr lang="zh-CN" altLang="en-US" dirty="0" smtClean="0"/>
              <a:t>，则靠</a:t>
            </a:r>
            <a:r>
              <a:rPr lang="en-US" altLang="zh-CN" dirty="0" smtClean="0"/>
              <a:t>VDD18V</a:t>
            </a:r>
            <a:r>
              <a:rPr lang="zh-CN" altLang="en-US" dirty="0" smtClean="0"/>
              <a:t>供电，当</a:t>
            </a:r>
            <a:r>
              <a:rPr lang="en-US" altLang="zh-CN" dirty="0" smtClean="0"/>
              <a:t>VDD18V</a:t>
            </a:r>
            <a:r>
              <a:rPr lang="zh-CN" altLang="en-US" dirty="0" smtClean="0"/>
              <a:t>断电时电池马上供电，但只给</a:t>
            </a:r>
            <a:r>
              <a:rPr lang="en-US" altLang="zh-CN" dirty="0" smtClean="0"/>
              <a:t>RTC</a:t>
            </a:r>
            <a:r>
              <a:rPr lang="zh-CN" altLang="en-US" dirty="0" smtClean="0"/>
              <a:t>供电。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L1117</a:t>
            </a:r>
            <a:r>
              <a:rPr lang="zh-CN" altLang="en-US" dirty="0" smtClean="0"/>
              <a:t>：（线性）三端稳压器</a:t>
            </a:r>
            <a:r>
              <a:rPr lang="en-US" altLang="zh-CN" dirty="0" smtClean="0"/>
              <a:t>,</a:t>
            </a:r>
            <a:r>
              <a:rPr lang="zh-CN" altLang="en-US" dirty="0" smtClean="0"/>
              <a:t>输入和输出需加滤波电容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可以考虑使用开关电源电路，而不是</a:t>
            </a:r>
            <a:r>
              <a:rPr lang="en-US" altLang="zh-CN" dirty="0" smtClean="0"/>
              <a:t>DC-DC</a:t>
            </a:r>
            <a:r>
              <a:rPr lang="zh-CN" altLang="en-US" dirty="0" smtClean="0"/>
              <a:t>变换器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不考虑移动性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时钟源可以分为两类：（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）基于机械谐振器件的时钟源，如晶振、陶瓷谐振槽路。高初始精度和低温度系数；（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（电阻、电容）振荡器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晶振：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从一块石英晶体上按一定方位角切下薄片，封装内部添加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组成振荡电路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锁相环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 locked loop)，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就是锁定相位的环路。两重作用：（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）通过负反馈使输出频率的相位稳定；（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）分频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在频率高时必须用，否则时钟不稳定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高性能总线</a:t>
            </a:r>
            <a:r>
              <a:rPr lang="en-US" altLang="zh-CN" b="1" dirty="0" smtClean="0"/>
              <a:t>AHB</a:t>
            </a:r>
            <a:r>
              <a:rPr lang="zh-CN" altLang="en-US" dirty="0" smtClean="0"/>
              <a:t>，外设总线</a:t>
            </a:r>
            <a:r>
              <a:rPr lang="en-US" altLang="zh-CN" b="1" dirty="0" smtClean="0"/>
              <a:t>APB</a:t>
            </a:r>
            <a:r>
              <a:rPr lang="zh-CN" altLang="en-US" dirty="0" smtClean="0"/>
              <a:t>。两种总线性能不同，挂接外设不同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oscillator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的缩写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意为振荡器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晶振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IO</a:t>
            </a:r>
            <a:r>
              <a:rPr lang="zh-CN" altLang="en-US" dirty="0" smtClean="0"/>
              <a:t>接口中有寄存器，称为</a:t>
            </a:r>
            <a:r>
              <a:rPr lang="en-US" altLang="zh-CN" dirty="0" smtClean="0"/>
              <a:t>IO</a:t>
            </a:r>
            <a:r>
              <a:rPr lang="zh-CN" altLang="en-US" dirty="0" smtClean="0"/>
              <a:t>端口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CPU</a:t>
            </a:r>
            <a:r>
              <a:rPr lang="zh-CN" altLang="en-US" dirty="0" smtClean="0"/>
              <a:t>为什么要复位？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如果</a:t>
            </a:r>
            <a:r>
              <a:rPr lang="en-US" altLang="zh-CN" dirty="0" err="1" smtClean="0"/>
              <a:t>nRESET</a:t>
            </a:r>
            <a:r>
              <a:rPr lang="zh-CN" altLang="en-US" dirty="0" smtClean="0"/>
              <a:t>为低电平，则加反相器</a:t>
            </a:r>
            <a:r>
              <a:rPr lang="en-US" altLang="zh-CN" dirty="0" smtClean="0"/>
              <a:t>74F04</a:t>
            </a:r>
            <a:endParaRPr lang="zh-CN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仍然通过电容充电导致低电平，但（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）增加两级非门，调整电平；（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）反串二极管，掉电或按按钮时加速电容放电，防止不稳定状态；（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）增加了按键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如果</a:t>
            </a:r>
            <a:r>
              <a:rPr lang="en-US" altLang="zh-CN" dirty="0" err="1" smtClean="0"/>
              <a:t>nRESET</a:t>
            </a:r>
            <a:r>
              <a:rPr lang="zh-CN" altLang="en-US" dirty="0" smtClean="0"/>
              <a:t>为低电平，则加反相器</a:t>
            </a:r>
            <a:r>
              <a:rPr lang="en-US" altLang="zh-CN" dirty="0" smtClean="0"/>
              <a:t>74F04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程序在</a:t>
            </a:r>
            <a:r>
              <a:rPr lang="en-US" altLang="zh-CN" dirty="0" smtClean="0"/>
              <a:t>PC</a:t>
            </a:r>
            <a:r>
              <a:rPr lang="zh-CN" altLang="en-US" dirty="0" smtClean="0"/>
              <a:t>存储和运行，产生的信号通过电缆传输，本质仍是仿真，不好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dirty="0" smtClean="0"/>
              <a:t>test </a:t>
            </a:r>
            <a:r>
              <a:rPr lang="en-US" altLang="zh-CN" dirty="0"/>
              <a:t>Access Port</a:t>
            </a:r>
            <a:br>
              <a:rPr lang="en-US" altLang="zh-CN" dirty="0"/>
            </a:br>
            <a:r>
              <a:rPr lang="zh-CN" altLang="en-US" dirty="0"/>
              <a:t>控制</a:t>
            </a:r>
            <a:r>
              <a:rPr lang="en-US" altLang="zh-CN" dirty="0"/>
              <a:t>JTAG</a:t>
            </a:r>
            <a:r>
              <a:rPr lang="zh-CN" altLang="en-US" dirty="0"/>
              <a:t>扫描链的逻辑，一条或多条</a:t>
            </a:r>
            <a:r>
              <a:rPr lang="en-US" altLang="zh-CN" dirty="0"/>
              <a:t>JTAG</a:t>
            </a:r>
            <a:r>
              <a:rPr lang="zh-CN" altLang="en-US" dirty="0"/>
              <a:t>链可以挂在</a:t>
            </a:r>
            <a:r>
              <a:rPr lang="en-US" altLang="zh-CN" dirty="0"/>
              <a:t>TAP</a:t>
            </a:r>
            <a:r>
              <a:rPr lang="zh-CN" altLang="en-US" dirty="0"/>
              <a:t>上，通过</a:t>
            </a:r>
            <a:r>
              <a:rPr lang="en-US" altLang="zh-CN" dirty="0"/>
              <a:t>TAP</a:t>
            </a:r>
            <a:r>
              <a:rPr lang="zh-CN" altLang="en-US" dirty="0"/>
              <a:t>引出</a:t>
            </a:r>
            <a:r>
              <a:rPr lang="en-US" altLang="zh-CN" dirty="0"/>
              <a:t>JTAG</a:t>
            </a:r>
            <a:r>
              <a:rPr lang="zh-CN" altLang="en-US" dirty="0"/>
              <a:t>接口信</a:t>
            </a:r>
            <a:br>
              <a:rPr lang="zh-CN" altLang="en-US" dirty="0"/>
            </a:br>
            <a:r>
              <a:rPr lang="zh-CN" altLang="en-US" dirty="0"/>
              <a:t>号到芯片外面，一般一个芯片内部有多条</a:t>
            </a:r>
            <a:r>
              <a:rPr lang="en-US" altLang="zh-CN" dirty="0"/>
              <a:t>JTAG</a:t>
            </a:r>
            <a:r>
              <a:rPr lang="zh-CN" altLang="en-US" dirty="0"/>
              <a:t>链，但是只有一个</a:t>
            </a:r>
            <a:r>
              <a:rPr lang="en-US" altLang="zh-CN" dirty="0"/>
              <a:t>TAP,</a:t>
            </a:r>
            <a:r>
              <a:rPr lang="zh-CN" altLang="en-US" dirty="0"/>
              <a:t>即芯片引脚中只</a:t>
            </a:r>
            <a:br>
              <a:rPr lang="zh-CN" altLang="en-US" dirty="0"/>
            </a:br>
            <a:r>
              <a:rPr lang="zh-CN" altLang="en-US" dirty="0"/>
              <a:t>有一个统一的</a:t>
            </a:r>
            <a:r>
              <a:rPr lang="en-US" altLang="zh-CN" dirty="0"/>
              <a:t>JTAG</a:t>
            </a:r>
            <a:r>
              <a:rPr lang="zh-CN" altLang="en-US" dirty="0"/>
              <a:t>口。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</p:spPr>
        <p:txBody>
          <a:bodyPr/>
          <a:lstStyle/>
          <a:p>
            <a:r>
              <a:rPr lang="zh-CN" altLang="en-US" sz="1600" dirty="0">
                <a:solidFill>
                  <a:srgbClr val="000000"/>
                </a:solidFill>
              </a:rPr>
              <a:t>本图片来源</a:t>
            </a:r>
            <a:r>
              <a:rPr lang="zh-CN" altLang="en-US" sz="1600" dirty="0" smtClean="0">
                <a:solidFill>
                  <a:srgbClr val="000000"/>
                </a:solidFill>
              </a:rPr>
              <a:t>：</a:t>
            </a:r>
            <a:r>
              <a:rPr lang="en-US" altLang="zh-CN" sz="1600" dirty="0" smtClean="0">
                <a:solidFill>
                  <a:srgbClr val="000000"/>
                </a:solidFill>
              </a:rPr>
              <a:t>http</a:t>
            </a:r>
            <a:r>
              <a:rPr lang="en-US" altLang="zh-CN" sz="1600" dirty="0">
                <a:solidFill>
                  <a:srgbClr val="000000"/>
                </a:solidFill>
              </a:rPr>
              <a:t>://www.guangdongdz.com/special_column/techarticle/TECHDATA/aet/200112/2.htm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一方面与一般计算机系统相同，另一方面接口方面有一定的特殊性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尽管</a:t>
            </a:r>
            <a:r>
              <a:rPr lang="en-US" altLang="zh-CN" sz="1200" dirty="0" smtClean="0"/>
              <a:t>S3C2440X</a:t>
            </a:r>
            <a:endParaRPr lang="zh-CN" altLang="en-US" sz="1200" dirty="0" smtClean="0"/>
          </a:p>
          <a:p>
            <a:r>
              <a:rPr lang="zh-CN" altLang="en-US" dirty="0" smtClean="0"/>
              <a:t>没有实现存储器，但如何组织已经确定，其中最重要的是，存储空间的划分：哪些给</a:t>
            </a:r>
            <a:r>
              <a:rPr lang="en-US" altLang="zh-CN" dirty="0" smtClean="0"/>
              <a:t>IO</a:t>
            </a:r>
            <a:r>
              <a:rPr lang="zh-CN" altLang="en-US" dirty="0" smtClean="0"/>
              <a:t>端口，哪些给存储单元等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是掌握各种处理器使用的最重要问题，关键理解概念，最终设计只要连几根线。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、以</a:t>
            </a:r>
            <a:r>
              <a:rPr lang="en-US" altLang="zh-CN" dirty="0" smtClean="0"/>
              <a:t>NAND</a:t>
            </a:r>
            <a:r>
              <a:rPr lang="zh-CN" altLang="en-US" dirty="0" smtClean="0"/>
              <a:t>启动为例，共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ARM</a:t>
            </a:r>
            <a:r>
              <a:rPr lang="zh-CN" altLang="en-US" dirty="0" smtClean="0"/>
              <a:t>的寻址空间，但</a:t>
            </a:r>
            <a:r>
              <a:rPr lang="en-US" altLang="zh-CN" dirty="0" smtClean="0"/>
              <a:t>S3C2440</a:t>
            </a:r>
            <a:r>
              <a:rPr lang="zh-CN" altLang="en-US" dirty="0" smtClean="0"/>
              <a:t>只用了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前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GB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的地址（也就是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x0000 0000--0x3FFF FFFF）,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以及</a:t>
            </a:r>
            <a:r>
              <a:rPr lang="en-US" altLang="zh-CN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384MB</a:t>
            </a:r>
            <a:r>
              <a:rPr lang="zh-CN" altLang="en-US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0x4800 0000--0x5FFF FFFF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）为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SFR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在观察存储映像的实验中，看到的主存实际上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的情况。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实际是端口地址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统一编址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、本来需要</a:t>
            </a:r>
            <a:r>
              <a:rPr lang="en-US" altLang="zh-CN" dirty="0" smtClean="0"/>
              <a:t>32</a:t>
            </a:r>
            <a:r>
              <a:rPr lang="zh-CN" altLang="en-US" dirty="0" smtClean="0"/>
              <a:t>根地址引脚，但存储空间只有</a:t>
            </a:r>
            <a:r>
              <a:rPr lang="en-US" altLang="zh-CN" dirty="0" smtClean="0"/>
              <a:t>1G</a:t>
            </a:r>
            <a:r>
              <a:rPr lang="zh-CN" altLang="en-US" dirty="0" smtClean="0"/>
              <a:t>（</a:t>
            </a:r>
            <a:r>
              <a:rPr lang="en-US" altLang="zh-CN" dirty="0" smtClean="0"/>
              <a:t>SFR</a:t>
            </a:r>
            <a:r>
              <a:rPr lang="zh-CN" altLang="en-US" dirty="0" smtClean="0"/>
              <a:t>不需要接线，故其访问是内部的，此处不用考虑），所以只需地址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   又将存储空间划分为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，增加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r>
              <a:rPr lang="zh-CN" altLang="en-US" dirty="0" smtClean="0"/>
              <a:t>，</a:t>
            </a:r>
            <a:r>
              <a:rPr lang="en-US" altLang="zh-CN" dirty="0" smtClean="0"/>
              <a:t>8</a:t>
            </a:r>
            <a:r>
              <a:rPr lang="zh-CN" altLang="en-US" dirty="0" smtClean="0"/>
              <a:t>根片选信号选择每个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，相当于最高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位（全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</a:t>
            </a:r>
            <a:r>
              <a:rPr lang="en-US" altLang="zh-CN" dirty="0" smtClean="0"/>
              <a:t>+</a:t>
            </a:r>
            <a:r>
              <a:rPr lang="zh-CN" altLang="en-US" dirty="0" smtClean="0"/>
              <a:t>次高</a:t>
            </a:r>
            <a:r>
              <a:rPr lang="en-US" altLang="zh-CN" dirty="0" smtClean="0"/>
              <a:t>3</a:t>
            </a:r>
            <a:r>
              <a:rPr lang="zh-CN" altLang="en-US" dirty="0" smtClean="0"/>
              <a:t>位作为片选电路的输入，所以只有</a:t>
            </a:r>
            <a:r>
              <a:rPr lang="en-US" altLang="zh-CN" dirty="0" smtClean="0"/>
              <a:t>27</a:t>
            </a:r>
            <a:r>
              <a:rPr lang="zh-CN" altLang="en-US" dirty="0" smtClean="0"/>
              <a:t>根地址</a:t>
            </a:r>
            <a:r>
              <a:rPr lang="en-US" altLang="zh-CN" dirty="0" smtClean="0"/>
              <a:t>ADDR[0:26]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   </a:t>
            </a:r>
            <a:r>
              <a:rPr lang="zh-CN" altLang="en-US" dirty="0" smtClean="0"/>
              <a:t>为了实现按字和按字节编址并访问，并提供</a:t>
            </a:r>
            <a:r>
              <a:rPr lang="en-US" altLang="zh-CN" dirty="0" smtClean="0"/>
              <a:t>4</a:t>
            </a:r>
            <a:r>
              <a:rPr lang="zh-CN" altLang="en-US" dirty="0" smtClean="0"/>
              <a:t>根选体信号</a:t>
            </a:r>
            <a:r>
              <a:rPr lang="en-US" altLang="zh-CN" dirty="0" smtClean="0"/>
              <a:t>WBE3-0</a:t>
            </a:r>
            <a:r>
              <a:rPr lang="zh-CN" altLang="en-US" dirty="0" smtClean="0"/>
              <a:t>。对于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位存储器，则最低位地址</a:t>
            </a:r>
            <a:r>
              <a:rPr lang="en-US" altLang="zh-CN" dirty="0" smtClean="0"/>
              <a:t>A0</a:t>
            </a:r>
            <a:r>
              <a:rPr lang="zh-CN" altLang="en-US" dirty="0" smtClean="0"/>
              <a:t>不用，改用两个选题信号；同理，对于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位存储器，分四个体，则</a:t>
            </a:r>
            <a:r>
              <a:rPr lang="en-US" altLang="zh-CN" dirty="0" smtClean="0"/>
              <a:t>A1A0</a:t>
            </a:r>
            <a:r>
              <a:rPr lang="zh-CN" altLang="en-US" dirty="0" smtClean="0"/>
              <a:t>不用，改用四个选题信号。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4</a:t>
            </a:r>
            <a:r>
              <a:rPr lang="zh-CN" altLang="en-US" dirty="0" smtClean="0"/>
              <a:t>、在采用</a:t>
            </a:r>
            <a:r>
              <a:rPr lang="en-US" altLang="zh-CN" dirty="0" smtClean="0"/>
              <a:t>nor flash</a:t>
            </a:r>
            <a:r>
              <a:rPr lang="zh-CN" altLang="en-US" dirty="0" smtClean="0"/>
              <a:t>启动时，</a:t>
            </a:r>
            <a:r>
              <a:rPr lang="en-US" altLang="zh-CN" dirty="0" err="1" smtClean="0"/>
              <a:t>nandflash</a:t>
            </a:r>
            <a:r>
              <a:rPr lang="zh-CN" altLang="en-US" dirty="0" smtClean="0"/>
              <a:t>控制器中的</a:t>
            </a:r>
            <a:r>
              <a:rPr lang="en-US" altLang="zh-CN" dirty="0" smtClean="0"/>
              <a:t>4KBsram</a:t>
            </a:r>
            <a:r>
              <a:rPr lang="zh-CN" altLang="en-US" dirty="0" smtClean="0"/>
              <a:t>也可以作为独立的存储器使用。其地址空间定位在</a:t>
            </a:r>
            <a:r>
              <a:rPr lang="en-US" altLang="zh-CN" dirty="0" smtClean="0"/>
              <a:t>0x40000000-40000FFF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、也就是说，高位地址</a:t>
            </a:r>
            <a:r>
              <a:rPr lang="en-US" altLang="zh-CN" dirty="0" smtClean="0"/>
              <a:t>ADDR29-27</a:t>
            </a:r>
            <a:r>
              <a:rPr lang="zh-CN" altLang="en-US" dirty="0" smtClean="0"/>
              <a:t>经过译码产生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个片选，</a:t>
            </a:r>
            <a:r>
              <a:rPr lang="en-US" altLang="zh-CN" dirty="0" smtClean="0"/>
              <a:t>ARM920T</a:t>
            </a:r>
            <a:r>
              <a:rPr lang="zh-CN" altLang="en-US" dirty="0" smtClean="0"/>
              <a:t>的最高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位地址不用，因此是部分译码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、注意，寻址空间是</a:t>
            </a:r>
            <a:r>
              <a:rPr lang="en-US" altLang="zh-CN" dirty="0" smtClean="0"/>
              <a:t>1G</a:t>
            </a:r>
            <a:r>
              <a:rPr lang="zh-CN" altLang="en-US" dirty="0" smtClean="0"/>
              <a:t>字节，是字节地址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、也就是说，高位地址</a:t>
            </a:r>
            <a:r>
              <a:rPr lang="en-US" altLang="zh-CN" dirty="0" smtClean="0"/>
              <a:t>ADDR29-27</a:t>
            </a:r>
            <a:r>
              <a:rPr lang="zh-CN" altLang="en-US" dirty="0" smtClean="0"/>
              <a:t>经过译码产生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个片选，</a:t>
            </a:r>
            <a:r>
              <a:rPr lang="en-US" altLang="zh-CN" dirty="0" smtClean="0"/>
              <a:t>ARM920T</a:t>
            </a:r>
            <a:r>
              <a:rPr lang="zh-CN" altLang="en-US" dirty="0" smtClean="0"/>
              <a:t>的最高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位地址不用，因此是部分译码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、注意，寻址空间是</a:t>
            </a:r>
            <a:r>
              <a:rPr lang="en-US" altLang="zh-CN" dirty="0" smtClean="0"/>
              <a:t>1G</a:t>
            </a:r>
            <a:r>
              <a:rPr lang="zh-CN" altLang="en-US" dirty="0" smtClean="0"/>
              <a:t>字节，是字节地址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  <a:p>
            <a:r>
              <a:rPr lang="zh-CN" altLang="en-US" dirty="0" smtClean="0"/>
              <a:t>结论：地址线只有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、为什么分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？高三位地址相当于通过</a:t>
            </a:r>
            <a:r>
              <a:rPr lang="en-US" altLang="zh-CN" dirty="0" smtClean="0"/>
              <a:t>3-8</a:t>
            </a:r>
            <a:r>
              <a:rPr lang="zh-CN" altLang="en-US" dirty="0" smtClean="0"/>
              <a:t>译码器差生片选信号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和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chemeClr val="tx1"/>
                </a:solidFill>
              </a:rPr>
              <a:t>的理解。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有控制器，所以不占用上述存储空间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baseline="0" dirty="0" smtClean="0"/>
              <a:t>1</a:t>
            </a:r>
            <a:r>
              <a:rPr lang="zh-CN" altLang="en-US" baseline="0" dirty="0" smtClean="0"/>
              <a:t>、指令中的</a:t>
            </a:r>
            <a:r>
              <a:rPr lang="en-US" altLang="zh-CN" baseline="0" dirty="0" smtClean="0"/>
              <a:t>32</a:t>
            </a:r>
            <a:r>
              <a:rPr lang="zh-CN" altLang="en-US" baseline="0" dirty="0" smtClean="0"/>
              <a:t>位地址仍在地址线传输，但只用高</a:t>
            </a:r>
            <a:r>
              <a:rPr lang="en-US" altLang="zh-CN" baseline="0" dirty="0" smtClean="0"/>
              <a:t>30</a:t>
            </a:r>
            <a:r>
              <a:rPr lang="zh-CN" altLang="en-US" baseline="0" dirty="0" smtClean="0"/>
              <a:t>位，高</a:t>
            </a:r>
            <a:r>
              <a:rPr lang="en-US" altLang="zh-CN" baseline="0" dirty="0" smtClean="0"/>
              <a:t>5</a:t>
            </a:r>
            <a:r>
              <a:rPr lang="zh-CN" altLang="en-US" baseline="0" dirty="0" smtClean="0"/>
              <a:t>位选</a:t>
            </a:r>
            <a:r>
              <a:rPr lang="en-US" altLang="zh-CN" baseline="0" dirty="0" smtClean="0"/>
              <a:t>bank</a:t>
            </a:r>
            <a:r>
              <a:rPr lang="zh-CN" altLang="en-US" baseline="0" dirty="0" smtClean="0"/>
              <a:t>，低</a:t>
            </a:r>
            <a:r>
              <a:rPr lang="en-US" altLang="zh-CN" baseline="0" dirty="0" smtClean="0"/>
              <a:t>25</a:t>
            </a:r>
            <a:r>
              <a:rPr lang="zh-CN" altLang="en-US" baseline="0" dirty="0" smtClean="0"/>
              <a:t>位接芯片地址引脚。</a:t>
            </a:r>
            <a:r>
              <a:rPr lang="en-US" altLang="zh-CN" baseline="0" dirty="0" smtClean="0"/>
              <a:t>A1A0</a:t>
            </a:r>
            <a:r>
              <a:rPr lang="zh-CN" altLang="en-US" baseline="0" dirty="0" smtClean="0"/>
              <a:t>在某个</a:t>
            </a:r>
            <a:r>
              <a:rPr lang="en-US" altLang="zh-CN" baseline="0" dirty="0" smtClean="0"/>
              <a:t>bank</a:t>
            </a:r>
            <a:r>
              <a:rPr lang="zh-CN" altLang="en-US" baseline="0" dirty="0" smtClean="0"/>
              <a:t>只有</a:t>
            </a:r>
            <a:r>
              <a:rPr lang="en-US" altLang="zh-CN" baseline="0" dirty="0" smtClean="0"/>
              <a:t>8/16</a:t>
            </a:r>
            <a:r>
              <a:rPr lang="zh-CN" altLang="en-US" baseline="0" dirty="0" smtClean="0"/>
              <a:t>位时还要接到芯片引脚。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2</a:t>
            </a:r>
            <a:r>
              <a:rPr lang="zh-CN" altLang="en-US" baseline="0" dirty="0" smtClean="0"/>
              <a:t>、</a:t>
            </a:r>
            <a:r>
              <a:rPr kumimoji="1" lang="en-US" altLang="zh-CN" sz="12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接芯片的写信号上。当芯片字长为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16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位时，使用</a:t>
            </a:r>
            <a:r>
              <a:rPr kumimoji="1" lang="en-US" altLang="zh-CN" sz="12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nBE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。 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aseline="0" dirty="0" smtClean="0"/>
              <a:t>3</a:t>
            </a:r>
            <a:r>
              <a:rPr lang="zh-CN" altLang="en-US" baseline="0" dirty="0" smtClean="0"/>
              <a:t>、</a:t>
            </a:r>
            <a:r>
              <a:rPr lang="en-US" altLang="zh-CN" baseline="0" dirty="0" smtClean="0"/>
              <a:t>CPU</a:t>
            </a:r>
            <a:r>
              <a:rPr lang="zh-CN" altLang="en-US" baseline="0" dirty="0" smtClean="0"/>
              <a:t>出来有</a:t>
            </a:r>
            <a:r>
              <a:rPr lang="en-US" altLang="zh-CN" baseline="0" dirty="0" smtClean="0"/>
              <a:t>32</a:t>
            </a:r>
            <a:r>
              <a:rPr lang="zh-CN" altLang="en-US" baseline="0" dirty="0" smtClean="0"/>
              <a:t>根，但只接高</a:t>
            </a:r>
            <a:r>
              <a:rPr lang="en-US" altLang="zh-CN" baseline="0" dirty="0" smtClean="0"/>
              <a:t>30</a:t>
            </a:r>
            <a:r>
              <a:rPr lang="zh-CN" altLang="en-US" baseline="0" dirty="0" smtClean="0"/>
              <a:t>位，并使用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根据指令中地址、指令访存字长将最低</a:t>
            </a:r>
            <a:r>
              <a:rPr kumimoji="1" lang="en-US" altLang="zh-CN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zh-CN" alt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位地址转换为字节使能信号。</a:t>
            </a:r>
            <a:endParaRPr kumimoji="1" lang="en-US" altLang="zh-CN" sz="1200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aseline="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kumimoji="1" lang="zh-CN" altLang="en-US" sz="1200" baseline="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、为了便于理解，此处假设整个存储器只有一个</a:t>
            </a:r>
            <a:r>
              <a:rPr kumimoji="1" lang="en-US" altLang="zh-CN" sz="1200" baseline="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sz="1200" baseline="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endParaRPr kumimoji="1" lang="en-US" altLang="zh-CN" sz="1200" baseline="0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aseline="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5</a:t>
            </a:r>
            <a:r>
              <a:rPr kumimoji="1" lang="zh-CN" altLang="en-US" sz="1200" baseline="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、先只考虑写操作，最后考虑读操作。</a:t>
            </a:r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  <a:p>
            <a:r>
              <a:rPr lang="zh-CN" altLang="en-US" dirty="0" smtClean="0"/>
              <a:t>结论：地址线只有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、为什么分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？高三位地址相当于通过</a:t>
            </a:r>
            <a:r>
              <a:rPr lang="en-US" altLang="zh-CN" dirty="0" smtClean="0"/>
              <a:t>3-8</a:t>
            </a:r>
            <a:r>
              <a:rPr lang="zh-CN" altLang="en-US" dirty="0" smtClean="0"/>
              <a:t>译码器差生片选信号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和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chemeClr val="tx1"/>
                </a:solidFill>
              </a:rPr>
              <a:t>的理解。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有控制器，所以不占用上述存储空间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  <a:p>
            <a:r>
              <a:rPr lang="zh-CN" altLang="en-US" dirty="0" smtClean="0"/>
              <a:t>结论：地址线只有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、为什么分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？高三位地址相当于通过</a:t>
            </a:r>
            <a:r>
              <a:rPr lang="en-US" altLang="zh-CN" dirty="0" smtClean="0"/>
              <a:t>3-8</a:t>
            </a:r>
            <a:r>
              <a:rPr lang="zh-CN" altLang="en-US" dirty="0" smtClean="0"/>
              <a:t>译码器差生片选信号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和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chemeClr val="tx1"/>
                </a:solidFill>
              </a:rPr>
              <a:t>的理解。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有控制器，所以不占用上述存储空间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根据</a:t>
            </a:r>
            <a:r>
              <a:rPr lang="en-US" altLang="zh-CN" dirty="0" smtClean="0"/>
              <a:t>STR</a:t>
            </a:r>
            <a:r>
              <a:rPr lang="zh-CN" altLang="en-US" dirty="0" smtClean="0"/>
              <a:t>，应产生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个写选题信号，但地址最低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位不是</a:t>
            </a:r>
            <a:r>
              <a:rPr lang="en-US" altLang="zh-CN" dirty="0" smtClean="0"/>
              <a:t>00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换成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</a:t>
            </a:r>
            <a:endParaRPr lang="en-US" altLang="zh-CN" dirty="0" smtClean="0"/>
          </a:p>
          <a:p>
            <a:r>
              <a:rPr lang="en-US" altLang="zh-CN" dirty="0" smtClean="0"/>
              <a:t>*</a:t>
            </a:r>
            <a:r>
              <a:rPr lang="zh-CN" altLang="en-US" dirty="0" smtClean="0"/>
              <a:t>关于字节顺序的问题。</a:t>
            </a:r>
            <a:r>
              <a:rPr lang="en-US" altLang="zh-CN" dirty="0" smtClean="0"/>
              <a:t>STRB R1,[R0]</a:t>
            </a:r>
            <a:r>
              <a:rPr lang="zh-CN" altLang="en-US" dirty="0" smtClean="0"/>
              <a:t>是将</a:t>
            </a:r>
            <a:r>
              <a:rPr lang="en-US" altLang="zh-CN" dirty="0" smtClean="0"/>
              <a:t>R1</a:t>
            </a:r>
            <a:r>
              <a:rPr lang="zh-CN" altLang="en-US" dirty="0" smtClean="0"/>
              <a:t>最低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位写入存储器，如果</a:t>
            </a:r>
            <a:r>
              <a:rPr lang="en-US" altLang="zh-CN" dirty="0" smtClean="0"/>
              <a:t>R0</a:t>
            </a:r>
            <a:r>
              <a:rPr lang="zh-CN" altLang="en-US" dirty="0" smtClean="0"/>
              <a:t>最低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位是</a:t>
            </a:r>
            <a:r>
              <a:rPr lang="en-US" altLang="zh-CN" dirty="0" smtClean="0"/>
              <a:t>00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01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11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执行时会把</a:t>
            </a:r>
            <a:r>
              <a:rPr lang="en-US" altLang="zh-CN" dirty="0" smtClean="0"/>
              <a:t>R1</a:t>
            </a:r>
            <a:r>
              <a:rPr lang="zh-CN" altLang="en-US" dirty="0" smtClean="0"/>
              <a:t>最低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位分别送上</a:t>
            </a:r>
            <a:r>
              <a:rPr lang="en-US" altLang="zh-CN" dirty="0" smtClean="0"/>
              <a:t>D7-0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D15-8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D23-16</a:t>
            </a:r>
            <a:r>
              <a:rPr lang="zh-CN" altLang="en-US" dirty="0" smtClean="0"/>
              <a:t>或</a:t>
            </a:r>
            <a:r>
              <a:rPr lang="en-US" altLang="zh-CN" dirty="0" smtClean="0"/>
              <a:t>D31-24.</a:t>
            </a:r>
            <a:endParaRPr lang="en-US" altLang="zh-CN" dirty="0" smtClean="0"/>
          </a:p>
          <a:p>
            <a:r>
              <a:rPr lang="zh-CN" altLang="en-US" dirty="0" smtClean="0"/>
              <a:t>所以此处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语言代码没问题，编译为</a:t>
            </a:r>
            <a:r>
              <a:rPr lang="en-US" altLang="zh-CN" dirty="0" smtClean="0"/>
              <a:t>STRB R1,[R0]</a:t>
            </a:r>
            <a:r>
              <a:rPr lang="zh-CN" altLang="en-US" dirty="0" smtClean="0"/>
              <a:t>后，</a:t>
            </a:r>
            <a:r>
              <a:rPr lang="en-US" altLang="zh-CN" dirty="0" smtClean="0"/>
              <a:t>0x78</a:t>
            </a:r>
            <a:r>
              <a:rPr lang="zh-CN" altLang="en-US" dirty="0" smtClean="0"/>
              <a:t>就放在</a:t>
            </a:r>
            <a:r>
              <a:rPr lang="en-US" altLang="zh-CN" dirty="0" smtClean="0"/>
              <a:t>R1</a:t>
            </a:r>
            <a:r>
              <a:rPr lang="zh-CN" altLang="en-US" dirty="0" smtClean="0"/>
              <a:t>最低</a:t>
            </a:r>
            <a:r>
              <a:rPr lang="en-US" altLang="zh-CN" dirty="0" smtClean="0"/>
              <a:t>8</a:t>
            </a:r>
            <a:r>
              <a:rPr lang="zh-CN" altLang="en-US" smtClean="0"/>
              <a:t>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语言对应的汇编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语言对应的汇编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  <a:p>
            <a:r>
              <a:rPr lang="zh-CN" altLang="en-US" dirty="0" smtClean="0"/>
              <a:t>结论：地址线只有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、为什么分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？高三位地址相当于通过</a:t>
            </a:r>
            <a:r>
              <a:rPr lang="en-US" altLang="zh-CN" dirty="0" smtClean="0"/>
              <a:t>3-8</a:t>
            </a:r>
            <a:r>
              <a:rPr lang="zh-CN" altLang="en-US" dirty="0" smtClean="0"/>
              <a:t>译码器差生片选信号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和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chemeClr val="tx1"/>
                </a:solidFill>
              </a:rPr>
              <a:t>的理解。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有控制器，所以不占用上述存储空间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  <a:p>
            <a:r>
              <a:rPr lang="zh-CN" altLang="en-US" dirty="0" smtClean="0"/>
              <a:t>结论：地址线只有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、为什么分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？高三位地址相当于通过</a:t>
            </a:r>
            <a:r>
              <a:rPr lang="en-US" altLang="zh-CN" dirty="0" smtClean="0"/>
              <a:t>3-8</a:t>
            </a:r>
            <a:r>
              <a:rPr lang="zh-CN" altLang="en-US" dirty="0" smtClean="0"/>
              <a:t>译码器差生片选信号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和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chemeClr val="tx1"/>
                </a:solidFill>
              </a:rPr>
              <a:t>的理解。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有控制器，所以不占用上述存储空间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b="0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nGCS</a:t>
            </a:r>
            <a:r>
              <a:rPr kumimoji="1" lang="en-US" altLang="zh-CN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[0:7]——</a:t>
            </a:r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分区（</a:t>
            </a:r>
            <a:r>
              <a:rPr kumimoji="1" lang="en-US" altLang="zh-CN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）信号，相当于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片选信号</a:t>
            </a:r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，根据高</a:t>
            </a:r>
            <a:r>
              <a:rPr kumimoji="1" lang="en-US" altLang="zh-CN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5</a:t>
            </a:r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位地址产生</a:t>
            </a:r>
            <a:endParaRPr kumimoji="1" lang="en-US" altLang="zh-CN" b="0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设计的存储器可能存储单元是</a:t>
            </a:r>
            <a:r>
              <a:rPr kumimoji="1" lang="en-US" altLang="zh-CN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8</a:t>
            </a:r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位的，则需要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ADDR[0:1]</a:t>
            </a:r>
            <a:endParaRPr kumimoji="1" lang="en-US" altLang="zh-CN" b="0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SDRAM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控制器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位的地址中自动分出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L-Bank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片选信号，行地址信号，列地址信号，然后先后发出行地址信号，列地址信号（也就是说你只需要设置寄存器告诉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列地址数目是多少。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 smtClean="0"/>
              <a:t>对于</a:t>
            </a:r>
            <a:r>
              <a:rPr lang="en-US" altLang="zh-CN" sz="1200" dirty="0" smtClean="0"/>
              <a:t>EM63A165TS-6G</a:t>
            </a:r>
            <a:r>
              <a:rPr lang="zh-CN" altLang="en-US" sz="1200" dirty="0" smtClean="0"/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HY57V561620F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4bankX4MX16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组成，所以选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两根地址（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A25-24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），行地址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A14-A2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），列地址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A10-A2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）。若容量增加，则会将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A26-25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，低位仍用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A14-A2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，但列地址增加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A1A0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的使用同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，只有每个单元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位时才使用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位则使用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位则都不用。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>
                <a:solidFill>
                  <a:srgbClr val="FF0000"/>
                </a:solidFill>
              </a:rPr>
              <a:t>1</a:t>
            </a:r>
            <a:r>
              <a:rPr lang="zh-CN" altLang="en-US" sz="1200" dirty="0" smtClean="0">
                <a:solidFill>
                  <a:srgbClr val="FF0000"/>
                </a:solidFill>
              </a:rPr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28F128</a:t>
            </a:r>
            <a:r>
              <a:rPr lang="zh-CN" altLang="en-US" sz="1200" dirty="0" smtClean="0">
                <a:solidFill>
                  <a:srgbClr val="FF0000"/>
                </a:solidFill>
              </a:rPr>
              <a:t>就是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，与</a:t>
            </a:r>
            <a:r>
              <a:rPr lang="en-US" altLang="zh-CN" sz="1200" dirty="0" smtClean="0">
                <a:solidFill>
                  <a:srgbClr val="FF0000"/>
                </a:solidFill>
              </a:rPr>
              <a:t>NAND</a:t>
            </a:r>
            <a:r>
              <a:rPr lang="en-US" altLang="zh-CN" sz="1200" baseline="0" dirty="0" smtClean="0">
                <a:solidFill>
                  <a:srgbClr val="FF0000"/>
                </a:solidFill>
              </a:rPr>
              <a:t> Flash</a:t>
            </a:r>
            <a:r>
              <a:rPr lang="zh-CN" altLang="en-US" sz="1200" baseline="0" dirty="0" smtClean="0">
                <a:solidFill>
                  <a:srgbClr val="FF0000"/>
                </a:solidFill>
              </a:rPr>
              <a:t>不同，其引脚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SRAM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使用相同，所以不用赘述。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nWE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是其读写信号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、其它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仍可采用按字节按字方式设计。但本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只有一片</a:t>
            </a:r>
            <a:r>
              <a:rPr lang="en-US" altLang="zh-CN" sz="1200" dirty="0" smtClean="0">
                <a:solidFill>
                  <a:srgbClr val="FF0000"/>
                </a:solidFill>
              </a:rPr>
              <a:t>28F128</a:t>
            </a:r>
            <a:r>
              <a:rPr lang="zh-CN" altLang="en-US" sz="1200" dirty="0" smtClean="0">
                <a:solidFill>
                  <a:srgbClr val="FF0000"/>
                </a:solidFill>
              </a:rPr>
              <a:t>，相当于本</a:t>
            </a:r>
            <a:r>
              <a:rPr lang="en-US" altLang="zh-CN" sz="1200" dirty="0" smtClean="0">
                <a:solidFill>
                  <a:srgbClr val="FF0000"/>
                </a:solidFill>
              </a:rPr>
              <a:t>bank</a:t>
            </a:r>
            <a:r>
              <a:rPr lang="zh-CN" altLang="en-US" sz="1200" dirty="0" smtClean="0">
                <a:solidFill>
                  <a:srgbClr val="FF0000"/>
                </a:solidFill>
              </a:rPr>
              <a:t>只能按字节访问，不必考虑按字访问，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故不必考虑分体设计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不必考虑分体设计时地址的最低两位不用的情况，也不使用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信号。</a:t>
            </a:r>
            <a:endParaRPr lang="en-US" altLang="zh-CN" sz="1200" kern="1200" baseline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、当然只能用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LDRB/STRB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指令，如果用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LDR/STR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，则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以为高三字节有用。</a:t>
            </a:r>
            <a:endParaRPr lang="en-US" altLang="zh-CN" sz="1200" kern="1200" baseline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、当然指令中地址是字节地址，最低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位任意。</a:t>
            </a:r>
            <a:endParaRPr lang="en-US" altLang="zh-CN" sz="1200" kern="1200" baseline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、注意：初始化时应该将该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总线宽度设置为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位。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不再按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32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位模式的情况根据指令情况产生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和从哪些总线读写数据。此时使用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STRB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指令，数据总从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D7-0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传出。</a:t>
            </a:r>
            <a:endParaRPr lang="en-US" altLang="zh-CN" sz="1200" kern="1200" baseline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 smtClean="0"/>
              <a:t>本</a:t>
            </a:r>
            <a:r>
              <a:rPr lang="en-US" altLang="zh-CN" b="0" dirty="0" smtClean="0"/>
              <a:t>bank</a:t>
            </a:r>
            <a:r>
              <a:rPr lang="zh-CN" altLang="en-US" b="0" dirty="0" smtClean="0"/>
              <a:t>单元长度为</a:t>
            </a:r>
            <a:r>
              <a:rPr lang="en-US" altLang="zh-CN" b="0" dirty="0" smtClean="0"/>
              <a:t>8</a:t>
            </a:r>
            <a:r>
              <a:rPr lang="zh-CN" altLang="en-US" b="0" dirty="0" smtClean="0"/>
              <a:t>，不必考虑按字按字节访问。</a:t>
            </a:r>
            <a:endParaRPr lang="en-US" altLang="zh-CN" b="0" dirty="0" smtClean="0"/>
          </a:p>
          <a:p>
            <a:r>
              <a:rPr lang="zh-CN" altLang="en-US" b="0" dirty="0" smtClean="0"/>
              <a:t>分析连接对不对的基本方法是看指令执行过程中，地址如何工作。</a:t>
            </a:r>
            <a:endParaRPr lang="en-US" altLang="zh-CN" b="0" dirty="0" smtClean="0"/>
          </a:p>
          <a:p>
            <a:r>
              <a:rPr lang="en-US" altLang="zh-CN" b="0" dirty="0" smtClean="0"/>
              <a:t>CPU</a:t>
            </a:r>
            <a:r>
              <a:rPr lang="zh-CN" altLang="en-US" b="0" dirty="0" smtClean="0"/>
              <a:t>也会产生</a:t>
            </a:r>
            <a:r>
              <a:rPr lang="en-US" altLang="zh-CN" b="0" dirty="0" smtClean="0"/>
              <a:t>WBE</a:t>
            </a:r>
            <a:r>
              <a:rPr lang="zh-CN" altLang="en-US" b="0" dirty="0" smtClean="0"/>
              <a:t>信号，但不用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 smtClean="0"/>
              <a:t>使用</a:t>
            </a:r>
            <a:r>
              <a:rPr lang="en-US" altLang="zh-CN" b="0" dirty="0" smtClean="0"/>
              <a:t>LDR</a:t>
            </a:r>
            <a:r>
              <a:rPr lang="zh-CN" altLang="en-US" b="0" dirty="0" smtClean="0"/>
              <a:t>，地址</a:t>
            </a:r>
            <a:r>
              <a:rPr lang="en-US" altLang="zh-CN" b="0" dirty="0" smtClean="0"/>
              <a:t>0x0800000</a:t>
            </a:r>
            <a:r>
              <a:rPr lang="zh-CN" altLang="en-US" b="0" dirty="0" smtClean="0"/>
              <a:t>、</a:t>
            </a:r>
            <a:r>
              <a:rPr lang="en-US" altLang="zh-CN" b="0" dirty="0" smtClean="0"/>
              <a:t>0x0800004</a:t>
            </a:r>
            <a:r>
              <a:rPr lang="zh-CN" altLang="en-US" b="0" dirty="0" smtClean="0"/>
              <a:t>能读出</a:t>
            </a:r>
            <a:r>
              <a:rPr lang="en-US" altLang="zh-CN" b="0" dirty="0" smtClean="0"/>
              <a:t>0</a:t>
            </a:r>
            <a:r>
              <a:rPr lang="zh-CN" altLang="en-US" b="0" dirty="0" smtClean="0"/>
              <a:t>、</a:t>
            </a:r>
            <a:r>
              <a:rPr lang="en-US" altLang="zh-CN" b="0" dirty="0" smtClean="0"/>
              <a:t>4</a:t>
            </a:r>
            <a:r>
              <a:rPr lang="zh-CN" altLang="en-US" b="0" dirty="0" smtClean="0"/>
              <a:t>号单元（字节），但</a:t>
            </a:r>
            <a:r>
              <a:rPr lang="en-US" altLang="zh-CN" b="0" dirty="0" smtClean="0"/>
              <a:t>0x0800001</a:t>
            </a:r>
            <a:r>
              <a:rPr lang="zh-CN" altLang="en-US" b="0" dirty="0" smtClean="0"/>
              <a:t>出现错误</a:t>
            </a:r>
            <a:endParaRPr lang="en-US" altLang="zh-CN" b="0" dirty="0" smtClean="0"/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nWBE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[3:0]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 Byte Enable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，是写的选体信号。写操作时通过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选体，可以写一个字节或两个字节。因此图中不使用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信号。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、当读操作时，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nWBE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[3:0]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均无效，而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有效，同时读出两个体，但微处理器可以选择只接收其中一个字节，或者两个字节都接收。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、按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位编址，因此地址都是偶数，故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不用。取而代之是用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信号选择两个字节中的一个。同样，如果设计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位存储器，则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ADDR1-0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不用，改用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个</a:t>
            </a:r>
            <a:r>
              <a:rPr lang="en-US" altLang="zh-C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信号。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、使用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LDRH/STRH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LDRB/STRB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。</a:t>
            </a:r>
            <a:endParaRPr lang="en-US" altLang="zh-CN" sz="1200" kern="1200" baseline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读信号没有字节使能信号，则只能按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位读取。然后由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根据指令选择。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、使用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STRB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写时，若地址是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...00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，如果该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配置为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32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位，则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同时产生有效的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WEB0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baseline="0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则</a:t>
            </a:r>
            <a:r>
              <a:rPr lang="en-US" altLang="zh-CN" sz="1200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WEB0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dirty="0" smtClean="0"/>
              <a:t>如果该</a:t>
            </a:r>
            <a:r>
              <a:rPr lang="en-US" altLang="zh-CN" b="0" dirty="0" smtClean="0"/>
              <a:t>Bank</a:t>
            </a:r>
            <a:r>
              <a:rPr lang="zh-CN" altLang="en-US" b="0" dirty="0" smtClean="0"/>
              <a:t>设置为</a:t>
            </a:r>
            <a:r>
              <a:rPr lang="en-US" altLang="zh-CN" b="0" dirty="0" smtClean="0"/>
              <a:t>32</a:t>
            </a:r>
            <a:r>
              <a:rPr lang="zh-CN" altLang="en-US" b="0" dirty="0" smtClean="0"/>
              <a:t>位宽度，则执行</a:t>
            </a:r>
            <a:r>
              <a:rPr kumimoji="1" lang="en-US" altLang="zh-CN" sz="1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  R0, =0x1000000</a:t>
            </a:r>
            <a:r>
              <a:rPr kumimoji="1" lang="en-US" altLang="zh-CN" sz="1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sz="1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STR</a:t>
            </a:r>
            <a:r>
              <a:rPr kumimoji="1" lang="en-US" altLang="zh-CN" sz="1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1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R1, [R0] 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时产生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WBE3-2.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出现错误。</a:t>
            </a:r>
            <a:endParaRPr kumimoji="1" lang="en-US" altLang="zh-CN" sz="1200" b="0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所以要设置宽度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16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位，则无论地址最低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位是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01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，只产生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WBE1-0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endParaRPr kumimoji="1" lang="en-US" altLang="zh-CN" sz="1200" b="0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关键点是分析</a:t>
            </a:r>
            <a:r>
              <a:rPr kumimoji="1" lang="en-US" altLang="zh-CN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sz="1200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根据指令产生信号的行为。</a:t>
            </a:r>
            <a:endParaRPr kumimoji="1" lang="en-US" altLang="zh-CN" sz="1200" b="0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这张图不是针对</a:t>
            </a:r>
            <a:r>
              <a:rPr lang="en-US" altLang="zh-CN" dirty="0" smtClean="0"/>
              <a:t>S3C2440</a:t>
            </a:r>
            <a:r>
              <a:rPr lang="zh-CN" altLang="en-US" dirty="0" smtClean="0"/>
              <a:t>，而是其早期产品，所以地址位数不对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、因为这种芯片多了个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UB/LB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引脚，故用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UB/LB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，不像之前用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接写信号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、对于前面</a:t>
            </a:r>
            <a:r>
              <a:rPr lang="en-US" altLang="zh-CN" sz="1200" dirty="0" smtClean="0">
                <a:solidFill>
                  <a:srgbClr val="FF0000"/>
                </a:solidFill>
              </a:rPr>
              <a:t>4</a:t>
            </a:r>
            <a:r>
              <a:rPr lang="zh-CN" altLang="en-US" sz="1200" dirty="0" smtClean="0">
                <a:solidFill>
                  <a:srgbClr val="FF0000"/>
                </a:solidFill>
              </a:rPr>
              <a:t>块</a:t>
            </a:r>
            <a:r>
              <a:rPr lang="en-US" altLang="zh-CN" sz="1200" dirty="0" smtClean="0">
                <a:solidFill>
                  <a:srgbClr val="FF0000"/>
                </a:solidFill>
              </a:rPr>
              <a:t>8</a:t>
            </a:r>
            <a:r>
              <a:rPr lang="zh-CN" altLang="en-US" sz="1200" dirty="0" smtClean="0">
                <a:solidFill>
                  <a:srgbClr val="FF0000"/>
                </a:solidFill>
              </a:rPr>
              <a:t>位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的例子，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能不能将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：可以，写时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等价，读时都有效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、本页能不能将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：写操作时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等价，可选择高低字节，可以；读操作时，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无效，则无法读出数据。注意：此图的接法，读操作时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都有效，由微处理器丢弃一个。但写操作时，如果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WBE1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无效，则可以只写一个字节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注意：该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应配置为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位总线宽度，否则给出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....10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地址时会从</a:t>
            </a:r>
            <a:r>
              <a:rPr lang="en-US" altLang="zh-C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D31-16</a:t>
            </a: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传输数据。</a:t>
            </a: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WBE[3:0]</a:t>
            </a:r>
            <a:r>
              <a:rPr kumimoji="1" lang="zh-CN" altLang="en-US" b="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：写</a:t>
            </a:r>
            <a:r>
              <a:rPr lang="zh-CN" altLang="en-US" b="0" dirty="0" smtClean="0"/>
              <a:t>选体信号，实现</a:t>
            </a:r>
            <a:r>
              <a:rPr lang="en-US" altLang="zh-CN" b="0" dirty="0" smtClean="0"/>
              <a:t>bus</a:t>
            </a:r>
            <a:r>
              <a:rPr lang="zh-CN" altLang="en-US" b="0" baseline="0" dirty="0" smtClean="0"/>
              <a:t>宽度选择，根据指令是</a:t>
            </a:r>
            <a:r>
              <a:rPr lang="en-US" altLang="zh-CN" b="0" baseline="0" dirty="0" err="1" smtClean="0"/>
              <a:t>strB</a:t>
            </a:r>
            <a:r>
              <a:rPr lang="zh-CN" altLang="en-US" b="0" baseline="0" dirty="0" smtClean="0"/>
              <a:t>、</a:t>
            </a:r>
            <a:r>
              <a:rPr lang="en-US" altLang="zh-CN" b="0" baseline="0" dirty="0" err="1" smtClean="0"/>
              <a:t>strH</a:t>
            </a:r>
            <a:r>
              <a:rPr lang="zh-CN" altLang="en-US" b="0" baseline="0" dirty="0" smtClean="0"/>
              <a:t>、</a:t>
            </a:r>
            <a:r>
              <a:rPr lang="en-US" altLang="zh-CN" b="0" baseline="0" dirty="0" err="1" smtClean="0"/>
              <a:t>str</a:t>
            </a:r>
            <a:r>
              <a:rPr lang="zh-CN" altLang="en-US" b="0" baseline="0" dirty="0" smtClean="0"/>
              <a:t>产生</a:t>
            </a:r>
            <a:endParaRPr lang="en-US" altLang="zh-CN" b="0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baseline="0" dirty="0" smtClean="0"/>
              <a:t>详见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S3C2440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存储器扩展研究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剖析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间关系：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https://blog.csdn.net/chungle2011/article/details/78117958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信号的总结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共用引脚，可以通过对相关寄存器设置来进行功能选择。使用时可以用做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，也可用作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、如果使用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写时，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nOE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无效。哪个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有效，则哪个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有效。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等价于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，可用于选择对应的体进行写操作。</a:t>
            </a:r>
            <a:endParaRPr lang="en-US" altLang="zh-CN" sz="1200" b="0" dirty="0" smtClean="0">
              <a:solidFill>
                <a:srgbClr val="4F4F4F"/>
              </a:solidFill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读时，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均无效，但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nOE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有效，则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4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个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都有效，只能读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1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个字，由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CPU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选择。</a:t>
            </a:r>
            <a:endParaRPr lang="en-US" altLang="zh-CN" sz="1200" b="0" dirty="0" smtClean="0">
              <a:solidFill>
                <a:srgbClr val="4F4F4F"/>
              </a:solidFill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因此，对于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SRAM/NOR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，使用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做读信号，使用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nWBE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均可。但对于后面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16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位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NOR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，有</a:t>
            </a:r>
            <a:r>
              <a:rPr lang="en-US" altLang="zh-CN" sz="1200" b="0" dirty="0" smtClean="0">
                <a:solidFill>
                  <a:srgbClr val="4F4F4F"/>
                </a:solidFill>
                <a:effectLst/>
              </a:rPr>
              <a:t>LB/UB</a:t>
            </a:r>
            <a:r>
              <a:rPr lang="zh-CN" altLang="en-US" sz="1200" b="0" dirty="0" smtClean="0">
                <a:solidFill>
                  <a:srgbClr val="4F4F4F"/>
                </a:solidFill>
                <a:effectLst/>
              </a:rPr>
              <a:t>引脚的情况，只能用</a:t>
            </a:r>
            <a:r>
              <a:rPr lang="en-US" altLang="zh-CN" sz="1200" b="0" dirty="0" err="1" smtClean="0">
                <a:solidFill>
                  <a:srgbClr val="4F4F4F"/>
                </a:solidFill>
                <a:effectLst/>
              </a:rPr>
              <a:t>nBE</a:t>
            </a:r>
            <a:endParaRPr lang="en-US" altLang="zh-CN" sz="1200" b="0" dirty="0" smtClean="0">
              <a:solidFill>
                <a:srgbClr val="4F4F4F"/>
              </a:solidFill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dirty="0" smtClean="0"/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对于</a:t>
            </a:r>
            <a:r>
              <a:rPr lang="en-US" altLang="zh-CN" dirty="0" err="1" smtClean="0"/>
              <a:t>sram</a:t>
            </a:r>
            <a:r>
              <a:rPr lang="zh-CN" altLang="en-US" dirty="0" smtClean="0"/>
              <a:t>，没有</a:t>
            </a:r>
            <a:r>
              <a:rPr lang="en-US" altLang="zh-CN" dirty="0" smtClean="0"/>
              <a:t>UB/LB</a:t>
            </a:r>
            <a:r>
              <a:rPr lang="zh-CN" altLang="en-US" dirty="0" smtClean="0"/>
              <a:t>引脚，因此按之前的图中解法。这种情况只能用</a:t>
            </a:r>
            <a:r>
              <a:rPr lang="en-US" altLang="zh-CN" dirty="0" smtClean="0"/>
              <a:t>WBE</a:t>
            </a:r>
            <a:r>
              <a:rPr lang="zh-CN" altLang="en-US" dirty="0" smtClean="0"/>
              <a:t>，不能用</a:t>
            </a:r>
            <a:r>
              <a:rPr lang="en-US" altLang="zh-CN" dirty="0" smtClean="0"/>
              <a:t>BE</a:t>
            </a:r>
            <a:r>
              <a:rPr lang="zh-CN" altLang="en-US" dirty="0" smtClean="0"/>
              <a:t>。写时用</a:t>
            </a:r>
            <a:r>
              <a:rPr lang="en-US" altLang="zh-CN" dirty="0" smtClean="0"/>
              <a:t>WBE</a:t>
            </a:r>
            <a:r>
              <a:rPr lang="zh-CN" altLang="en-US" dirty="0" smtClean="0"/>
              <a:t>做写信号，可以选择字节、半字、字。读时</a:t>
            </a:r>
            <a:r>
              <a:rPr lang="en-US" altLang="zh-CN" dirty="0" smtClean="0"/>
              <a:t>WBE</a:t>
            </a:r>
            <a:r>
              <a:rPr lang="zh-CN" altLang="en-US" dirty="0" smtClean="0"/>
              <a:t>无效，</a:t>
            </a:r>
            <a:r>
              <a:rPr lang="en-US" altLang="zh-CN" dirty="0" smtClean="0"/>
              <a:t>OE</a:t>
            </a:r>
            <a:r>
              <a:rPr lang="zh-CN" altLang="en-US" dirty="0" smtClean="0"/>
              <a:t>有效，只能读一个字。</a:t>
            </a:r>
            <a:br>
              <a:rPr lang="zh-CN" altLang="en-US" dirty="0" smtClean="0"/>
            </a:br>
            <a:r>
              <a:rPr lang="zh-CN" altLang="en-US" dirty="0" smtClean="0"/>
              <a:t>对于</a:t>
            </a:r>
            <a:r>
              <a:rPr lang="en-US" altLang="zh-CN" dirty="0" smtClean="0"/>
              <a:t>NOR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UB/LB</a:t>
            </a:r>
            <a:r>
              <a:rPr lang="zh-CN" altLang="en-US" dirty="0" smtClean="0"/>
              <a:t>引脚，因此用</a:t>
            </a:r>
            <a:r>
              <a:rPr lang="en-US" altLang="zh-CN" dirty="0" smtClean="0"/>
              <a:t>BE</a:t>
            </a:r>
            <a:r>
              <a:rPr lang="zh-CN" altLang="en-US" dirty="0" smtClean="0"/>
              <a:t>接</a:t>
            </a:r>
            <a:r>
              <a:rPr lang="en-US" altLang="zh-CN" dirty="0" smtClean="0"/>
              <a:t>UB/LB</a:t>
            </a:r>
            <a:r>
              <a:rPr lang="zh-CN" altLang="en-US" dirty="0" smtClean="0"/>
              <a:t>引脚，</a:t>
            </a:r>
            <a:r>
              <a:rPr lang="en-US" altLang="zh-CN" dirty="0" smtClean="0"/>
              <a:t>WE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OE</a:t>
            </a:r>
            <a:r>
              <a:rPr lang="zh-CN" altLang="en-US" dirty="0" smtClean="0"/>
              <a:t>分别接写、读引脚。</a:t>
            </a:r>
            <a:r>
              <a:rPr lang="en-US" altLang="zh-CN" dirty="0" smtClean="0"/>
              <a:t>WE</a:t>
            </a:r>
            <a:r>
              <a:rPr lang="zh-CN" altLang="en-US" dirty="0" smtClean="0"/>
              <a:t>有效表示写，此时</a:t>
            </a:r>
            <a:r>
              <a:rPr lang="en-US" altLang="zh-CN" dirty="0" smtClean="0"/>
              <a:t>BE</a:t>
            </a:r>
            <a:r>
              <a:rPr lang="zh-CN" altLang="en-US" dirty="0" smtClean="0"/>
              <a:t>相当于</a:t>
            </a:r>
            <a:r>
              <a:rPr lang="en-US" altLang="zh-CN" dirty="0" smtClean="0"/>
              <a:t>WBE</a:t>
            </a:r>
            <a:r>
              <a:rPr lang="zh-CN" altLang="en-US" dirty="0" smtClean="0"/>
              <a:t>，用于选择字节、半字、字。</a:t>
            </a:r>
            <a:r>
              <a:rPr lang="en-US" altLang="zh-CN" dirty="0" smtClean="0"/>
              <a:t>OE</a:t>
            </a:r>
            <a:r>
              <a:rPr lang="zh-CN" altLang="en-US" dirty="0" smtClean="0"/>
              <a:t>有效时读，</a:t>
            </a:r>
            <a:r>
              <a:rPr lang="en-US" altLang="zh-CN" dirty="0" smtClean="0"/>
              <a:t>BE</a:t>
            </a:r>
            <a:r>
              <a:rPr lang="zh-CN" altLang="en-US" dirty="0" smtClean="0"/>
              <a:t>全有效，只能读一个字。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内部</a:t>
            </a:r>
            <a:r>
              <a:rPr lang="en-US" altLang="zh-CN" dirty="0" smtClean="0"/>
              <a:t>IO</a:t>
            </a:r>
            <a:r>
              <a:rPr lang="zh-CN" altLang="en-US" dirty="0" smtClean="0"/>
              <a:t>接口的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端口已经编址，</a:t>
            </a:r>
            <a:r>
              <a:rPr lang="en-US" altLang="zh-CN" dirty="0" smtClean="0"/>
              <a:t>48000000——5FFFFFFF.</a:t>
            </a:r>
            <a:endParaRPr lang="en-US" altLang="zh-CN" dirty="0" smtClean="0"/>
          </a:p>
          <a:p>
            <a:r>
              <a:rPr lang="zh-CN" altLang="en-US" dirty="0" smtClean="0"/>
              <a:t>如果外部扩充</a:t>
            </a:r>
            <a:r>
              <a:rPr lang="en-US" altLang="zh-CN" dirty="0" smtClean="0"/>
              <a:t>IO</a:t>
            </a:r>
            <a:r>
              <a:rPr lang="zh-CN" altLang="en-US" dirty="0" smtClean="0"/>
              <a:t>接口，如同存储器一样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dirty="0" smtClean="0"/>
              <a:t>https://blog.csdn.net/com852/article/details/106192045/   S3C2440</a:t>
            </a:r>
            <a:r>
              <a:rPr lang="zh-CN" altLang="en-US" sz="1200" dirty="0" smtClean="0"/>
              <a:t>内存控制器与</a:t>
            </a:r>
            <a:r>
              <a:rPr lang="en-US" altLang="zh-CN" sz="1200" dirty="0" smtClean="0"/>
              <a:t>SDRAM</a:t>
            </a:r>
            <a:endParaRPr lang="en-US" altLang="zh-CN" sz="1200" dirty="0" smtClean="0"/>
          </a:p>
          <a:p>
            <a:r>
              <a:rPr lang="en-US" altLang="zh-CN" sz="1200" dirty="0" smtClean="0"/>
              <a:t>1</a:t>
            </a:r>
            <a:r>
              <a:rPr lang="zh-CN" altLang="en-US" sz="1200" dirty="0" smtClean="0"/>
              <a:t>、每个单元</a:t>
            </a:r>
            <a:r>
              <a:rPr lang="en-US" altLang="zh-CN" sz="1200" dirty="0" smtClean="0"/>
              <a:t>16</a:t>
            </a:r>
            <a:r>
              <a:rPr lang="zh-CN" altLang="en-US" sz="1200" dirty="0" smtClean="0"/>
              <a:t>位，靠</a:t>
            </a:r>
            <a:r>
              <a:rPr lang="en-US" altLang="zh-CN" sz="1200" dirty="0" smtClean="0"/>
              <a:t>U/LDQM</a:t>
            </a:r>
            <a:r>
              <a:rPr lang="zh-CN" altLang="en-US" sz="1200" dirty="0" smtClean="0"/>
              <a:t>选择，因此每个芯片相当于分解为两个小芯片，每个小芯片有</a:t>
            </a:r>
            <a:r>
              <a:rPr lang="en-US" altLang="zh-CN" sz="1200" dirty="0" smtClean="0"/>
              <a:t>8</a:t>
            </a:r>
            <a:r>
              <a:rPr lang="zh-CN" altLang="en-US" sz="1200" dirty="0" smtClean="0"/>
              <a:t>位数据引脚，</a:t>
            </a:r>
            <a:r>
              <a:rPr lang="en-US" altLang="zh-CN" sz="1200" dirty="0" smtClean="0"/>
              <a:t>13+9+2=24</a:t>
            </a:r>
            <a:r>
              <a:rPr lang="zh-CN" altLang="en-US" sz="1200" dirty="0" smtClean="0"/>
              <a:t>位地址引脚，用于选择</a:t>
            </a:r>
            <a:r>
              <a:rPr lang="en-US" altLang="zh-CN" sz="1200" dirty="0" smtClean="0"/>
              <a:t>16M</a:t>
            </a:r>
            <a:r>
              <a:rPr lang="zh-CN" altLang="en-US" sz="1200" dirty="0" smtClean="0"/>
              <a:t>个单元。</a:t>
            </a:r>
            <a:endParaRPr lang="en-US" altLang="zh-CN" sz="1200" dirty="0" smtClean="0"/>
          </a:p>
          <a:p>
            <a:r>
              <a:rPr lang="en-US" altLang="zh-CN" sz="1200" dirty="0" smtClean="0"/>
              <a:t>2</a:t>
            </a:r>
            <a:r>
              <a:rPr lang="zh-CN" altLang="en-US" sz="1200" dirty="0" smtClean="0"/>
              <a:t>、每个芯片相当于地址引脚</a:t>
            </a:r>
            <a:r>
              <a:rPr lang="en-US" altLang="zh-CN" sz="1200" dirty="0" smtClean="0"/>
              <a:t>24</a:t>
            </a:r>
            <a:r>
              <a:rPr lang="zh-CN" altLang="en-US" sz="1200" dirty="0" smtClean="0"/>
              <a:t>根，</a:t>
            </a:r>
            <a:r>
              <a:rPr lang="en-US" altLang="zh-CN" sz="1200" dirty="0" smtClean="0"/>
              <a:t>A23-0</a:t>
            </a:r>
            <a:r>
              <a:rPr lang="zh-CN" altLang="en-US" sz="1200" dirty="0" smtClean="0"/>
              <a:t>，因为要按字节</a:t>
            </a:r>
            <a:r>
              <a:rPr lang="en-US" altLang="zh-CN" sz="1200" dirty="0" smtClean="0"/>
              <a:t>/</a:t>
            </a:r>
            <a:r>
              <a:rPr lang="zh-CN" altLang="en-US" sz="1200" dirty="0" smtClean="0"/>
              <a:t>字访问，应接在地址总线的</a:t>
            </a:r>
            <a:r>
              <a:rPr lang="en-US" altLang="zh-CN" sz="1200" dirty="0" smtClean="0"/>
              <a:t>A25-24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A23-2</a:t>
            </a:r>
            <a:r>
              <a:rPr lang="zh-CN" altLang="en-US" sz="1200" dirty="0" smtClean="0"/>
              <a:t>，而地址总线</a:t>
            </a:r>
            <a:r>
              <a:rPr lang="en-US" altLang="zh-CN" sz="1200" dirty="0" smtClean="0"/>
              <a:t>A23-2</a:t>
            </a:r>
            <a:r>
              <a:rPr lang="zh-CN" altLang="en-US" sz="1200" dirty="0" smtClean="0"/>
              <a:t>共</a:t>
            </a:r>
            <a:r>
              <a:rPr lang="en-US" altLang="zh-CN" sz="1200" dirty="0" smtClean="0"/>
              <a:t>22</a:t>
            </a:r>
            <a:r>
              <a:rPr lang="zh-CN" altLang="en-US" sz="1200" dirty="0" smtClean="0"/>
              <a:t>根地址又划分为</a:t>
            </a:r>
            <a:r>
              <a:rPr lang="en-US" altLang="zh-CN" sz="1200" dirty="0" smtClean="0"/>
              <a:t>13</a:t>
            </a:r>
            <a:r>
              <a:rPr lang="zh-CN" altLang="en-US" sz="1200" dirty="0" smtClean="0"/>
              <a:t>根行、</a:t>
            </a:r>
            <a:r>
              <a:rPr lang="en-US" altLang="zh-CN" sz="1200" dirty="0" smtClean="0"/>
              <a:t>9</a:t>
            </a:r>
            <a:r>
              <a:rPr lang="zh-CN" altLang="en-US" sz="1200" dirty="0" smtClean="0"/>
              <a:t>根列地址。因此芯片地址引脚</a:t>
            </a:r>
            <a:r>
              <a:rPr lang="en-US" altLang="zh-CN" sz="1200" dirty="0" smtClean="0"/>
              <a:t>13</a:t>
            </a:r>
            <a:r>
              <a:rPr lang="zh-CN" altLang="en-US" sz="1200" dirty="0" smtClean="0"/>
              <a:t>根。</a:t>
            </a:r>
            <a:endParaRPr lang="en-US" altLang="zh-CN" sz="1200" dirty="0" smtClean="0"/>
          </a:p>
          <a:p>
            <a:r>
              <a:rPr lang="zh-CN" altLang="en-US" sz="1200" dirty="0" smtClean="0"/>
              <a:t>连接总线时</a:t>
            </a:r>
            <a:r>
              <a:rPr lang="en-US" altLang="zh-CN" sz="1200" dirty="0" smtClean="0"/>
              <a:t>A26</a:t>
            </a:r>
            <a:r>
              <a:rPr lang="zh-CN" altLang="en-US" sz="1200" dirty="0" smtClean="0"/>
              <a:t>没有用，故每个单元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地址。如果芯片容量扩大一倍，列地址增加到</a:t>
            </a:r>
            <a:r>
              <a:rPr lang="en-US" altLang="zh-CN" sz="1200" dirty="0" smtClean="0"/>
              <a:t>10</a:t>
            </a:r>
            <a:r>
              <a:rPr lang="zh-CN" altLang="en-US" sz="1200" dirty="0" smtClean="0"/>
              <a:t>根，地址引脚仍</a:t>
            </a:r>
            <a:r>
              <a:rPr lang="en-US" altLang="zh-CN" sz="1200" dirty="0" smtClean="0"/>
              <a:t>13</a:t>
            </a:r>
            <a:r>
              <a:rPr lang="zh-CN" altLang="en-US" sz="1200" dirty="0" smtClean="0"/>
              <a:t>根。</a:t>
            </a:r>
            <a:endParaRPr lang="en-US" altLang="zh-CN" sz="1200" dirty="0" smtClean="0"/>
          </a:p>
          <a:p>
            <a:r>
              <a:rPr lang="en-US" altLang="zh-CN" sz="1200" dirty="0" smtClean="0"/>
              <a:t>3</a:t>
            </a:r>
            <a:r>
              <a:rPr lang="zh-CN" altLang="en-US" sz="1200" dirty="0" smtClean="0"/>
              <a:t>、假定在</a:t>
            </a:r>
            <a:r>
              <a:rPr lang="en-US" altLang="zh-CN" sz="1200" dirty="0" smtClean="0"/>
              <a:t>Bank6</a:t>
            </a:r>
            <a:r>
              <a:rPr lang="zh-CN" altLang="en-US" sz="1200" dirty="0" smtClean="0"/>
              <a:t>，</a:t>
            </a:r>
            <a:r>
              <a:rPr lang="en-US" altLang="zh-CN" sz="1200" dirty="0" smtClean="0"/>
              <a:t>0x30000000—0x37FFFFFF</a:t>
            </a:r>
            <a:endParaRPr lang="en-US" altLang="zh-CN" sz="1200" dirty="0" smtClean="0"/>
          </a:p>
          <a:p>
            <a:r>
              <a:rPr lang="en-US" altLang="zh-CN" sz="1200" dirty="0" smtClean="0"/>
              <a:t>4</a:t>
            </a:r>
            <a:r>
              <a:rPr lang="zh-CN" altLang="en-US" sz="1200" dirty="0" smtClean="0"/>
              <a:t>、分析：若是</a:t>
            </a:r>
            <a:r>
              <a:rPr lang="en-US" altLang="zh-CN" sz="1200" dirty="0" smtClean="0"/>
              <a:t>SRAM</a:t>
            </a:r>
            <a:r>
              <a:rPr lang="zh-CN" altLang="en-US" sz="1200" dirty="0" smtClean="0"/>
              <a:t>，共</a:t>
            </a:r>
            <a:r>
              <a:rPr lang="en-US" altLang="zh-CN" sz="1200" dirty="0" smtClean="0"/>
              <a:t>64MB</a:t>
            </a:r>
            <a:r>
              <a:rPr lang="zh-CN" altLang="en-US" sz="1200" dirty="0" smtClean="0"/>
              <a:t>，则需要</a:t>
            </a:r>
            <a:r>
              <a:rPr lang="en-US" altLang="zh-CN" sz="1200" dirty="0" smtClean="0"/>
              <a:t>26</a:t>
            </a:r>
            <a:r>
              <a:rPr lang="zh-CN" altLang="en-US" sz="1200" dirty="0" smtClean="0"/>
              <a:t>位地址</a:t>
            </a:r>
            <a:r>
              <a:rPr lang="en-US" altLang="zh-CN" sz="1200" dirty="0" smtClean="0"/>
              <a:t>A25-A0</a:t>
            </a:r>
            <a:r>
              <a:rPr lang="zh-CN" altLang="en-US" sz="1200" dirty="0" smtClean="0"/>
              <a:t>，但</a:t>
            </a:r>
            <a:r>
              <a:rPr lang="en-US" altLang="zh-CN" sz="1200" dirty="0" smtClean="0"/>
              <a:t>A1A0</a:t>
            </a:r>
            <a:r>
              <a:rPr lang="zh-CN" altLang="en-US" sz="1200" dirty="0" smtClean="0"/>
              <a:t>被</a:t>
            </a:r>
            <a:r>
              <a:rPr lang="en-US" altLang="zh-CN" sz="1200" dirty="0" smtClean="0"/>
              <a:t>WBE3-0</a:t>
            </a:r>
            <a:r>
              <a:rPr lang="zh-CN" altLang="en-US" sz="1200" dirty="0" smtClean="0"/>
              <a:t>替换，而</a:t>
            </a:r>
            <a:r>
              <a:rPr lang="en-US" altLang="zh-CN" sz="1200" dirty="0" smtClean="0"/>
              <a:t>A23-A2</a:t>
            </a:r>
            <a:r>
              <a:rPr lang="zh-CN" altLang="en-US" sz="1200" dirty="0" smtClean="0"/>
              <a:t>分为行</a:t>
            </a:r>
            <a:r>
              <a:rPr lang="en-US" altLang="zh-CN" sz="1200" dirty="0" smtClean="0"/>
              <a:t>13</a:t>
            </a:r>
            <a:r>
              <a:rPr lang="zh-CN" altLang="en-US" sz="1200" dirty="0" smtClean="0"/>
              <a:t>、列</a:t>
            </a:r>
            <a:r>
              <a:rPr lang="en-US" altLang="zh-CN" sz="1200" dirty="0" smtClean="0"/>
              <a:t>9</a:t>
            </a:r>
            <a:endParaRPr lang="en-US" altLang="zh-CN" sz="1200" dirty="0" smtClean="0"/>
          </a:p>
          <a:p>
            <a:r>
              <a:rPr lang="en-US" altLang="zh-CN" sz="1200" dirty="0" smtClean="0"/>
              <a:t>LDRB R0,[30000000],</a:t>
            </a:r>
            <a:r>
              <a:rPr lang="zh-CN" altLang="en-US" sz="1200" dirty="0" smtClean="0"/>
              <a:t>则高</a:t>
            </a:r>
            <a:r>
              <a:rPr lang="en-US" altLang="zh-CN" sz="1200" dirty="0" smtClean="0"/>
              <a:t>5</a:t>
            </a:r>
            <a:r>
              <a:rPr lang="zh-CN" altLang="en-US" sz="1200" dirty="0" smtClean="0"/>
              <a:t>位</a:t>
            </a:r>
            <a:r>
              <a:rPr lang="en-US" altLang="zh-CN" sz="1200" dirty="0" smtClean="0"/>
              <a:t>00110</a:t>
            </a:r>
            <a:r>
              <a:rPr lang="zh-CN" altLang="en-US" sz="1200" dirty="0" smtClean="0"/>
              <a:t>选中</a:t>
            </a:r>
            <a:r>
              <a:rPr lang="en-US" altLang="zh-CN" sz="1200" dirty="0" smtClean="0"/>
              <a:t>GCS6</a:t>
            </a:r>
            <a:r>
              <a:rPr lang="zh-CN" altLang="en-US" sz="1200" dirty="0" smtClean="0"/>
              <a:t>，</a:t>
            </a:r>
            <a:r>
              <a:rPr lang="en-US" altLang="zh-CN" sz="1200" dirty="0" smtClean="0"/>
              <a:t>A26=0</a:t>
            </a:r>
            <a:r>
              <a:rPr lang="zh-CN" altLang="en-US" sz="1200" dirty="0" smtClean="0"/>
              <a:t>没接，</a:t>
            </a:r>
            <a:r>
              <a:rPr lang="en-US" altLang="zh-CN" sz="1200" dirty="0" smtClean="0"/>
              <a:t>A25-24</a:t>
            </a:r>
            <a:r>
              <a:rPr lang="zh-CN" altLang="en-US" sz="1200" dirty="0" smtClean="0"/>
              <a:t>选中</a:t>
            </a:r>
            <a:r>
              <a:rPr lang="en-US" altLang="zh-CN" sz="1200" dirty="0" smtClean="0"/>
              <a:t>L-Bank0</a:t>
            </a:r>
            <a:r>
              <a:rPr lang="zh-CN" altLang="en-US" sz="1200" dirty="0" smtClean="0"/>
              <a:t>，</a:t>
            </a:r>
            <a:r>
              <a:rPr lang="en-US" altLang="zh-CN" sz="1200" dirty="0" smtClean="0"/>
              <a:t>A1-0</a:t>
            </a:r>
            <a:r>
              <a:rPr lang="zh-CN" altLang="en-US" sz="1200" dirty="0" smtClean="0"/>
              <a:t>导致</a:t>
            </a:r>
            <a:r>
              <a:rPr lang="en-US" altLang="zh-CN" sz="1200" dirty="0" smtClean="0"/>
              <a:t>WBE0</a:t>
            </a:r>
            <a:r>
              <a:rPr lang="zh-CN" altLang="en-US" sz="1200" dirty="0" smtClean="0"/>
              <a:t>有效，</a:t>
            </a:r>
            <a:r>
              <a:rPr lang="en-US" altLang="zh-CN" sz="1200" dirty="0" smtClean="0"/>
              <a:t>A23-A2</a:t>
            </a:r>
            <a:r>
              <a:rPr lang="zh-CN" altLang="en-US" sz="1200" dirty="0" smtClean="0"/>
              <a:t>以行列地址分两次送入。选中左边芯片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号单元低字节</a:t>
            </a:r>
            <a:endParaRPr lang="en-US" altLang="zh-CN" sz="1200" dirty="0" smtClean="0"/>
          </a:p>
          <a:p>
            <a:r>
              <a:rPr lang="en-US" altLang="zh-CN" sz="1200" dirty="0" smtClean="0"/>
              <a:t>LDRB R0,[30000001],</a:t>
            </a:r>
            <a:r>
              <a:rPr lang="zh-CN" altLang="en-US" sz="1200" dirty="0" smtClean="0"/>
              <a:t>同上，选中左边芯片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号单元高字节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/>
              <a:t>LDRB R0,[30000002],</a:t>
            </a:r>
            <a:r>
              <a:rPr lang="zh-CN" altLang="en-US" sz="1200" dirty="0" smtClean="0"/>
              <a:t>同上，选中右边芯片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号单元低字节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/>
              <a:t>LDRB R0,[30000003],</a:t>
            </a:r>
            <a:r>
              <a:rPr lang="zh-CN" altLang="en-US" sz="1200" dirty="0" smtClean="0"/>
              <a:t>同上，选中右边芯片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号单元高字节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/>
              <a:t>LDRB R0,[30000004],</a:t>
            </a:r>
            <a:r>
              <a:rPr lang="zh-CN" altLang="en-US" sz="1200" dirty="0" smtClean="0"/>
              <a:t>同上，选中右边芯片</a:t>
            </a:r>
            <a:r>
              <a:rPr lang="en-US" altLang="zh-CN" sz="1200" dirty="0" smtClean="0"/>
              <a:t>1</a:t>
            </a:r>
            <a:r>
              <a:rPr lang="zh-CN" altLang="en-US" sz="1200" dirty="0" smtClean="0"/>
              <a:t>号单元低字节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/>
              <a:t>LDRH R0,[30000000],</a:t>
            </a:r>
            <a:r>
              <a:rPr lang="zh-CN" altLang="en-US" sz="1200" dirty="0" smtClean="0"/>
              <a:t>最低两位导致</a:t>
            </a:r>
            <a:r>
              <a:rPr lang="en-US" altLang="zh-CN" sz="1200" dirty="0" smtClean="0"/>
              <a:t>WBE1-0</a:t>
            </a:r>
            <a:r>
              <a:rPr lang="zh-CN" altLang="en-US" sz="1200" dirty="0" smtClean="0"/>
              <a:t>有效，选中左边芯片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号单元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字节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/>
              <a:t>LDRH R0,[30000002],</a:t>
            </a:r>
            <a:r>
              <a:rPr lang="zh-CN" altLang="en-US" sz="1200" dirty="0" smtClean="0"/>
              <a:t>最低两位导致</a:t>
            </a:r>
            <a:r>
              <a:rPr lang="en-US" altLang="zh-CN" sz="1200" dirty="0" smtClean="0"/>
              <a:t>WBE3-2</a:t>
            </a:r>
            <a:r>
              <a:rPr lang="zh-CN" altLang="en-US" sz="1200" dirty="0" smtClean="0"/>
              <a:t>有效，选中右边芯片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号单元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字节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smtClean="0"/>
              <a:t>5</a:t>
            </a:r>
            <a:r>
              <a:rPr lang="zh-CN" altLang="en-US" sz="1200" dirty="0" smtClean="0"/>
              <a:t>、可以理解为类似前面的</a:t>
            </a:r>
            <a:r>
              <a:rPr lang="en-US" altLang="zh-CN" sz="1200" dirty="0" smtClean="0">
                <a:solidFill>
                  <a:schemeClr val="tx1"/>
                </a:solidFill>
              </a:rPr>
              <a:t>16</a:t>
            </a:r>
            <a:r>
              <a:rPr lang="zh-CN" altLang="en-US" sz="1200" dirty="0" smtClean="0">
                <a:solidFill>
                  <a:schemeClr val="tx1"/>
                </a:solidFill>
              </a:rPr>
              <a:t>位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，只是多了</a:t>
            </a:r>
            <a:r>
              <a:rPr lang="en-US" altLang="zh-CN" sz="1200" dirty="0" smtClean="0">
                <a:solidFill>
                  <a:srgbClr val="FF0000"/>
                </a:solidFill>
              </a:rPr>
              <a:t>RAS</a:t>
            </a:r>
            <a:r>
              <a:rPr lang="zh-CN" altLang="en-US" sz="1200" dirty="0" smtClean="0">
                <a:solidFill>
                  <a:srgbClr val="FF0000"/>
                </a:solidFill>
              </a:rPr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CAS</a:t>
            </a:r>
            <a:r>
              <a:rPr lang="zh-CN" altLang="en-US" sz="1200" dirty="0" smtClean="0">
                <a:solidFill>
                  <a:srgbClr val="FF0000"/>
                </a:solidFill>
              </a:rPr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CLK</a:t>
            </a:r>
            <a:r>
              <a:rPr lang="zh-CN" altLang="en-US" sz="1200" dirty="0" smtClean="0">
                <a:solidFill>
                  <a:srgbClr val="FF0000"/>
                </a:solidFill>
              </a:rPr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CKE</a:t>
            </a:r>
            <a:r>
              <a:rPr lang="zh-CN" altLang="en-US" sz="1200" dirty="0" smtClean="0">
                <a:solidFill>
                  <a:srgbClr val="FF0000"/>
                </a:solidFill>
              </a:rPr>
              <a:t>，这几个信号由</a:t>
            </a:r>
            <a:r>
              <a:rPr lang="en-US" altLang="zh-CN" sz="1200" dirty="0" smtClean="0">
                <a:solidFill>
                  <a:srgbClr val="FF0000"/>
                </a:solidFill>
              </a:rPr>
              <a:t>SDRAM</a:t>
            </a:r>
            <a:r>
              <a:rPr lang="zh-CN" altLang="en-US" sz="1200" dirty="0" smtClean="0">
                <a:solidFill>
                  <a:srgbClr val="FF0000"/>
                </a:solidFill>
              </a:rPr>
              <a:t>控制器自动产生。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 smtClean="0"/>
          </a:p>
          <a:p>
            <a:endParaRPr lang="en-US" altLang="zh-CN" sz="1200" dirty="0" smtClean="0"/>
          </a:p>
          <a:p>
            <a:endParaRPr lang="en-US" altLang="zh-CN" sz="12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SDRAM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控制器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位的地址中自动分出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L-Bank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片选信号，行地址信号，列地址信号，然后先后发出行地址信号，列地址信号（也就是说你只需要设置寄存器告诉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列地址数目是多少。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 smtClean="0"/>
              <a:t>对于</a:t>
            </a:r>
            <a:r>
              <a:rPr lang="en-US" altLang="zh-CN" sz="1200" dirty="0" smtClean="0"/>
              <a:t>EM63A165TS-6G</a:t>
            </a:r>
            <a:r>
              <a:rPr lang="zh-CN" altLang="en-US" sz="1200" dirty="0" smtClean="0"/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HY57V561620F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4bankX4MX16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组成，所以选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两根地址（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A25-24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），行地址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A14-A2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），列地址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A10-A2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）。若容量增加，则会将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A26-25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，低位仍用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A14-A2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，但列地址增加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A1A0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的使用同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，只有每个单元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位时才使用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位则使用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位则都不用。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WBE</a:t>
            </a:r>
            <a:r>
              <a:rPr lang="zh-CN" altLang="en-US" dirty="0" smtClean="0"/>
              <a:t>实际是</a:t>
            </a:r>
            <a:r>
              <a:rPr lang="en-US" altLang="zh-CN" dirty="0" smtClean="0"/>
              <a:t>BE</a:t>
            </a:r>
            <a:r>
              <a:rPr lang="zh-CN" altLang="en-US" dirty="0" smtClean="0"/>
              <a:t>信号。</a:t>
            </a:r>
            <a:endParaRPr lang="en-US" altLang="zh-CN" dirty="0" smtClean="0"/>
          </a:p>
          <a:p>
            <a:r>
              <a:rPr lang="zh-CN" altLang="en-US" dirty="0" smtClean="0"/>
              <a:t>如果是</a:t>
            </a:r>
            <a:r>
              <a:rPr lang="en-US" altLang="zh-CN" dirty="0" smtClean="0"/>
              <a:t>WBE</a:t>
            </a:r>
            <a:r>
              <a:rPr lang="zh-CN" altLang="en-US" dirty="0" smtClean="0"/>
              <a:t>信号，写时可选择字节、半字、字，但读时</a:t>
            </a:r>
            <a:r>
              <a:rPr lang="en-US" altLang="zh-CN" dirty="0" smtClean="0"/>
              <a:t>WBE</a:t>
            </a:r>
            <a:r>
              <a:rPr lang="zh-CN" altLang="en-US" dirty="0" smtClean="0"/>
              <a:t>无效，不能读。</a:t>
            </a:r>
            <a:endParaRPr lang="en-US" altLang="zh-CN" dirty="0" smtClean="0"/>
          </a:p>
          <a:p>
            <a:r>
              <a:rPr lang="zh-CN" altLang="en-US" dirty="0" smtClean="0"/>
              <a:t>改为</a:t>
            </a:r>
            <a:r>
              <a:rPr lang="en-US" altLang="zh-CN" dirty="0" smtClean="0"/>
              <a:t>BE</a:t>
            </a:r>
            <a:r>
              <a:rPr lang="zh-CN" altLang="en-US" dirty="0" smtClean="0"/>
              <a:t>后，写等同于</a:t>
            </a:r>
            <a:r>
              <a:rPr lang="en-US" altLang="zh-CN" dirty="0" smtClean="0"/>
              <a:t>WBE</a:t>
            </a:r>
            <a:r>
              <a:rPr lang="zh-CN" altLang="en-US" dirty="0" smtClean="0"/>
              <a:t>，读时</a:t>
            </a:r>
            <a:r>
              <a:rPr lang="en-US" altLang="zh-CN" dirty="0" smtClean="0"/>
              <a:t>OE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</a:t>
            </a:r>
            <a:r>
              <a:rPr lang="en-US" altLang="zh-CN" dirty="0" smtClean="0"/>
              <a:t>OE</a:t>
            </a:r>
            <a:r>
              <a:rPr lang="zh-CN" altLang="en-US" dirty="0" smtClean="0"/>
              <a:t>低有效，但没有接芯片）有效，使得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BE</a:t>
            </a:r>
            <a:r>
              <a:rPr lang="zh-CN" altLang="en-US" dirty="0" smtClean="0"/>
              <a:t>都有效，读出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个字节，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可丢掉一部分。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是掌握各种处理器使用的最重要问题：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ARM9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位，寻址空间</a:t>
            </a:r>
            <a:r>
              <a:rPr lang="en-US" altLang="zh-CN" dirty="0" smtClean="0"/>
              <a:t>4GB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S3C2440X</a:t>
            </a:r>
            <a:r>
              <a:rPr lang="zh-CN" altLang="en-US" dirty="0" smtClean="0"/>
              <a:t>给主存分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，另外</a:t>
            </a:r>
            <a:r>
              <a:rPr lang="en-US" altLang="zh-CN" dirty="0" smtClean="0"/>
              <a:t>SFR</a:t>
            </a:r>
            <a:r>
              <a:rPr lang="zh-CN" altLang="en-US" dirty="0" smtClean="0"/>
              <a:t>分配</a:t>
            </a:r>
            <a:r>
              <a:rPr lang="en-US" altLang="zh-CN" dirty="0" smtClean="0"/>
              <a:t>384MB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字地址的含义：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）指令中如何写字节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字地址？见此</a:t>
            </a:r>
            <a:r>
              <a:rPr lang="en-US" altLang="zh-CN" dirty="0" err="1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）字节</a:t>
            </a:r>
            <a:r>
              <a:rPr lang="en-US" altLang="zh-CN" dirty="0" smtClean="0"/>
              <a:t>/</a:t>
            </a:r>
            <a:r>
              <a:rPr lang="zh-CN" altLang="en-US" dirty="0" smtClean="0"/>
              <a:t>字地址如何起作用？见下页开始的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位地址变为</a:t>
            </a:r>
            <a:r>
              <a:rPr lang="en-US" altLang="zh-CN" dirty="0" smtClean="0"/>
              <a:t>30</a:t>
            </a:r>
            <a:r>
              <a:rPr lang="zh-CN" altLang="en-US" dirty="0" smtClean="0"/>
              <a:t>位地址</a:t>
            </a:r>
            <a:r>
              <a:rPr lang="en-US" altLang="zh-CN" dirty="0" smtClean="0"/>
              <a:t>+4</a:t>
            </a:r>
            <a:r>
              <a:rPr lang="zh-CN" altLang="en-US" dirty="0" smtClean="0"/>
              <a:t>个选体信号</a:t>
            </a:r>
            <a:endParaRPr lang="en-US" altLang="zh-CN" dirty="0" smtClean="0"/>
          </a:p>
          <a:p>
            <a:r>
              <a:rPr lang="zh-CN" altLang="en-US" dirty="0" smtClean="0"/>
              <a:t>结论：地址线只有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、为什么分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？高三位地址相当于通过</a:t>
            </a:r>
            <a:r>
              <a:rPr lang="en-US" altLang="zh-CN" dirty="0" smtClean="0"/>
              <a:t>3-8</a:t>
            </a:r>
            <a:r>
              <a:rPr lang="zh-CN" altLang="en-US" dirty="0" smtClean="0"/>
              <a:t>译码器差生片选信号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nGCS</a:t>
            </a:r>
            <a:r>
              <a:rPr lang="en-US" altLang="zh-CN" dirty="0" smtClean="0"/>
              <a:t>[0:7]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和</a:t>
            </a:r>
            <a:r>
              <a:rPr lang="en-US" altLang="zh-CN" sz="12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1200" dirty="0" smtClean="0">
                <a:solidFill>
                  <a:schemeClr val="tx1"/>
                </a:solidFill>
              </a:rPr>
              <a:t>的理解。</a:t>
            </a:r>
            <a:r>
              <a:rPr lang="en-US" altLang="zh-CN" sz="1200" dirty="0" smtClean="0">
                <a:solidFill>
                  <a:srgbClr val="FF0000"/>
                </a:solidFill>
              </a:rPr>
              <a:t>NAND flash</a:t>
            </a:r>
            <a:r>
              <a:rPr lang="zh-CN" altLang="en-US" sz="1200" dirty="0" smtClean="0">
                <a:solidFill>
                  <a:srgbClr val="FF0000"/>
                </a:solidFill>
              </a:rPr>
              <a:t>有控制器，所以不占用上述存储空间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芯片内部分为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block, page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的最小擦除单位，一个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包括了若干个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的最小读写单位。一个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包括若干个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如果</a:t>
            </a:r>
            <a:r>
              <a:rPr lang="en-US" altLang="zh-CN" dirty="0" smtClean="0"/>
              <a:t>OM[1:0]</a:t>
            </a:r>
            <a:r>
              <a:rPr lang="zh-CN" altLang="en-US" dirty="0" smtClean="0"/>
              <a:t>为</a:t>
            </a:r>
            <a:r>
              <a:rPr lang="en-US" altLang="zh-CN" dirty="0" smtClean="0"/>
              <a:t>01</a:t>
            </a:r>
            <a:r>
              <a:rPr lang="zh-CN" altLang="en-US" dirty="0" smtClean="0"/>
              <a:t>或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，则为</a:t>
            </a:r>
            <a:r>
              <a:rPr lang="en-US" altLang="zh-CN" dirty="0" smtClean="0"/>
              <a:t>Nor</a:t>
            </a:r>
            <a:r>
              <a:rPr lang="en-US" altLang="zh-CN" baseline="0" dirty="0" smtClean="0"/>
              <a:t> Flash</a:t>
            </a:r>
            <a:r>
              <a:rPr lang="zh-CN" altLang="en-US" baseline="0" dirty="0" smtClean="0"/>
              <a:t>启动模式，从地址</a:t>
            </a:r>
            <a:r>
              <a:rPr lang="en-US" altLang="zh-CN" baseline="0" dirty="0" smtClean="0"/>
              <a:t>0x0</a:t>
            </a:r>
            <a:r>
              <a:rPr lang="zh-CN" altLang="en-US" baseline="0" dirty="0" smtClean="0"/>
              <a:t>（</a:t>
            </a:r>
            <a:r>
              <a:rPr lang="en-US" altLang="zh-CN" baseline="0" dirty="0" smtClean="0"/>
              <a:t>Bank0</a:t>
            </a:r>
            <a:r>
              <a:rPr lang="zh-CN" altLang="en-US" baseline="0" dirty="0" smtClean="0"/>
              <a:t>）开始取指令。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可靠性不如</a:t>
            </a:r>
            <a:r>
              <a:rPr lang="en-US" altLang="zh-CN" dirty="0" smtClean="0"/>
              <a:t>Nor Flash</a:t>
            </a:r>
            <a:r>
              <a:rPr lang="zh-CN" altLang="en-US" dirty="0" smtClean="0"/>
              <a:t>，所以有</a:t>
            </a:r>
            <a:r>
              <a:rPr lang="en-US" altLang="zh-CN" dirty="0" smtClean="0"/>
              <a:t>ECC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D[0</a:t>
            </a:r>
            <a:r>
              <a:rPr lang="zh-CN" altLang="en-US" dirty="0" smtClean="0"/>
              <a:t>：</a:t>
            </a:r>
            <a:r>
              <a:rPr lang="en-US" altLang="zh-CN" dirty="0" smtClean="0"/>
              <a:t>7]</a:t>
            </a:r>
            <a:r>
              <a:rPr lang="zh-CN" altLang="en-US" dirty="0" smtClean="0"/>
              <a:t>复用，因此用</a:t>
            </a:r>
            <a:r>
              <a:rPr lang="en-US" altLang="zh-CN" dirty="0" smtClean="0"/>
              <a:t>CLE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ALE</a:t>
            </a:r>
            <a:r>
              <a:rPr lang="zh-CN" altLang="en-US" dirty="0" smtClean="0"/>
              <a:t>区分命令、地址</a:t>
            </a:r>
            <a:endParaRPr lang="en-US" altLang="zh-CN" dirty="0" smtClean="0"/>
          </a:p>
          <a:p>
            <a:r>
              <a:rPr lang="zh-CN" altLang="en-US" dirty="0" smtClean="0"/>
              <a:t>命令包括：擦除、复位、读状态等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16G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须要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位地址，而传输地址的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口是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位的。因此须要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次将地址送上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D[0:7]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芯片内部分为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block, page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的最小擦除单位，一个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包括了若干个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的最小读写单位。一个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包括若干个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这是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NANDFLASH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的引脚，与控制器的引脚名称不完全一致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的每个上沿锁存地址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有效时（高电平）指示现在的数据其实是地址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一方面与一般计算机系统相同，另一方面接口方面有一定的特殊性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NAND Flash</a:t>
            </a:r>
            <a:r>
              <a:rPr lang="zh-CN" altLang="en-US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控制器可理解为接口，这些是其中的</a:t>
            </a:r>
            <a:r>
              <a:rPr lang="en-US" altLang="zh-CN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31-28</a:t>
            </a:r>
            <a:r>
              <a:rPr lang="zh-CN" altLang="en-US" dirty="0" smtClean="0"/>
              <a:t>：</a:t>
            </a:r>
            <a:r>
              <a:rPr lang="en-US" altLang="zh-CN" dirty="0" smtClean="0"/>
              <a:t>bnak7,27-24</a:t>
            </a:r>
            <a:r>
              <a:rPr lang="zh-CN" altLang="en-US" dirty="0" smtClean="0"/>
              <a:t>：</a:t>
            </a:r>
            <a:r>
              <a:rPr lang="en-US" altLang="zh-CN" dirty="0" smtClean="0"/>
              <a:t>bnak6</a:t>
            </a:r>
            <a:r>
              <a:rPr lang="zh-CN" altLang="en-US" dirty="0" smtClean="0"/>
              <a:t>，</a:t>
            </a:r>
            <a:r>
              <a:rPr lang="en-US" altLang="zh-CN" dirty="0" smtClean="0"/>
              <a:t>....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每个</a:t>
            </a:r>
            <a:r>
              <a:rPr lang="en-US" altLang="zh-CN" dirty="0" smtClean="0"/>
              <a:t>bank1</a:t>
            </a:r>
            <a:r>
              <a:rPr lang="zh-CN" altLang="en-US" dirty="0" smtClean="0"/>
              <a:t>个，内容相同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连接在</a:t>
            </a:r>
            <a:r>
              <a:rPr lang="en-US" altLang="zh-CN" dirty="0" smtClean="0"/>
              <a:t>Bank6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dirty="0" smtClean="0"/>
              <a:t>0X00018005= 1 1000 0000 0000 0101</a:t>
            </a:r>
            <a:endParaRPr lang="en-US" altLang="zh-CN" sz="1200" dirty="0" smtClean="0"/>
          </a:p>
          <a:p>
            <a:r>
              <a:rPr lang="en-US" altLang="zh-CN" sz="1200" dirty="0" smtClean="0"/>
              <a:t>            1 1 </a:t>
            </a:r>
            <a:r>
              <a:rPr lang="zh-CN" altLang="en-US" sz="1200" dirty="0" smtClean="0"/>
              <a:t>表示</a:t>
            </a:r>
            <a:r>
              <a:rPr lang="en-US" altLang="zh-CN" dirty="0" smtClean="0"/>
              <a:t>SDRAM    01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RAS</a:t>
            </a:r>
            <a:r>
              <a:rPr lang="zh-CN" altLang="en-US" dirty="0" smtClean="0"/>
              <a:t>到</a:t>
            </a:r>
            <a:r>
              <a:rPr lang="en-US" altLang="zh-CN" dirty="0" smtClean="0"/>
              <a:t>CAS</a:t>
            </a:r>
            <a:r>
              <a:rPr lang="zh-CN" altLang="en-US" dirty="0" smtClean="0"/>
              <a:t>的延时，</a:t>
            </a:r>
            <a:r>
              <a:rPr lang="en-US" altLang="zh-CN" sz="1200" dirty="0" smtClean="0"/>
              <a:t>01</a:t>
            </a:r>
            <a:r>
              <a:rPr lang="zh-CN" altLang="en-US" dirty="0" smtClean="0"/>
              <a:t>表示列地址数为</a:t>
            </a:r>
            <a:r>
              <a:rPr lang="en-US" altLang="zh-CN" dirty="0" smtClean="0"/>
              <a:t>9</a:t>
            </a:r>
            <a:r>
              <a:rPr lang="zh-CN" altLang="en-US" dirty="0" smtClean="0"/>
              <a:t>位（行地址</a:t>
            </a:r>
            <a:r>
              <a:rPr lang="en-US" altLang="zh-CN" dirty="0" smtClean="0"/>
              <a:t>13</a:t>
            </a:r>
            <a:r>
              <a:rPr lang="zh-CN" altLang="en-US" dirty="0" smtClean="0"/>
              <a:t>位），地址引脚</a:t>
            </a:r>
            <a:r>
              <a:rPr lang="en-US" altLang="zh-CN" dirty="0" smtClean="0"/>
              <a:t>13+2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r>
              <a:rPr lang="en-US" altLang="zh-CN" sz="1200" dirty="0" smtClean="0"/>
              <a:t>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SDRAM</a:t>
            </a:r>
            <a:r>
              <a:rPr lang="zh-CN" altLang="en-US" dirty="0" smtClean="0"/>
              <a:t>与</a:t>
            </a:r>
            <a:r>
              <a:rPr lang="en-US" altLang="zh-CN" dirty="0" smtClean="0"/>
              <a:t>DRAM</a:t>
            </a:r>
            <a:r>
              <a:rPr lang="zh-CN" altLang="en-US" dirty="0" smtClean="0"/>
              <a:t>相比，内部分为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Bank</a:t>
            </a:r>
            <a:r>
              <a:rPr lang="zh-CN" altLang="en-US" dirty="0" smtClean="0"/>
              <a:t>，流水方式工作，</a:t>
            </a:r>
            <a:r>
              <a:rPr lang="en-US" altLang="zh-CN" dirty="0" smtClean="0"/>
              <a:t>RAS</a:t>
            </a:r>
            <a:r>
              <a:rPr lang="zh-CN" altLang="en-US" dirty="0" smtClean="0"/>
              <a:t>可以预充电，因而提高了读写速度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13</a:t>
            </a:r>
            <a:r>
              <a:rPr lang="zh-CN" altLang="en-US" dirty="0" smtClean="0"/>
              <a:t>个寄存器，每个</a:t>
            </a:r>
            <a:r>
              <a:rPr lang="en-US" altLang="zh-CN" dirty="0" smtClean="0"/>
              <a:t>4</a:t>
            </a:r>
            <a:r>
              <a:rPr lang="zh-CN" altLang="en-US" dirty="0" smtClean="0"/>
              <a:t>字节，共</a:t>
            </a:r>
            <a:r>
              <a:rPr lang="en-US" altLang="zh-CN" dirty="0" smtClean="0"/>
              <a:t>52</a:t>
            </a:r>
            <a:r>
              <a:rPr lang="zh-CN" altLang="en-US" dirty="0" smtClean="0"/>
              <a:t>个字节</a:t>
            </a:r>
            <a:endParaRPr lang="en-US" altLang="zh-CN" dirty="0" smtClean="0"/>
          </a:p>
          <a:p>
            <a:r>
              <a:rPr lang="zh-CN" altLang="en-US" dirty="0" smtClean="0"/>
              <a:t>地址从</a:t>
            </a:r>
            <a:r>
              <a:rPr lang="en-US" altLang="zh-CN" sz="1200" dirty="0" smtClean="0">
                <a:solidFill>
                  <a:srgbClr val="FF0000"/>
                </a:solidFill>
              </a:rPr>
              <a:t>BWSCON</a:t>
            </a:r>
            <a:r>
              <a:rPr lang="zh-CN" altLang="en-US" dirty="0" smtClean="0"/>
              <a:t>开始，连续的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连接在</a:t>
            </a:r>
            <a:r>
              <a:rPr lang="en-US" altLang="zh-CN" dirty="0" smtClean="0"/>
              <a:t>Bank6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连接在</a:t>
            </a:r>
            <a:r>
              <a:rPr lang="en-US" altLang="zh-CN" dirty="0" smtClean="0"/>
              <a:t>Bank6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第一代</a:t>
            </a:r>
            <a:r>
              <a:rPr lang="en-US" altLang="zh-CN" dirty="0" smtClean="0"/>
              <a:t>iPhone</a:t>
            </a:r>
            <a:r>
              <a:rPr lang="zh-CN" altLang="en-US" dirty="0" smtClean="0"/>
              <a:t>原型机首次曝光 为它乔布斯花费了两年半心血 </a:t>
            </a:r>
            <a:r>
              <a:rPr lang="en-US" altLang="zh-CN" dirty="0" smtClean="0"/>
              <a:t>https://t.cj.sina.com.cn/articles/view/1987543647/7677825f01900f84s?from=digit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第一代</a:t>
            </a:r>
            <a:r>
              <a:rPr lang="en-US" altLang="zh-CN" dirty="0" smtClean="0"/>
              <a:t>iPhone</a:t>
            </a:r>
            <a:r>
              <a:rPr lang="zh-CN" altLang="en-US" dirty="0" smtClean="0"/>
              <a:t>原型机首次曝光 为它乔布斯花费了两年半心血 </a:t>
            </a:r>
            <a:r>
              <a:rPr lang="en-US" altLang="zh-CN" dirty="0" smtClean="0"/>
              <a:t>https://t.cj.sina.com.cn/articles/view/1987543647/7677825f01900f84s?from=digit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0332B9-C9E8-42BE-85D6-9BBE8D8C0D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18596" y="464056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22376" y="1772816"/>
            <a:ext cx="7772400" cy="1828800"/>
          </a:xfrm>
        </p:spPr>
        <p:txBody>
          <a:bodyPr lIns="45720" rIns="45720" bIns="45720"/>
          <a:lstStyle>
            <a:lvl1pPr algn="ct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20" name="副标题 19"/>
          <p:cNvSpPr>
            <a:spLocks noGrp="1"/>
          </p:cNvSpPr>
          <p:nvPr>
            <p:ph type="subTitle" idx="1"/>
          </p:nvPr>
        </p:nvSpPr>
        <p:spPr>
          <a:xfrm>
            <a:off x="722376" y="3882752"/>
            <a:ext cx="7772400" cy="914400"/>
          </a:xfrm>
        </p:spPr>
        <p:txBody>
          <a:bodyPr lIns="182880"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576" y="289208"/>
            <a:ext cx="8183880" cy="763528"/>
          </a:xfrm>
        </p:spPr>
        <p:txBody>
          <a:bodyPr/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1196752"/>
            <a:ext cx="8183880" cy="460851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fld id="{21613795-4F12-482E-8501-B1D52128F7E1}" type="datetimeFigureOut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/>
          <a:lstStyle/>
          <a:p>
            <a:fld id="{68F6AC35-BEFA-4BA4-9DA5-DD7229BE65A1}" type="slidenum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fld id="{21613795-4F12-482E-8501-B1D52128F7E1}" type="datetimeFigureOut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/>
          <a:lstStyle/>
          <a:p>
            <a:fld id="{68F6AC35-BEFA-4BA4-9DA5-DD7229BE65A1}" type="slidenum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fld id="{21613795-4F12-482E-8501-B1D52128F7E1}" type="datetimeFigureOut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/>
          <a:lstStyle/>
          <a:p>
            <a:fld id="{68F6AC35-BEFA-4BA4-9DA5-DD7229BE65A1}" type="slidenum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E7A2EA-2C38-454E-BED1-70DC14879A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F131AD-3437-48BB-ACC8-FCF2156F46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838C05-5186-4362-94C1-A4F7ED249E4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B3D1D2-A777-4FE9-99A1-17B2893A5B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0FE0CF3-5415-4D56-AFE6-1F4DF69B9F8A}" type="slidenum">
              <a:rPr lang="ko-KR" alt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94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rgbClr val="32324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-498475" y="1311275"/>
            <a:ext cx="10429875" cy="5908675"/>
            <a:chOff x="-313" y="824"/>
            <a:chExt cx="6570" cy="372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4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94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4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6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7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5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1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2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3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1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6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9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6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7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8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9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0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3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4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5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6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7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8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9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0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1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2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3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4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5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9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1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5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7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9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1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2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3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4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5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6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7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8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9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0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2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3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4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5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6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0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1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2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3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4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1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49370" name="Rectangle 2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9371" name="Rectangle 2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20" name="Rectangle 2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21" name="Rectangle 22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22" name="Rectangle 2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321A5-6474-4B1A-B238-B3480D3FD981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DEF15-4F09-4844-9804-36B600E03F46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66EDC-543F-4EB8-A6C1-A85F9CF1A049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5D9A9-EB6D-490C-9252-7FE9D8F62898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E9FC-7B09-4C75-9FCC-4E660A5CEB9A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3FCDF-662A-47C4-914F-19ED4895EE94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0395E-D416-4F72-A249-36FAE3FFDAF7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35228-AE24-4FF4-AA3D-18381B788461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A0821-83CA-40F6-BA08-674989E147B6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AFCDE-DEA4-4566-BE7E-6B2ACA7A0DCE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94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94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86B89-19A8-4CEE-8900-22FD19DF15C4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07981-3AF5-4B21-AAAF-7817F620B76D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rgbClr val="32324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-498475" y="1311275"/>
            <a:ext cx="10429875" cy="5908675"/>
            <a:chOff x="-313" y="824"/>
            <a:chExt cx="6570" cy="372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4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99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4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6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7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5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1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2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3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1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6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9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6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7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8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9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0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3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4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5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6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7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8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9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0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1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2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3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4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5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9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1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5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7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9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1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2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3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4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5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6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7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8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9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0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2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3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4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5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6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0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1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2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3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4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1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49370" name="Rectangle 2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9371" name="Rectangle 2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20" name="Rectangle 2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21" name="Rectangle 22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22" name="Rectangle 2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69CAC-6F9A-4CDE-9E0D-371790E313FD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33F1-94BD-48D7-9606-71AFA5E84EC1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C0C8F-1DA8-40B0-BC1D-BCE4B0B4A11D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83611-BB5A-4CDA-B324-9118538F85D1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AEAA0-485C-43A2-AF20-A86FFC938A17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10DA7-D9C4-44CA-AC25-B4D513E8FEEF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5B466-00FD-461F-A337-7402641F8501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22471-7565-45FD-8E12-F472E75A09C9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619F9-F37B-4D38-8146-3E71561E9AE2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3B534-418B-4BC1-A533-D91242FC2629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94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94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D37BB-9103-4680-9B5F-A2BCF8B81A96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DEDBF-F9DC-4B91-96DC-65F7B030BCB9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943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943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0574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18596" y="464056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22376" y="1772816"/>
            <a:ext cx="7772400" cy="1828800"/>
          </a:xfrm>
        </p:spPr>
        <p:txBody>
          <a:bodyPr lIns="45720" rIns="45720" bIns="45720"/>
          <a:lstStyle>
            <a:lvl1pPr algn="ct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20" name="副标题 19"/>
          <p:cNvSpPr>
            <a:spLocks noGrp="1"/>
          </p:cNvSpPr>
          <p:nvPr>
            <p:ph type="subTitle" idx="1"/>
          </p:nvPr>
        </p:nvSpPr>
        <p:spPr>
          <a:xfrm>
            <a:off x="722376" y="3882752"/>
            <a:ext cx="7772400" cy="914400"/>
          </a:xfrm>
        </p:spPr>
        <p:txBody>
          <a:bodyPr lIns="182880"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576" y="289208"/>
            <a:ext cx="8183880" cy="763528"/>
          </a:xfrm>
        </p:spPr>
        <p:txBody>
          <a:bodyPr/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1196752"/>
            <a:ext cx="8183880" cy="460851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fld id="{21613795-4F12-482E-8501-B1D52128F7E1}" type="datetimeFigureOut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/>
          <a:lstStyle/>
          <a:p>
            <a:fld id="{68F6AC35-BEFA-4BA4-9DA5-DD7229BE65A1}" type="slidenum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fld id="{21613795-4F12-482E-8501-B1D52128F7E1}" type="datetimeFigureOut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/>
          <a:lstStyle/>
          <a:p>
            <a:fld id="{68F6AC35-BEFA-4BA4-9DA5-DD7229BE65A1}" type="slidenum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fld id="{21613795-4F12-482E-8501-B1D52128F7E1}" type="datetimeFigureOut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/>
          <a:lstStyle/>
          <a:p>
            <a:fld id="{68F6AC35-BEFA-4BA4-9DA5-DD7229BE65A1}" type="slidenum">
              <a:rPr lang="zh-CN" altLang="en-US" smtClean="0">
                <a:solidFill>
                  <a:srgbClr val="E3DED1">
                    <a:shade val="50000"/>
                  </a:srgbClr>
                </a:solidFill>
              </a:rPr>
            </a:fld>
            <a:endParaRPr lang="zh-CN" altLang="en-US">
              <a:solidFill>
                <a:srgbClr val="E3DED1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E7A2EA-2C38-454E-BED1-70DC14879A51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F131AD-3437-48BB-ACC8-FCF2156F46C9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838C05-5186-4362-94C1-A4F7ED249E44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B3D1D2-A777-4FE9-99A1-17B2893A5BA2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0FE0CF3-5415-4D56-AFE6-1F4DF69B9F8A}" type="slidenum">
              <a:rPr lang="ko-KR" alt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94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4" Type="http://schemas.openxmlformats.org/officeDocument/2006/relationships/theme" Target="../theme/theme3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5" Type="http://schemas.openxmlformats.org/officeDocument/2006/relationships/theme" Target="../theme/theme4.xml"/><Relationship Id="rId14" Type="http://schemas.openxmlformats.org/officeDocument/2006/relationships/image" Target="../media/image3.jpeg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9184"/>
            <a:ext cx="8532055" cy="6052143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395536" y="361216"/>
            <a:ext cx="8183880" cy="61951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502920" y="1143908"/>
            <a:ext cx="8183880" cy="516541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65430" indent="-265430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 panose="05020102010507070707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295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 panose="020B0604030504040204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 panose="05020102010507070707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 panose="020B0604030504040204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2F2F4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-496888" y="1308100"/>
            <a:ext cx="10429876" cy="5908675"/>
            <a:chOff x="-313" y="824"/>
            <a:chExt cx="6570" cy="3722"/>
          </a:xfrm>
        </p:grpSpPr>
        <p:sp>
          <p:nvSpPr>
            <p:cNvPr id="48131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2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3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4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5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6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7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8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9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0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1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2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3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4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5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3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6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68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7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8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9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0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1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2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3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4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5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6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7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8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9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0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1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2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3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4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5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6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7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8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9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0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1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2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3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4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5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6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7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8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9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0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1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2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3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4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5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6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7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8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9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0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1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2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3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4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5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6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7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8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9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0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1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2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3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4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5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6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7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8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9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0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1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2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3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4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5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6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7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8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9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0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1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2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3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4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5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6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7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8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9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0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1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2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3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4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5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6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7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8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9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0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1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2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3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4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5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6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7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8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9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0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1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2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3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4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5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6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7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8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9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0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1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2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3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4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5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6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7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8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9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0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1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2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3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4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5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6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7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8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9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0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1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2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3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4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5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6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7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8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9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0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1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2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3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4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5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6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7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8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9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0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1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2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3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4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5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6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7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8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9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0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1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2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3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4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5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6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7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8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9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0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1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2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3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4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5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6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7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8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9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0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1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2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3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4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5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6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7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8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9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0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1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2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3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4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5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48346" name="Rectangle 2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039BF6-9372-4338-9A4A-9E714AA6889F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8347" name="Rectangle 2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8348" name="Rectangle 2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8349" name="Rectangle 2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3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8350" name="Rectangle 22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2F2F4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-496888" y="1308100"/>
            <a:ext cx="10429876" cy="5908675"/>
            <a:chOff x="-313" y="824"/>
            <a:chExt cx="6570" cy="3722"/>
          </a:xfrm>
        </p:grpSpPr>
        <p:sp>
          <p:nvSpPr>
            <p:cNvPr id="48131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2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3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4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5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6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7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8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39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0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1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2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3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4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5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3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6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68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 vert="eaVert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7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8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49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0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1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2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3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4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5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6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7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8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59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0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1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2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rot="1080000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163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4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5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6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7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8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69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0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1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2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3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4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5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6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7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8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79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0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1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2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3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4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5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6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7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8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89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0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1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2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3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4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5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6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7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8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199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0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1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2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3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4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5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6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7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8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09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0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1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2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3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4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5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6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7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8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19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0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1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2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3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4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5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6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7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8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29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0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1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2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3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4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5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6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7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8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39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0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1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2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3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4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5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6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7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8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49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0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1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2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3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4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5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6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7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8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59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0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1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2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3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4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5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6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7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8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69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0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1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2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3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4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5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6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7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8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79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0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1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2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3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4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5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6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7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8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89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0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1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2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3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4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5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6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7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8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299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0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1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2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3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4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5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6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7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8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09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0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1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2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3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4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5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6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7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8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19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0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1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2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3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4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5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6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7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8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29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0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1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2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3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4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5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6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7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8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39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0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1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2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3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4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8345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48346" name="Rectangle 2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F3E834-4845-47D8-A52A-444CFD44D074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8347" name="Rectangle 2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8348" name="Rectangle 2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8349" name="Rectangle 2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3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8350" name="Rectangle 22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0574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550" tIns="41275" rIns="82550" bIns="41275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pic>
        <p:nvPicPr>
          <p:cNvPr id="1027" name="Picture 17" descr="TopNavBlank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8" descr="TopNavBlank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62725"/>
            <a:ext cx="9144000" cy="309563"/>
          </a:xfrm>
          <a:prstGeom prst="rect">
            <a:avLst/>
          </a:prstGeom>
          <a:gradFill rotWithShape="0">
            <a:gsLst>
              <a:gs pos="0">
                <a:srgbClr val="002F47"/>
              </a:gs>
              <a:gs pos="100000">
                <a:srgbClr val="00669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8"/>
          <p:cNvSpPr>
            <a:spLocks noChangeArrowheads="1"/>
          </p:cNvSpPr>
          <p:nvPr userDrawn="1"/>
        </p:nvSpPr>
        <p:spPr bwMode="auto">
          <a:xfrm>
            <a:off x="8410575" y="6548438"/>
            <a:ext cx="692150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44650AE-0778-44D7-A131-067397A1D4C7}" type="slidenum">
              <a:rPr lang="en-US" altLang="zh-CN" sz="1400" smtClean="0">
                <a:solidFill>
                  <a:srgbClr val="010000"/>
                </a:solidFill>
              </a:rPr>
            </a:fld>
            <a:endParaRPr lang="en-US" altLang="zh-CN" sz="1400" smtClean="0">
              <a:solidFill>
                <a:srgbClr val="010000"/>
              </a:solidFill>
            </a:endParaRPr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550" tIns="41275" rIns="82550" bIns="41275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ransition spd="med">
    <p:random/>
  </p:transition>
  <p:txStyles>
    <p:titleStyle>
      <a:lvl1pPr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 kern="1200">
          <a:solidFill>
            <a:srgbClr val="000066"/>
          </a:solidFill>
          <a:latin typeface="+mj-lt"/>
          <a:ea typeface="+mj-ea"/>
          <a:cs typeface="+mj-cs"/>
        </a:defRPr>
      </a:lvl1pPr>
      <a:lvl2pPr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67818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200" b="1">
          <a:solidFill>
            <a:srgbClr val="000066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4000" indent="-254000" algn="l" defTabSz="678180" rtl="0" eaLnBrk="0" fontAlgn="base" hangingPunct="0">
        <a:spcBef>
          <a:spcPct val="50000"/>
        </a:spcBef>
        <a:spcAft>
          <a:spcPct val="0"/>
        </a:spcAft>
        <a:buSzPct val="75000"/>
        <a:buFont typeface="Wingdings" panose="05000000000000000000" pitchFamily="2" charset="2"/>
        <a:buChar char="l"/>
        <a:defRPr kumimoji="1" sz="2000" b="1" kern="1200">
          <a:solidFill>
            <a:srgbClr val="000066"/>
          </a:solidFill>
          <a:latin typeface="+mn-lt"/>
          <a:ea typeface="+mn-ea"/>
          <a:cs typeface="+mn-cs"/>
        </a:defRPr>
      </a:lvl1pPr>
      <a:lvl2pPr marL="609600" indent="-203200" algn="l" defTabSz="678180" rtl="0" eaLnBrk="0" fontAlgn="base" hangingPunct="0">
        <a:spcBef>
          <a:spcPct val="50000"/>
        </a:spcBef>
        <a:spcAft>
          <a:spcPct val="0"/>
        </a:spcAft>
        <a:buSzPct val="75000"/>
        <a:buFont typeface="Wingdings" panose="05000000000000000000" pitchFamily="2" charset="2"/>
        <a:buChar char="l"/>
        <a:defRPr kumimoji="1" sz="2000" b="1" kern="1200">
          <a:solidFill>
            <a:srgbClr val="000066"/>
          </a:solidFill>
          <a:latin typeface="+mn-lt"/>
          <a:ea typeface="+mn-ea"/>
          <a:cs typeface="+mn-cs"/>
        </a:defRPr>
      </a:lvl2pPr>
      <a:lvl3pPr marL="1017905" indent="-203200" algn="l" defTabSz="678180" rtl="0" eaLnBrk="0" fontAlgn="base" hangingPunct="0">
        <a:spcBef>
          <a:spcPct val="50000"/>
        </a:spcBef>
        <a:spcAft>
          <a:spcPct val="0"/>
        </a:spcAft>
        <a:buSzPct val="75000"/>
        <a:buFont typeface="Wingdings" panose="05000000000000000000" pitchFamily="2" charset="2"/>
        <a:buChar char="l"/>
        <a:defRPr kumimoji="1" sz="2000" b="1" kern="1200">
          <a:solidFill>
            <a:srgbClr val="000066"/>
          </a:solidFill>
          <a:latin typeface="+mn-lt"/>
          <a:ea typeface="+mn-ea"/>
          <a:cs typeface="+mn-cs"/>
        </a:defRPr>
      </a:lvl3pPr>
      <a:lvl4pPr marL="1600200" indent="-228600" algn="l" defTabSz="678180" rtl="0" eaLnBrk="0" fontAlgn="base" hangingPunct="0">
        <a:spcBef>
          <a:spcPct val="50000"/>
        </a:spcBef>
        <a:spcAft>
          <a:spcPct val="0"/>
        </a:spcAft>
        <a:buSzPct val="75000"/>
        <a:buFont typeface="Wingdings" panose="05000000000000000000" pitchFamily="2" charset="2"/>
        <a:buChar char="l"/>
        <a:defRPr kumimoji="1" sz="2000" b="1" kern="1200">
          <a:solidFill>
            <a:srgbClr val="000066"/>
          </a:solidFill>
          <a:latin typeface="+mn-lt"/>
          <a:ea typeface="+mn-ea"/>
          <a:cs typeface="+mn-cs"/>
        </a:defRPr>
      </a:lvl4pPr>
      <a:lvl5pPr marL="2057400" indent="-228600" algn="l" defTabSz="678180" rtl="0" eaLnBrk="0" fontAlgn="base" hangingPunct="0">
        <a:spcBef>
          <a:spcPct val="50000"/>
        </a:spcBef>
        <a:spcAft>
          <a:spcPct val="0"/>
        </a:spcAft>
        <a:buSzPct val="75000"/>
        <a:buFont typeface="Wingdings" panose="05000000000000000000" pitchFamily="2" charset="2"/>
        <a:buChar char="l"/>
        <a:defRPr kumimoji="1" sz="2000" b="1"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9184"/>
            <a:ext cx="8532055" cy="6052143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395536" y="361216"/>
            <a:ext cx="8183880" cy="61951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502920" y="1143908"/>
            <a:ext cx="8183880" cy="516541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65430" indent="-265430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 panose="05020102010507070707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295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 panose="020B0604030504040204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 panose="05020102010507070707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 panose="020B0604030504040204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5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5.xml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e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emf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jpe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490" name="Text Box 2"/>
          <p:cNvSpPr txBox="1">
            <a:spLocks noChangeArrowheads="1"/>
          </p:cNvSpPr>
          <p:nvPr/>
        </p:nvSpPr>
        <p:spPr bwMode="auto">
          <a:xfrm>
            <a:off x="419100" y="1004888"/>
            <a:ext cx="8305800" cy="212365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100000"/>
              </a:spcBef>
              <a:defRPr/>
            </a:pPr>
            <a:r>
              <a:rPr lang="zh-CN" altLang="en-US" sz="4400" b="1" dirty="0" smtClean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第五章</a:t>
            </a:r>
            <a:endParaRPr kumimoji="0" lang="en-US" altLang="zh-CN" sz="4400" b="1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algn="ctr">
              <a:spcBef>
                <a:spcPct val="100000"/>
              </a:spcBef>
              <a:defRPr/>
            </a:pPr>
            <a:r>
              <a:rPr lang="en-US" altLang="zh-CN" sz="4400" b="1" dirty="0" smtClean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ARM</a:t>
            </a:r>
            <a:r>
              <a:rPr lang="zh-CN" altLang="en-US" sz="4400" b="1" dirty="0" smtClean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最小系统设计</a:t>
            </a:r>
            <a:endParaRPr lang="en-US" sz="4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533400" y="228600"/>
            <a:ext cx="80772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2550" tIns="41275" rIns="82550" bIns="41275"/>
          <a:lstStyle/>
          <a:p>
            <a:pPr marL="254000" indent="-254000" algn="ctr" defTabSz="678180">
              <a:lnSpc>
                <a:spcPct val="90000"/>
              </a:lnSpc>
              <a:spcBef>
                <a:spcPct val="50000"/>
              </a:spcBef>
              <a:buSzPct val="75000"/>
            </a:pPr>
            <a:r>
              <a:rPr lang="zh-CN" altLang="en-US" sz="3200" b="1">
                <a:solidFill>
                  <a:srgbClr val="FFFF00"/>
                </a:solidFill>
                <a:ea typeface="黑体" panose="02010609060101010101" pitchFamily="49" charset="-122"/>
              </a:rPr>
              <a:t>本节提要</a:t>
            </a:r>
            <a:endParaRPr lang="zh-CN" altLang="en-US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zh-CN" alt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zh-CN" altLang="en-US"/>
          </a:p>
        </p:txBody>
      </p:sp>
      <p:pic>
        <p:nvPicPr>
          <p:cNvPr id="10245" name="Picture 5" descr="TurbineAgenda"/>
          <p:cNvPicPr>
            <a:picLocks noChangeAspect="1" noChangeArrowheads="1"/>
          </p:cNvPicPr>
          <p:nvPr/>
        </p:nvPicPr>
        <p:blipFill>
          <a:blip r:embed="rId1"/>
          <a:srcRect l="6398"/>
          <a:stretch>
            <a:fillRect/>
          </a:stretch>
        </p:blipFill>
        <p:spPr bwMode="auto">
          <a:xfrm>
            <a:off x="38100" y="2066925"/>
            <a:ext cx="323850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Arc 6"/>
          <p:cNvSpPr/>
          <p:nvPr/>
        </p:nvSpPr>
        <p:spPr bwMode="gray">
          <a:xfrm>
            <a:off x="1633538" y="1687513"/>
            <a:ext cx="2251075" cy="4478337"/>
          </a:xfrm>
          <a:custGeom>
            <a:avLst/>
            <a:gdLst>
              <a:gd name="T0" fmla="*/ 2147483647 w 21600"/>
              <a:gd name="T1" fmla="*/ 0 h 42956"/>
              <a:gd name="T2" fmla="*/ 2147483647 w 21600"/>
              <a:gd name="T3" fmla="*/ 2147483647 h 42956"/>
              <a:gd name="T4" fmla="*/ 0 w 21600"/>
              <a:gd name="T5" fmla="*/ 2147483647 h 42956"/>
              <a:gd name="T6" fmla="*/ 0 60000 65536"/>
              <a:gd name="T7" fmla="*/ 0 60000 65536"/>
              <a:gd name="T8" fmla="*/ 0 60000 65536"/>
              <a:gd name="T9" fmla="*/ 0 w 21600"/>
              <a:gd name="T10" fmla="*/ 0 h 42956"/>
              <a:gd name="T11" fmla="*/ 21600 w 21600"/>
              <a:gd name="T12" fmla="*/ 42956 h 429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2956" fill="none" extrusionOk="0">
                <a:moveTo>
                  <a:pt x="1655" y="-1"/>
                </a:moveTo>
                <a:cubicBezTo>
                  <a:pt x="12909" y="864"/>
                  <a:pt x="21600" y="10248"/>
                  <a:pt x="21600" y="21536"/>
                </a:cubicBezTo>
                <a:cubicBezTo>
                  <a:pt x="21600" y="32389"/>
                  <a:pt x="13545" y="41558"/>
                  <a:pt x="2782" y="42956"/>
                </a:cubicBezTo>
              </a:path>
              <a:path w="21600" h="42956" stroke="0" extrusionOk="0">
                <a:moveTo>
                  <a:pt x="1655" y="-1"/>
                </a:moveTo>
                <a:cubicBezTo>
                  <a:pt x="12909" y="864"/>
                  <a:pt x="21600" y="10248"/>
                  <a:pt x="21600" y="21536"/>
                </a:cubicBezTo>
                <a:cubicBezTo>
                  <a:pt x="21600" y="32389"/>
                  <a:pt x="13545" y="41558"/>
                  <a:pt x="2782" y="42956"/>
                </a:cubicBezTo>
                <a:lnTo>
                  <a:pt x="0" y="21536"/>
                </a:lnTo>
                <a:lnTo>
                  <a:pt x="1655" y="-1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567" name="Oval 7">
            <a:hlinkClick r:id="rId2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2208213" y="1555750"/>
            <a:ext cx="444500" cy="444500"/>
          </a:xfrm>
          <a:prstGeom prst="ellipse">
            <a:avLst/>
          </a:prstGeom>
          <a:gradFill rotWithShape="0">
            <a:gsLst>
              <a:gs pos="0">
                <a:srgbClr val="000066">
                  <a:gamma/>
                  <a:tint val="0"/>
                  <a:invGamma/>
                </a:srgbClr>
              </a:gs>
              <a:gs pos="100000">
                <a:srgbClr val="000066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2D86"/>
            </a:solidFill>
            <a:round/>
          </a:ln>
          <a:effectLst>
            <a:outerShdw dist="35921" dir="2700000" algn="ctr" rotWithShape="0">
              <a:schemeClr val="tx2"/>
            </a:outerShdw>
          </a:effec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986569" name="Oval 9">
            <a:hlinkClick r:id="rId2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3130550" y="2292350"/>
            <a:ext cx="444500" cy="444500"/>
          </a:xfrm>
          <a:prstGeom prst="ellipse">
            <a:avLst/>
          </a:prstGeom>
          <a:gradFill rotWithShape="0">
            <a:gsLst>
              <a:gs pos="0">
                <a:srgbClr val="000066">
                  <a:gamma/>
                  <a:tint val="0"/>
                  <a:invGamma/>
                </a:srgbClr>
              </a:gs>
              <a:gs pos="100000">
                <a:srgbClr val="000066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2D86"/>
            </a:solidFill>
            <a:round/>
          </a:ln>
          <a:effectLst>
            <a:outerShdw dist="35921" dir="2700000" algn="ctr" rotWithShape="0">
              <a:schemeClr val="tx2"/>
            </a:outerShdw>
          </a:effec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2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251" name="Rectangle 13"/>
          <p:cNvSpPr>
            <a:spLocks noChangeArrowheads="1"/>
          </p:cNvSpPr>
          <p:nvPr/>
        </p:nvSpPr>
        <p:spPr bwMode="auto">
          <a:xfrm>
            <a:off x="2943225" y="1593850"/>
            <a:ext cx="5373688" cy="4508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82550" tIns="41275" rIns="82550" bIns="41275"/>
          <a:lstStyle/>
          <a:p>
            <a:pPr>
              <a:lnSpc>
                <a:spcPct val="9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S3C2440</a:t>
            </a:r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及最小系统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252" name="Rectangle 14"/>
          <p:cNvSpPr>
            <a:spLocks noChangeArrowheads="1"/>
          </p:cNvSpPr>
          <p:nvPr/>
        </p:nvSpPr>
        <p:spPr bwMode="auto">
          <a:xfrm>
            <a:off x="3789363" y="2278063"/>
            <a:ext cx="5200650" cy="4508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82550" tIns="41275" rIns="82550" bIns="41275"/>
          <a:lstStyle/>
          <a:p>
            <a:pPr>
              <a:lnSpc>
                <a:spcPct val="90000"/>
              </a:lnSpc>
            </a:pPr>
            <a:r>
              <a:rPr lang="zh-CN" altLang="en-US" sz="24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最小系统设计</a:t>
            </a:r>
            <a:endParaRPr lang="zh-CN" altLang="en-US" sz="2400" b="1" dirty="0"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92576" y="188640"/>
            <a:ext cx="8183880" cy="763528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dirty="0" err="1" smtClean="0">
                <a:solidFill>
                  <a:srgbClr val="FF0000"/>
                </a:solidFill>
              </a:rPr>
              <a:t>SoC</a:t>
            </a:r>
            <a:r>
              <a:rPr lang="zh-CN" altLang="en-US" sz="3200" dirty="0">
                <a:solidFill>
                  <a:srgbClr val="FF0000"/>
                </a:solidFill>
              </a:rPr>
              <a:t>的概念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458200" cy="530614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</a:pPr>
            <a:r>
              <a:rPr lang="en-US" altLang="zh-CN" dirty="0">
                <a:solidFill>
                  <a:srgbClr val="FF0000"/>
                </a:solidFill>
              </a:rPr>
              <a:t>SOC</a:t>
            </a:r>
            <a:r>
              <a:rPr lang="zh-CN" altLang="en-US" dirty="0"/>
              <a:t>即</a:t>
            </a:r>
            <a:r>
              <a:rPr lang="en-US" altLang="zh-CN" dirty="0"/>
              <a:t>System On Chip</a:t>
            </a:r>
            <a:r>
              <a:rPr lang="zh-CN" altLang="en-US" dirty="0"/>
              <a:t>，被</a:t>
            </a:r>
            <a:r>
              <a:rPr lang="zh-CN" altLang="en-US" dirty="0" smtClean="0"/>
              <a:t>称为</a:t>
            </a:r>
            <a:r>
              <a:rPr lang="zh-CN" altLang="en-US" dirty="0" smtClean="0">
                <a:solidFill>
                  <a:srgbClr val="FF0000"/>
                </a:solidFill>
              </a:rPr>
              <a:t>片上系统或者系统</a:t>
            </a:r>
            <a:r>
              <a:rPr lang="zh-CN" altLang="en-US" dirty="0">
                <a:solidFill>
                  <a:srgbClr val="FF0000"/>
                </a:solidFill>
              </a:rPr>
              <a:t>级</a:t>
            </a:r>
            <a:r>
              <a:rPr lang="zh-CN" altLang="en-US" dirty="0" smtClean="0">
                <a:solidFill>
                  <a:srgbClr val="FF0000"/>
                </a:solidFill>
              </a:rPr>
              <a:t>芯片</a:t>
            </a:r>
            <a:r>
              <a:rPr lang="zh-CN" altLang="en-US" dirty="0" smtClean="0"/>
              <a:t>，</a:t>
            </a:r>
            <a:r>
              <a:rPr lang="zh-CN" altLang="en-US" dirty="0"/>
              <a:t>它是一种面向应用系统的集成电路，包含</a:t>
            </a:r>
            <a:r>
              <a:rPr lang="zh-CN" altLang="en-US" dirty="0" smtClean="0"/>
              <a:t>完整嵌入式系统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绝大部分</a:t>
            </a:r>
            <a:r>
              <a:rPr lang="zh-CN" altLang="en-US" dirty="0" smtClean="0">
                <a:solidFill>
                  <a:srgbClr val="FF0000"/>
                </a:solidFill>
              </a:rPr>
              <a:t>功能部件</a:t>
            </a:r>
            <a:r>
              <a:rPr lang="zh-CN" altLang="en-US" dirty="0" smtClean="0"/>
              <a:t>（除外设） </a:t>
            </a:r>
            <a:r>
              <a:rPr lang="zh-CN" altLang="en-US" dirty="0"/>
              <a:t>，</a:t>
            </a:r>
            <a:r>
              <a:rPr lang="zh-CN" altLang="en-US" dirty="0" smtClean="0"/>
              <a:t>做</a:t>
            </a:r>
            <a:r>
              <a:rPr lang="zh-CN" altLang="en-US" dirty="0"/>
              <a:t>在一个单一的芯片上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</a:pPr>
            <a:r>
              <a:rPr lang="en-US" altLang="zh-CN" dirty="0" smtClean="0"/>
              <a:t>ARM</a:t>
            </a:r>
            <a:r>
              <a:rPr lang="zh-CN" altLang="en-US" dirty="0" smtClean="0"/>
              <a:t>公司的</a:t>
            </a:r>
            <a:r>
              <a:rPr lang="en-US" altLang="zh-CN" dirty="0" smtClean="0"/>
              <a:t>RISC</a:t>
            </a:r>
            <a:r>
              <a:rPr lang="zh-CN" altLang="en-US" dirty="0" smtClean="0"/>
              <a:t>架构</a:t>
            </a:r>
            <a:r>
              <a:rPr lang="en-US" altLang="zh-CN" dirty="0" smtClean="0">
                <a:solidFill>
                  <a:srgbClr val="FF0000"/>
                </a:solidFill>
              </a:rPr>
              <a:t>ARM</a:t>
            </a:r>
            <a:r>
              <a:rPr lang="en-US" altLang="zh-CN" dirty="0" smtClean="0"/>
              <a:t> Core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公司的</a:t>
            </a:r>
            <a:r>
              <a:rPr lang="en-US" altLang="zh-CN" dirty="0" smtClean="0">
                <a:solidFill>
                  <a:srgbClr val="FF0000"/>
                </a:solidFill>
              </a:rPr>
              <a:t>MIPS</a:t>
            </a:r>
            <a:r>
              <a:rPr lang="en-US" altLang="zh-CN" dirty="0" smtClean="0"/>
              <a:t>32/64 RISC Core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Freescale</a:t>
            </a:r>
            <a:r>
              <a:rPr lang="zh-CN" altLang="en-US" dirty="0" smtClean="0"/>
              <a:t>的</a:t>
            </a:r>
            <a:r>
              <a:rPr lang="en-US" altLang="zh-CN" dirty="0" smtClean="0">
                <a:solidFill>
                  <a:srgbClr val="FF0000"/>
                </a:solidFill>
              </a:rPr>
              <a:t>PowerPC</a:t>
            </a:r>
            <a:r>
              <a:rPr lang="zh-CN" altLang="en-US" dirty="0" smtClean="0"/>
              <a:t>等，是目前市场上非常知名的</a:t>
            </a:r>
            <a:r>
              <a:rPr lang="zh-CN" altLang="en-US" dirty="0" smtClean="0">
                <a:solidFill>
                  <a:srgbClr val="FF0000"/>
                </a:solidFill>
              </a:rPr>
              <a:t>嵌入式微处理器</a:t>
            </a:r>
            <a:r>
              <a:rPr lang="en-US" altLang="zh-CN" dirty="0" smtClean="0">
                <a:solidFill>
                  <a:srgbClr val="FF0000"/>
                </a:solidFill>
              </a:rPr>
              <a:t>IP</a:t>
            </a:r>
            <a:endParaRPr lang="zh-CN" altLang="en-US" dirty="0" smtClean="0"/>
          </a:p>
          <a:p>
            <a:pPr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dirty="0" smtClean="0"/>
              <a:t>许多芯片设计厂商购买这些微处理器</a:t>
            </a:r>
            <a:r>
              <a:rPr lang="en-US" altLang="zh-CN" dirty="0" smtClean="0"/>
              <a:t>IP</a:t>
            </a:r>
            <a:r>
              <a:rPr lang="zh-CN" altLang="en-US" dirty="0" smtClean="0"/>
              <a:t>，再根据目标处理器的类型、功能和市场（应用领域）的定位，加上购买或自己设计的一些</a:t>
            </a:r>
            <a:r>
              <a:rPr lang="zh-CN" altLang="en-US" dirty="0" smtClean="0">
                <a:solidFill>
                  <a:srgbClr val="FF0000"/>
                </a:solidFill>
              </a:rPr>
              <a:t>接口、支持电路</a:t>
            </a:r>
            <a:r>
              <a:rPr lang="zh-CN" altLang="en-US" dirty="0" smtClean="0"/>
              <a:t>，就可以快速地形成一个高度集成的</a:t>
            </a:r>
            <a:r>
              <a:rPr lang="en-US" altLang="zh-CN" dirty="0" smtClean="0">
                <a:solidFill>
                  <a:srgbClr val="FF0000"/>
                </a:solidFill>
              </a:rPr>
              <a:t>SOC</a:t>
            </a:r>
            <a:r>
              <a:rPr lang="zh-CN" altLang="en-US" dirty="0" smtClean="0"/>
              <a:t>嵌入式微处理器。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一般计算机系统的架构（单总线）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838200" y="2285992"/>
            <a:ext cx="8018104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1009648" y="2971792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2000232" y="2971792"/>
            <a:ext cx="757238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主存</a:t>
            </a:r>
            <a:endParaRPr lang="en-US" altLang="zh-CN" dirty="0">
              <a:solidFill>
                <a:srgbClr val="FF0000"/>
              </a:solidFill>
              <a:effectLst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6929438" y="3657592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I/O</a:t>
            </a:r>
            <a:endParaRPr lang="en-US" altLang="zh-CN" b="1" dirty="0" smtClean="0">
              <a:effectLst/>
            </a:endParaRPr>
          </a:p>
          <a:p>
            <a:r>
              <a:rPr lang="zh-CN" altLang="en-US" b="1" dirty="0" smtClean="0"/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6429388" y="3657592"/>
            <a:ext cx="50687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CC3300"/>
                </a:solidFill>
                <a:effectLst/>
              </a:rPr>
              <a:t>…</a:t>
            </a:r>
            <a:endParaRPr lang="en-US" altLang="zh-CN" sz="2400" dirty="0">
              <a:solidFill>
                <a:srgbClr val="CC3300"/>
              </a:solidFill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1314448" y="2590792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auto">
          <a:xfrm>
            <a:off x="2300270" y="2590792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7081838" y="2590792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2928926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中断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3157526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3814762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4043362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952480" y="4714884"/>
            <a:ext cx="976314" cy="1285884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电源、时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钟及复位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电路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1285852" y="4214818"/>
            <a:ext cx="285752" cy="5000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4643438" y="3638544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 smtClean="0">
                <a:effectLst/>
              </a:rPr>
              <a:t>Flash</a:t>
            </a:r>
            <a:endParaRPr lang="en-US" altLang="zh-CN" sz="1600" b="1" dirty="0" smtClean="0">
              <a:effectLst/>
            </a:endParaRPr>
          </a:p>
          <a:p>
            <a:r>
              <a:rPr lang="zh-CN" altLang="en-US" b="1" dirty="0" smtClean="0">
                <a:effectLst/>
              </a:rPr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4872038" y="257174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643438" y="4171960"/>
            <a:ext cx="864666" cy="1042990"/>
            <a:chOff x="4643438" y="4171960"/>
            <a:chExt cx="864666" cy="1042990"/>
          </a:xfrm>
        </p:grpSpPr>
        <p:sp>
          <p:nvSpPr>
            <p:cNvPr id="27" name="AutoShape 12"/>
            <p:cNvSpPr>
              <a:spLocks noChangeArrowheads="1"/>
            </p:cNvSpPr>
            <p:nvPr/>
          </p:nvSpPr>
          <p:spPr bwMode="auto">
            <a:xfrm>
              <a:off x="4886324" y="4171960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4643438" y="4552960"/>
              <a:ext cx="864666" cy="66199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/>
              <a:r>
                <a:rPr lang="en-US" altLang="zh-CN" b="1" dirty="0" smtClean="0">
                  <a:solidFill>
                    <a:srgbClr val="FF0000"/>
                  </a:solidFill>
                </a:rPr>
                <a:t>NAND</a:t>
              </a:r>
              <a:endParaRPr lang="en-US" altLang="zh-CN" b="1" dirty="0" smtClean="0">
                <a:solidFill>
                  <a:srgbClr val="FF0000"/>
                </a:solidFill>
              </a:endParaRPr>
            </a:p>
            <a:p>
              <a:pPr lvl="0"/>
              <a:r>
                <a:rPr lang="en-US" altLang="zh-CN" b="1" dirty="0" smtClean="0">
                  <a:solidFill>
                    <a:srgbClr val="FF0000"/>
                  </a:solidFill>
                </a:rPr>
                <a:t>Flash</a:t>
              </a:r>
              <a:endParaRPr lang="en-US" altLang="zh-CN" b="1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70678" y="1999446"/>
            <a:ext cx="7716098" cy="2429686"/>
            <a:chOff x="570678" y="2000240"/>
            <a:chExt cx="7716098" cy="2429686"/>
          </a:xfrm>
        </p:grpSpPr>
        <p:cxnSp>
          <p:nvCxnSpPr>
            <p:cNvPr id="43" name="直接连接符 42"/>
            <p:cNvCxnSpPr/>
            <p:nvPr/>
          </p:nvCxnSpPr>
          <p:spPr>
            <a:xfrm rot="5400000">
              <a:off x="7071536" y="3213892"/>
              <a:ext cx="2428892" cy="1588"/>
            </a:xfrm>
            <a:prstGeom prst="line">
              <a:avLst/>
            </a:prstGeom>
            <a:ln w="349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10800000">
              <a:off x="2857488" y="4357694"/>
              <a:ext cx="5429288" cy="71438"/>
            </a:xfrm>
            <a:prstGeom prst="line">
              <a:avLst/>
            </a:prstGeom>
            <a:ln w="349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 flipH="1" flipV="1">
              <a:off x="2101488" y="3600900"/>
              <a:ext cx="1512000" cy="1588"/>
            </a:xfrm>
            <a:prstGeom prst="line">
              <a:avLst/>
            </a:prstGeom>
            <a:ln w="349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10800000">
              <a:off x="1857356" y="2857496"/>
              <a:ext cx="1000132" cy="1588"/>
            </a:xfrm>
            <a:prstGeom prst="line">
              <a:avLst/>
            </a:prstGeom>
            <a:ln w="349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5400000" flipH="1" flipV="1">
              <a:off x="1172000" y="3612702"/>
              <a:ext cx="1512000" cy="1588"/>
            </a:xfrm>
            <a:prstGeom prst="line">
              <a:avLst/>
            </a:prstGeom>
            <a:ln w="349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60"/>
            <p:cNvGrpSpPr/>
            <p:nvPr/>
          </p:nvGrpSpPr>
          <p:grpSpPr>
            <a:xfrm>
              <a:off x="570678" y="2000240"/>
              <a:ext cx="7716098" cy="2429686"/>
              <a:chOff x="570678" y="2000240"/>
              <a:chExt cx="7716098" cy="2429686"/>
            </a:xfrm>
          </p:grpSpPr>
          <p:cxnSp>
            <p:nvCxnSpPr>
              <p:cNvPr id="34" name="直接连接符 33"/>
              <p:cNvCxnSpPr/>
              <p:nvPr/>
            </p:nvCxnSpPr>
            <p:spPr>
              <a:xfrm rot="5400000">
                <a:off x="-642974" y="3214686"/>
                <a:ext cx="2428892" cy="1588"/>
              </a:xfrm>
              <a:prstGeom prst="line">
                <a:avLst/>
              </a:prstGeom>
              <a:ln w="349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571472" y="2000240"/>
                <a:ext cx="7715304" cy="1588"/>
              </a:xfrm>
              <a:prstGeom prst="line">
                <a:avLst/>
              </a:prstGeom>
              <a:ln w="349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10800000">
                <a:off x="571472" y="4357694"/>
                <a:ext cx="1357322" cy="1588"/>
              </a:xfrm>
              <a:prstGeom prst="line">
                <a:avLst/>
              </a:prstGeom>
              <a:ln w="349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组合 1"/>
          <p:cNvGrpSpPr/>
          <p:nvPr/>
        </p:nvGrpSpPr>
        <p:grpSpPr>
          <a:xfrm>
            <a:off x="1785918" y="4214818"/>
            <a:ext cx="1190628" cy="1500198"/>
            <a:chOff x="1785918" y="4214818"/>
            <a:chExt cx="1190628" cy="1500198"/>
          </a:xfrm>
        </p:grpSpPr>
        <p:sp>
          <p:nvSpPr>
            <p:cNvPr id="63" name="Rectangle 5"/>
            <p:cNvSpPr>
              <a:spLocks noChangeArrowheads="1"/>
            </p:cNvSpPr>
            <p:nvPr/>
          </p:nvSpPr>
          <p:spPr bwMode="auto">
            <a:xfrm>
              <a:off x="2214546" y="4714884"/>
              <a:ext cx="762000" cy="1000132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</a:rPr>
                <a:t>JTAG</a:t>
              </a:r>
              <a:endParaRPr lang="en-US" altLang="zh-CN" b="1" dirty="0" smtClean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b="1" dirty="0" smtClean="0">
                  <a:solidFill>
                    <a:srgbClr val="FF0000"/>
                  </a:solidFill>
                </a:rPr>
                <a:t>接口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>
            <a:xfrm rot="10800000">
              <a:off x="1785918" y="4214818"/>
              <a:ext cx="500066" cy="428628"/>
            </a:xfrm>
            <a:prstGeom prst="straightConnector1">
              <a:avLst/>
            </a:prstGeom>
            <a:ln w="34925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矩形 67"/>
          <p:cNvSpPr/>
          <p:nvPr/>
        </p:nvSpPr>
        <p:spPr>
          <a:xfrm>
            <a:off x="8040620" y="1643050"/>
            <a:ext cx="1000132" cy="1428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7308304" y="1142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系统总线扩展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2057380" y="1700808"/>
            <a:ext cx="714379" cy="513746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SRAM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SDRAM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NOR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5724128" y="3631704"/>
            <a:ext cx="72008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1600" b="1" dirty="0" smtClean="0">
                <a:effectLst/>
              </a:rPr>
              <a:t>I/O</a:t>
            </a:r>
            <a:endParaRPr lang="en-US" altLang="zh-CN" sz="1600" b="1" dirty="0" smtClean="0">
              <a:effectLst/>
            </a:endParaRPr>
          </a:p>
          <a:p>
            <a:pPr algn="ctr"/>
            <a:r>
              <a:rPr lang="zh-CN" altLang="en-US" sz="1600" b="1" dirty="0" smtClean="0"/>
              <a:t>接口</a:t>
            </a:r>
            <a:endParaRPr lang="en-US" altLang="zh-CN" sz="1600" dirty="0">
              <a:effectLst/>
            </a:endParaRPr>
          </a:p>
        </p:txBody>
      </p:sp>
      <p:sp>
        <p:nvSpPr>
          <p:cNvPr id="54" name="AutoShape 16"/>
          <p:cNvSpPr>
            <a:spLocks noChangeArrowheads="1"/>
          </p:cNvSpPr>
          <p:nvPr/>
        </p:nvSpPr>
        <p:spPr bwMode="auto">
          <a:xfrm>
            <a:off x="5927576" y="256490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50" grpId="0" animBg="1"/>
      <p:bldP spid="51" grpId="0" animBg="1"/>
      <p:bldP spid="68" grpId="0" animBg="1"/>
      <p:bldP spid="69" grpId="0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/>
          <p:cNvSpPr>
            <a:spLocks noChangeArrowheads="1"/>
          </p:cNvSpPr>
          <p:nvPr/>
        </p:nvSpPr>
        <p:spPr bwMode="auto">
          <a:xfrm>
            <a:off x="639763" y="1238250"/>
            <a:ext cx="6624637" cy="2952750"/>
          </a:xfrm>
          <a:prstGeom prst="rect">
            <a:avLst/>
          </a:prstGeom>
          <a:solidFill>
            <a:schemeClr val="hlink"/>
          </a:solidFill>
          <a:ln w="12700" algn="ctr">
            <a:solidFill>
              <a:srgbClr val="0000FF"/>
            </a:solidFill>
            <a:miter lim="800000"/>
          </a:ln>
          <a:effectLst/>
        </p:spPr>
        <p:txBody>
          <a:bodyPr wrap="none" lIns="80167" tIns="40084" rIns="80167" bIns="40084" anchor="ctr"/>
          <a:lstStyle/>
          <a:p>
            <a:endParaRPr lang="zh-CN" altLang="en-US"/>
          </a:p>
        </p:txBody>
      </p:sp>
      <p:sp>
        <p:nvSpPr>
          <p:cNvPr id="451589" name="Rectangle 5"/>
          <p:cNvSpPr>
            <a:spLocks noChangeArrowheads="1"/>
          </p:cNvSpPr>
          <p:nvPr/>
        </p:nvSpPr>
        <p:spPr bwMode="gray">
          <a:xfrm>
            <a:off x="782638" y="1382713"/>
            <a:ext cx="4537075" cy="2679700"/>
          </a:xfrm>
          <a:prstGeom prst="rect">
            <a:avLst/>
          </a:prstGeom>
          <a:solidFill>
            <a:srgbClr val="A5D0E3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451590" name="Rectangle 6"/>
          <p:cNvSpPr>
            <a:spLocks noChangeArrowheads="1"/>
          </p:cNvSpPr>
          <p:nvPr/>
        </p:nvSpPr>
        <p:spPr bwMode="gray">
          <a:xfrm>
            <a:off x="7567613" y="2319338"/>
            <a:ext cx="1063625" cy="17430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altLang="zh-CN" sz="1600" b="1" dirty="0" smtClean="0">
                <a:solidFill>
                  <a:srgbClr val="0033CC"/>
                </a:solidFill>
              </a:rPr>
              <a:t>Main/</a:t>
            </a:r>
            <a:r>
              <a:rPr lang="en-US" altLang="zh-CN" sz="1600" b="1" dirty="0" err="1" smtClean="0">
                <a:solidFill>
                  <a:srgbClr val="0033CC"/>
                </a:solidFill>
              </a:rPr>
              <a:t>ext</a:t>
            </a:r>
            <a:endParaRPr lang="en-US" altLang="zh-CN" sz="1600" b="1" dirty="0">
              <a:solidFill>
                <a:srgbClr val="0033CC"/>
              </a:solidFill>
            </a:endParaRPr>
          </a:p>
          <a:p>
            <a:pPr algn="ctr" eaLnBrk="0" hangingPunct="0"/>
            <a:r>
              <a:rPr lang="en-US" altLang="zh-CN" sz="1600" b="1" dirty="0">
                <a:solidFill>
                  <a:srgbClr val="0033CC"/>
                </a:solidFill>
              </a:rPr>
              <a:t>Memory</a:t>
            </a:r>
            <a:endParaRPr lang="en-US" altLang="zh-CN" sz="1600" b="1" dirty="0">
              <a:solidFill>
                <a:srgbClr val="0033CC"/>
              </a:solidFill>
            </a:endParaRPr>
          </a:p>
        </p:txBody>
      </p:sp>
      <p:sp>
        <p:nvSpPr>
          <p:cNvPr id="451591" name="Rectangle 7"/>
          <p:cNvSpPr>
            <a:spLocks noChangeArrowheads="1"/>
          </p:cNvSpPr>
          <p:nvPr/>
        </p:nvSpPr>
        <p:spPr bwMode="gray">
          <a:xfrm>
            <a:off x="927100" y="2392363"/>
            <a:ext cx="1008063" cy="1524000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altLang="zh-CN" sz="1600" b="1">
                <a:solidFill>
                  <a:schemeClr val="bg1"/>
                </a:solidFill>
              </a:rPr>
              <a:t>CPU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451592" name="Rectangle 8"/>
          <p:cNvSpPr>
            <a:spLocks noChangeArrowheads="1"/>
          </p:cNvSpPr>
          <p:nvPr/>
        </p:nvSpPr>
        <p:spPr bwMode="gray">
          <a:xfrm>
            <a:off x="5421313" y="2513013"/>
            <a:ext cx="893762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zh-CN" sz="1400" b="1">
                <a:solidFill>
                  <a:schemeClr val="tx1"/>
                </a:solidFill>
              </a:rPr>
              <a:t>Address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51593" name="Rectangle 9"/>
          <p:cNvSpPr>
            <a:spLocks noChangeArrowheads="1"/>
          </p:cNvSpPr>
          <p:nvPr/>
        </p:nvSpPr>
        <p:spPr bwMode="gray">
          <a:xfrm>
            <a:off x="5499100" y="2852936"/>
            <a:ext cx="6858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zh-CN" sz="1400" b="1">
                <a:solidFill>
                  <a:schemeClr val="tx1"/>
                </a:solidFill>
              </a:rPr>
              <a:t>Data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51594" name="Line 10"/>
          <p:cNvSpPr>
            <a:spLocks noChangeShapeType="1"/>
          </p:cNvSpPr>
          <p:nvPr/>
        </p:nvSpPr>
        <p:spPr bwMode="gray">
          <a:xfrm>
            <a:off x="5032375" y="2824163"/>
            <a:ext cx="2519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lg"/>
          </a:ln>
          <a:effectLst/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451595" name="Line 11"/>
          <p:cNvSpPr>
            <a:spLocks noChangeShapeType="1"/>
          </p:cNvSpPr>
          <p:nvPr/>
        </p:nvSpPr>
        <p:spPr bwMode="gray">
          <a:xfrm>
            <a:off x="5032375" y="3170436"/>
            <a:ext cx="2519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935163" y="1670050"/>
            <a:ext cx="3097212" cy="2341563"/>
            <a:chOff x="1111" y="799"/>
            <a:chExt cx="1951" cy="1475"/>
          </a:xfrm>
        </p:grpSpPr>
        <p:sp>
          <p:nvSpPr>
            <p:cNvPr id="451597" name="Rectangle 13"/>
            <p:cNvSpPr>
              <a:spLocks noChangeArrowheads="1"/>
            </p:cNvSpPr>
            <p:nvPr/>
          </p:nvSpPr>
          <p:spPr bwMode="gray">
            <a:xfrm>
              <a:off x="1384" y="1253"/>
              <a:ext cx="816" cy="380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altLang="zh-CN" sz="1600" b="1">
                  <a:solidFill>
                    <a:schemeClr val="bg1"/>
                  </a:solidFill>
                </a:rPr>
                <a:t>Cache</a:t>
              </a:r>
              <a:endParaRPr lang="en-US" altLang="zh-CN" sz="1600" b="1">
                <a:solidFill>
                  <a:schemeClr val="bg1"/>
                </a:solidFill>
              </a:endParaRPr>
            </a:p>
          </p:txBody>
        </p:sp>
        <p:sp>
          <p:nvSpPr>
            <p:cNvPr id="451598" name="Rectangle 14"/>
            <p:cNvSpPr>
              <a:spLocks noChangeArrowheads="1"/>
            </p:cNvSpPr>
            <p:nvPr/>
          </p:nvSpPr>
          <p:spPr bwMode="gray">
            <a:xfrm>
              <a:off x="2472" y="1253"/>
              <a:ext cx="590" cy="96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altLang="zh-CN" sz="1600" b="1">
                  <a:solidFill>
                    <a:schemeClr val="bg1"/>
                  </a:solidFill>
                </a:rPr>
                <a:t>Bus</a:t>
              </a:r>
              <a:endParaRPr lang="en-US" altLang="zh-CN" sz="1600" b="1">
                <a:solidFill>
                  <a:schemeClr val="bg1"/>
                </a:solidFill>
              </a:endParaRPr>
            </a:p>
            <a:p>
              <a:pPr algn="ctr" eaLnBrk="0" hangingPunct="0"/>
              <a:r>
                <a:rPr lang="en-US" altLang="zh-CN" sz="1600" b="1">
                  <a:solidFill>
                    <a:schemeClr val="bg1"/>
                  </a:solidFill>
                </a:rPr>
                <a:t>Interface</a:t>
              </a:r>
              <a:endParaRPr lang="en-US" altLang="zh-CN" sz="1600" b="1">
                <a:solidFill>
                  <a:schemeClr val="bg1"/>
                </a:solidFill>
              </a:endParaRPr>
            </a:p>
          </p:txBody>
        </p:sp>
        <p:sp>
          <p:nvSpPr>
            <p:cNvPr id="451599" name="Line 15"/>
            <p:cNvSpPr>
              <a:spLocks noChangeShapeType="1"/>
            </p:cNvSpPr>
            <p:nvPr/>
          </p:nvSpPr>
          <p:spPr bwMode="gray">
            <a:xfrm>
              <a:off x="1792" y="1637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00" name="Rectangle 16"/>
            <p:cNvSpPr>
              <a:spLocks noChangeArrowheads="1"/>
            </p:cNvSpPr>
            <p:nvPr/>
          </p:nvSpPr>
          <p:spPr bwMode="gray">
            <a:xfrm>
              <a:off x="1383" y="1797"/>
              <a:ext cx="817" cy="199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altLang="zh-CN" sz="1600" b="1">
                  <a:solidFill>
                    <a:schemeClr val="bg1"/>
                  </a:solidFill>
                </a:rPr>
                <a:t>Write Buffer</a:t>
              </a:r>
              <a:endParaRPr lang="en-US" altLang="zh-CN" sz="1600" b="1">
                <a:solidFill>
                  <a:schemeClr val="bg1"/>
                </a:solidFill>
              </a:endParaRPr>
            </a:p>
          </p:txBody>
        </p:sp>
        <p:sp>
          <p:nvSpPr>
            <p:cNvPr id="451601" name="Rectangle 17"/>
            <p:cNvSpPr>
              <a:spLocks noChangeArrowheads="1"/>
            </p:cNvSpPr>
            <p:nvPr/>
          </p:nvSpPr>
          <p:spPr bwMode="auto">
            <a:xfrm>
              <a:off x="1383" y="799"/>
              <a:ext cx="1678" cy="227"/>
            </a:xfrm>
            <a:prstGeom prst="rect">
              <a:avLst/>
            </a:prstGeom>
            <a:solidFill>
              <a:srgbClr val="FF3300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wrap="none" lIns="80167" tIns="40084" rIns="80167" bIns="40084" anchor="ctr"/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chemeClr val="bg1"/>
                  </a:solidFill>
                </a:rPr>
                <a:t>MMU / MPU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451602" name="Line 18"/>
            <p:cNvSpPr>
              <a:spLocks noChangeShapeType="1"/>
            </p:cNvSpPr>
            <p:nvPr/>
          </p:nvSpPr>
          <p:spPr bwMode="auto">
            <a:xfrm>
              <a:off x="1111" y="1888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03" name="Line 19"/>
            <p:cNvSpPr>
              <a:spLocks noChangeShapeType="1"/>
            </p:cNvSpPr>
            <p:nvPr/>
          </p:nvSpPr>
          <p:spPr bwMode="auto">
            <a:xfrm>
              <a:off x="2200" y="1888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04" name="Line 20"/>
            <p:cNvSpPr>
              <a:spLocks noChangeShapeType="1"/>
            </p:cNvSpPr>
            <p:nvPr/>
          </p:nvSpPr>
          <p:spPr bwMode="auto">
            <a:xfrm>
              <a:off x="1111" y="1343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05" name="Line 21"/>
            <p:cNvSpPr>
              <a:spLocks noChangeShapeType="1"/>
            </p:cNvSpPr>
            <p:nvPr/>
          </p:nvSpPr>
          <p:spPr bwMode="auto">
            <a:xfrm>
              <a:off x="1111" y="1525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06" name="Line 22"/>
            <p:cNvSpPr>
              <a:spLocks noChangeShapeType="1"/>
            </p:cNvSpPr>
            <p:nvPr/>
          </p:nvSpPr>
          <p:spPr bwMode="auto">
            <a:xfrm>
              <a:off x="2199" y="1434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07" name="Line 23"/>
            <p:cNvSpPr>
              <a:spLocks noChangeShapeType="1"/>
            </p:cNvSpPr>
            <p:nvPr/>
          </p:nvSpPr>
          <p:spPr bwMode="auto">
            <a:xfrm>
              <a:off x="1111" y="2115"/>
              <a:ext cx="13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08" name="Text Box 24"/>
            <p:cNvSpPr txBox="1">
              <a:spLocks noChangeArrowheads="1"/>
            </p:cNvSpPr>
            <p:nvPr/>
          </p:nvSpPr>
          <p:spPr bwMode="auto">
            <a:xfrm>
              <a:off x="2245" y="1298"/>
              <a:ext cx="181" cy="142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>
                  <a:solidFill>
                    <a:schemeClr val="tx1"/>
                  </a:solidFill>
                </a:rPr>
                <a:t>R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451609" name="Text Box 25"/>
            <p:cNvSpPr txBox="1">
              <a:spLocks noChangeArrowheads="1"/>
            </p:cNvSpPr>
            <p:nvPr/>
          </p:nvSpPr>
          <p:spPr bwMode="auto">
            <a:xfrm>
              <a:off x="1157" y="1207"/>
              <a:ext cx="181" cy="142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>
                  <a:solidFill>
                    <a:schemeClr val="tx1"/>
                  </a:solidFill>
                </a:rPr>
                <a:t>R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451610" name="Text Box 26"/>
            <p:cNvSpPr txBox="1">
              <a:spLocks noChangeArrowheads="1"/>
            </p:cNvSpPr>
            <p:nvPr/>
          </p:nvSpPr>
          <p:spPr bwMode="auto">
            <a:xfrm>
              <a:off x="1141" y="1399"/>
              <a:ext cx="181" cy="142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>
                  <a:solidFill>
                    <a:schemeClr val="tx1"/>
                  </a:solidFill>
                </a:rPr>
                <a:t>W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451611" name="Text Box 27"/>
            <p:cNvSpPr txBox="1">
              <a:spLocks noChangeArrowheads="1"/>
            </p:cNvSpPr>
            <p:nvPr/>
          </p:nvSpPr>
          <p:spPr bwMode="auto">
            <a:xfrm>
              <a:off x="1141" y="1752"/>
              <a:ext cx="181" cy="142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>
                  <a:solidFill>
                    <a:schemeClr val="tx1"/>
                  </a:solidFill>
                </a:rPr>
                <a:t>W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451612" name="Text Box 28"/>
            <p:cNvSpPr txBox="1">
              <a:spLocks noChangeArrowheads="1"/>
            </p:cNvSpPr>
            <p:nvPr/>
          </p:nvSpPr>
          <p:spPr bwMode="auto">
            <a:xfrm>
              <a:off x="2246" y="1752"/>
              <a:ext cx="181" cy="142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>
                  <a:solidFill>
                    <a:schemeClr val="tx1"/>
                  </a:solidFill>
                </a:rPr>
                <a:t>W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451613" name="Text Box 29"/>
            <p:cNvSpPr txBox="1">
              <a:spLocks noChangeArrowheads="1"/>
            </p:cNvSpPr>
            <p:nvPr/>
          </p:nvSpPr>
          <p:spPr bwMode="auto">
            <a:xfrm>
              <a:off x="1776" y="1661"/>
              <a:ext cx="181" cy="142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>
                  <a:solidFill>
                    <a:schemeClr val="tx1"/>
                  </a:solidFill>
                </a:rPr>
                <a:t>W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451614" name="Text Box 30"/>
            <p:cNvSpPr txBox="1">
              <a:spLocks noChangeArrowheads="1"/>
            </p:cNvSpPr>
            <p:nvPr/>
          </p:nvSpPr>
          <p:spPr bwMode="auto">
            <a:xfrm>
              <a:off x="1557" y="2130"/>
              <a:ext cx="532" cy="144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wrap="square"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200" b="1" dirty="0">
                  <a:solidFill>
                    <a:schemeClr val="tx1"/>
                  </a:solidFill>
                </a:rPr>
                <a:t>(R/W)</a:t>
              </a:r>
              <a:endParaRPr lang="en-US" altLang="zh-CN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31"/>
          <p:cNvGrpSpPr/>
          <p:nvPr/>
        </p:nvGrpSpPr>
        <p:grpSpPr bwMode="auto">
          <a:xfrm>
            <a:off x="5534025" y="1382713"/>
            <a:ext cx="1585913" cy="1008062"/>
            <a:chOff x="3469" y="1071"/>
            <a:chExt cx="999" cy="635"/>
          </a:xfrm>
        </p:grpSpPr>
        <p:sp>
          <p:nvSpPr>
            <p:cNvPr id="451616" name="Rectangle 32"/>
            <p:cNvSpPr>
              <a:spLocks noChangeArrowheads="1"/>
            </p:cNvSpPr>
            <p:nvPr/>
          </p:nvSpPr>
          <p:spPr bwMode="auto">
            <a:xfrm>
              <a:off x="3469" y="1071"/>
              <a:ext cx="999" cy="635"/>
            </a:xfrm>
            <a:prstGeom prst="rect">
              <a:avLst/>
            </a:prstGeom>
            <a:solidFill>
              <a:srgbClr val="FF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wrap="none" lIns="80167" tIns="40084" rIns="80167" bIns="40084" anchor="ctr"/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endParaRPr lang="zh-CN" altLang="en-US" sz="1600" b="1">
                <a:solidFill>
                  <a:srgbClr val="0033CC"/>
                </a:solidFill>
              </a:endParaRPr>
            </a:p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endParaRPr lang="zh-CN" altLang="en-US" sz="1600" b="1">
                <a:solidFill>
                  <a:srgbClr val="0033CC"/>
                </a:solidFill>
              </a:endParaRPr>
            </a:p>
          </p:txBody>
        </p:sp>
        <p:sp>
          <p:nvSpPr>
            <p:cNvPr id="451617" name="Text Box 33"/>
            <p:cNvSpPr txBox="1">
              <a:spLocks noChangeArrowheads="1"/>
            </p:cNvSpPr>
            <p:nvPr/>
          </p:nvSpPr>
          <p:spPr bwMode="auto">
            <a:xfrm>
              <a:off x="3560" y="1134"/>
              <a:ext cx="862" cy="510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zh-CN" altLang="en-US" sz="1800" b="1" dirty="0">
                  <a:solidFill>
                    <a:srgbClr val="0033CC"/>
                  </a:solidFill>
                </a:rPr>
                <a:t> </a:t>
              </a:r>
              <a:r>
                <a:rPr lang="zh-CN" altLang="en-US" sz="1800" b="1" dirty="0" smtClean="0">
                  <a:solidFill>
                    <a:srgbClr val="0033CC"/>
                  </a:solidFill>
                </a:rPr>
                <a:t>接口</a:t>
              </a:r>
              <a:r>
                <a:rPr lang="en-US" altLang="zh-CN" sz="1800" b="1" dirty="0" smtClean="0">
                  <a:solidFill>
                    <a:srgbClr val="0033CC"/>
                  </a:solidFill>
                </a:rPr>
                <a:t>/</a:t>
              </a:r>
              <a:r>
                <a:rPr lang="zh-CN" altLang="en-US" sz="1800" b="1" dirty="0" smtClean="0">
                  <a:solidFill>
                    <a:srgbClr val="0033CC"/>
                  </a:solidFill>
                </a:rPr>
                <a:t>支持</a:t>
              </a:r>
              <a:endParaRPr lang="zh-CN" altLang="en-US" sz="1800" b="1" dirty="0">
                <a:solidFill>
                  <a:srgbClr val="0033CC"/>
                </a:solidFill>
              </a:endParaRPr>
            </a:p>
            <a:p>
              <a:pPr defTabSz="802005" eaLnBrk="0" fontAlgn="ctr" hangingPunct="0">
                <a:lnSpc>
                  <a:spcPct val="6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zh-CN" altLang="en-US" sz="1400" b="1" dirty="0">
                  <a:solidFill>
                    <a:srgbClr val="0033CC"/>
                  </a:solidFill>
                </a:rPr>
                <a:t>如</a:t>
              </a:r>
              <a:r>
                <a:rPr lang="en-US" altLang="zh-CN" sz="1400" b="1" dirty="0">
                  <a:solidFill>
                    <a:srgbClr val="0033CC"/>
                  </a:solidFill>
                </a:rPr>
                <a:t>USB</a:t>
              </a:r>
              <a:r>
                <a:rPr lang="zh-CN" altLang="en-US" sz="1400" b="1" dirty="0">
                  <a:solidFill>
                    <a:srgbClr val="0033CC"/>
                  </a:solidFill>
                </a:rPr>
                <a:t>、</a:t>
              </a:r>
              <a:r>
                <a:rPr lang="en-US" altLang="zh-CN" sz="1400" b="1" dirty="0">
                  <a:solidFill>
                    <a:srgbClr val="0033CC"/>
                  </a:solidFill>
                </a:rPr>
                <a:t>LCD </a:t>
              </a:r>
              <a:endParaRPr lang="en-US" altLang="zh-CN" sz="1400" b="1" dirty="0">
                <a:solidFill>
                  <a:srgbClr val="0033CC"/>
                </a:solidFill>
              </a:endParaRPr>
            </a:p>
            <a:p>
              <a:pPr defTabSz="802005" eaLnBrk="0" fontAlgn="ctr" hangingPunct="0">
                <a:lnSpc>
                  <a:spcPct val="6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zh-CN" sz="1400" b="1" dirty="0">
                  <a:solidFill>
                    <a:srgbClr val="0033CC"/>
                  </a:solidFill>
                </a:rPr>
                <a:t>    </a:t>
              </a:r>
              <a:r>
                <a:rPr lang="zh-CN" altLang="en-US" sz="1400" b="1" dirty="0" smtClean="0">
                  <a:solidFill>
                    <a:srgbClr val="0033CC"/>
                  </a:solidFill>
                </a:rPr>
                <a:t>  </a:t>
              </a:r>
              <a:r>
                <a:rPr lang="en-US" altLang="zh-CN" sz="1600" b="1" dirty="0" smtClean="0">
                  <a:solidFill>
                    <a:srgbClr val="0033CC"/>
                  </a:solidFill>
                </a:rPr>
                <a:t>SPI</a:t>
              </a:r>
              <a:r>
                <a:rPr lang="zh-CN" altLang="en-US" sz="1600" b="1" dirty="0" smtClean="0">
                  <a:solidFill>
                    <a:srgbClr val="0033CC"/>
                  </a:solidFill>
                </a:rPr>
                <a:t>等</a:t>
              </a:r>
              <a:endParaRPr lang="zh-CN" altLang="en-US" sz="1600" b="1" dirty="0">
                <a:solidFill>
                  <a:srgbClr val="0033CC"/>
                </a:solidFill>
              </a:endParaRPr>
            </a:p>
          </p:txBody>
        </p:sp>
      </p:grpSp>
      <p:sp>
        <p:nvSpPr>
          <p:cNvPr id="451618" name="Rectangle 34"/>
          <p:cNvSpPr>
            <a:spLocks noChangeArrowheads="1"/>
          </p:cNvSpPr>
          <p:nvPr/>
        </p:nvSpPr>
        <p:spPr bwMode="gray">
          <a:xfrm>
            <a:off x="7567613" y="1382713"/>
            <a:ext cx="1119187" cy="73501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zh-CN" altLang="en-US" sz="1600" b="1">
                <a:solidFill>
                  <a:srgbClr val="0033CC"/>
                </a:solidFill>
              </a:rPr>
              <a:t>扩展芯片</a:t>
            </a:r>
            <a:endParaRPr lang="zh-CN" altLang="en-US" sz="1600" b="1">
              <a:solidFill>
                <a:srgbClr val="0033CC"/>
              </a:solidFill>
            </a:endParaRPr>
          </a:p>
        </p:txBody>
      </p:sp>
      <p:sp>
        <p:nvSpPr>
          <p:cNvPr id="451619" name="AutoShape 35"/>
          <p:cNvSpPr/>
          <p:nvPr/>
        </p:nvSpPr>
        <p:spPr bwMode="auto">
          <a:xfrm rot="5400000">
            <a:off x="1322388" y="4010025"/>
            <a:ext cx="215900" cy="863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bg1"/>
            </a:solidFill>
            <a:round/>
          </a:ln>
          <a:effectLst/>
        </p:spPr>
        <p:txBody>
          <a:bodyPr wrap="none" lIns="80167" tIns="40084" rIns="80167" bIns="40084" anchor="ctr"/>
          <a:lstStyle/>
          <a:p>
            <a:endParaRPr lang="zh-CN" altLang="en-US"/>
          </a:p>
        </p:txBody>
      </p:sp>
      <p:sp>
        <p:nvSpPr>
          <p:cNvPr id="451620" name="AutoShape 36"/>
          <p:cNvSpPr/>
          <p:nvPr/>
        </p:nvSpPr>
        <p:spPr bwMode="auto">
          <a:xfrm rot="5400000">
            <a:off x="3590132" y="3182143"/>
            <a:ext cx="215900" cy="2519363"/>
          </a:xfrm>
          <a:prstGeom prst="rightBrace">
            <a:avLst>
              <a:gd name="adj1" fmla="val 97243"/>
              <a:gd name="adj2" fmla="val 50000"/>
            </a:avLst>
          </a:prstGeom>
          <a:noFill/>
          <a:ln w="19050">
            <a:solidFill>
              <a:srgbClr val="000066"/>
            </a:solidFill>
            <a:round/>
          </a:ln>
          <a:effectLst/>
        </p:spPr>
        <p:txBody>
          <a:bodyPr wrap="none" lIns="80167" tIns="40084" rIns="80167" bIns="40084" anchor="ctr"/>
          <a:lstStyle/>
          <a:p>
            <a:endParaRPr lang="zh-CN" altLang="en-US"/>
          </a:p>
        </p:txBody>
      </p:sp>
      <p:sp>
        <p:nvSpPr>
          <p:cNvPr id="451621" name="AutoShape 37"/>
          <p:cNvSpPr/>
          <p:nvPr/>
        </p:nvSpPr>
        <p:spPr bwMode="auto">
          <a:xfrm rot="5400000">
            <a:off x="6219032" y="3721893"/>
            <a:ext cx="215900" cy="1439863"/>
          </a:xfrm>
          <a:prstGeom prst="rightBrace">
            <a:avLst>
              <a:gd name="adj1" fmla="val 55576"/>
              <a:gd name="adj2" fmla="val 50000"/>
            </a:avLst>
          </a:prstGeom>
          <a:noFill/>
          <a:ln w="19050">
            <a:solidFill>
              <a:srgbClr val="000066"/>
            </a:solidFill>
            <a:round/>
          </a:ln>
          <a:effectLst/>
        </p:spPr>
        <p:txBody>
          <a:bodyPr wrap="none" lIns="80167" tIns="40084" rIns="80167" bIns="40084" anchor="ctr"/>
          <a:lstStyle/>
          <a:p>
            <a:endParaRPr lang="zh-CN" altLang="en-US"/>
          </a:p>
        </p:txBody>
      </p:sp>
      <p:sp>
        <p:nvSpPr>
          <p:cNvPr id="451622" name="AutoShape 38"/>
          <p:cNvSpPr/>
          <p:nvPr/>
        </p:nvSpPr>
        <p:spPr bwMode="auto">
          <a:xfrm rot="5400000">
            <a:off x="7946232" y="3937793"/>
            <a:ext cx="215900" cy="1008063"/>
          </a:xfrm>
          <a:prstGeom prst="rightBrace">
            <a:avLst>
              <a:gd name="adj1" fmla="val 38909"/>
              <a:gd name="adj2" fmla="val 50000"/>
            </a:avLst>
          </a:prstGeom>
          <a:noFill/>
          <a:ln w="19050">
            <a:solidFill>
              <a:srgbClr val="000066"/>
            </a:solidFill>
            <a:round/>
          </a:ln>
          <a:effectLst/>
        </p:spPr>
        <p:txBody>
          <a:bodyPr wrap="none" lIns="80167" tIns="40084" rIns="80167" bIns="40084" anchor="ctr"/>
          <a:lstStyle/>
          <a:p>
            <a:endParaRPr lang="zh-CN" altLang="en-US"/>
          </a:p>
        </p:txBody>
      </p:sp>
      <p:sp>
        <p:nvSpPr>
          <p:cNvPr id="451623" name="Text Box 39"/>
          <p:cNvSpPr txBox="1">
            <a:spLocks noChangeArrowheads="1"/>
          </p:cNvSpPr>
          <p:nvPr/>
        </p:nvSpPr>
        <p:spPr bwMode="auto">
          <a:xfrm>
            <a:off x="711200" y="4564063"/>
            <a:ext cx="1646222" cy="277928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wrap="square" lIns="80167" tIns="40084" rIns="80167" bIns="40084">
            <a:spAutoFit/>
          </a:bodyPr>
          <a:lstStyle/>
          <a:p>
            <a:pPr algn="ctr" defTabSz="802005" eaLnBrk="0" fontAlgn="ctr" hangingPunct="0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33CC"/>
                </a:solidFill>
              </a:rPr>
              <a:t>内核（</a:t>
            </a:r>
            <a:r>
              <a:rPr lang="en-US" altLang="zh-CN" sz="1600" b="1" dirty="0">
                <a:solidFill>
                  <a:srgbClr val="0033CC"/>
                </a:solidFill>
              </a:rPr>
              <a:t>core</a:t>
            </a:r>
            <a:r>
              <a:rPr lang="zh-CN" altLang="en-US" sz="1600" b="1" dirty="0">
                <a:solidFill>
                  <a:srgbClr val="0033CC"/>
                </a:solidFill>
              </a:rPr>
              <a:t>）</a:t>
            </a:r>
            <a:endParaRPr lang="zh-CN" altLang="en-US" sz="1600" b="1" dirty="0">
              <a:solidFill>
                <a:srgbClr val="0033CC"/>
              </a:solidFill>
            </a:endParaRPr>
          </a:p>
        </p:txBody>
      </p:sp>
      <p:sp>
        <p:nvSpPr>
          <p:cNvPr id="451624" name="Text Box 40"/>
          <p:cNvSpPr txBox="1">
            <a:spLocks noChangeArrowheads="1"/>
          </p:cNvSpPr>
          <p:nvPr/>
        </p:nvSpPr>
        <p:spPr bwMode="auto">
          <a:xfrm>
            <a:off x="2727325" y="4549775"/>
            <a:ext cx="2230439" cy="277928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wrap="square" lIns="80167" tIns="40084" rIns="80167" bIns="40084">
            <a:spAutoFit/>
          </a:bodyPr>
          <a:lstStyle/>
          <a:p>
            <a:pPr algn="ctr" defTabSz="802005" eaLnBrk="0" fontAlgn="ctr" hangingPunct="0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rgbClr val="0033CC"/>
                </a:solidFill>
              </a:rPr>
              <a:t>处理器</a:t>
            </a:r>
            <a:r>
              <a:rPr lang="en-US" altLang="zh-CN" sz="1600" b="1" dirty="0" smtClean="0">
                <a:solidFill>
                  <a:srgbClr val="0033CC"/>
                </a:solidFill>
              </a:rPr>
              <a:t>cache</a:t>
            </a:r>
            <a:r>
              <a:rPr lang="zh-CN" altLang="en-US" sz="1600" b="1" dirty="0" smtClean="0">
                <a:solidFill>
                  <a:srgbClr val="0033CC"/>
                </a:solidFill>
              </a:rPr>
              <a:t>子系统</a:t>
            </a:r>
            <a:endParaRPr lang="zh-CN" altLang="en-US" sz="1600" b="1" dirty="0">
              <a:solidFill>
                <a:srgbClr val="0033CC"/>
              </a:solidFill>
            </a:endParaRPr>
          </a:p>
        </p:txBody>
      </p:sp>
      <p:sp>
        <p:nvSpPr>
          <p:cNvPr id="451625" name="Text Box 41"/>
          <p:cNvSpPr txBox="1">
            <a:spLocks noChangeArrowheads="1"/>
          </p:cNvSpPr>
          <p:nvPr/>
        </p:nvSpPr>
        <p:spPr bwMode="auto">
          <a:xfrm>
            <a:off x="5462588" y="4549775"/>
            <a:ext cx="1800225" cy="277928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lIns="80167" tIns="40084" rIns="80167" bIns="40084">
            <a:spAutoFit/>
          </a:bodyPr>
          <a:lstStyle/>
          <a:p>
            <a:pPr algn="ctr" defTabSz="802005" eaLnBrk="0" fontAlgn="ctr" hangingPunct="0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zh-CN" sz="1600" b="1" dirty="0" err="1">
                <a:solidFill>
                  <a:srgbClr val="0033CC"/>
                </a:solidFill>
              </a:rPr>
              <a:t>SoC</a:t>
            </a:r>
            <a:r>
              <a:rPr lang="zh-CN" altLang="en-US" sz="1600" b="1" dirty="0">
                <a:solidFill>
                  <a:srgbClr val="0033CC"/>
                </a:solidFill>
              </a:rPr>
              <a:t>的片</a:t>
            </a:r>
            <a:r>
              <a:rPr lang="zh-CN" altLang="en-US" sz="1600" b="1" dirty="0" smtClean="0">
                <a:solidFill>
                  <a:srgbClr val="0033CC"/>
                </a:solidFill>
              </a:rPr>
              <a:t>内设备</a:t>
            </a:r>
            <a:endParaRPr lang="zh-CN" altLang="en-US" sz="1600" b="1" dirty="0">
              <a:solidFill>
                <a:srgbClr val="0033CC"/>
              </a:solidFill>
            </a:endParaRPr>
          </a:p>
        </p:txBody>
      </p:sp>
      <p:sp>
        <p:nvSpPr>
          <p:cNvPr id="451626" name="Text Box 42"/>
          <p:cNvSpPr txBox="1">
            <a:spLocks noChangeArrowheads="1"/>
          </p:cNvSpPr>
          <p:nvPr/>
        </p:nvSpPr>
        <p:spPr bwMode="auto">
          <a:xfrm>
            <a:off x="7191375" y="4564063"/>
            <a:ext cx="1800225" cy="274637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lIns="80167" tIns="40084" rIns="80167" bIns="40084">
            <a:spAutoFit/>
          </a:bodyPr>
          <a:lstStyle/>
          <a:p>
            <a:pPr algn="ctr" defTabSz="802005" eaLnBrk="0" fontAlgn="ctr" hangingPunct="0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33CC"/>
                </a:solidFill>
              </a:rPr>
              <a:t>系统的片外设备</a:t>
            </a:r>
            <a:endParaRPr lang="zh-CN" altLang="en-US" sz="1600" b="1" dirty="0">
              <a:solidFill>
                <a:srgbClr val="0033CC"/>
              </a:solidFill>
            </a:endParaRPr>
          </a:p>
        </p:txBody>
      </p:sp>
      <p:grpSp>
        <p:nvGrpSpPr>
          <p:cNvPr id="4" name="Group 43"/>
          <p:cNvGrpSpPr/>
          <p:nvPr/>
        </p:nvGrpSpPr>
        <p:grpSpPr bwMode="auto">
          <a:xfrm>
            <a:off x="1393825" y="4910138"/>
            <a:ext cx="2892423" cy="503237"/>
            <a:chOff x="770" y="2840"/>
            <a:chExt cx="1519" cy="336"/>
          </a:xfrm>
        </p:grpSpPr>
        <p:sp>
          <p:nvSpPr>
            <p:cNvPr id="451628" name="AutoShape 44"/>
            <p:cNvSpPr/>
            <p:nvPr/>
          </p:nvSpPr>
          <p:spPr bwMode="auto">
            <a:xfrm rot="5400000">
              <a:off x="1439" y="2171"/>
              <a:ext cx="136" cy="1474"/>
            </a:xfrm>
            <a:prstGeom prst="rightBrace">
              <a:avLst>
                <a:gd name="adj1" fmla="val 90319"/>
                <a:gd name="adj2" fmla="val 50000"/>
              </a:avLst>
            </a:prstGeom>
            <a:noFill/>
            <a:ln w="19050">
              <a:solidFill>
                <a:srgbClr val="000066"/>
              </a:solidFill>
              <a:round/>
            </a:ln>
            <a:effectLst/>
          </p:spPr>
          <p:txBody>
            <a:bodyPr wrap="none"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29" name="Text Box 45"/>
            <p:cNvSpPr txBox="1">
              <a:spLocks noChangeArrowheads="1"/>
            </p:cNvSpPr>
            <p:nvPr/>
          </p:nvSpPr>
          <p:spPr bwMode="auto">
            <a:xfrm>
              <a:off x="929" y="2993"/>
              <a:ext cx="1360" cy="183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zh-CN" altLang="en-US" sz="1600" b="1" dirty="0">
                  <a:solidFill>
                    <a:srgbClr val="0033CC"/>
                  </a:solidFill>
                </a:rPr>
                <a:t>处理器（</a:t>
              </a:r>
              <a:r>
                <a:rPr lang="en-US" altLang="zh-CN" sz="1600" b="1" dirty="0">
                  <a:solidFill>
                    <a:srgbClr val="0033CC"/>
                  </a:solidFill>
                </a:rPr>
                <a:t>Processor</a:t>
              </a:r>
              <a:r>
                <a:rPr lang="zh-CN" altLang="en-US" sz="1600" b="1" dirty="0">
                  <a:solidFill>
                    <a:srgbClr val="0033CC"/>
                  </a:solidFill>
                </a:rPr>
                <a:t>）</a:t>
              </a:r>
              <a:endParaRPr lang="zh-CN" altLang="en-US" sz="1600" b="1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5" name="Group 46"/>
          <p:cNvGrpSpPr/>
          <p:nvPr/>
        </p:nvGrpSpPr>
        <p:grpSpPr bwMode="auto">
          <a:xfrm>
            <a:off x="2590800" y="5505450"/>
            <a:ext cx="3598863" cy="504825"/>
            <a:chOff x="1520" y="3203"/>
            <a:chExt cx="2267" cy="318"/>
          </a:xfrm>
        </p:grpSpPr>
        <p:sp>
          <p:nvSpPr>
            <p:cNvPr id="451631" name="AutoShape 47"/>
            <p:cNvSpPr/>
            <p:nvPr/>
          </p:nvSpPr>
          <p:spPr bwMode="auto">
            <a:xfrm rot="5400000">
              <a:off x="2586" y="2137"/>
              <a:ext cx="136" cy="2267"/>
            </a:xfrm>
            <a:prstGeom prst="rightBrace">
              <a:avLst>
                <a:gd name="adj1" fmla="val 138909"/>
                <a:gd name="adj2" fmla="val 50000"/>
              </a:avLst>
            </a:prstGeom>
            <a:noFill/>
            <a:ln w="19050">
              <a:solidFill>
                <a:srgbClr val="000066"/>
              </a:solidFill>
              <a:round/>
            </a:ln>
            <a:effectLst/>
          </p:spPr>
          <p:txBody>
            <a:bodyPr wrap="none"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32" name="Text Box 48"/>
            <p:cNvSpPr txBox="1">
              <a:spLocks noChangeArrowheads="1"/>
            </p:cNvSpPr>
            <p:nvPr/>
          </p:nvSpPr>
          <p:spPr bwMode="auto">
            <a:xfrm>
              <a:off x="2064" y="3348"/>
              <a:ext cx="1360" cy="173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zh-CN" altLang="en-US" sz="1600" b="1">
                  <a:solidFill>
                    <a:srgbClr val="0033CC"/>
                  </a:solidFill>
                </a:rPr>
                <a:t>芯片（</a:t>
              </a:r>
              <a:r>
                <a:rPr lang="en-US" altLang="zh-CN" sz="1600" b="1">
                  <a:solidFill>
                    <a:srgbClr val="0033CC"/>
                  </a:solidFill>
                </a:rPr>
                <a:t>SoC</a:t>
              </a:r>
              <a:r>
                <a:rPr lang="zh-CN" altLang="en-US" sz="1600" b="1">
                  <a:solidFill>
                    <a:srgbClr val="0033CC"/>
                  </a:solidFill>
                </a:rPr>
                <a:t>）</a:t>
              </a:r>
              <a:endParaRPr lang="zh-CN" altLang="en-US" sz="1600" b="1">
                <a:solidFill>
                  <a:srgbClr val="0033CC"/>
                </a:solidFill>
              </a:endParaRPr>
            </a:p>
          </p:txBody>
        </p:sp>
      </p:grpSp>
      <p:grpSp>
        <p:nvGrpSpPr>
          <p:cNvPr id="6" name="Group 49"/>
          <p:cNvGrpSpPr/>
          <p:nvPr/>
        </p:nvGrpSpPr>
        <p:grpSpPr bwMode="auto">
          <a:xfrm>
            <a:off x="4432300" y="6003925"/>
            <a:ext cx="3598863" cy="549275"/>
            <a:chOff x="2684" y="3529"/>
            <a:chExt cx="2267" cy="346"/>
          </a:xfrm>
        </p:grpSpPr>
        <p:sp>
          <p:nvSpPr>
            <p:cNvPr id="451634" name="AutoShape 50"/>
            <p:cNvSpPr/>
            <p:nvPr/>
          </p:nvSpPr>
          <p:spPr bwMode="auto">
            <a:xfrm rot="5400000">
              <a:off x="3750" y="2463"/>
              <a:ext cx="136" cy="2267"/>
            </a:xfrm>
            <a:prstGeom prst="rightBrace">
              <a:avLst>
                <a:gd name="adj1" fmla="val 138909"/>
                <a:gd name="adj2" fmla="val 50000"/>
              </a:avLst>
            </a:prstGeom>
            <a:noFill/>
            <a:ln w="19050">
              <a:solidFill>
                <a:srgbClr val="000066"/>
              </a:solidFill>
              <a:round/>
            </a:ln>
            <a:effectLst/>
          </p:spPr>
          <p:txBody>
            <a:bodyPr wrap="none" lIns="80167" tIns="40084" rIns="80167" bIns="40084" anchor="ctr"/>
            <a:lstStyle/>
            <a:p>
              <a:endParaRPr lang="zh-CN" altLang="en-US"/>
            </a:p>
          </p:txBody>
        </p:sp>
        <p:sp>
          <p:nvSpPr>
            <p:cNvPr id="451635" name="Text Box 51"/>
            <p:cNvSpPr txBox="1">
              <a:spLocks noChangeArrowheads="1"/>
            </p:cNvSpPr>
            <p:nvPr/>
          </p:nvSpPr>
          <p:spPr bwMode="auto">
            <a:xfrm>
              <a:off x="3243" y="3702"/>
              <a:ext cx="1360" cy="173"/>
            </a:xfrm>
            <a:prstGeom prst="rect">
              <a:avLst/>
            </a:prstGeom>
            <a:noFill/>
            <a:ln w="38100" algn="ctr">
              <a:noFill/>
              <a:miter lim="800000"/>
            </a:ln>
            <a:effectLst/>
          </p:spPr>
          <p:txBody>
            <a:bodyPr lIns="80167" tIns="40084" rIns="80167" bIns="40084">
              <a:spAutoFit/>
            </a:bodyPr>
            <a:lstStyle/>
            <a:p>
              <a:pPr algn="ctr" defTabSz="802005" eaLnBrk="0" fontAlgn="ctr" hangingPunct="0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zh-CN" altLang="en-US" sz="1600" b="1" dirty="0">
                  <a:solidFill>
                    <a:srgbClr val="0033CC"/>
                  </a:solidFill>
                </a:rPr>
                <a:t>系统（</a:t>
              </a:r>
              <a:r>
                <a:rPr lang="en-US" altLang="zh-CN" sz="1600" b="1" dirty="0">
                  <a:solidFill>
                    <a:srgbClr val="0033CC"/>
                  </a:solidFill>
                </a:rPr>
                <a:t>System</a:t>
              </a:r>
              <a:r>
                <a:rPr lang="zh-CN" altLang="en-US" sz="1600" b="1" dirty="0">
                  <a:solidFill>
                    <a:srgbClr val="0033CC"/>
                  </a:solidFill>
                </a:rPr>
                <a:t>）</a:t>
              </a:r>
              <a:endParaRPr lang="zh-CN" altLang="en-US" sz="1600" b="1" dirty="0">
                <a:solidFill>
                  <a:srgbClr val="0033CC"/>
                </a:solidFill>
              </a:endParaRPr>
            </a:p>
          </p:txBody>
        </p:sp>
      </p:grpSp>
      <p:sp>
        <p:nvSpPr>
          <p:cNvPr id="451636" name="AutoShape 52"/>
          <p:cNvSpPr/>
          <p:nvPr/>
        </p:nvSpPr>
        <p:spPr bwMode="auto">
          <a:xfrm rot="5400000">
            <a:off x="1314450" y="4038600"/>
            <a:ext cx="215900" cy="863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9050">
            <a:solidFill>
              <a:srgbClr val="000066"/>
            </a:solidFill>
            <a:round/>
          </a:ln>
          <a:effectLst/>
        </p:spPr>
        <p:txBody>
          <a:bodyPr wrap="none" lIns="80167" tIns="40084" rIns="80167" bIns="40084" anchor="ctr"/>
          <a:lstStyle/>
          <a:p>
            <a:endParaRPr lang="zh-CN" altLang="en-US"/>
          </a:p>
        </p:txBody>
      </p:sp>
      <p:sp>
        <p:nvSpPr>
          <p:cNvPr id="451637" name="Rectangle 53"/>
          <p:cNvSpPr>
            <a:spLocks noChangeArrowheads="1"/>
          </p:cNvSpPr>
          <p:nvPr/>
        </p:nvSpPr>
        <p:spPr bwMode="auto">
          <a:xfrm>
            <a:off x="2270125" y="555625"/>
            <a:ext cx="5110187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u="sng" dirty="0" smtClean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en-US" altLang="zh-CN" sz="2800" b="1" u="sng" dirty="0" smtClean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ARM</a:t>
            </a:r>
            <a:r>
              <a:rPr lang="zh-CN" altLang="en-US" sz="2800" b="1" u="sng" dirty="0" smtClean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为内核的典型</a:t>
            </a:r>
            <a:r>
              <a:rPr lang="en-US" altLang="zh-CN" sz="2800" b="1" u="sng" dirty="0" err="1" smtClean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SoC</a:t>
            </a:r>
            <a:r>
              <a:rPr lang="zh-CN" altLang="en-US" sz="2800" b="1" u="sng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结构</a:t>
            </a:r>
            <a:endParaRPr lang="zh-CN" altLang="en-US" sz="2800" b="1" u="sng" dirty="0">
              <a:solidFill>
                <a:srgbClr val="8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" name="Text Box 42"/>
          <p:cNvSpPr txBox="1">
            <a:spLocks noChangeArrowheads="1"/>
          </p:cNvSpPr>
          <p:nvPr/>
        </p:nvSpPr>
        <p:spPr bwMode="auto">
          <a:xfrm>
            <a:off x="642910" y="1643050"/>
            <a:ext cx="1800225" cy="290239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lIns="80167" tIns="40084" rIns="80167" bIns="40084">
            <a:spAutoFit/>
          </a:bodyPr>
          <a:lstStyle/>
          <a:p>
            <a:pPr algn="ctr" defTabSz="802005" eaLnBrk="0" fontAlgn="ctr" hangingPunct="0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rgbClr val="0033CC"/>
                </a:solidFill>
              </a:rPr>
              <a:t>ARM920T</a:t>
            </a:r>
            <a:endParaRPr lang="zh-CN" altLang="en-US" sz="1600" b="1" dirty="0">
              <a:solidFill>
                <a:srgbClr val="0033CC"/>
              </a:solidFill>
            </a:endParaRPr>
          </a:p>
        </p:txBody>
      </p:sp>
      <p:sp>
        <p:nvSpPr>
          <p:cNvPr id="53" name="Rectangle 9"/>
          <p:cNvSpPr>
            <a:spLocks noChangeArrowheads="1"/>
          </p:cNvSpPr>
          <p:nvPr/>
        </p:nvSpPr>
        <p:spPr bwMode="gray">
          <a:xfrm>
            <a:off x="5499099" y="3255516"/>
            <a:ext cx="900113" cy="308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lang="en-US" altLang="zh-CN" sz="1400" b="1" dirty="0" smtClean="0">
                <a:solidFill>
                  <a:schemeClr val="tx1"/>
                </a:solidFill>
              </a:rPr>
              <a:t>control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gray">
          <a:xfrm>
            <a:off x="5032375" y="3573016"/>
            <a:ext cx="2519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8" grpId="0" animBg="1"/>
      <p:bldP spid="451589" grpId="0" animBg="1"/>
      <p:bldP spid="451590" grpId="0" animBg="1"/>
      <p:bldP spid="451592" grpId="0"/>
      <p:bldP spid="451593" grpId="0"/>
      <p:bldP spid="451594" grpId="0" animBg="1"/>
      <p:bldP spid="451595" grpId="0" animBg="1"/>
      <p:bldP spid="451618" grpId="0" animBg="1"/>
      <p:bldP spid="451620" grpId="0" animBg="1"/>
      <p:bldP spid="451621" grpId="0" animBg="1"/>
      <p:bldP spid="451622" grpId="0" animBg="1"/>
      <p:bldP spid="451624" grpId="0"/>
      <p:bldP spid="451625" grpId="0"/>
      <p:bldP spid="451626" grpId="0"/>
      <p:bldP spid="52" grpId="0"/>
      <p:bldP spid="53" grpId="0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458200" cy="491013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lang="zh-CN" altLang="en-US" dirty="0"/>
              <a:t>以</a:t>
            </a:r>
            <a:r>
              <a:rPr lang="en-US" altLang="zh-CN" dirty="0"/>
              <a:t>ARM</a:t>
            </a:r>
            <a:r>
              <a:rPr lang="zh-CN" altLang="en-US" dirty="0"/>
              <a:t>为内核的</a:t>
            </a:r>
            <a:r>
              <a:rPr lang="en-US" altLang="zh-CN" dirty="0" smtClean="0"/>
              <a:t>SOC</a:t>
            </a:r>
            <a:r>
              <a:rPr lang="zh-CN" altLang="en-US" dirty="0" smtClean="0"/>
              <a:t>有（不全）：</a:t>
            </a:r>
            <a:endParaRPr lang="en-US" altLang="zh-CN" dirty="0" smtClean="0"/>
          </a:p>
          <a:p>
            <a:pPr marL="0" indent="0">
              <a:spcBef>
                <a:spcPts val="2000"/>
              </a:spcBef>
              <a:spcAft>
                <a:spcPts val="50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STM32    ST(</a:t>
            </a:r>
            <a:r>
              <a:rPr lang="zh-CN" altLang="en-US" dirty="0" smtClean="0">
                <a:solidFill>
                  <a:srgbClr val="FF0000"/>
                </a:solidFill>
              </a:rPr>
              <a:t>意法半导体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LPC	  NXP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zh-CN" altLang="en-US" dirty="0" smtClean="0"/>
              <a:t>    骁龙        高通</a:t>
            </a:r>
            <a:endParaRPr lang="en-US" altLang="zh-CN" dirty="0" smtClean="0"/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A14        </a:t>
            </a:r>
            <a:r>
              <a:rPr lang="zh-CN" altLang="en-US" dirty="0" smtClean="0"/>
              <a:t>苹果</a:t>
            </a:r>
            <a:endParaRPr lang="en-US" altLang="zh-CN" dirty="0" smtClean="0"/>
          </a:p>
          <a:p>
            <a:pPr marL="0" indent="0">
              <a:spcBef>
                <a:spcPts val="2200"/>
              </a:spcBef>
              <a:spcAft>
                <a:spcPts val="500"/>
              </a:spcAft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麒麟       华为海思     </a:t>
            </a:r>
            <a:r>
              <a:rPr lang="en-US" altLang="zh-CN" dirty="0" smtClean="0"/>
              <a:t>Cortex-A7X      </a:t>
            </a:r>
            <a:r>
              <a:rPr lang="zh-CN" altLang="en-US" dirty="0" smtClean="0"/>
              <a:t>归</a:t>
            </a:r>
            <a:r>
              <a:rPr lang="en-US" altLang="zh-CN" dirty="0" smtClean="0"/>
              <a:t>0 </a:t>
            </a:r>
            <a:endParaRPr lang="en-US" altLang="zh-CN" dirty="0" smtClean="0"/>
          </a:p>
          <a:p>
            <a:pPr marL="0" indent="0">
              <a:spcBef>
                <a:spcPts val="2200"/>
              </a:spcBef>
              <a:spcAft>
                <a:spcPts val="500"/>
              </a:spcAft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    S3C24XX  </a:t>
            </a:r>
            <a:r>
              <a:rPr lang="zh-CN" altLang="en-US" dirty="0" smtClean="0">
                <a:solidFill>
                  <a:srgbClr val="FF0000"/>
                </a:solidFill>
              </a:rPr>
              <a:t>三星</a:t>
            </a:r>
            <a:endParaRPr lang="en-US" altLang="zh-CN" dirty="0" smtClean="0"/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2</a:t>
            </a:r>
            <a:r>
              <a:rPr lang="zh-CN" altLang="en-US" sz="3200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dirty="0" smtClean="0">
                <a:solidFill>
                  <a:srgbClr val="FF0000"/>
                </a:solidFill>
              </a:rPr>
              <a:t>S3C2440-</a:t>
            </a:r>
            <a:r>
              <a:rPr lang="zh-CN" altLang="en-US" sz="3100" dirty="0" smtClean="0">
                <a:solidFill>
                  <a:schemeClr val="tx1"/>
                </a:solidFill>
              </a:rPr>
              <a:t>以</a:t>
            </a:r>
            <a:r>
              <a:rPr lang="en-US" altLang="zh-CN" sz="3100" dirty="0" smtClean="0">
                <a:solidFill>
                  <a:schemeClr val="tx1"/>
                </a:solidFill>
              </a:rPr>
              <a:t>ARM920T</a:t>
            </a:r>
            <a:r>
              <a:rPr lang="zh-CN" altLang="en-US" sz="3100" dirty="0" smtClean="0">
                <a:solidFill>
                  <a:schemeClr val="tx1"/>
                </a:solidFill>
              </a:rPr>
              <a:t>为内核的</a:t>
            </a:r>
            <a:r>
              <a:rPr lang="en-US" altLang="zh-CN" sz="3100" dirty="0" err="1" smtClean="0">
                <a:solidFill>
                  <a:schemeClr val="tx1"/>
                </a:solidFill>
              </a:rPr>
              <a:t>SoC</a:t>
            </a:r>
            <a:endParaRPr lang="en-US" altLang="zh-CN" sz="3200" dirty="0" smtClean="0">
              <a:solidFill>
                <a:srgbClr val="FF0000"/>
              </a:solidFill>
            </a:endParaRP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04944"/>
            <a:ext cx="8686800" cy="5124452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>
                <a:solidFill>
                  <a:srgbClr val="FF0000"/>
                </a:solidFill>
              </a:rPr>
              <a:t>SDRAM</a:t>
            </a:r>
            <a:r>
              <a:rPr lang="zh-CN" altLang="en-US" sz="2400" dirty="0" smtClean="0">
                <a:solidFill>
                  <a:srgbClr val="FF0000"/>
                </a:solidFill>
              </a:rPr>
              <a:t>控制器</a:t>
            </a:r>
            <a:endParaRPr lang="zh-CN" altLang="en-US" sz="2400" dirty="0" smtClean="0"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zh-CN" altLang="zh-CN" sz="2400" dirty="0" smtClean="0">
                <a:solidFill>
                  <a:srgbClr val="FF0000"/>
                </a:solidFill>
              </a:rPr>
              <a:t>NAND </a:t>
            </a:r>
            <a:r>
              <a:rPr lang="zh-CN" altLang="zh-CN" sz="2400" dirty="0">
                <a:solidFill>
                  <a:srgbClr val="FF0000"/>
                </a:solidFill>
              </a:rPr>
              <a:t>Flash</a:t>
            </a:r>
            <a:r>
              <a:rPr lang="zh-CN" altLang="en-US" sz="2400" dirty="0">
                <a:solidFill>
                  <a:srgbClr val="FF0000"/>
                </a:solidFill>
              </a:rPr>
              <a:t>控制器，支持从</a:t>
            </a:r>
            <a:r>
              <a:rPr lang="zh-CN" altLang="zh-CN" sz="2400" dirty="0">
                <a:solidFill>
                  <a:srgbClr val="FF0000"/>
                </a:solidFill>
              </a:rPr>
              <a:t>NAND flash</a:t>
            </a:r>
            <a:r>
              <a:rPr lang="zh-CN" altLang="en-US" sz="2400" dirty="0">
                <a:solidFill>
                  <a:srgbClr val="FF0000"/>
                </a:solidFill>
              </a:rPr>
              <a:t>启动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个通道的</a:t>
            </a:r>
            <a:r>
              <a:rPr lang="en-US" altLang="zh-CN" sz="2400" dirty="0" smtClean="0"/>
              <a:t>DMA</a:t>
            </a:r>
            <a:endParaRPr lang="en-US" altLang="zh-CN" sz="2400" dirty="0" smtClean="0"/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zh-CN" altLang="en-US" sz="2400" dirty="0" smtClean="0">
                <a:solidFill>
                  <a:srgbClr val="FF0000"/>
                </a:solidFill>
              </a:rPr>
              <a:t>中断控制器，</a:t>
            </a:r>
            <a:r>
              <a:rPr lang="zh-CN" altLang="zh-CN" sz="2400" dirty="0" smtClean="0">
                <a:solidFill>
                  <a:srgbClr val="FF0000"/>
                </a:solidFill>
              </a:rPr>
              <a:t>24</a:t>
            </a:r>
            <a:r>
              <a:rPr lang="zh-CN" altLang="en-US" sz="2400" dirty="0" smtClean="0">
                <a:solidFill>
                  <a:srgbClr val="FF0000"/>
                </a:solidFill>
              </a:rPr>
              <a:t>个外部中断源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LCD</a:t>
            </a:r>
            <a:r>
              <a:rPr lang="zh-CN" altLang="en-US" sz="2400" dirty="0" smtClean="0"/>
              <a:t>控制器（支持</a:t>
            </a:r>
            <a:r>
              <a:rPr lang="en-US" altLang="zh-CN" sz="2400" dirty="0" smtClean="0"/>
              <a:t>STF(</a:t>
            </a:r>
            <a:r>
              <a:rPr lang="zh-CN" altLang="en-US" sz="2400" dirty="0" smtClean="0"/>
              <a:t>超</a:t>
            </a:r>
            <a:r>
              <a:rPr lang="zh-CN" altLang="en-US" sz="2400" dirty="0"/>
              <a:t>扭曲向</a:t>
            </a:r>
            <a:r>
              <a:rPr lang="zh-CN" altLang="en-US" sz="2400" dirty="0" smtClean="0"/>
              <a:t>列</a:t>
            </a:r>
            <a:r>
              <a:rPr lang="en-US" altLang="zh-CN" sz="2400" dirty="0" smtClean="0"/>
              <a:t>)/</a:t>
            </a:r>
            <a:r>
              <a:rPr lang="zh-CN" altLang="zh-CN" sz="2400" dirty="0" smtClean="0"/>
              <a:t>TFT</a:t>
            </a:r>
            <a:r>
              <a:rPr lang="en-US" altLang="zh-CN" sz="2400" dirty="0" smtClean="0"/>
              <a:t>(</a:t>
            </a:r>
            <a:r>
              <a:rPr lang="zh-CN" altLang="en-US" sz="2400" dirty="0"/>
              <a:t>薄膜晶体管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zh-CN" altLang="zh-CN" sz="2400" dirty="0" smtClean="0"/>
              <a:t>USB HOST</a:t>
            </a:r>
            <a:r>
              <a:rPr lang="en-US" altLang="zh-CN" sz="2400" dirty="0" smtClean="0"/>
              <a:t>\</a:t>
            </a:r>
            <a:r>
              <a:rPr lang="zh-CN" altLang="zh-CN" sz="2400" dirty="0" smtClean="0"/>
              <a:t>USB DEVICE</a:t>
            </a:r>
            <a:endParaRPr lang="en-US" altLang="zh-CN" sz="2400" dirty="0" smtClean="0"/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个通道的</a:t>
            </a:r>
            <a:r>
              <a:rPr lang="en-US" altLang="zh-CN" sz="2400" dirty="0" smtClean="0">
                <a:solidFill>
                  <a:srgbClr val="FF0000"/>
                </a:solidFill>
              </a:rPr>
              <a:t>UART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个通道的</a:t>
            </a:r>
            <a:r>
              <a:rPr lang="en-US" altLang="zh-CN" sz="2400" dirty="0" smtClean="0"/>
              <a:t>SPI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I2C</a:t>
            </a:r>
            <a:r>
              <a:rPr lang="zh-CN" altLang="en-US" sz="2400" dirty="0" smtClean="0"/>
              <a:t>总线</a:t>
            </a:r>
            <a:endParaRPr lang="en-US" altLang="zh-CN" sz="2400" dirty="0" smtClean="0"/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通道</a:t>
            </a:r>
            <a:r>
              <a:rPr lang="en-US" altLang="zh-CN" sz="2400" dirty="0" smtClean="0"/>
              <a:t>PWM</a:t>
            </a:r>
            <a:r>
              <a:rPr lang="zh-CN" altLang="en-US" sz="2400" dirty="0" smtClean="0"/>
              <a:t>定时器，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通道内部定时器，</a:t>
            </a:r>
            <a:r>
              <a:rPr lang="en-US" altLang="zh-CN" sz="2400" dirty="0" err="1" smtClean="0"/>
              <a:t>WatchDog</a:t>
            </a:r>
            <a:r>
              <a:rPr lang="zh-CN" altLang="en-US" sz="2400" dirty="0" smtClean="0"/>
              <a:t>定时器</a:t>
            </a:r>
            <a:endParaRPr lang="en-US" altLang="zh-CN" sz="2400" dirty="0" smtClean="0"/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zh-CN" altLang="zh-CN" sz="2400" dirty="0" smtClean="0">
                <a:solidFill>
                  <a:srgbClr val="FF0000"/>
                </a:solidFill>
              </a:rPr>
              <a:t>117</a:t>
            </a:r>
            <a:r>
              <a:rPr lang="zh-CN" altLang="en-US" sz="2400" dirty="0" smtClean="0">
                <a:solidFill>
                  <a:srgbClr val="FF0000"/>
                </a:solidFill>
              </a:rPr>
              <a:t>个</a:t>
            </a:r>
            <a:r>
              <a:rPr lang="zh-CN" altLang="zh-CN" sz="2400" dirty="0" smtClean="0">
                <a:solidFill>
                  <a:srgbClr val="FF0000"/>
                </a:solidFill>
              </a:rPr>
              <a:t>GPIO</a:t>
            </a:r>
            <a:endParaRPr lang="zh-CN" altLang="en-US" sz="2400" dirty="0" smtClean="0"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zh-CN" altLang="en-US" sz="2400" dirty="0" smtClean="0">
                <a:solidFill>
                  <a:srgbClr val="FF0000"/>
                </a:solidFill>
              </a:rPr>
              <a:t>带</a:t>
            </a:r>
            <a:r>
              <a:rPr lang="zh-CN" altLang="zh-CN" sz="2400" dirty="0" smtClean="0">
                <a:solidFill>
                  <a:srgbClr val="FF0000"/>
                </a:solidFill>
              </a:rPr>
              <a:t>PLL</a:t>
            </a:r>
            <a:r>
              <a:rPr lang="zh-CN" altLang="en-US" sz="2400" dirty="0" smtClean="0">
                <a:solidFill>
                  <a:srgbClr val="FF0000"/>
                </a:solidFill>
              </a:rPr>
              <a:t>的片上时钟发生器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714375"/>
            <a:ext cx="8389938" cy="5616575"/>
          </a:xfrm>
        </p:spPr>
        <p:txBody>
          <a:bodyPr/>
          <a:lstStyle/>
          <a:p>
            <a:pPr>
              <a:buNone/>
              <a:defRPr/>
            </a:pPr>
            <a:r>
              <a:rPr lang="zh-CN" altLang="en-US" sz="3600" b="1" dirty="0" smtClean="0"/>
              <a:t>存储器的分类</a:t>
            </a:r>
            <a:endParaRPr lang="en-US" altLang="zh-CN" b="1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</a:t>
            </a:r>
            <a:endParaRPr lang="zh-CN" altLang="en-US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	 外存储器 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NAND FLASH</a:t>
            </a:r>
            <a:r>
              <a:rPr lang="zh-CN" altLang="en-US" dirty="0"/>
              <a:t>（</a:t>
            </a:r>
            <a:r>
              <a:rPr lang="en-US" altLang="zh-CN" dirty="0"/>
              <a:t>ROM</a:t>
            </a:r>
            <a:r>
              <a:rPr lang="zh-CN" altLang="en-US" dirty="0"/>
              <a:t>）</a:t>
            </a:r>
            <a:r>
              <a:rPr lang="zh-CN" altLang="en-US" sz="2800" dirty="0" smtClean="0">
                <a:solidFill>
                  <a:srgbClr val="FF0000"/>
                </a:solidFill>
              </a:rPr>
              <a:t> </a:t>
            </a:r>
            <a:endParaRPr lang="zh-CN" altLang="en-US" sz="2800" dirty="0" smtClean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	</a:t>
            </a:r>
            <a:endParaRPr lang="en-US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</a:rPr>
              <a:t>  </a:t>
            </a:r>
            <a:r>
              <a:rPr lang="zh-CN" altLang="en-US" dirty="0"/>
              <a:t>主存储器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  </a:t>
            </a:r>
            <a:endParaRPr lang="zh-CN" altLang="en-US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   </a:t>
            </a:r>
            <a:endParaRPr lang="en-US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sz="2800" dirty="0" smtClean="0"/>
              <a:t>Cache    </a:t>
            </a:r>
            <a:r>
              <a:rPr lang="zh-CN" altLang="en-US" sz="2800" dirty="0" smtClean="0"/>
              <a:t>含在</a:t>
            </a:r>
            <a:r>
              <a:rPr lang="en-US" altLang="zh-CN" sz="2800" dirty="0" smtClean="0"/>
              <a:t>ARM920T</a:t>
            </a:r>
            <a:r>
              <a:rPr lang="zh-CN" altLang="en-US" sz="2800" dirty="0" smtClean="0"/>
              <a:t>内核中</a:t>
            </a:r>
            <a:endParaRPr lang="en-US" altLang="zh-CN" sz="2800" dirty="0" smtClean="0"/>
          </a:p>
        </p:txBody>
      </p:sp>
      <p:sp>
        <p:nvSpPr>
          <p:cNvPr id="18435" name="AutoShape 7"/>
          <p:cNvSpPr/>
          <p:nvPr/>
        </p:nvSpPr>
        <p:spPr bwMode="auto">
          <a:xfrm>
            <a:off x="539552" y="2500306"/>
            <a:ext cx="333255" cy="3304958"/>
          </a:xfrm>
          <a:prstGeom prst="leftBrace">
            <a:avLst>
              <a:gd name="adj1" fmla="val 221739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3000363" y="3687465"/>
            <a:ext cx="92551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RAM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altLang="zh-CN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3000362" y="4695527"/>
            <a:ext cx="5715042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altLang="zh-CN" sz="2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ROM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lang="en-US" altLang="zh-CN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NOR FLASH</a:t>
            </a:r>
            <a:r>
              <a:rPr lang="en-US" altLang="zh-CN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altLang="zh-CN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438" name="AutoShape 10"/>
          <p:cNvSpPr/>
          <p:nvPr/>
        </p:nvSpPr>
        <p:spPr bwMode="auto">
          <a:xfrm>
            <a:off x="2643174" y="3930352"/>
            <a:ext cx="285751" cy="1008063"/>
          </a:xfrm>
          <a:prstGeom prst="leftBrace">
            <a:avLst>
              <a:gd name="adj1" fmla="val 117593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AutoShape 10"/>
          <p:cNvSpPr/>
          <p:nvPr/>
        </p:nvSpPr>
        <p:spPr bwMode="auto">
          <a:xfrm>
            <a:off x="3929058" y="3430290"/>
            <a:ext cx="136517" cy="1008062"/>
          </a:xfrm>
          <a:prstGeom prst="leftBrace">
            <a:avLst>
              <a:gd name="adj1" fmla="val 117593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137013" y="3187402"/>
            <a:ext cx="1138237" cy="4619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SRAM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137013" y="4116096"/>
            <a:ext cx="4364077" cy="4619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altLang="zh-CN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DRAM——SDRAM</a:t>
            </a:r>
            <a:r>
              <a:rPr lang="en-US" altLang="zh-C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539750" y="500043"/>
            <a:ext cx="8135938" cy="54499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SRAM/NOR FLASH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675" name="Rectangle 6"/>
          <p:cNvSpPr>
            <a:spLocks noChangeArrowheads="1"/>
          </p:cNvSpPr>
          <p:nvPr/>
        </p:nvSpPr>
        <p:spPr bwMode="auto">
          <a:xfrm>
            <a:off x="1676400" y="2133600"/>
            <a:ext cx="1447800" cy="3810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6" name="Rectangle 7"/>
          <p:cNvSpPr>
            <a:spLocks noChangeArrowheads="1"/>
          </p:cNvSpPr>
          <p:nvPr/>
        </p:nvSpPr>
        <p:spPr bwMode="auto">
          <a:xfrm>
            <a:off x="6172200" y="2133600"/>
            <a:ext cx="1143000" cy="3810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7" name="Text Box 8"/>
          <p:cNvSpPr txBox="1">
            <a:spLocks noChangeArrowheads="1"/>
          </p:cNvSpPr>
          <p:nvPr/>
        </p:nvSpPr>
        <p:spPr bwMode="auto">
          <a:xfrm>
            <a:off x="6172200" y="22860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D0~D7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78" name="Text Box 9"/>
          <p:cNvSpPr txBox="1">
            <a:spLocks noChangeArrowheads="1"/>
          </p:cNvSpPr>
          <p:nvPr/>
        </p:nvSpPr>
        <p:spPr bwMode="auto">
          <a:xfrm>
            <a:off x="6172200" y="27432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latin typeface="Times New Roman" panose="02020603050405020304" pitchFamily="18" charset="0"/>
              </a:rPr>
              <a:t>0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79" name="Text Box 10"/>
          <p:cNvSpPr txBox="1">
            <a:spLocks noChangeArrowheads="1"/>
          </p:cNvSpPr>
          <p:nvPr/>
        </p:nvSpPr>
        <p:spPr bwMode="auto">
          <a:xfrm>
            <a:off x="6172200" y="3609975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latin typeface="Times New Roman" panose="02020603050405020304" pitchFamily="18" charset="0"/>
              </a:rPr>
              <a:t>12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80" name="Text Box 11"/>
          <p:cNvSpPr txBox="1">
            <a:spLocks noChangeArrowheads="1"/>
          </p:cNvSpPr>
          <p:nvPr/>
        </p:nvSpPr>
        <p:spPr bwMode="auto">
          <a:xfrm>
            <a:off x="6248400" y="32766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zh-CN" sz="2400">
                <a:latin typeface="Times New Roman" panose="02020603050405020304" pitchFamily="18" charset="0"/>
              </a:rPr>
              <a:t>•</a:t>
            </a: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8681" name="Text Box 12"/>
          <p:cNvSpPr txBox="1">
            <a:spLocks noChangeArrowheads="1"/>
          </p:cNvSpPr>
          <p:nvPr/>
        </p:nvSpPr>
        <p:spPr bwMode="auto">
          <a:xfrm>
            <a:off x="6248400" y="31242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zh-CN" sz="2400">
                <a:latin typeface="Times New Roman" panose="02020603050405020304" pitchFamily="18" charset="0"/>
              </a:rPr>
              <a:t>•</a:t>
            </a: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8682" name="Text Box 13"/>
          <p:cNvSpPr txBox="1">
            <a:spLocks noChangeArrowheads="1"/>
          </p:cNvSpPr>
          <p:nvPr/>
        </p:nvSpPr>
        <p:spPr bwMode="auto">
          <a:xfrm>
            <a:off x="6248400" y="29718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zh-CN" sz="2400">
                <a:latin typeface="Times New Roman" panose="02020603050405020304" pitchFamily="18" charset="0"/>
              </a:rPr>
              <a:t>•</a:t>
            </a: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8683" name="Text Box 14"/>
          <p:cNvSpPr txBox="1">
            <a:spLocks noChangeArrowheads="1"/>
          </p:cNvSpPr>
          <p:nvPr/>
        </p:nvSpPr>
        <p:spPr bwMode="auto">
          <a:xfrm>
            <a:off x="6172200" y="41148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WE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84" name="Text Box 15"/>
          <p:cNvSpPr txBox="1">
            <a:spLocks noChangeArrowheads="1"/>
          </p:cNvSpPr>
          <p:nvPr/>
        </p:nvSpPr>
        <p:spPr bwMode="auto">
          <a:xfrm>
            <a:off x="6172200" y="44958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OE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85" name="Text Box 16"/>
          <p:cNvSpPr txBox="1">
            <a:spLocks noChangeArrowheads="1"/>
          </p:cNvSpPr>
          <p:nvPr/>
        </p:nvSpPr>
        <p:spPr bwMode="auto">
          <a:xfrm>
            <a:off x="6172200" y="49530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dirty="0" smtClean="0">
                <a:latin typeface="Times New Roman" panose="02020603050405020304" pitchFamily="18" charset="0"/>
              </a:rPr>
              <a:t>CS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0610" name="AutoShape 18"/>
          <p:cNvSpPr>
            <a:spLocks noChangeArrowheads="1"/>
          </p:cNvSpPr>
          <p:nvPr/>
        </p:nvSpPr>
        <p:spPr bwMode="auto">
          <a:xfrm>
            <a:off x="3124200" y="2362200"/>
            <a:ext cx="3048000" cy="304800"/>
          </a:xfrm>
          <a:prstGeom prst="leftRightArrow">
            <a:avLst>
              <a:gd name="adj1" fmla="val 50000"/>
              <a:gd name="adj2" fmla="val 20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46"/>
          <p:cNvGrpSpPr/>
          <p:nvPr/>
        </p:nvGrpSpPr>
        <p:grpSpPr bwMode="auto">
          <a:xfrm>
            <a:off x="3124200" y="3048000"/>
            <a:ext cx="3048000" cy="914400"/>
            <a:chOff x="1968" y="1920"/>
            <a:chExt cx="1920" cy="576"/>
          </a:xfrm>
        </p:grpSpPr>
        <p:sp>
          <p:nvSpPr>
            <p:cNvPr id="28712" name="Line 19"/>
            <p:cNvSpPr>
              <a:spLocks noChangeShapeType="1"/>
            </p:cNvSpPr>
            <p:nvPr/>
          </p:nvSpPr>
          <p:spPr bwMode="auto">
            <a:xfrm>
              <a:off x="1968" y="1920"/>
              <a:ext cx="19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3" name="Line 20"/>
            <p:cNvSpPr>
              <a:spLocks noChangeShapeType="1"/>
            </p:cNvSpPr>
            <p:nvPr/>
          </p:nvSpPr>
          <p:spPr bwMode="auto">
            <a:xfrm>
              <a:off x="1968" y="2445"/>
              <a:ext cx="192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4" name="Text Box 21"/>
            <p:cNvSpPr txBox="1">
              <a:spLocks noChangeArrowheads="1"/>
            </p:cNvSpPr>
            <p:nvPr/>
          </p:nvSpPr>
          <p:spPr bwMode="auto">
            <a:xfrm>
              <a:off x="2736" y="1920"/>
              <a:ext cx="43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zh-CN" sz="2400">
                  <a:latin typeface="Times New Roman" panose="02020603050405020304" pitchFamily="18" charset="0"/>
                </a:rPr>
                <a:t>•</a:t>
              </a: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715" name="Text Box 22"/>
            <p:cNvSpPr txBox="1">
              <a:spLocks noChangeArrowheads="1"/>
            </p:cNvSpPr>
            <p:nvPr/>
          </p:nvSpPr>
          <p:spPr bwMode="auto">
            <a:xfrm>
              <a:off x="2736" y="2064"/>
              <a:ext cx="43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zh-CN" sz="2400">
                  <a:latin typeface="Times New Roman" panose="02020603050405020304" pitchFamily="18" charset="0"/>
                </a:rPr>
                <a:t>•</a:t>
              </a: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716" name="Text Box 23"/>
            <p:cNvSpPr txBox="1">
              <a:spLocks noChangeArrowheads="1"/>
            </p:cNvSpPr>
            <p:nvPr/>
          </p:nvSpPr>
          <p:spPr bwMode="auto">
            <a:xfrm>
              <a:off x="2736" y="2208"/>
              <a:ext cx="43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zh-CN" sz="2400">
                  <a:latin typeface="Times New Roman" panose="02020603050405020304" pitchFamily="18" charset="0"/>
                </a:rPr>
                <a:t>•</a:t>
              </a: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3124200" y="4343400"/>
            <a:ext cx="30480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17" name="Line 25"/>
          <p:cNvSpPr>
            <a:spLocks noChangeShapeType="1"/>
          </p:cNvSpPr>
          <p:nvPr/>
        </p:nvSpPr>
        <p:spPr bwMode="auto">
          <a:xfrm>
            <a:off x="3124200" y="4724400"/>
            <a:ext cx="30480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1" name="Line 26"/>
          <p:cNvSpPr>
            <a:spLocks noChangeShapeType="1"/>
          </p:cNvSpPr>
          <p:nvPr/>
        </p:nvSpPr>
        <p:spPr bwMode="auto">
          <a:xfrm>
            <a:off x="6248400" y="4191000"/>
            <a:ext cx="4572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2" name="Line 27"/>
          <p:cNvSpPr>
            <a:spLocks noChangeShapeType="1"/>
          </p:cNvSpPr>
          <p:nvPr/>
        </p:nvSpPr>
        <p:spPr bwMode="auto">
          <a:xfrm>
            <a:off x="6248400" y="4572000"/>
            <a:ext cx="4572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3" name="Line 28"/>
          <p:cNvSpPr>
            <a:spLocks noChangeShapeType="1"/>
          </p:cNvSpPr>
          <p:nvPr/>
        </p:nvSpPr>
        <p:spPr bwMode="auto">
          <a:xfrm>
            <a:off x="6248400" y="5029200"/>
            <a:ext cx="4572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4" name="Text Box 29"/>
          <p:cNvSpPr txBox="1">
            <a:spLocks noChangeArrowheads="1"/>
          </p:cNvSpPr>
          <p:nvPr/>
        </p:nvSpPr>
        <p:spPr bwMode="auto">
          <a:xfrm>
            <a:off x="2590800" y="28194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latin typeface="Times New Roman" panose="02020603050405020304" pitchFamily="18" charset="0"/>
              </a:rPr>
              <a:t>0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95" name="Text Box 30"/>
          <p:cNvSpPr txBox="1">
            <a:spLocks noChangeArrowheads="1"/>
          </p:cNvSpPr>
          <p:nvPr/>
        </p:nvSpPr>
        <p:spPr bwMode="auto">
          <a:xfrm>
            <a:off x="2514600" y="3609975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latin typeface="Times New Roman" panose="02020603050405020304" pitchFamily="18" charset="0"/>
              </a:rPr>
              <a:t>12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96" name="Text Box 31"/>
          <p:cNvSpPr txBox="1">
            <a:spLocks noChangeArrowheads="1"/>
          </p:cNvSpPr>
          <p:nvPr/>
        </p:nvSpPr>
        <p:spPr bwMode="auto">
          <a:xfrm>
            <a:off x="2457450" y="4114800"/>
            <a:ext cx="1295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WR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97" name="Text Box 32"/>
          <p:cNvSpPr txBox="1">
            <a:spLocks noChangeArrowheads="1"/>
          </p:cNvSpPr>
          <p:nvPr/>
        </p:nvSpPr>
        <p:spPr bwMode="auto">
          <a:xfrm>
            <a:off x="2514600" y="4495800"/>
            <a:ext cx="1295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RD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8698" name="Line 33"/>
          <p:cNvSpPr>
            <a:spLocks noChangeShapeType="1"/>
          </p:cNvSpPr>
          <p:nvPr/>
        </p:nvSpPr>
        <p:spPr bwMode="auto">
          <a:xfrm>
            <a:off x="2533650" y="4191000"/>
            <a:ext cx="449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9" name="Line 34"/>
          <p:cNvSpPr>
            <a:spLocks noChangeShapeType="1"/>
          </p:cNvSpPr>
          <p:nvPr/>
        </p:nvSpPr>
        <p:spPr bwMode="auto">
          <a:xfrm>
            <a:off x="2590800" y="4572000"/>
            <a:ext cx="449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8"/>
          <p:cNvGrpSpPr/>
          <p:nvPr/>
        </p:nvGrpSpPr>
        <p:grpSpPr bwMode="auto">
          <a:xfrm>
            <a:off x="3124200" y="4876801"/>
            <a:ext cx="3048000" cy="954088"/>
            <a:chOff x="1968" y="3072"/>
            <a:chExt cx="1920" cy="601"/>
          </a:xfrm>
        </p:grpSpPr>
        <p:sp>
          <p:nvSpPr>
            <p:cNvPr id="28706" name="Line 37"/>
            <p:cNvSpPr>
              <a:spLocks noChangeShapeType="1"/>
            </p:cNvSpPr>
            <p:nvPr/>
          </p:nvSpPr>
          <p:spPr bwMode="auto">
            <a:xfrm>
              <a:off x="3552" y="3255"/>
              <a:ext cx="33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" name="Group 47"/>
            <p:cNvGrpSpPr/>
            <p:nvPr/>
          </p:nvGrpSpPr>
          <p:grpSpPr bwMode="auto">
            <a:xfrm>
              <a:off x="1968" y="3072"/>
              <a:ext cx="1584" cy="601"/>
              <a:chOff x="1968" y="3072"/>
              <a:chExt cx="1584" cy="601"/>
            </a:xfrm>
          </p:grpSpPr>
          <p:sp>
            <p:nvSpPr>
              <p:cNvPr id="28708" name="Text Box 35"/>
              <p:cNvSpPr txBox="1">
                <a:spLocks noChangeArrowheads="1"/>
              </p:cNvSpPr>
              <p:nvPr/>
            </p:nvSpPr>
            <p:spPr bwMode="auto">
              <a:xfrm>
                <a:off x="2640" y="3072"/>
                <a:ext cx="576" cy="601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zh-CN" altLang="en-US" sz="2800" b="1" dirty="0" smtClean="0">
                    <a:latin typeface="Times New Roman" panose="02020603050405020304" pitchFamily="18" charset="0"/>
                  </a:rPr>
                  <a:t>片选电路</a:t>
                </a:r>
                <a:endParaRPr kumimoji="1"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9" name="Line 36"/>
              <p:cNvSpPr>
                <a:spLocks noChangeShapeType="1"/>
              </p:cNvSpPr>
              <p:nvPr/>
            </p:nvSpPr>
            <p:spPr bwMode="auto">
              <a:xfrm>
                <a:off x="3216" y="3255"/>
                <a:ext cx="3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0" name="Line 39"/>
              <p:cNvSpPr>
                <a:spLocks noChangeShapeType="1"/>
              </p:cNvSpPr>
              <p:nvPr/>
            </p:nvSpPr>
            <p:spPr bwMode="auto">
              <a:xfrm>
                <a:off x="1968" y="3216"/>
                <a:ext cx="67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1" name="Line 40"/>
              <p:cNvSpPr>
                <a:spLocks noChangeShapeType="1"/>
              </p:cNvSpPr>
              <p:nvPr/>
            </p:nvSpPr>
            <p:spPr bwMode="auto">
              <a:xfrm>
                <a:off x="1968" y="3648"/>
                <a:ext cx="67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8701" name="Text Box 41"/>
          <p:cNvSpPr txBox="1">
            <a:spLocks noChangeArrowheads="1"/>
          </p:cNvSpPr>
          <p:nvPr/>
        </p:nvSpPr>
        <p:spPr bwMode="auto">
          <a:xfrm>
            <a:off x="1981200" y="4953000"/>
            <a:ext cx="12954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高位地址信号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8702" name="Text Box 42"/>
          <p:cNvSpPr txBox="1">
            <a:spLocks noChangeArrowheads="1"/>
          </p:cNvSpPr>
          <p:nvPr/>
        </p:nvSpPr>
        <p:spPr bwMode="auto">
          <a:xfrm>
            <a:off x="2057400" y="22860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D0~D7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cxnSp>
        <p:nvCxnSpPr>
          <p:cNvPr id="28704" name="直接连接符 44"/>
          <p:cNvCxnSpPr>
            <a:cxnSpLocks noChangeShapeType="1"/>
          </p:cNvCxnSpPr>
          <p:nvPr/>
        </p:nvCxnSpPr>
        <p:spPr bwMode="auto">
          <a:xfrm rot="5400000">
            <a:off x="6358732" y="6072981"/>
            <a:ext cx="285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</p:spPr>
      </p:cxnSp>
      <p:sp>
        <p:nvSpPr>
          <p:cNvPr id="28705" name="矩形 47"/>
          <p:cNvSpPr>
            <a:spLocks noChangeArrowheads="1"/>
          </p:cNvSpPr>
          <p:nvPr/>
        </p:nvSpPr>
        <p:spPr bwMode="auto">
          <a:xfrm>
            <a:off x="6215063" y="6215063"/>
            <a:ext cx="601662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/>
              <a:t>+5V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0" grpId="0" animBg="1"/>
      <p:bldP spid="110616" grpId="0" animBg="1"/>
      <p:bldP spid="1106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685800" y="1219200"/>
            <a:ext cx="7772400" cy="472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RAS</a:t>
            </a:r>
            <a:r>
              <a:rPr lang="zh-CN" alt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lang="zh-CN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行地址选通信号。用于锁存行地址；</a:t>
            </a: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CAS</a:t>
            </a:r>
            <a:r>
              <a:rPr lang="zh-CN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：列地址选通信号。</a:t>
            </a: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地址总线上先送上行地址，后送上列地址，它们</a:t>
            </a: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分别在</a:t>
            </a:r>
            <a:r>
              <a:rPr lang="en-US" altLang="zh-CN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RAS</a:t>
            </a:r>
            <a:r>
              <a:rPr lang="zh-CN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CAS</a:t>
            </a:r>
            <a:r>
              <a:rPr lang="zh-CN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有效期间被锁存在锁存器中。</a:t>
            </a: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endParaRPr lang="zh-CN" altLang="zh-CN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Blip>
                <a:blip r:embed="rId1"/>
              </a:buBlip>
              <a:defRPr/>
            </a:pPr>
            <a:endParaRPr lang="zh-CN" altLang="zh-CN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DIN</a:t>
            </a:r>
            <a:r>
              <a:rPr lang="zh-CN" alt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    数据输入</a:t>
            </a:r>
            <a:endParaRPr lang="zh-CN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DOUT</a:t>
            </a:r>
            <a:r>
              <a:rPr lang="zh-CN" alt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：数据输出</a:t>
            </a:r>
            <a:endParaRPr lang="zh-CN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Font typeface="Wingdings" panose="05000000000000000000" pitchFamily="2" charset="2"/>
              <a:buNone/>
              <a:defRPr/>
            </a:pPr>
            <a:endParaRPr lang="zh-CN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defRPr/>
            </a:pPr>
            <a:r>
              <a:rPr lang="zh-CN" alt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	</a:t>
            </a:r>
            <a:endParaRPr lang="en-US" altLang="zh-CN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3251" name="Line 8"/>
          <p:cNvSpPr>
            <a:spLocks noChangeShapeType="1"/>
          </p:cNvSpPr>
          <p:nvPr/>
        </p:nvSpPr>
        <p:spPr bwMode="auto">
          <a:xfrm>
            <a:off x="800100" y="1295400"/>
            <a:ext cx="508000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grpSp>
        <p:nvGrpSpPr>
          <p:cNvPr id="53252" name="Group 19"/>
          <p:cNvGrpSpPr/>
          <p:nvPr/>
        </p:nvGrpSpPr>
        <p:grpSpPr bwMode="auto">
          <a:xfrm>
            <a:off x="762000" y="3413125"/>
            <a:ext cx="3048000" cy="396875"/>
            <a:chOff x="462" y="1862"/>
            <a:chExt cx="1920" cy="250"/>
          </a:xfrm>
        </p:grpSpPr>
        <p:sp>
          <p:nvSpPr>
            <p:cNvPr id="140295" name="Text Box 7"/>
            <p:cNvSpPr txBox="1">
              <a:spLocks noChangeArrowheads="1"/>
            </p:cNvSpPr>
            <p:nvPr/>
          </p:nvSpPr>
          <p:spPr bwMode="auto">
            <a:xfrm>
              <a:off x="462" y="1862"/>
              <a:ext cx="1920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WE</a:t>
              </a:r>
              <a:r>
                <a:rPr kumimoji="1" lang="zh-CN" altLang="en-US" sz="2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：写允许信号</a:t>
              </a:r>
              <a:endParaRPr kumimoji="1" lang="zh-CN" altLang="en-US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3328" name="Line 10"/>
            <p:cNvSpPr>
              <a:spLocks noChangeShapeType="1"/>
            </p:cNvSpPr>
            <p:nvPr/>
          </p:nvSpPr>
          <p:spPr bwMode="auto">
            <a:xfrm>
              <a:off x="523" y="1890"/>
              <a:ext cx="245" cy="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53253" name="Line 14"/>
          <p:cNvSpPr>
            <a:spLocks noChangeShapeType="1"/>
          </p:cNvSpPr>
          <p:nvPr/>
        </p:nvSpPr>
        <p:spPr bwMode="auto">
          <a:xfrm>
            <a:off x="800100" y="1695450"/>
            <a:ext cx="508000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53254" name="Line 15"/>
          <p:cNvSpPr>
            <a:spLocks noChangeShapeType="1"/>
          </p:cNvSpPr>
          <p:nvPr/>
        </p:nvSpPr>
        <p:spPr bwMode="auto">
          <a:xfrm>
            <a:off x="1760538" y="2636838"/>
            <a:ext cx="508000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53255" name="Line 16"/>
          <p:cNvSpPr>
            <a:spLocks noChangeShapeType="1"/>
          </p:cNvSpPr>
          <p:nvPr/>
        </p:nvSpPr>
        <p:spPr bwMode="auto">
          <a:xfrm>
            <a:off x="2551113" y="2636838"/>
            <a:ext cx="508000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grpSp>
        <p:nvGrpSpPr>
          <p:cNvPr id="53256" name="Group 18"/>
          <p:cNvGrpSpPr/>
          <p:nvPr/>
        </p:nvGrpSpPr>
        <p:grpSpPr bwMode="auto">
          <a:xfrm>
            <a:off x="914400" y="3870325"/>
            <a:ext cx="3181350" cy="854075"/>
            <a:chOff x="1776" y="1754"/>
            <a:chExt cx="2004" cy="538"/>
          </a:xfrm>
        </p:grpSpPr>
        <p:sp>
          <p:nvSpPr>
            <p:cNvPr id="53323" name="Text Box 3"/>
            <p:cNvSpPr txBox="1">
              <a:spLocks noChangeArrowheads="1"/>
            </p:cNvSpPr>
            <p:nvPr/>
          </p:nvSpPr>
          <p:spPr bwMode="auto">
            <a:xfrm>
              <a:off x="1812" y="1754"/>
              <a:ext cx="196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smtClean="0">
                  <a:solidFill>
                    <a:srgbClr val="FFFFFF"/>
                  </a:solidFill>
                  <a:latin typeface="Times New Roman" panose="02020603050405020304" pitchFamily="18" charset="0"/>
                </a:rPr>
                <a:t>WE=0          </a:t>
              </a:r>
              <a:r>
                <a:rPr kumimoji="1" lang="zh-CN" altLang="en-US" sz="2000" smtClean="0">
                  <a:solidFill>
                    <a:srgbClr val="FFFFFF"/>
                  </a:solidFill>
                  <a:latin typeface="Times New Roman" panose="02020603050405020304" pitchFamily="18" charset="0"/>
                </a:rPr>
                <a:t>数据写入</a:t>
              </a:r>
              <a:endParaRPr kumimoji="1" lang="zh-CN" altLang="en-US" sz="20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smtClean="0">
                  <a:solidFill>
                    <a:srgbClr val="FFFFFF"/>
                  </a:solidFill>
                  <a:latin typeface="Times New Roman" panose="02020603050405020304" pitchFamily="18" charset="0"/>
                </a:rPr>
                <a:t>WE=1          </a:t>
              </a:r>
              <a:r>
                <a:rPr kumimoji="1" lang="zh-CN" altLang="en-US" sz="2000" smtClean="0">
                  <a:solidFill>
                    <a:srgbClr val="FFFFFF"/>
                  </a:solidFill>
                  <a:latin typeface="Times New Roman" panose="02020603050405020304" pitchFamily="18" charset="0"/>
                </a:rPr>
                <a:t>数据读出</a:t>
              </a:r>
              <a:endParaRPr kumimoji="1" lang="zh-CN" altLang="en-US" sz="20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324" name="Line 4"/>
            <p:cNvSpPr>
              <a:spLocks noChangeShapeType="1"/>
            </p:cNvSpPr>
            <p:nvPr/>
          </p:nvSpPr>
          <p:spPr bwMode="auto">
            <a:xfrm>
              <a:off x="2340" y="1873"/>
              <a:ext cx="315" cy="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53325" name="AutoShape 6"/>
            <p:cNvSpPr/>
            <p:nvPr/>
          </p:nvSpPr>
          <p:spPr bwMode="auto">
            <a:xfrm>
              <a:off x="1776" y="1812"/>
              <a:ext cx="48" cy="384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zh-CN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53326" name="Line 17"/>
            <p:cNvSpPr>
              <a:spLocks noChangeShapeType="1"/>
            </p:cNvSpPr>
            <p:nvPr/>
          </p:nvSpPr>
          <p:spPr bwMode="auto">
            <a:xfrm>
              <a:off x="2337" y="2172"/>
              <a:ext cx="315" cy="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53257" name="Rectangle 23"/>
          <p:cNvSpPr>
            <a:spLocks noChangeArrowheads="1"/>
          </p:cNvSpPr>
          <p:nvPr/>
        </p:nvSpPr>
        <p:spPr bwMode="auto">
          <a:xfrm>
            <a:off x="4835525" y="353377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NC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58" name="Rectangle 25"/>
          <p:cNvSpPr>
            <a:spLocks noChangeArrowheads="1"/>
          </p:cNvSpPr>
          <p:nvPr/>
        </p:nvSpPr>
        <p:spPr bwMode="auto">
          <a:xfrm>
            <a:off x="4824413" y="386873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D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59" name="Rectangle 26"/>
          <p:cNvSpPr>
            <a:spLocks noChangeArrowheads="1"/>
          </p:cNvSpPr>
          <p:nvPr/>
        </p:nvSpPr>
        <p:spPr bwMode="auto">
          <a:xfrm>
            <a:off x="4957763" y="4002088"/>
            <a:ext cx="1397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100" smtClean="0">
                <a:solidFill>
                  <a:srgbClr val="FFFFFF"/>
                </a:solidFill>
                <a:latin typeface="宋体" panose="02010600030101010101" pitchFamily="2" charset="-122"/>
              </a:rPr>
              <a:t>IN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0" name="Rectangle 28"/>
          <p:cNvSpPr>
            <a:spLocks noChangeArrowheads="1"/>
          </p:cNvSpPr>
          <p:nvPr/>
        </p:nvSpPr>
        <p:spPr bwMode="auto">
          <a:xfrm>
            <a:off x="4835525" y="422592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WE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1" name="Rectangle 30"/>
          <p:cNvSpPr>
            <a:spLocks noChangeArrowheads="1"/>
          </p:cNvSpPr>
          <p:nvPr/>
        </p:nvSpPr>
        <p:spPr bwMode="auto">
          <a:xfrm>
            <a:off x="4781550" y="4560888"/>
            <a:ext cx="4000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RAS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2" name="Rectangle 32"/>
          <p:cNvSpPr>
            <a:spLocks noChangeArrowheads="1"/>
          </p:cNvSpPr>
          <p:nvPr/>
        </p:nvSpPr>
        <p:spPr bwMode="auto">
          <a:xfrm>
            <a:off x="4824413" y="4918075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3" name="Rectangle 33"/>
          <p:cNvSpPr>
            <a:spLocks noChangeArrowheads="1"/>
          </p:cNvSpPr>
          <p:nvPr/>
        </p:nvSpPr>
        <p:spPr bwMode="auto">
          <a:xfrm>
            <a:off x="4959350" y="4918075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0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4" name="Rectangle 35"/>
          <p:cNvSpPr>
            <a:spLocks noChangeArrowheads="1"/>
          </p:cNvSpPr>
          <p:nvPr/>
        </p:nvSpPr>
        <p:spPr bwMode="auto">
          <a:xfrm>
            <a:off x="4835525" y="5275263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A2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5" name="Rectangle 37"/>
          <p:cNvSpPr>
            <a:spLocks noChangeArrowheads="1"/>
          </p:cNvSpPr>
          <p:nvPr/>
        </p:nvSpPr>
        <p:spPr bwMode="auto">
          <a:xfrm>
            <a:off x="4835525" y="561022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A1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6" name="Rectangle 39"/>
          <p:cNvSpPr>
            <a:spLocks noChangeArrowheads="1"/>
          </p:cNvSpPr>
          <p:nvPr/>
        </p:nvSpPr>
        <p:spPr bwMode="auto">
          <a:xfrm>
            <a:off x="4781550" y="5967413"/>
            <a:ext cx="4000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GND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7" name="Rectangle 43"/>
          <p:cNvSpPr>
            <a:spLocks noChangeArrowheads="1"/>
          </p:cNvSpPr>
          <p:nvPr/>
        </p:nvSpPr>
        <p:spPr bwMode="auto">
          <a:xfrm>
            <a:off x="5189538" y="3556000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8" name="Rectangle 44"/>
          <p:cNvSpPr>
            <a:spLocks noChangeArrowheads="1"/>
          </p:cNvSpPr>
          <p:nvPr/>
        </p:nvSpPr>
        <p:spPr bwMode="auto">
          <a:xfrm>
            <a:off x="5189538" y="3890963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69" name="Rectangle 45"/>
          <p:cNvSpPr>
            <a:spLocks noChangeArrowheads="1"/>
          </p:cNvSpPr>
          <p:nvPr/>
        </p:nvSpPr>
        <p:spPr bwMode="auto">
          <a:xfrm>
            <a:off x="5457825" y="389096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0" name="Rectangle 46"/>
          <p:cNvSpPr>
            <a:spLocks noChangeArrowheads="1"/>
          </p:cNvSpPr>
          <p:nvPr/>
        </p:nvSpPr>
        <p:spPr bwMode="auto">
          <a:xfrm>
            <a:off x="5189538" y="4248150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1" name="Rectangle 47"/>
          <p:cNvSpPr>
            <a:spLocks noChangeArrowheads="1"/>
          </p:cNvSpPr>
          <p:nvPr/>
        </p:nvSpPr>
        <p:spPr bwMode="auto">
          <a:xfrm>
            <a:off x="5189538" y="4583113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2" name="Rectangle 48"/>
          <p:cNvSpPr>
            <a:spLocks noChangeArrowheads="1"/>
          </p:cNvSpPr>
          <p:nvPr/>
        </p:nvSpPr>
        <p:spPr bwMode="auto">
          <a:xfrm>
            <a:off x="5457825" y="45831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3" name="Rectangle 49"/>
          <p:cNvSpPr>
            <a:spLocks noChangeArrowheads="1"/>
          </p:cNvSpPr>
          <p:nvPr/>
        </p:nvSpPr>
        <p:spPr bwMode="auto">
          <a:xfrm>
            <a:off x="5189538" y="4940300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4" name="Rectangle 50"/>
          <p:cNvSpPr>
            <a:spLocks noChangeArrowheads="1"/>
          </p:cNvSpPr>
          <p:nvPr/>
        </p:nvSpPr>
        <p:spPr bwMode="auto">
          <a:xfrm>
            <a:off x="5189538" y="5297488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5" name="Rectangle 51"/>
          <p:cNvSpPr>
            <a:spLocks noChangeArrowheads="1"/>
          </p:cNvSpPr>
          <p:nvPr/>
        </p:nvSpPr>
        <p:spPr bwMode="auto">
          <a:xfrm>
            <a:off x="5457825" y="529748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6" name="Rectangle 52"/>
          <p:cNvSpPr>
            <a:spLocks noChangeArrowheads="1"/>
          </p:cNvSpPr>
          <p:nvPr/>
        </p:nvSpPr>
        <p:spPr bwMode="auto">
          <a:xfrm>
            <a:off x="5189538" y="5632450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7" name="Rectangle 53"/>
          <p:cNvSpPr>
            <a:spLocks noChangeArrowheads="1"/>
          </p:cNvSpPr>
          <p:nvPr/>
        </p:nvSpPr>
        <p:spPr bwMode="auto">
          <a:xfrm>
            <a:off x="5189538" y="5989638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8" name="Rectangle 54"/>
          <p:cNvSpPr>
            <a:spLocks noChangeArrowheads="1"/>
          </p:cNvSpPr>
          <p:nvPr/>
        </p:nvSpPr>
        <p:spPr bwMode="auto">
          <a:xfrm>
            <a:off x="5457825" y="598963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79" name="Rectangle 57"/>
          <p:cNvSpPr>
            <a:spLocks noChangeArrowheads="1"/>
          </p:cNvSpPr>
          <p:nvPr/>
        </p:nvSpPr>
        <p:spPr bwMode="auto">
          <a:xfrm>
            <a:off x="7397750" y="35560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V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0" name="Rectangle 58"/>
          <p:cNvSpPr>
            <a:spLocks noChangeArrowheads="1"/>
          </p:cNvSpPr>
          <p:nvPr/>
        </p:nvSpPr>
        <p:spPr bwMode="auto">
          <a:xfrm>
            <a:off x="7529513" y="3689350"/>
            <a:ext cx="1397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100" smtClean="0">
                <a:solidFill>
                  <a:srgbClr val="FFFFFF"/>
                </a:solidFill>
                <a:latin typeface="宋体" panose="02010600030101010101" pitchFamily="2" charset="-122"/>
              </a:rPr>
              <a:t>CC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1" name="Rectangle 60"/>
          <p:cNvSpPr>
            <a:spLocks noChangeArrowheads="1"/>
          </p:cNvSpPr>
          <p:nvPr/>
        </p:nvSpPr>
        <p:spPr bwMode="auto">
          <a:xfrm>
            <a:off x="7354888" y="3890963"/>
            <a:ext cx="4000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CAS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2" name="Rectangle 62"/>
          <p:cNvSpPr>
            <a:spLocks noChangeArrowheads="1"/>
          </p:cNvSpPr>
          <p:nvPr/>
        </p:nvSpPr>
        <p:spPr bwMode="auto">
          <a:xfrm>
            <a:off x="7375525" y="42481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D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3" name="Rectangle 63"/>
          <p:cNvSpPr>
            <a:spLocks noChangeArrowheads="1"/>
          </p:cNvSpPr>
          <p:nvPr/>
        </p:nvSpPr>
        <p:spPr bwMode="auto">
          <a:xfrm>
            <a:off x="7562850" y="4381500"/>
            <a:ext cx="2095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100" smtClean="0">
                <a:solidFill>
                  <a:srgbClr val="FFFFFF"/>
                </a:solidFill>
                <a:latin typeface="宋体" panose="02010600030101010101" pitchFamily="2" charset="-122"/>
              </a:rPr>
              <a:t>OUT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4" name="Rectangle 65"/>
          <p:cNvSpPr>
            <a:spLocks noChangeArrowheads="1"/>
          </p:cNvSpPr>
          <p:nvPr/>
        </p:nvSpPr>
        <p:spPr bwMode="auto">
          <a:xfrm>
            <a:off x="7408863" y="4583113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A6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5" name="Rectangle 67"/>
          <p:cNvSpPr>
            <a:spLocks noChangeArrowheads="1"/>
          </p:cNvSpPr>
          <p:nvPr/>
        </p:nvSpPr>
        <p:spPr bwMode="auto">
          <a:xfrm>
            <a:off x="7408863" y="4940300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A3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6" name="Rectangle 69"/>
          <p:cNvSpPr>
            <a:spLocks noChangeArrowheads="1"/>
          </p:cNvSpPr>
          <p:nvPr/>
        </p:nvSpPr>
        <p:spPr bwMode="auto">
          <a:xfrm>
            <a:off x="7408863" y="5297488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A4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7" name="Rectangle 71"/>
          <p:cNvSpPr>
            <a:spLocks noChangeArrowheads="1"/>
          </p:cNvSpPr>
          <p:nvPr/>
        </p:nvSpPr>
        <p:spPr bwMode="auto">
          <a:xfrm>
            <a:off x="7408863" y="5632450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A5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8" name="Rectangle 73"/>
          <p:cNvSpPr>
            <a:spLocks noChangeArrowheads="1"/>
          </p:cNvSpPr>
          <p:nvPr/>
        </p:nvSpPr>
        <p:spPr bwMode="auto">
          <a:xfrm>
            <a:off x="7408863" y="5989638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A7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89" name="Line 75"/>
          <p:cNvSpPr>
            <a:spLocks noChangeShapeType="1"/>
          </p:cNvSpPr>
          <p:nvPr/>
        </p:nvSpPr>
        <p:spPr bwMode="auto">
          <a:xfrm>
            <a:off x="4725988" y="4598988"/>
            <a:ext cx="446087" cy="158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53290" name="Line 76"/>
          <p:cNvSpPr>
            <a:spLocks noChangeShapeType="1"/>
          </p:cNvSpPr>
          <p:nvPr/>
        </p:nvSpPr>
        <p:spPr bwMode="auto">
          <a:xfrm>
            <a:off x="4799013" y="4268788"/>
            <a:ext cx="312737" cy="158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53291" name="Line 77"/>
          <p:cNvSpPr>
            <a:spLocks noChangeShapeType="1"/>
          </p:cNvSpPr>
          <p:nvPr/>
        </p:nvSpPr>
        <p:spPr bwMode="auto">
          <a:xfrm>
            <a:off x="7364413" y="3925888"/>
            <a:ext cx="357187" cy="158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53292" name="Rectangle 79"/>
          <p:cNvSpPr>
            <a:spLocks noChangeArrowheads="1"/>
          </p:cNvSpPr>
          <p:nvPr/>
        </p:nvSpPr>
        <p:spPr bwMode="auto">
          <a:xfrm>
            <a:off x="7042150" y="357822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3" name="Rectangle 80"/>
          <p:cNvSpPr>
            <a:spLocks noChangeArrowheads="1"/>
          </p:cNvSpPr>
          <p:nvPr/>
        </p:nvSpPr>
        <p:spPr bwMode="auto">
          <a:xfrm>
            <a:off x="7042150" y="3913188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4" name="Rectangle 81"/>
          <p:cNvSpPr>
            <a:spLocks noChangeArrowheads="1"/>
          </p:cNvSpPr>
          <p:nvPr/>
        </p:nvSpPr>
        <p:spPr bwMode="auto">
          <a:xfrm>
            <a:off x="7310438" y="391318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5" name="Rectangle 82"/>
          <p:cNvSpPr>
            <a:spLocks noChangeArrowheads="1"/>
          </p:cNvSpPr>
          <p:nvPr/>
        </p:nvSpPr>
        <p:spPr bwMode="auto">
          <a:xfrm>
            <a:off x="7042150" y="427037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6" name="Rectangle 83"/>
          <p:cNvSpPr>
            <a:spLocks noChangeArrowheads="1"/>
          </p:cNvSpPr>
          <p:nvPr/>
        </p:nvSpPr>
        <p:spPr bwMode="auto">
          <a:xfrm>
            <a:off x="7042150" y="4605338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7" name="Rectangle 84"/>
          <p:cNvSpPr>
            <a:spLocks noChangeArrowheads="1"/>
          </p:cNvSpPr>
          <p:nvPr/>
        </p:nvSpPr>
        <p:spPr bwMode="auto">
          <a:xfrm>
            <a:off x="7310438" y="460533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8" name="Rectangle 85"/>
          <p:cNvSpPr>
            <a:spLocks noChangeArrowheads="1"/>
          </p:cNvSpPr>
          <p:nvPr/>
        </p:nvSpPr>
        <p:spPr bwMode="auto">
          <a:xfrm>
            <a:off x="7042150" y="496252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299" name="Rectangle 86"/>
          <p:cNvSpPr>
            <a:spLocks noChangeArrowheads="1"/>
          </p:cNvSpPr>
          <p:nvPr/>
        </p:nvSpPr>
        <p:spPr bwMode="auto">
          <a:xfrm>
            <a:off x="7042150" y="5319713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0" name="Rectangle 87"/>
          <p:cNvSpPr>
            <a:spLocks noChangeArrowheads="1"/>
          </p:cNvSpPr>
          <p:nvPr/>
        </p:nvSpPr>
        <p:spPr bwMode="auto">
          <a:xfrm>
            <a:off x="7310438" y="53197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1" name="Rectangle 88"/>
          <p:cNvSpPr>
            <a:spLocks noChangeArrowheads="1"/>
          </p:cNvSpPr>
          <p:nvPr/>
        </p:nvSpPr>
        <p:spPr bwMode="auto">
          <a:xfrm>
            <a:off x="7042150" y="5654675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2" name="Rectangle 89"/>
          <p:cNvSpPr>
            <a:spLocks noChangeArrowheads="1"/>
          </p:cNvSpPr>
          <p:nvPr/>
        </p:nvSpPr>
        <p:spPr bwMode="auto">
          <a:xfrm>
            <a:off x="7042150" y="6011863"/>
            <a:ext cx="266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</a:rPr>
              <a:t>—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3" name="Rectangle 90"/>
          <p:cNvSpPr>
            <a:spLocks noChangeArrowheads="1"/>
          </p:cNvSpPr>
          <p:nvPr/>
        </p:nvSpPr>
        <p:spPr bwMode="auto">
          <a:xfrm>
            <a:off x="7310438" y="601186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4" name="Rectangle 92"/>
          <p:cNvSpPr>
            <a:spLocks noChangeArrowheads="1"/>
          </p:cNvSpPr>
          <p:nvPr/>
        </p:nvSpPr>
        <p:spPr bwMode="auto">
          <a:xfrm>
            <a:off x="5445125" y="3376613"/>
            <a:ext cx="1584325" cy="3148012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53305" name="Rectangle 93"/>
          <p:cNvSpPr>
            <a:spLocks noChangeArrowheads="1"/>
          </p:cNvSpPr>
          <p:nvPr/>
        </p:nvSpPr>
        <p:spPr bwMode="auto">
          <a:xfrm>
            <a:off x="5716588" y="3509963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1      16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6" name="Rectangle 94"/>
          <p:cNvSpPr>
            <a:spLocks noChangeArrowheads="1"/>
          </p:cNvSpPr>
          <p:nvPr/>
        </p:nvSpPr>
        <p:spPr bwMode="auto">
          <a:xfrm>
            <a:off x="6773863" y="350996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7" name="Rectangle 95"/>
          <p:cNvSpPr>
            <a:spLocks noChangeArrowheads="1"/>
          </p:cNvSpPr>
          <p:nvPr/>
        </p:nvSpPr>
        <p:spPr bwMode="auto">
          <a:xfrm>
            <a:off x="5716588" y="3868738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2      15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8" name="Rectangle 96"/>
          <p:cNvSpPr>
            <a:spLocks noChangeArrowheads="1"/>
          </p:cNvSpPr>
          <p:nvPr/>
        </p:nvSpPr>
        <p:spPr bwMode="auto">
          <a:xfrm>
            <a:off x="6773863" y="386873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09" name="Rectangle 97"/>
          <p:cNvSpPr>
            <a:spLocks noChangeArrowheads="1"/>
          </p:cNvSpPr>
          <p:nvPr/>
        </p:nvSpPr>
        <p:spPr bwMode="auto">
          <a:xfrm>
            <a:off x="5716588" y="4202113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3      14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0" name="Rectangle 98"/>
          <p:cNvSpPr>
            <a:spLocks noChangeArrowheads="1"/>
          </p:cNvSpPr>
          <p:nvPr/>
        </p:nvSpPr>
        <p:spPr bwMode="auto">
          <a:xfrm>
            <a:off x="6773863" y="42021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1" name="Rectangle 99"/>
          <p:cNvSpPr>
            <a:spLocks noChangeArrowheads="1"/>
          </p:cNvSpPr>
          <p:nvPr/>
        </p:nvSpPr>
        <p:spPr bwMode="auto">
          <a:xfrm>
            <a:off x="5716588" y="4560888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4      13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2" name="Rectangle 100"/>
          <p:cNvSpPr>
            <a:spLocks noChangeArrowheads="1"/>
          </p:cNvSpPr>
          <p:nvPr/>
        </p:nvSpPr>
        <p:spPr bwMode="auto">
          <a:xfrm>
            <a:off x="6773863" y="456088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3" name="Rectangle 101"/>
          <p:cNvSpPr>
            <a:spLocks noChangeArrowheads="1"/>
          </p:cNvSpPr>
          <p:nvPr/>
        </p:nvSpPr>
        <p:spPr bwMode="auto">
          <a:xfrm>
            <a:off x="5716588" y="4918075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5      12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4" name="Rectangle 102"/>
          <p:cNvSpPr>
            <a:spLocks noChangeArrowheads="1"/>
          </p:cNvSpPr>
          <p:nvPr/>
        </p:nvSpPr>
        <p:spPr bwMode="auto">
          <a:xfrm>
            <a:off x="6773863" y="4918075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5" name="Rectangle 103"/>
          <p:cNvSpPr>
            <a:spLocks noChangeArrowheads="1"/>
          </p:cNvSpPr>
          <p:nvPr/>
        </p:nvSpPr>
        <p:spPr bwMode="auto">
          <a:xfrm>
            <a:off x="5716588" y="5253038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6      11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6" name="Rectangle 104"/>
          <p:cNvSpPr>
            <a:spLocks noChangeArrowheads="1"/>
          </p:cNvSpPr>
          <p:nvPr/>
        </p:nvSpPr>
        <p:spPr bwMode="auto">
          <a:xfrm>
            <a:off x="6773863" y="525303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7" name="Rectangle 105"/>
          <p:cNvSpPr>
            <a:spLocks noChangeArrowheads="1"/>
          </p:cNvSpPr>
          <p:nvPr/>
        </p:nvSpPr>
        <p:spPr bwMode="auto">
          <a:xfrm>
            <a:off x="5716588" y="5610225"/>
            <a:ext cx="1200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7      10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8" name="Rectangle 106"/>
          <p:cNvSpPr>
            <a:spLocks noChangeArrowheads="1"/>
          </p:cNvSpPr>
          <p:nvPr/>
        </p:nvSpPr>
        <p:spPr bwMode="auto">
          <a:xfrm>
            <a:off x="6773863" y="5610225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19" name="Rectangle 107"/>
          <p:cNvSpPr>
            <a:spLocks noChangeArrowheads="1"/>
          </p:cNvSpPr>
          <p:nvPr/>
        </p:nvSpPr>
        <p:spPr bwMode="auto">
          <a:xfrm>
            <a:off x="5702300" y="594518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8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20" name="Rectangle 108"/>
          <p:cNvSpPr>
            <a:spLocks noChangeArrowheads="1"/>
          </p:cNvSpPr>
          <p:nvPr/>
        </p:nvSpPr>
        <p:spPr bwMode="auto">
          <a:xfrm>
            <a:off x="5905500" y="5945188"/>
            <a:ext cx="933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     9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21" name="Rectangle 109"/>
          <p:cNvSpPr>
            <a:spLocks noChangeArrowheads="1"/>
          </p:cNvSpPr>
          <p:nvPr/>
        </p:nvSpPr>
        <p:spPr bwMode="auto">
          <a:xfrm>
            <a:off x="6819900" y="5945188"/>
            <a:ext cx="6667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   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53322" name="Rectangle 110"/>
          <p:cNvSpPr>
            <a:spLocks noChangeArrowheads="1"/>
          </p:cNvSpPr>
          <p:nvPr/>
        </p:nvSpPr>
        <p:spPr bwMode="auto">
          <a:xfrm>
            <a:off x="7443788" y="5945188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100" smtClean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20020" y="6512179"/>
            <a:ext cx="2236510" cy="3970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defRPr/>
            </a:pPr>
            <a:r>
              <a:rPr lang="zh-CN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2164</a:t>
            </a:r>
            <a:r>
              <a:rPr lang="zh-CN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64K×1bit</a:t>
            </a:r>
            <a:r>
              <a:rPr lang="zh-CN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544604" y="142875"/>
            <a:ext cx="26516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DRAM</a:t>
            </a:r>
            <a:r>
              <a:rPr lang="zh-CN" altLang="en-US" sz="3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外特性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293234" y="212842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DRAM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时序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034" name="Picture 2" descr="http://inews.gtimg.com/newsapp_bt/0/14879596445/64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34" y="692696"/>
            <a:ext cx="842168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311947" y="565787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/>
              <a:t>当</a:t>
            </a:r>
            <a:r>
              <a:rPr lang="en-US" altLang="zh-CN" sz="2800" dirty="0"/>
              <a:t>RAS</a:t>
            </a:r>
            <a:r>
              <a:rPr lang="zh-CN" altLang="en-US" sz="2800" dirty="0"/>
              <a:t>为低电平时，整</a:t>
            </a:r>
            <a:r>
              <a:rPr lang="zh-CN" altLang="en-US" sz="2800" dirty="0" smtClean="0"/>
              <a:t>行所有</a:t>
            </a:r>
            <a:r>
              <a:rPr lang="zh-CN" altLang="en-US" sz="2800" dirty="0"/>
              <a:t>单元都</a:t>
            </a:r>
            <a:r>
              <a:rPr lang="zh-CN" altLang="en-US" sz="2800" dirty="0" smtClean="0"/>
              <a:t>被读入放大器，有一个充电过程，时间较长，所以</a:t>
            </a:r>
            <a:r>
              <a:rPr lang="en-US" altLang="zh-CN" sz="2800" dirty="0" smtClean="0"/>
              <a:t>CAS</a:t>
            </a:r>
            <a:r>
              <a:rPr lang="zh-CN" altLang="en-US" sz="2800" dirty="0" smtClean="0"/>
              <a:t>要延迟一段时间，所以</a:t>
            </a:r>
            <a:r>
              <a:rPr lang="en-US" altLang="zh-CN" sz="2800" dirty="0" smtClean="0"/>
              <a:t>DRAM</a:t>
            </a:r>
            <a:r>
              <a:rPr lang="zh-CN" altLang="en-US" sz="2800" dirty="0" smtClean="0"/>
              <a:t>读写慢，</a:t>
            </a:r>
            <a:r>
              <a:rPr lang="zh-CN" altLang="en-US" sz="2800" b="0" dirty="0"/>
              <a:t>不超过</a:t>
            </a:r>
            <a:r>
              <a:rPr lang="en-US" altLang="zh-CN" sz="2800" b="0" dirty="0" smtClean="0"/>
              <a:t>66MHz</a:t>
            </a:r>
            <a:r>
              <a:rPr lang="zh-CN" altLang="en-US" sz="2800" b="0" dirty="0" smtClean="0"/>
              <a:t>。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82" name="Rectangle 271"/>
          <p:cNvSpPr>
            <a:spLocks noChangeArrowheads="1"/>
          </p:cNvSpPr>
          <p:nvPr/>
        </p:nvSpPr>
        <p:spPr bwMode="auto">
          <a:xfrm>
            <a:off x="5322888" y="6181725"/>
            <a:ext cx="161925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96" name="Rectangle 427"/>
          <p:cNvSpPr>
            <a:spLocks noChangeArrowheads="1"/>
          </p:cNvSpPr>
          <p:nvPr/>
        </p:nvSpPr>
        <p:spPr bwMode="auto">
          <a:xfrm>
            <a:off x="5543550" y="6167438"/>
            <a:ext cx="161925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97" name="Rectangle 507"/>
          <p:cNvSpPr>
            <a:spLocks noChangeArrowheads="1"/>
          </p:cNvSpPr>
          <p:nvPr/>
        </p:nvSpPr>
        <p:spPr bwMode="auto">
          <a:xfrm>
            <a:off x="4311650" y="6138863"/>
            <a:ext cx="161925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804" name="Rectangle 561"/>
          <p:cNvSpPr>
            <a:spLocks noChangeArrowheads="1"/>
          </p:cNvSpPr>
          <p:nvPr/>
        </p:nvSpPr>
        <p:spPr bwMode="auto">
          <a:xfrm>
            <a:off x="6056313" y="6108700"/>
            <a:ext cx="161925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 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14" name="Rectangle 63"/>
          <p:cNvSpPr>
            <a:spLocks noChangeArrowheads="1"/>
          </p:cNvSpPr>
          <p:nvPr/>
        </p:nvSpPr>
        <p:spPr bwMode="auto">
          <a:xfrm>
            <a:off x="4270711" y="980729"/>
            <a:ext cx="1201875" cy="4905060"/>
          </a:xfrm>
          <a:prstGeom prst="rect">
            <a:avLst/>
          </a:prstGeom>
          <a:solidFill>
            <a:srgbClr val="666699"/>
          </a:solidFill>
          <a:ln w="14351">
            <a:solidFill>
              <a:schemeClr val="tx1"/>
            </a:solidFill>
            <a:miter lim="800000"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15" name="Rectangle 7"/>
          <p:cNvSpPr>
            <a:spLocks noChangeArrowheads="1"/>
          </p:cNvSpPr>
          <p:nvPr/>
        </p:nvSpPr>
        <p:spPr bwMode="auto">
          <a:xfrm>
            <a:off x="2897974" y="3140140"/>
            <a:ext cx="761122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    RAS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16" name="Rectangle 9"/>
          <p:cNvSpPr>
            <a:spLocks noChangeArrowheads="1"/>
          </p:cNvSpPr>
          <p:nvPr/>
        </p:nvSpPr>
        <p:spPr bwMode="auto">
          <a:xfrm>
            <a:off x="2892148" y="3412534"/>
            <a:ext cx="761122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    CAS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17" name="Rectangle 12"/>
          <p:cNvSpPr>
            <a:spLocks noChangeArrowheads="1"/>
          </p:cNvSpPr>
          <p:nvPr/>
        </p:nvSpPr>
        <p:spPr bwMode="auto">
          <a:xfrm>
            <a:off x="3084371" y="427314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A7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18" name="Rectangle 13"/>
          <p:cNvSpPr>
            <a:spLocks noChangeArrowheads="1"/>
          </p:cNvSpPr>
          <p:nvPr/>
        </p:nvSpPr>
        <p:spPr bwMode="auto">
          <a:xfrm>
            <a:off x="3299892" y="427314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～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19" name="Rectangle 14"/>
          <p:cNvSpPr>
            <a:spLocks noChangeArrowheads="1"/>
          </p:cNvSpPr>
          <p:nvPr/>
        </p:nvSpPr>
        <p:spPr bwMode="auto">
          <a:xfrm>
            <a:off x="3515415" y="427314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A0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20" name="Rectangle 17"/>
          <p:cNvSpPr>
            <a:spLocks noChangeArrowheads="1"/>
          </p:cNvSpPr>
          <p:nvPr/>
        </p:nvSpPr>
        <p:spPr bwMode="auto">
          <a:xfrm>
            <a:off x="3354258" y="4547507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或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21" name="Rectangle 22"/>
          <p:cNvSpPr>
            <a:spLocks noChangeArrowheads="1"/>
          </p:cNvSpPr>
          <p:nvPr/>
        </p:nvSpPr>
        <p:spPr bwMode="auto">
          <a:xfrm>
            <a:off x="2886324" y="5260074"/>
            <a:ext cx="326195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A15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22" name="Rectangle 23"/>
          <p:cNvSpPr>
            <a:spLocks noChangeArrowheads="1"/>
          </p:cNvSpPr>
          <p:nvPr/>
        </p:nvSpPr>
        <p:spPr bwMode="auto">
          <a:xfrm>
            <a:off x="3210577" y="5260074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～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23" name="Rectangle 24"/>
          <p:cNvSpPr>
            <a:spLocks noChangeArrowheads="1"/>
          </p:cNvSpPr>
          <p:nvPr/>
        </p:nvSpPr>
        <p:spPr bwMode="auto">
          <a:xfrm>
            <a:off x="3426099" y="5260074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A8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24" name="Rectangle 30"/>
          <p:cNvSpPr>
            <a:spLocks noChangeArrowheads="1"/>
          </p:cNvSpPr>
          <p:nvPr/>
        </p:nvSpPr>
        <p:spPr bwMode="auto">
          <a:xfrm>
            <a:off x="7505481" y="1728824"/>
            <a:ext cx="1098967" cy="2763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校验位标志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25" name="Rectangle 40"/>
          <p:cNvSpPr>
            <a:spLocks noChangeArrowheads="1"/>
          </p:cNvSpPr>
          <p:nvPr/>
        </p:nvSpPr>
        <p:spPr bwMode="auto">
          <a:xfrm>
            <a:off x="7620038" y="4281035"/>
            <a:ext cx="869854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总线数据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26" name="Rectangle 46"/>
          <p:cNvSpPr>
            <a:spLocks noChangeArrowheads="1"/>
          </p:cNvSpPr>
          <p:nvPr/>
        </p:nvSpPr>
        <p:spPr bwMode="auto">
          <a:xfrm>
            <a:off x="5614325" y="5301524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D7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27" name="Rectangle 48"/>
          <p:cNvSpPr>
            <a:spLocks noChangeArrowheads="1"/>
          </p:cNvSpPr>
          <p:nvPr/>
        </p:nvSpPr>
        <p:spPr bwMode="auto">
          <a:xfrm>
            <a:off x="6117210" y="5301524"/>
            <a:ext cx="1957171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D0              D7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28" name="Rectangle 56"/>
          <p:cNvSpPr>
            <a:spLocks noChangeArrowheads="1"/>
          </p:cNvSpPr>
          <p:nvPr/>
        </p:nvSpPr>
        <p:spPr bwMode="auto">
          <a:xfrm>
            <a:off x="5556076" y="1345894"/>
            <a:ext cx="1087317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校验位写入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29" name="Rectangle 61"/>
          <p:cNvSpPr>
            <a:spLocks noChangeArrowheads="1"/>
          </p:cNvSpPr>
          <p:nvPr/>
        </p:nvSpPr>
        <p:spPr bwMode="auto">
          <a:xfrm>
            <a:off x="5556076" y="2494685"/>
            <a:ext cx="1087317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校验位读出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30" name="Rectangle 78"/>
          <p:cNvSpPr>
            <a:spLocks noChangeArrowheads="1"/>
          </p:cNvSpPr>
          <p:nvPr/>
        </p:nvSpPr>
        <p:spPr bwMode="auto">
          <a:xfrm>
            <a:off x="4090140" y="1164298"/>
            <a:ext cx="1201874" cy="4903087"/>
          </a:xfrm>
          <a:prstGeom prst="rect">
            <a:avLst/>
          </a:prstGeom>
          <a:solidFill>
            <a:srgbClr val="666699"/>
          </a:solidFill>
          <a:ln w="14351">
            <a:solidFill>
              <a:schemeClr val="tx1"/>
            </a:solidFill>
            <a:miter lim="800000"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31" name="Rectangle 94"/>
          <p:cNvSpPr>
            <a:spLocks noChangeArrowheads="1"/>
          </p:cNvSpPr>
          <p:nvPr/>
        </p:nvSpPr>
        <p:spPr bwMode="auto">
          <a:xfrm>
            <a:off x="3911509" y="1345894"/>
            <a:ext cx="1201874" cy="4905061"/>
          </a:xfrm>
          <a:prstGeom prst="rect">
            <a:avLst/>
          </a:prstGeom>
          <a:solidFill>
            <a:srgbClr val="666699"/>
          </a:solidFill>
          <a:ln w="14351">
            <a:solidFill>
              <a:schemeClr val="tx1"/>
            </a:solidFill>
            <a:miter lim="800000"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32" name="Rectangle 111"/>
          <p:cNvSpPr>
            <a:spLocks noChangeArrowheads="1"/>
          </p:cNvSpPr>
          <p:nvPr/>
        </p:nvSpPr>
        <p:spPr bwMode="auto">
          <a:xfrm>
            <a:off x="3732878" y="1527490"/>
            <a:ext cx="1201874" cy="4905061"/>
          </a:xfrm>
          <a:prstGeom prst="rect">
            <a:avLst/>
          </a:prstGeom>
          <a:solidFill>
            <a:srgbClr val="666699"/>
          </a:solidFill>
          <a:ln w="14351">
            <a:solidFill>
              <a:schemeClr val="tx1"/>
            </a:solidFill>
            <a:miter lim="800000"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1800" b="1" smtClean="0">
              <a:solidFill>
                <a:srgbClr val="FFFFFF"/>
              </a:solidFill>
            </a:endParaRPr>
          </a:p>
        </p:txBody>
      </p:sp>
      <p:sp>
        <p:nvSpPr>
          <p:cNvPr id="115733" name="Rectangle 114"/>
          <p:cNvSpPr>
            <a:spLocks noChangeArrowheads="1"/>
          </p:cNvSpPr>
          <p:nvPr/>
        </p:nvSpPr>
        <p:spPr bwMode="auto">
          <a:xfrm>
            <a:off x="4097906" y="2220318"/>
            <a:ext cx="559192" cy="341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smtClean="0">
                <a:solidFill>
                  <a:srgbClr val="FFFFFF"/>
                </a:solidFill>
                <a:latin typeface="宋体" panose="02010600030101010101" pitchFamily="2" charset="-122"/>
              </a:rPr>
              <a:t>DRAM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34" name="Rectangle 121"/>
          <p:cNvSpPr>
            <a:spLocks noChangeArrowheads="1"/>
          </p:cNvSpPr>
          <p:nvPr/>
        </p:nvSpPr>
        <p:spPr bwMode="auto">
          <a:xfrm>
            <a:off x="3996941" y="3915869"/>
            <a:ext cx="728114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2164*9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35" name="Rectangle 129"/>
          <p:cNvSpPr>
            <a:spLocks noChangeArrowheads="1"/>
          </p:cNvSpPr>
          <p:nvPr/>
        </p:nvSpPr>
        <p:spPr bwMode="auto">
          <a:xfrm>
            <a:off x="5992945" y="1620262"/>
            <a:ext cx="1434870" cy="819154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36" name="Rectangle 130"/>
          <p:cNvSpPr>
            <a:spLocks noChangeArrowheads="1"/>
          </p:cNvSpPr>
          <p:nvPr/>
        </p:nvSpPr>
        <p:spPr bwMode="auto">
          <a:xfrm>
            <a:off x="6309432" y="1728824"/>
            <a:ext cx="869854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奇偶校验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37" name="Rectangle 132"/>
          <p:cNvSpPr>
            <a:spLocks noChangeArrowheads="1"/>
          </p:cNvSpPr>
          <p:nvPr/>
        </p:nvSpPr>
        <p:spPr bwMode="auto">
          <a:xfrm>
            <a:off x="6521071" y="2020957"/>
            <a:ext cx="446577" cy="2763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逻辑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grpSp>
        <p:nvGrpSpPr>
          <p:cNvPr id="115738" name="Group 137"/>
          <p:cNvGrpSpPr/>
          <p:nvPr/>
        </p:nvGrpSpPr>
        <p:grpSpPr bwMode="auto">
          <a:xfrm>
            <a:off x="7408399" y="1965688"/>
            <a:ext cx="485410" cy="128302"/>
            <a:chOff x="4166" y="1012"/>
            <a:chExt cx="250" cy="65"/>
          </a:xfrm>
        </p:grpSpPr>
        <p:sp>
          <p:nvSpPr>
            <p:cNvPr id="115841" name="Line 135"/>
            <p:cNvSpPr>
              <a:spLocks noChangeShapeType="1"/>
            </p:cNvSpPr>
            <p:nvPr/>
          </p:nvSpPr>
          <p:spPr bwMode="auto">
            <a:xfrm>
              <a:off x="4166" y="1040"/>
              <a:ext cx="204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42" name="Freeform 136"/>
            <p:cNvSpPr/>
            <p:nvPr/>
          </p:nvSpPr>
          <p:spPr bwMode="auto">
            <a:xfrm>
              <a:off x="4351" y="1012"/>
              <a:ext cx="65" cy="65"/>
            </a:xfrm>
            <a:custGeom>
              <a:avLst/>
              <a:gdLst>
                <a:gd name="T0" fmla="*/ 0 w 65"/>
                <a:gd name="T1" fmla="*/ 65 h 65"/>
                <a:gd name="T2" fmla="*/ 65 w 65"/>
                <a:gd name="T3" fmla="*/ 37 h 65"/>
                <a:gd name="T4" fmla="*/ 0 w 65"/>
                <a:gd name="T5" fmla="*/ 0 h 65"/>
                <a:gd name="T6" fmla="*/ 0 w 65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0" y="65"/>
                  </a:moveTo>
                  <a:lnTo>
                    <a:pt x="65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grpSp>
        <p:nvGrpSpPr>
          <p:cNvPr id="115739" name="Group 140"/>
          <p:cNvGrpSpPr/>
          <p:nvPr/>
        </p:nvGrpSpPr>
        <p:grpSpPr bwMode="auto">
          <a:xfrm>
            <a:off x="5453170" y="2111754"/>
            <a:ext cx="539775" cy="128302"/>
            <a:chOff x="3159" y="1086"/>
            <a:chExt cx="278" cy="65"/>
          </a:xfrm>
        </p:grpSpPr>
        <p:sp>
          <p:nvSpPr>
            <p:cNvPr id="115839" name="Line 138"/>
            <p:cNvSpPr>
              <a:spLocks noChangeShapeType="1"/>
            </p:cNvSpPr>
            <p:nvPr/>
          </p:nvSpPr>
          <p:spPr bwMode="auto">
            <a:xfrm>
              <a:off x="3159" y="1114"/>
              <a:ext cx="241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40" name="Freeform 139"/>
            <p:cNvSpPr/>
            <p:nvPr/>
          </p:nvSpPr>
          <p:spPr bwMode="auto">
            <a:xfrm>
              <a:off x="3381" y="1086"/>
              <a:ext cx="56" cy="65"/>
            </a:xfrm>
            <a:custGeom>
              <a:avLst/>
              <a:gdLst>
                <a:gd name="T0" fmla="*/ 0 w 56"/>
                <a:gd name="T1" fmla="*/ 65 h 65"/>
                <a:gd name="T2" fmla="*/ 56 w 56"/>
                <a:gd name="T3" fmla="*/ 37 h 65"/>
                <a:gd name="T4" fmla="*/ 0 w 56"/>
                <a:gd name="T5" fmla="*/ 0 h 65"/>
                <a:gd name="T6" fmla="*/ 0 w 5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65"/>
                <a:gd name="T14" fmla="*/ 56 w 5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65">
                  <a:moveTo>
                    <a:pt x="0" y="65"/>
                  </a:moveTo>
                  <a:lnTo>
                    <a:pt x="56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grpSp>
        <p:nvGrpSpPr>
          <p:cNvPr id="115740" name="Group 143"/>
          <p:cNvGrpSpPr/>
          <p:nvPr/>
        </p:nvGrpSpPr>
        <p:grpSpPr bwMode="auto">
          <a:xfrm>
            <a:off x="5453170" y="1837387"/>
            <a:ext cx="539775" cy="128301"/>
            <a:chOff x="3159" y="947"/>
            <a:chExt cx="278" cy="65"/>
          </a:xfrm>
        </p:grpSpPr>
        <p:sp>
          <p:nvSpPr>
            <p:cNvPr id="115837" name="Line 141"/>
            <p:cNvSpPr>
              <a:spLocks noChangeShapeType="1"/>
            </p:cNvSpPr>
            <p:nvPr/>
          </p:nvSpPr>
          <p:spPr bwMode="auto">
            <a:xfrm flipH="1">
              <a:off x="3196" y="975"/>
              <a:ext cx="241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38" name="Freeform 142"/>
            <p:cNvSpPr/>
            <p:nvPr/>
          </p:nvSpPr>
          <p:spPr bwMode="auto">
            <a:xfrm>
              <a:off x="3159" y="947"/>
              <a:ext cx="65" cy="65"/>
            </a:xfrm>
            <a:custGeom>
              <a:avLst/>
              <a:gdLst>
                <a:gd name="T0" fmla="*/ 65 w 65"/>
                <a:gd name="T1" fmla="*/ 0 h 65"/>
                <a:gd name="T2" fmla="*/ 0 w 65"/>
                <a:gd name="T3" fmla="*/ 28 h 65"/>
                <a:gd name="T4" fmla="*/ 65 w 65"/>
                <a:gd name="T5" fmla="*/ 65 h 65"/>
                <a:gd name="T6" fmla="*/ 65 w 65"/>
                <a:gd name="T7" fmla="*/ 0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65" y="0"/>
                  </a:moveTo>
                  <a:lnTo>
                    <a:pt x="0" y="28"/>
                  </a:lnTo>
                  <a:lnTo>
                    <a:pt x="65" y="65"/>
                  </a:lnTo>
                  <a:lnTo>
                    <a:pt x="65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41" name="Rectangle 144"/>
          <p:cNvSpPr>
            <a:spLocks noChangeArrowheads="1"/>
          </p:cNvSpPr>
          <p:nvPr/>
        </p:nvSpPr>
        <p:spPr bwMode="auto">
          <a:xfrm>
            <a:off x="6045369" y="4427102"/>
            <a:ext cx="1434871" cy="821129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42" name="Rectangle 145"/>
          <p:cNvSpPr>
            <a:spLocks noChangeArrowheads="1"/>
          </p:cNvSpPr>
          <p:nvPr/>
        </p:nvSpPr>
        <p:spPr bwMode="auto">
          <a:xfrm>
            <a:off x="6594853" y="4535664"/>
            <a:ext cx="434927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数据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43" name="Rectangle 147"/>
          <p:cNvSpPr>
            <a:spLocks noChangeArrowheads="1"/>
          </p:cNvSpPr>
          <p:nvPr/>
        </p:nvSpPr>
        <p:spPr bwMode="auto">
          <a:xfrm>
            <a:off x="6472529" y="4827796"/>
            <a:ext cx="652390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收发器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44" name="Freeform 151"/>
          <p:cNvSpPr/>
          <p:nvPr/>
        </p:nvSpPr>
        <p:spPr bwMode="auto">
          <a:xfrm>
            <a:off x="7524328" y="4663966"/>
            <a:ext cx="413570" cy="309897"/>
          </a:xfrm>
          <a:custGeom>
            <a:avLst/>
            <a:gdLst>
              <a:gd name="T0" fmla="*/ 2147483647 w 213"/>
              <a:gd name="T1" fmla="*/ 0 h 157"/>
              <a:gd name="T2" fmla="*/ 2147483647 w 213"/>
              <a:gd name="T3" fmla="*/ 2147483647 h 157"/>
              <a:gd name="T4" fmla="*/ 0 w 213"/>
              <a:gd name="T5" fmla="*/ 2147483647 h 157"/>
              <a:gd name="T6" fmla="*/ 0 w 213"/>
              <a:gd name="T7" fmla="*/ 2147483647 h 157"/>
              <a:gd name="T8" fmla="*/ 2147483647 w 213"/>
              <a:gd name="T9" fmla="*/ 2147483647 h 157"/>
              <a:gd name="T10" fmla="*/ 2147483647 w 213"/>
              <a:gd name="T11" fmla="*/ 2147483647 h 157"/>
              <a:gd name="T12" fmla="*/ 2147483647 w 213"/>
              <a:gd name="T13" fmla="*/ 2147483647 h 157"/>
              <a:gd name="T14" fmla="*/ 2147483647 w 213"/>
              <a:gd name="T15" fmla="*/ 0 h 1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3"/>
              <a:gd name="T25" fmla="*/ 0 h 157"/>
              <a:gd name="T26" fmla="*/ 213 w 213"/>
              <a:gd name="T27" fmla="*/ 157 h 15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3" h="157">
                <a:moveTo>
                  <a:pt x="157" y="0"/>
                </a:moveTo>
                <a:lnTo>
                  <a:pt x="157" y="37"/>
                </a:lnTo>
                <a:lnTo>
                  <a:pt x="0" y="37"/>
                </a:lnTo>
                <a:lnTo>
                  <a:pt x="0" y="120"/>
                </a:lnTo>
                <a:lnTo>
                  <a:pt x="157" y="120"/>
                </a:lnTo>
                <a:lnTo>
                  <a:pt x="157" y="157"/>
                </a:lnTo>
                <a:lnTo>
                  <a:pt x="213" y="74"/>
                </a:lnTo>
                <a:lnTo>
                  <a:pt x="157" y="0"/>
                </a:lnTo>
                <a:close/>
              </a:path>
            </a:pathLst>
          </a:custGeom>
          <a:solidFill>
            <a:srgbClr val="FF0000"/>
          </a:solidFill>
          <a:ln w="14288">
            <a:solidFill>
              <a:schemeClr val="tx1"/>
            </a:solidFill>
            <a:rou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45" name="Freeform 152"/>
          <p:cNvSpPr/>
          <p:nvPr/>
        </p:nvSpPr>
        <p:spPr bwMode="auto">
          <a:xfrm>
            <a:off x="5453170" y="4663966"/>
            <a:ext cx="592199" cy="309897"/>
          </a:xfrm>
          <a:custGeom>
            <a:avLst/>
            <a:gdLst>
              <a:gd name="T0" fmla="*/ 0 w 305"/>
              <a:gd name="T1" fmla="*/ 2147483647 h 157"/>
              <a:gd name="T2" fmla="*/ 2147483647 w 305"/>
              <a:gd name="T3" fmla="*/ 2147483647 h 157"/>
              <a:gd name="T4" fmla="*/ 2147483647 w 305"/>
              <a:gd name="T5" fmla="*/ 2147483647 h 157"/>
              <a:gd name="T6" fmla="*/ 2147483647 w 305"/>
              <a:gd name="T7" fmla="*/ 2147483647 h 157"/>
              <a:gd name="T8" fmla="*/ 2147483647 w 305"/>
              <a:gd name="T9" fmla="*/ 2147483647 h 157"/>
              <a:gd name="T10" fmla="*/ 2147483647 w 305"/>
              <a:gd name="T11" fmla="*/ 2147483647 h 157"/>
              <a:gd name="T12" fmla="*/ 2147483647 w 305"/>
              <a:gd name="T13" fmla="*/ 0 h 157"/>
              <a:gd name="T14" fmla="*/ 2147483647 w 305"/>
              <a:gd name="T15" fmla="*/ 2147483647 h 157"/>
              <a:gd name="T16" fmla="*/ 2147483647 w 305"/>
              <a:gd name="T17" fmla="*/ 2147483647 h 157"/>
              <a:gd name="T18" fmla="*/ 2147483647 w 305"/>
              <a:gd name="T19" fmla="*/ 0 h 157"/>
              <a:gd name="T20" fmla="*/ 0 w 305"/>
              <a:gd name="T21" fmla="*/ 2147483647 h 15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05"/>
              <a:gd name="T34" fmla="*/ 0 h 157"/>
              <a:gd name="T35" fmla="*/ 305 w 305"/>
              <a:gd name="T36" fmla="*/ 157 h 15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05" h="157">
                <a:moveTo>
                  <a:pt x="0" y="74"/>
                </a:moveTo>
                <a:lnTo>
                  <a:pt x="65" y="157"/>
                </a:lnTo>
                <a:lnTo>
                  <a:pt x="65" y="120"/>
                </a:lnTo>
                <a:lnTo>
                  <a:pt x="241" y="120"/>
                </a:lnTo>
                <a:lnTo>
                  <a:pt x="241" y="157"/>
                </a:lnTo>
                <a:lnTo>
                  <a:pt x="305" y="74"/>
                </a:lnTo>
                <a:lnTo>
                  <a:pt x="241" y="0"/>
                </a:lnTo>
                <a:lnTo>
                  <a:pt x="241" y="37"/>
                </a:lnTo>
                <a:lnTo>
                  <a:pt x="65" y="37"/>
                </a:lnTo>
                <a:lnTo>
                  <a:pt x="65" y="0"/>
                </a:lnTo>
                <a:lnTo>
                  <a:pt x="0" y="74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46" name="Freeform 153"/>
          <p:cNvSpPr/>
          <p:nvPr/>
        </p:nvSpPr>
        <p:spPr bwMode="auto">
          <a:xfrm>
            <a:off x="6583203" y="2421652"/>
            <a:ext cx="287362" cy="1184320"/>
          </a:xfrm>
          <a:custGeom>
            <a:avLst/>
            <a:gdLst>
              <a:gd name="T0" fmla="*/ 0 w 148"/>
              <a:gd name="T1" fmla="*/ 2147483647 h 600"/>
              <a:gd name="T2" fmla="*/ 2147483647 w 148"/>
              <a:gd name="T3" fmla="*/ 2147483647 h 600"/>
              <a:gd name="T4" fmla="*/ 2147483647 w 148"/>
              <a:gd name="T5" fmla="*/ 2147483647 h 600"/>
              <a:gd name="T6" fmla="*/ 2147483647 w 148"/>
              <a:gd name="T7" fmla="*/ 2147483647 h 600"/>
              <a:gd name="T8" fmla="*/ 2147483647 w 148"/>
              <a:gd name="T9" fmla="*/ 2147483647 h 600"/>
              <a:gd name="T10" fmla="*/ 2147483647 w 148"/>
              <a:gd name="T11" fmla="*/ 2147483647 h 600"/>
              <a:gd name="T12" fmla="*/ 2147483647 w 148"/>
              <a:gd name="T13" fmla="*/ 0 h 600"/>
              <a:gd name="T14" fmla="*/ 0 w 148"/>
              <a:gd name="T15" fmla="*/ 2147483647 h 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8"/>
              <a:gd name="T25" fmla="*/ 0 h 600"/>
              <a:gd name="T26" fmla="*/ 148 w 148"/>
              <a:gd name="T27" fmla="*/ 600 h 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8" h="600">
                <a:moveTo>
                  <a:pt x="0" y="148"/>
                </a:moveTo>
                <a:lnTo>
                  <a:pt x="37" y="148"/>
                </a:lnTo>
                <a:lnTo>
                  <a:pt x="37" y="600"/>
                </a:lnTo>
                <a:lnTo>
                  <a:pt x="111" y="600"/>
                </a:lnTo>
                <a:lnTo>
                  <a:pt x="111" y="148"/>
                </a:lnTo>
                <a:lnTo>
                  <a:pt x="148" y="148"/>
                </a:lnTo>
                <a:lnTo>
                  <a:pt x="74" y="0"/>
                </a:lnTo>
                <a:lnTo>
                  <a:pt x="0" y="148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47" name="Line 155"/>
          <p:cNvSpPr>
            <a:spLocks noChangeShapeType="1"/>
          </p:cNvSpPr>
          <p:nvPr/>
        </p:nvSpPr>
        <p:spPr bwMode="auto">
          <a:xfrm flipH="1">
            <a:off x="5812372" y="3605973"/>
            <a:ext cx="914512" cy="1973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48" name="Line 156"/>
          <p:cNvSpPr>
            <a:spLocks noChangeShapeType="1"/>
          </p:cNvSpPr>
          <p:nvPr/>
        </p:nvSpPr>
        <p:spPr bwMode="auto">
          <a:xfrm flipV="1">
            <a:off x="5668691" y="3442141"/>
            <a:ext cx="1942" cy="1294857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49" name="Line 157"/>
          <p:cNvSpPr>
            <a:spLocks noChangeShapeType="1"/>
          </p:cNvSpPr>
          <p:nvPr/>
        </p:nvSpPr>
        <p:spPr bwMode="auto">
          <a:xfrm>
            <a:off x="5668691" y="3442141"/>
            <a:ext cx="968878" cy="1974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50" name="Rectangle 159"/>
          <p:cNvSpPr>
            <a:spLocks noChangeArrowheads="1"/>
          </p:cNvSpPr>
          <p:nvPr/>
        </p:nvSpPr>
        <p:spPr bwMode="auto">
          <a:xfrm>
            <a:off x="251520" y="1401162"/>
            <a:ext cx="403861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R/W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51" name="Rectangle 160"/>
          <p:cNvSpPr>
            <a:spLocks noChangeArrowheads="1"/>
          </p:cNvSpPr>
          <p:nvPr/>
        </p:nvSpPr>
        <p:spPr bwMode="auto">
          <a:xfrm>
            <a:off x="731105" y="1401162"/>
            <a:ext cx="869854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控制信号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52" name="Rectangle 163"/>
          <p:cNvSpPr>
            <a:spLocks noChangeArrowheads="1"/>
          </p:cNvSpPr>
          <p:nvPr/>
        </p:nvSpPr>
        <p:spPr bwMode="auto">
          <a:xfrm>
            <a:off x="335011" y="1965688"/>
            <a:ext cx="1304781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刷新控制信号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53" name="Rectangle 172"/>
          <p:cNvSpPr>
            <a:spLocks noChangeArrowheads="1"/>
          </p:cNvSpPr>
          <p:nvPr/>
        </p:nvSpPr>
        <p:spPr bwMode="auto">
          <a:xfrm>
            <a:off x="552475" y="4245506"/>
            <a:ext cx="869854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地址总线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54" name="Rectangle 174"/>
          <p:cNvSpPr>
            <a:spLocks noChangeArrowheads="1"/>
          </p:cNvSpPr>
          <p:nvPr/>
        </p:nvSpPr>
        <p:spPr bwMode="auto">
          <a:xfrm>
            <a:off x="556358" y="4517900"/>
            <a:ext cx="326195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A19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55" name="Rectangle 175"/>
          <p:cNvSpPr>
            <a:spLocks noChangeArrowheads="1"/>
          </p:cNvSpPr>
          <p:nvPr/>
        </p:nvSpPr>
        <p:spPr bwMode="auto">
          <a:xfrm>
            <a:off x="878670" y="451790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～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56" name="Rectangle 176"/>
          <p:cNvSpPr>
            <a:spLocks noChangeArrowheads="1"/>
          </p:cNvSpPr>
          <p:nvPr/>
        </p:nvSpPr>
        <p:spPr bwMode="auto">
          <a:xfrm>
            <a:off x="1094191" y="4517900"/>
            <a:ext cx="326195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A16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57" name="Rectangle 180"/>
          <p:cNvSpPr>
            <a:spLocks noChangeArrowheads="1"/>
          </p:cNvSpPr>
          <p:nvPr/>
        </p:nvSpPr>
        <p:spPr bwMode="auto">
          <a:xfrm>
            <a:off x="608781" y="5394297"/>
            <a:ext cx="326195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A15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58" name="Rectangle 181"/>
          <p:cNvSpPr>
            <a:spLocks noChangeArrowheads="1"/>
          </p:cNvSpPr>
          <p:nvPr/>
        </p:nvSpPr>
        <p:spPr bwMode="auto">
          <a:xfrm>
            <a:off x="933036" y="5394297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～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59" name="Rectangle 182"/>
          <p:cNvSpPr>
            <a:spLocks noChangeArrowheads="1"/>
          </p:cNvSpPr>
          <p:nvPr/>
        </p:nvSpPr>
        <p:spPr bwMode="auto">
          <a:xfrm>
            <a:off x="1146616" y="5394297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A0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60" name="Rectangle 184"/>
          <p:cNvSpPr>
            <a:spLocks noChangeArrowheads="1"/>
          </p:cNvSpPr>
          <p:nvPr/>
        </p:nvSpPr>
        <p:spPr bwMode="auto">
          <a:xfrm>
            <a:off x="1847547" y="1965688"/>
            <a:ext cx="1454288" cy="765861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62" name="Rectangle 187"/>
          <p:cNvSpPr>
            <a:spLocks noChangeArrowheads="1"/>
          </p:cNvSpPr>
          <p:nvPr/>
        </p:nvSpPr>
        <p:spPr bwMode="auto">
          <a:xfrm>
            <a:off x="2156713" y="2204864"/>
            <a:ext cx="9233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800" dirty="0" smtClean="0">
                <a:solidFill>
                  <a:srgbClr val="FFFFFF"/>
                </a:solidFill>
                <a:latin typeface="宋体" panose="02010600030101010101" pitchFamily="2" charset="-122"/>
              </a:rPr>
              <a:t>刷新逻辑</a:t>
            </a:r>
            <a:endParaRPr lang="zh-CN" altLang="en-US" sz="1800" dirty="0" smtClean="0">
              <a:solidFill>
                <a:srgbClr val="FFFFFF"/>
              </a:solidFill>
            </a:endParaRPr>
          </a:p>
        </p:txBody>
      </p:sp>
      <p:grpSp>
        <p:nvGrpSpPr>
          <p:cNvPr id="115763" name="Group 194"/>
          <p:cNvGrpSpPr/>
          <p:nvPr/>
        </p:nvGrpSpPr>
        <p:grpSpPr bwMode="auto">
          <a:xfrm>
            <a:off x="3284359" y="2275586"/>
            <a:ext cx="448519" cy="128301"/>
            <a:chOff x="2042" y="1169"/>
            <a:chExt cx="231" cy="65"/>
          </a:xfrm>
        </p:grpSpPr>
        <p:sp>
          <p:nvSpPr>
            <p:cNvPr id="115835" name="Line 192"/>
            <p:cNvSpPr>
              <a:spLocks noChangeShapeType="1"/>
            </p:cNvSpPr>
            <p:nvPr/>
          </p:nvSpPr>
          <p:spPr bwMode="auto">
            <a:xfrm>
              <a:off x="2042" y="1197"/>
              <a:ext cx="194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36" name="Freeform 193"/>
            <p:cNvSpPr/>
            <p:nvPr/>
          </p:nvSpPr>
          <p:spPr bwMode="auto">
            <a:xfrm>
              <a:off x="2217" y="1169"/>
              <a:ext cx="56" cy="65"/>
            </a:xfrm>
            <a:custGeom>
              <a:avLst/>
              <a:gdLst>
                <a:gd name="T0" fmla="*/ 0 w 56"/>
                <a:gd name="T1" fmla="*/ 65 h 65"/>
                <a:gd name="T2" fmla="*/ 56 w 56"/>
                <a:gd name="T3" fmla="*/ 28 h 65"/>
                <a:gd name="T4" fmla="*/ 0 w 56"/>
                <a:gd name="T5" fmla="*/ 0 h 65"/>
                <a:gd name="T6" fmla="*/ 0 w 5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65"/>
                <a:gd name="T14" fmla="*/ 56 w 5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65">
                  <a:moveTo>
                    <a:pt x="0" y="65"/>
                  </a:moveTo>
                  <a:lnTo>
                    <a:pt x="56" y="28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64" name="Rectangle 195"/>
          <p:cNvSpPr>
            <a:spLocks noChangeArrowheads="1"/>
          </p:cNvSpPr>
          <p:nvPr/>
        </p:nvSpPr>
        <p:spPr bwMode="auto">
          <a:xfrm>
            <a:off x="1830073" y="3187513"/>
            <a:ext cx="1454286" cy="765861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65" name="Rectangle 196"/>
          <p:cNvSpPr>
            <a:spLocks noChangeArrowheads="1"/>
          </p:cNvSpPr>
          <p:nvPr/>
        </p:nvSpPr>
        <p:spPr bwMode="auto">
          <a:xfrm>
            <a:off x="2093144" y="3429580"/>
            <a:ext cx="9233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800" dirty="0" smtClean="0">
                <a:solidFill>
                  <a:srgbClr val="FFFFFF"/>
                </a:solidFill>
                <a:latin typeface="宋体" panose="02010600030101010101" pitchFamily="2" charset="-122"/>
              </a:rPr>
              <a:t>片选电路</a:t>
            </a:r>
            <a:endParaRPr lang="zh-CN" altLang="en-US" sz="1800" dirty="0" smtClean="0">
              <a:solidFill>
                <a:srgbClr val="FFFFFF"/>
              </a:solidFill>
            </a:endParaRPr>
          </a:p>
        </p:txBody>
      </p:sp>
      <p:grpSp>
        <p:nvGrpSpPr>
          <p:cNvPr id="115767" name="Group 208"/>
          <p:cNvGrpSpPr/>
          <p:nvPr/>
        </p:nvGrpSpPr>
        <p:grpSpPr bwMode="auto">
          <a:xfrm>
            <a:off x="3284359" y="3351343"/>
            <a:ext cx="448519" cy="128302"/>
            <a:chOff x="2042" y="1714"/>
            <a:chExt cx="231" cy="65"/>
          </a:xfrm>
        </p:grpSpPr>
        <p:sp>
          <p:nvSpPr>
            <p:cNvPr id="115833" name="Line 206"/>
            <p:cNvSpPr>
              <a:spLocks noChangeShapeType="1"/>
            </p:cNvSpPr>
            <p:nvPr/>
          </p:nvSpPr>
          <p:spPr bwMode="auto">
            <a:xfrm>
              <a:off x="2042" y="1742"/>
              <a:ext cx="194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34" name="Freeform 207"/>
            <p:cNvSpPr/>
            <p:nvPr/>
          </p:nvSpPr>
          <p:spPr bwMode="auto">
            <a:xfrm>
              <a:off x="2217" y="1714"/>
              <a:ext cx="56" cy="65"/>
            </a:xfrm>
            <a:custGeom>
              <a:avLst/>
              <a:gdLst>
                <a:gd name="T0" fmla="*/ 0 w 56"/>
                <a:gd name="T1" fmla="*/ 65 h 65"/>
                <a:gd name="T2" fmla="*/ 56 w 56"/>
                <a:gd name="T3" fmla="*/ 37 h 65"/>
                <a:gd name="T4" fmla="*/ 0 w 56"/>
                <a:gd name="T5" fmla="*/ 0 h 65"/>
                <a:gd name="T6" fmla="*/ 0 w 5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65"/>
                <a:gd name="T14" fmla="*/ 56 w 5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65">
                  <a:moveTo>
                    <a:pt x="0" y="65"/>
                  </a:moveTo>
                  <a:lnTo>
                    <a:pt x="56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grpSp>
        <p:nvGrpSpPr>
          <p:cNvPr id="115768" name="Group 211"/>
          <p:cNvGrpSpPr/>
          <p:nvPr/>
        </p:nvGrpSpPr>
        <p:grpSpPr bwMode="auto">
          <a:xfrm>
            <a:off x="3284359" y="3661241"/>
            <a:ext cx="448519" cy="128301"/>
            <a:chOff x="2042" y="1871"/>
            <a:chExt cx="231" cy="65"/>
          </a:xfrm>
        </p:grpSpPr>
        <p:sp>
          <p:nvSpPr>
            <p:cNvPr id="115831" name="Line 209"/>
            <p:cNvSpPr>
              <a:spLocks noChangeShapeType="1"/>
            </p:cNvSpPr>
            <p:nvPr/>
          </p:nvSpPr>
          <p:spPr bwMode="auto">
            <a:xfrm>
              <a:off x="2042" y="1899"/>
              <a:ext cx="194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32" name="Freeform 210"/>
            <p:cNvSpPr/>
            <p:nvPr/>
          </p:nvSpPr>
          <p:spPr bwMode="auto">
            <a:xfrm>
              <a:off x="2217" y="1871"/>
              <a:ext cx="56" cy="65"/>
            </a:xfrm>
            <a:custGeom>
              <a:avLst/>
              <a:gdLst>
                <a:gd name="T0" fmla="*/ 0 w 56"/>
                <a:gd name="T1" fmla="*/ 65 h 65"/>
                <a:gd name="T2" fmla="*/ 56 w 56"/>
                <a:gd name="T3" fmla="*/ 28 h 65"/>
                <a:gd name="T4" fmla="*/ 0 w 56"/>
                <a:gd name="T5" fmla="*/ 0 h 65"/>
                <a:gd name="T6" fmla="*/ 0 w 5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65"/>
                <a:gd name="T14" fmla="*/ 56 w 5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65">
                  <a:moveTo>
                    <a:pt x="0" y="65"/>
                  </a:moveTo>
                  <a:lnTo>
                    <a:pt x="56" y="28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69" name="Rectangle 212"/>
          <p:cNvSpPr>
            <a:spLocks noChangeArrowheads="1"/>
          </p:cNvSpPr>
          <p:nvPr/>
        </p:nvSpPr>
        <p:spPr bwMode="auto">
          <a:xfrm>
            <a:off x="1830073" y="4681730"/>
            <a:ext cx="1454286" cy="592160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70" name="Rectangle 213"/>
          <p:cNvSpPr>
            <a:spLocks noChangeArrowheads="1"/>
          </p:cNvSpPr>
          <p:nvPr/>
        </p:nvSpPr>
        <p:spPr bwMode="auto">
          <a:xfrm>
            <a:off x="2023822" y="4792266"/>
            <a:ext cx="11541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800" dirty="0" smtClean="0">
                <a:solidFill>
                  <a:srgbClr val="FFFFFF"/>
                </a:solidFill>
                <a:latin typeface="宋体" panose="02010600030101010101" pitchFamily="2" charset="-122"/>
              </a:rPr>
              <a:t>地址多路器</a:t>
            </a:r>
            <a:endParaRPr lang="zh-CN" altLang="en-US" sz="1800" dirty="0" smtClean="0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dirty="0" smtClean="0">
              <a:solidFill>
                <a:srgbClr val="FFFFFF"/>
              </a:solidFill>
            </a:endParaRPr>
          </a:p>
        </p:txBody>
      </p:sp>
      <p:sp>
        <p:nvSpPr>
          <p:cNvPr id="115771" name="Freeform 223"/>
          <p:cNvSpPr/>
          <p:nvPr/>
        </p:nvSpPr>
        <p:spPr bwMode="auto">
          <a:xfrm>
            <a:off x="3264943" y="4900830"/>
            <a:ext cx="467935" cy="309897"/>
          </a:xfrm>
          <a:custGeom>
            <a:avLst/>
            <a:gdLst>
              <a:gd name="T0" fmla="*/ 2147483647 w 241"/>
              <a:gd name="T1" fmla="*/ 0 h 157"/>
              <a:gd name="T2" fmla="*/ 2147483647 w 241"/>
              <a:gd name="T3" fmla="*/ 2147483647 h 157"/>
              <a:gd name="T4" fmla="*/ 0 w 241"/>
              <a:gd name="T5" fmla="*/ 2147483647 h 157"/>
              <a:gd name="T6" fmla="*/ 0 w 241"/>
              <a:gd name="T7" fmla="*/ 2147483647 h 157"/>
              <a:gd name="T8" fmla="*/ 2147483647 w 241"/>
              <a:gd name="T9" fmla="*/ 2147483647 h 157"/>
              <a:gd name="T10" fmla="*/ 2147483647 w 241"/>
              <a:gd name="T11" fmla="*/ 2147483647 h 157"/>
              <a:gd name="T12" fmla="*/ 2147483647 w 241"/>
              <a:gd name="T13" fmla="*/ 2147483647 h 157"/>
              <a:gd name="T14" fmla="*/ 2147483647 w 241"/>
              <a:gd name="T15" fmla="*/ 0 h 1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1"/>
              <a:gd name="T25" fmla="*/ 0 h 157"/>
              <a:gd name="T26" fmla="*/ 241 w 241"/>
              <a:gd name="T27" fmla="*/ 157 h 15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1" h="157">
                <a:moveTo>
                  <a:pt x="176" y="0"/>
                </a:moveTo>
                <a:lnTo>
                  <a:pt x="176" y="37"/>
                </a:lnTo>
                <a:lnTo>
                  <a:pt x="0" y="37"/>
                </a:lnTo>
                <a:lnTo>
                  <a:pt x="0" y="120"/>
                </a:lnTo>
                <a:lnTo>
                  <a:pt x="176" y="120"/>
                </a:lnTo>
                <a:lnTo>
                  <a:pt x="176" y="157"/>
                </a:lnTo>
                <a:lnTo>
                  <a:pt x="241" y="74"/>
                </a:lnTo>
                <a:lnTo>
                  <a:pt x="176" y="0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grpSp>
        <p:nvGrpSpPr>
          <p:cNvPr id="115772" name="Group 229"/>
          <p:cNvGrpSpPr/>
          <p:nvPr/>
        </p:nvGrpSpPr>
        <p:grpSpPr bwMode="auto">
          <a:xfrm>
            <a:off x="1059242" y="2220318"/>
            <a:ext cx="807722" cy="128301"/>
            <a:chOff x="896" y="1141"/>
            <a:chExt cx="416" cy="65"/>
          </a:xfrm>
        </p:grpSpPr>
        <p:sp>
          <p:nvSpPr>
            <p:cNvPr id="115829" name="Line 227"/>
            <p:cNvSpPr>
              <a:spLocks noChangeShapeType="1"/>
            </p:cNvSpPr>
            <p:nvPr/>
          </p:nvSpPr>
          <p:spPr bwMode="auto">
            <a:xfrm>
              <a:off x="896" y="1169"/>
              <a:ext cx="369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30" name="Freeform 228"/>
            <p:cNvSpPr/>
            <p:nvPr/>
          </p:nvSpPr>
          <p:spPr bwMode="auto">
            <a:xfrm>
              <a:off x="1247" y="1141"/>
              <a:ext cx="65" cy="65"/>
            </a:xfrm>
            <a:custGeom>
              <a:avLst/>
              <a:gdLst>
                <a:gd name="T0" fmla="*/ 0 w 65"/>
                <a:gd name="T1" fmla="*/ 65 h 65"/>
                <a:gd name="T2" fmla="*/ 65 w 65"/>
                <a:gd name="T3" fmla="*/ 37 h 65"/>
                <a:gd name="T4" fmla="*/ 0 w 65"/>
                <a:gd name="T5" fmla="*/ 0 h 65"/>
                <a:gd name="T6" fmla="*/ 0 w 65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0" y="65"/>
                  </a:moveTo>
                  <a:lnTo>
                    <a:pt x="65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grpSp>
        <p:nvGrpSpPr>
          <p:cNvPr id="115773" name="Group 232"/>
          <p:cNvGrpSpPr/>
          <p:nvPr/>
        </p:nvGrpSpPr>
        <p:grpSpPr bwMode="auto">
          <a:xfrm>
            <a:off x="1059242" y="1655792"/>
            <a:ext cx="2673637" cy="128301"/>
            <a:chOff x="896" y="855"/>
            <a:chExt cx="1377" cy="65"/>
          </a:xfrm>
        </p:grpSpPr>
        <p:sp>
          <p:nvSpPr>
            <p:cNvPr id="115827" name="Line 230"/>
            <p:cNvSpPr>
              <a:spLocks noChangeShapeType="1"/>
            </p:cNvSpPr>
            <p:nvPr/>
          </p:nvSpPr>
          <p:spPr bwMode="auto">
            <a:xfrm>
              <a:off x="896" y="883"/>
              <a:ext cx="1340" cy="1"/>
            </a:xfrm>
            <a:prstGeom prst="line">
              <a:avLst/>
            </a:prstGeom>
            <a:noFill/>
            <a:ln w="1428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28" name="Freeform 231"/>
            <p:cNvSpPr/>
            <p:nvPr/>
          </p:nvSpPr>
          <p:spPr bwMode="auto">
            <a:xfrm>
              <a:off x="2217" y="855"/>
              <a:ext cx="56" cy="65"/>
            </a:xfrm>
            <a:custGeom>
              <a:avLst/>
              <a:gdLst>
                <a:gd name="T0" fmla="*/ 0 w 56"/>
                <a:gd name="T1" fmla="*/ 65 h 65"/>
                <a:gd name="T2" fmla="*/ 56 w 56"/>
                <a:gd name="T3" fmla="*/ 28 h 65"/>
                <a:gd name="T4" fmla="*/ 0 w 56"/>
                <a:gd name="T5" fmla="*/ 0 h 65"/>
                <a:gd name="T6" fmla="*/ 0 w 5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65"/>
                <a:gd name="T14" fmla="*/ 56 w 5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65">
                  <a:moveTo>
                    <a:pt x="0" y="65"/>
                  </a:moveTo>
                  <a:lnTo>
                    <a:pt x="56" y="28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74" name="Line 233"/>
          <p:cNvSpPr>
            <a:spLocks noChangeShapeType="1"/>
          </p:cNvSpPr>
          <p:nvPr/>
        </p:nvSpPr>
        <p:spPr bwMode="auto">
          <a:xfrm>
            <a:off x="1418445" y="2275586"/>
            <a:ext cx="1941" cy="1093523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grpSp>
        <p:nvGrpSpPr>
          <p:cNvPr id="115775" name="Group 236"/>
          <p:cNvGrpSpPr/>
          <p:nvPr/>
        </p:nvGrpSpPr>
        <p:grpSpPr bwMode="auto">
          <a:xfrm>
            <a:off x="1418445" y="3296075"/>
            <a:ext cx="411627" cy="128302"/>
            <a:chOff x="1081" y="1686"/>
            <a:chExt cx="212" cy="65"/>
          </a:xfrm>
        </p:grpSpPr>
        <p:sp>
          <p:nvSpPr>
            <p:cNvPr id="115825" name="Line 234"/>
            <p:cNvSpPr>
              <a:spLocks noChangeShapeType="1"/>
            </p:cNvSpPr>
            <p:nvPr/>
          </p:nvSpPr>
          <p:spPr bwMode="auto">
            <a:xfrm>
              <a:off x="1081" y="1714"/>
              <a:ext cx="166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26" name="Freeform 235"/>
            <p:cNvSpPr/>
            <p:nvPr/>
          </p:nvSpPr>
          <p:spPr bwMode="auto">
            <a:xfrm>
              <a:off x="1229" y="1686"/>
              <a:ext cx="64" cy="65"/>
            </a:xfrm>
            <a:custGeom>
              <a:avLst/>
              <a:gdLst>
                <a:gd name="T0" fmla="*/ 0 w 64"/>
                <a:gd name="T1" fmla="*/ 65 h 65"/>
                <a:gd name="T2" fmla="*/ 64 w 64"/>
                <a:gd name="T3" fmla="*/ 28 h 65"/>
                <a:gd name="T4" fmla="*/ 0 w 64"/>
                <a:gd name="T5" fmla="*/ 0 h 65"/>
                <a:gd name="T6" fmla="*/ 0 w 64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"/>
                <a:gd name="T13" fmla="*/ 0 h 65"/>
                <a:gd name="T14" fmla="*/ 64 w 64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" h="65">
                  <a:moveTo>
                    <a:pt x="0" y="65"/>
                  </a:moveTo>
                  <a:lnTo>
                    <a:pt x="64" y="28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76" name="Freeform 237"/>
          <p:cNvSpPr/>
          <p:nvPr/>
        </p:nvSpPr>
        <p:spPr bwMode="auto">
          <a:xfrm>
            <a:off x="1399029" y="3570443"/>
            <a:ext cx="431044" cy="292132"/>
          </a:xfrm>
          <a:custGeom>
            <a:avLst/>
            <a:gdLst>
              <a:gd name="T0" fmla="*/ 2147483647 w 222"/>
              <a:gd name="T1" fmla="*/ 0 h 148"/>
              <a:gd name="T2" fmla="*/ 2147483647 w 222"/>
              <a:gd name="T3" fmla="*/ 2147483647 h 148"/>
              <a:gd name="T4" fmla="*/ 0 w 222"/>
              <a:gd name="T5" fmla="*/ 2147483647 h 148"/>
              <a:gd name="T6" fmla="*/ 0 w 222"/>
              <a:gd name="T7" fmla="*/ 2147483647 h 148"/>
              <a:gd name="T8" fmla="*/ 2147483647 w 222"/>
              <a:gd name="T9" fmla="*/ 2147483647 h 148"/>
              <a:gd name="T10" fmla="*/ 2147483647 w 222"/>
              <a:gd name="T11" fmla="*/ 2147483647 h 148"/>
              <a:gd name="T12" fmla="*/ 2147483647 w 222"/>
              <a:gd name="T13" fmla="*/ 2147483647 h 148"/>
              <a:gd name="T14" fmla="*/ 2147483647 w 222"/>
              <a:gd name="T15" fmla="*/ 0 h 14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22"/>
              <a:gd name="T25" fmla="*/ 0 h 148"/>
              <a:gd name="T26" fmla="*/ 222 w 222"/>
              <a:gd name="T27" fmla="*/ 148 h 14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22" h="148">
                <a:moveTo>
                  <a:pt x="167" y="0"/>
                </a:moveTo>
                <a:lnTo>
                  <a:pt x="167" y="37"/>
                </a:lnTo>
                <a:lnTo>
                  <a:pt x="0" y="37"/>
                </a:lnTo>
                <a:lnTo>
                  <a:pt x="0" y="111"/>
                </a:lnTo>
                <a:lnTo>
                  <a:pt x="167" y="111"/>
                </a:lnTo>
                <a:lnTo>
                  <a:pt x="167" y="148"/>
                </a:lnTo>
                <a:lnTo>
                  <a:pt x="222" y="74"/>
                </a:lnTo>
                <a:lnTo>
                  <a:pt x="167" y="0"/>
                </a:lnTo>
                <a:close/>
              </a:path>
            </a:pathLst>
          </a:custGeom>
          <a:solidFill>
            <a:srgbClr val="FF0000"/>
          </a:solidFill>
          <a:ln w="14288">
            <a:solidFill>
              <a:schemeClr val="tx1"/>
            </a:solidFill>
            <a:rou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77" name="Freeform 238"/>
          <p:cNvSpPr/>
          <p:nvPr/>
        </p:nvSpPr>
        <p:spPr bwMode="auto">
          <a:xfrm>
            <a:off x="340835" y="4900830"/>
            <a:ext cx="1489237" cy="254628"/>
          </a:xfrm>
          <a:custGeom>
            <a:avLst/>
            <a:gdLst>
              <a:gd name="T0" fmla="*/ 2147483647 w 767"/>
              <a:gd name="T1" fmla="*/ 0 h 129"/>
              <a:gd name="T2" fmla="*/ 2147483647 w 767"/>
              <a:gd name="T3" fmla="*/ 2147483647 h 129"/>
              <a:gd name="T4" fmla="*/ 0 w 767"/>
              <a:gd name="T5" fmla="*/ 2147483647 h 129"/>
              <a:gd name="T6" fmla="*/ 0 w 767"/>
              <a:gd name="T7" fmla="*/ 2147483647 h 129"/>
              <a:gd name="T8" fmla="*/ 2147483647 w 767"/>
              <a:gd name="T9" fmla="*/ 2147483647 h 129"/>
              <a:gd name="T10" fmla="*/ 2147483647 w 767"/>
              <a:gd name="T11" fmla="*/ 2147483647 h 129"/>
              <a:gd name="T12" fmla="*/ 2147483647 w 767"/>
              <a:gd name="T13" fmla="*/ 2147483647 h 129"/>
              <a:gd name="T14" fmla="*/ 2147483647 w 767"/>
              <a:gd name="T15" fmla="*/ 0 h 12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67"/>
              <a:gd name="T25" fmla="*/ 0 h 129"/>
              <a:gd name="T26" fmla="*/ 767 w 767"/>
              <a:gd name="T27" fmla="*/ 129 h 12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67" h="129">
                <a:moveTo>
                  <a:pt x="693" y="0"/>
                </a:moveTo>
                <a:lnTo>
                  <a:pt x="693" y="28"/>
                </a:lnTo>
                <a:lnTo>
                  <a:pt x="0" y="28"/>
                </a:lnTo>
                <a:lnTo>
                  <a:pt x="0" y="102"/>
                </a:lnTo>
                <a:lnTo>
                  <a:pt x="693" y="102"/>
                </a:lnTo>
                <a:lnTo>
                  <a:pt x="693" y="129"/>
                </a:lnTo>
                <a:lnTo>
                  <a:pt x="767" y="65"/>
                </a:lnTo>
                <a:lnTo>
                  <a:pt x="693" y="0"/>
                </a:lnTo>
                <a:close/>
              </a:path>
            </a:pathLst>
          </a:custGeom>
          <a:solidFill>
            <a:srgbClr val="FF0000"/>
          </a:solidFill>
          <a:ln w="14288">
            <a:solidFill>
              <a:schemeClr val="tx1"/>
            </a:solidFill>
            <a:rou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80" name="Rectangle 242"/>
          <p:cNvSpPr>
            <a:spLocks noChangeArrowheads="1"/>
          </p:cNvSpPr>
          <p:nvPr/>
        </p:nvSpPr>
        <p:spPr bwMode="auto">
          <a:xfrm>
            <a:off x="7511306" y="1728824"/>
            <a:ext cx="1087317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校验位标志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81" name="Rectangle 261"/>
          <p:cNvSpPr>
            <a:spLocks noChangeArrowheads="1"/>
          </p:cNvSpPr>
          <p:nvPr/>
        </p:nvSpPr>
        <p:spPr bwMode="auto">
          <a:xfrm>
            <a:off x="5614325" y="5301524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D7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sp>
        <p:nvSpPr>
          <p:cNvPr id="115783" name="Rectangle 364"/>
          <p:cNvSpPr>
            <a:spLocks noChangeArrowheads="1"/>
          </p:cNvSpPr>
          <p:nvPr/>
        </p:nvSpPr>
        <p:spPr bwMode="auto">
          <a:xfrm>
            <a:off x="6526895" y="2020957"/>
            <a:ext cx="434927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逻辑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grpSp>
        <p:nvGrpSpPr>
          <p:cNvPr id="115784" name="Group 372"/>
          <p:cNvGrpSpPr/>
          <p:nvPr/>
        </p:nvGrpSpPr>
        <p:grpSpPr bwMode="auto">
          <a:xfrm>
            <a:off x="7408399" y="1965688"/>
            <a:ext cx="485410" cy="128302"/>
            <a:chOff x="4166" y="1012"/>
            <a:chExt cx="250" cy="65"/>
          </a:xfrm>
        </p:grpSpPr>
        <p:sp>
          <p:nvSpPr>
            <p:cNvPr id="115823" name="Line 370"/>
            <p:cNvSpPr>
              <a:spLocks noChangeShapeType="1"/>
            </p:cNvSpPr>
            <p:nvPr/>
          </p:nvSpPr>
          <p:spPr bwMode="auto">
            <a:xfrm>
              <a:off x="4166" y="1040"/>
              <a:ext cx="204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24" name="Freeform 371"/>
            <p:cNvSpPr/>
            <p:nvPr/>
          </p:nvSpPr>
          <p:spPr bwMode="auto">
            <a:xfrm>
              <a:off x="4351" y="1012"/>
              <a:ext cx="65" cy="65"/>
            </a:xfrm>
            <a:custGeom>
              <a:avLst/>
              <a:gdLst>
                <a:gd name="T0" fmla="*/ 0 w 65"/>
                <a:gd name="T1" fmla="*/ 65 h 65"/>
                <a:gd name="T2" fmla="*/ 65 w 65"/>
                <a:gd name="T3" fmla="*/ 37 h 65"/>
                <a:gd name="T4" fmla="*/ 0 w 65"/>
                <a:gd name="T5" fmla="*/ 0 h 65"/>
                <a:gd name="T6" fmla="*/ 0 w 65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0" y="65"/>
                  </a:moveTo>
                  <a:lnTo>
                    <a:pt x="65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grpSp>
        <p:nvGrpSpPr>
          <p:cNvPr id="115785" name="Group 375"/>
          <p:cNvGrpSpPr/>
          <p:nvPr/>
        </p:nvGrpSpPr>
        <p:grpSpPr bwMode="auto">
          <a:xfrm>
            <a:off x="5453170" y="2111754"/>
            <a:ext cx="539775" cy="128302"/>
            <a:chOff x="3159" y="1086"/>
            <a:chExt cx="278" cy="65"/>
          </a:xfrm>
        </p:grpSpPr>
        <p:sp>
          <p:nvSpPr>
            <p:cNvPr id="115821" name="Line 373"/>
            <p:cNvSpPr>
              <a:spLocks noChangeShapeType="1"/>
            </p:cNvSpPr>
            <p:nvPr/>
          </p:nvSpPr>
          <p:spPr bwMode="auto">
            <a:xfrm>
              <a:off x="3159" y="1114"/>
              <a:ext cx="241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22" name="Freeform 374"/>
            <p:cNvSpPr/>
            <p:nvPr/>
          </p:nvSpPr>
          <p:spPr bwMode="auto">
            <a:xfrm>
              <a:off x="3381" y="1086"/>
              <a:ext cx="56" cy="65"/>
            </a:xfrm>
            <a:custGeom>
              <a:avLst/>
              <a:gdLst>
                <a:gd name="T0" fmla="*/ 0 w 56"/>
                <a:gd name="T1" fmla="*/ 65 h 65"/>
                <a:gd name="T2" fmla="*/ 56 w 56"/>
                <a:gd name="T3" fmla="*/ 37 h 65"/>
                <a:gd name="T4" fmla="*/ 0 w 56"/>
                <a:gd name="T5" fmla="*/ 0 h 65"/>
                <a:gd name="T6" fmla="*/ 0 w 56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65"/>
                <a:gd name="T14" fmla="*/ 56 w 56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65">
                  <a:moveTo>
                    <a:pt x="0" y="65"/>
                  </a:moveTo>
                  <a:lnTo>
                    <a:pt x="56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grpSp>
        <p:nvGrpSpPr>
          <p:cNvPr id="115786" name="Group 378"/>
          <p:cNvGrpSpPr/>
          <p:nvPr/>
        </p:nvGrpSpPr>
        <p:grpSpPr bwMode="auto">
          <a:xfrm>
            <a:off x="5453170" y="1837387"/>
            <a:ext cx="539775" cy="128301"/>
            <a:chOff x="3159" y="947"/>
            <a:chExt cx="278" cy="65"/>
          </a:xfrm>
        </p:grpSpPr>
        <p:sp>
          <p:nvSpPr>
            <p:cNvPr id="115819" name="Line 376"/>
            <p:cNvSpPr>
              <a:spLocks noChangeShapeType="1"/>
            </p:cNvSpPr>
            <p:nvPr/>
          </p:nvSpPr>
          <p:spPr bwMode="auto">
            <a:xfrm flipH="1">
              <a:off x="3196" y="975"/>
              <a:ext cx="241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20" name="Freeform 377"/>
            <p:cNvSpPr/>
            <p:nvPr/>
          </p:nvSpPr>
          <p:spPr bwMode="auto">
            <a:xfrm>
              <a:off x="3159" y="947"/>
              <a:ext cx="65" cy="65"/>
            </a:xfrm>
            <a:custGeom>
              <a:avLst/>
              <a:gdLst>
                <a:gd name="T0" fmla="*/ 65 w 65"/>
                <a:gd name="T1" fmla="*/ 0 h 65"/>
                <a:gd name="T2" fmla="*/ 0 w 65"/>
                <a:gd name="T3" fmla="*/ 28 h 65"/>
                <a:gd name="T4" fmla="*/ 65 w 65"/>
                <a:gd name="T5" fmla="*/ 65 h 65"/>
                <a:gd name="T6" fmla="*/ 65 w 65"/>
                <a:gd name="T7" fmla="*/ 0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65" y="0"/>
                  </a:moveTo>
                  <a:lnTo>
                    <a:pt x="0" y="28"/>
                  </a:lnTo>
                  <a:lnTo>
                    <a:pt x="65" y="65"/>
                  </a:lnTo>
                  <a:lnTo>
                    <a:pt x="65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87" name="Rectangle 379"/>
          <p:cNvSpPr>
            <a:spLocks noChangeArrowheads="1"/>
          </p:cNvSpPr>
          <p:nvPr/>
        </p:nvSpPr>
        <p:spPr bwMode="auto">
          <a:xfrm>
            <a:off x="6045369" y="4427102"/>
            <a:ext cx="1434871" cy="821129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88" name="Freeform 389"/>
          <p:cNvSpPr/>
          <p:nvPr/>
        </p:nvSpPr>
        <p:spPr bwMode="auto">
          <a:xfrm>
            <a:off x="7462765" y="4663966"/>
            <a:ext cx="413570" cy="309897"/>
          </a:xfrm>
          <a:custGeom>
            <a:avLst/>
            <a:gdLst>
              <a:gd name="T0" fmla="*/ 2147483647 w 213"/>
              <a:gd name="T1" fmla="*/ 0 h 157"/>
              <a:gd name="T2" fmla="*/ 2147483647 w 213"/>
              <a:gd name="T3" fmla="*/ 2147483647 h 157"/>
              <a:gd name="T4" fmla="*/ 0 w 213"/>
              <a:gd name="T5" fmla="*/ 2147483647 h 157"/>
              <a:gd name="T6" fmla="*/ 0 w 213"/>
              <a:gd name="T7" fmla="*/ 2147483647 h 157"/>
              <a:gd name="T8" fmla="*/ 2147483647 w 213"/>
              <a:gd name="T9" fmla="*/ 2147483647 h 157"/>
              <a:gd name="T10" fmla="*/ 2147483647 w 213"/>
              <a:gd name="T11" fmla="*/ 2147483647 h 157"/>
              <a:gd name="T12" fmla="*/ 2147483647 w 213"/>
              <a:gd name="T13" fmla="*/ 2147483647 h 157"/>
              <a:gd name="T14" fmla="*/ 2147483647 w 213"/>
              <a:gd name="T15" fmla="*/ 0 h 1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3"/>
              <a:gd name="T25" fmla="*/ 0 h 157"/>
              <a:gd name="T26" fmla="*/ 213 w 213"/>
              <a:gd name="T27" fmla="*/ 157 h 15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3" h="157">
                <a:moveTo>
                  <a:pt x="157" y="0"/>
                </a:moveTo>
                <a:lnTo>
                  <a:pt x="157" y="37"/>
                </a:lnTo>
                <a:lnTo>
                  <a:pt x="0" y="37"/>
                </a:lnTo>
                <a:lnTo>
                  <a:pt x="0" y="120"/>
                </a:lnTo>
                <a:lnTo>
                  <a:pt x="157" y="120"/>
                </a:lnTo>
                <a:lnTo>
                  <a:pt x="157" y="157"/>
                </a:lnTo>
                <a:lnTo>
                  <a:pt x="213" y="74"/>
                </a:lnTo>
                <a:lnTo>
                  <a:pt x="157" y="0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89" name="Freeform 390"/>
          <p:cNvSpPr/>
          <p:nvPr/>
        </p:nvSpPr>
        <p:spPr bwMode="auto">
          <a:xfrm>
            <a:off x="5453170" y="4663966"/>
            <a:ext cx="592199" cy="309897"/>
          </a:xfrm>
          <a:custGeom>
            <a:avLst/>
            <a:gdLst>
              <a:gd name="T0" fmla="*/ 0 w 305"/>
              <a:gd name="T1" fmla="*/ 2147483647 h 157"/>
              <a:gd name="T2" fmla="*/ 2147483647 w 305"/>
              <a:gd name="T3" fmla="*/ 2147483647 h 157"/>
              <a:gd name="T4" fmla="*/ 2147483647 w 305"/>
              <a:gd name="T5" fmla="*/ 2147483647 h 157"/>
              <a:gd name="T6" fmla="*/ 2147483647 w 305"/>
              <a:gd name="T7" fmla="*/ 2147483647 h 157"/>
              <a:gd name="T8" fmla="*/ 2147483647 w 305"/>
              <a:gd name="T9" fmla="*/ 2147483647 h 157"/>
              <a:gd name="T10" fmla="*/ 2147483647 w 305"/>
              <a:gd name="T11" fmla="*/ 2147483647 h 157"/>
              <a:gd name="T12" fmla="*/ 2147483647 w 305"/>
              <a:gd name="T13" fmla="*/ 0 h 157"/>
              <a:gd name="T14" fmla="*/ 2147483647 w 305"/>
              <a:gd name="T15" fmla="*/ 2147483647 h 157"/>
              <a:gd name="T16" fmla="*/ 2147483647 w 305"/>
              <a:gd name="T17" fmla="*/ 2147483647 h 157"/>
              <a:gd name="T18" fmla="*/ 2147483647 w 305"/>
              <a:gd name="T19" fmla="*/ 0 h 157"/>
              <a:gd name="T20" fmla="*/ 0 w 305"/>
              <a:gd name="T21" fmla="*/ 2147483647 h 15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05"/>
              <a:gd name="T34" fmla="*/ 0 h 157"/>
              <a:gd name="T35" fmla="*/ 305 w 305"/>
              <a:gd name="T36" fmla="*/ 157 h 15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05" h="157">
                <a:moveTo>
                  <a:pt x="0" y="74"/>
                </a:moveTo>
                <a:lnTo>
                  <a:pt x="65" y="157"/>
                </a:lnTo>
                <a:lnTo>
                  <a:pt x="65" y="120"/>
                </a:lnTo>
                <a:lnTo>
                  <a:pt x="241" y="120"/>
                </a:lnTo>
                <a:lnTo>
                  <a:pt x="241" y="157"/>
                </a:lnTo>
                <a:lnTo>
                  <a:pt x="305" y="74"/>
                </a:lnTo>
                <a:lnTo>
                  <a:pt x="241" y="0"/>
                </a:lnTo>
                <a:lnTo>
                  <a:pt x="241" y="37"/>
                </a:lnTo>
                <a:lnTo>
                  <a:pt x="65" y="37"/>
                </a:lnTo>
                <a:lnTo>
                  <a:pt x="65" y="0"/>
                </a:lnTo>
                <a:lnTo>
                  <a:pt x="0" y="74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90" name="Line 393"/>
          <p:cNvSpPr>
            <a:spLocks noChangeShapeType="1"/>
          </p:cNvSpPr>
          <p:nvPr/>
        </p:nvSpPr>
        <p:spPr bwMode="auto">
          <a:xfrm flipH="1">
            <a:off x="5812372" y="3605973"/>
            <a:ext cx="914512" cy="1973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91" name="Line 394"/>
          <p:cNvSpPr>
            <a:spLocks noChangeShapeType="1"/>
          </p:cNvSpPr>
          <p:nvPr/>
        </p:nvSpPr>
        <p:spPr bwMode="auto">
          <a:xfrm flipV="1">
            <a:off x="5668691" y="3442141"/>
            <a:ext cx="1942" cy="1294857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92" name="Line 395"/>
          <p:cNvSpPr>
            <a:spLocks noChangeShapeType="1"/>
          </p:cNvSpPr>
          <p:nvPr/>
        </p:nvSpPr>
        <p:spPr bwMode="auto">
          <a:xfrm>
            <a:off x="5668691" y="3442141"/>
            <a:ext cx="968878" cy="1974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793" name="Rectangle 418"/>
          <p:cNvSpPr>
            <a:spLocks noChangeArrowheads="1"/>
          </p:cNvSpPr>
          <p:nvPr/>
        </p:nvSpPr>
        <p:spPr bwMode="auto">
          <a:xfrm>
            <a:off x="5849264" y="528376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～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94" name="Rectangle 420"/>
          <p:cNvSpPr>
            <a:spLocks noChangeArrowheads="1"/>
          </p:cNvSpPr>
          <p:nvPr/>
        </p:nvSpPr>
        <p:spPr bwMode="auto">
          <a:xfrm>
            <a:off x="8136514" y="528376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1400" smtClean="0">
                <a:solidFill>
                  <a:srgbClr val="FFFFFF"/>
                </a:solidFill>
                <a:latin typeface="宋体" panose="02010600030101010101" pitchFamily="2" charset="-122"/>
              </a:rPr>
              <a:t>～</a:t>
            </a: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795" name="Rectangle 421"/>
          <p:cNvSpPr>
            <a:spLocks noChangeArrowheads="1"/>
          </p:cNvSpPr>
          <p:nvPr/>
        </p:nvSpPr>
        <p:spPr bwMode="auto">
          <a:xfrm>
            <a:off x="8377277" y="5273890"/>
            <a:ext cx="217463" cy="26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400" smtClean="0">
                <a:solidFill>
                  <a:srgbClr val="FFFFFF"/>
                </a:solidFill>
                <a:latin typeface="宋体" panose="02010600030101010101" pitchFamily="2" charset="-122"/>
              </a:rPr>
              <a:t>D0</a:t>
            </a:r>
            <a:endParaRPr lang="en-US" altLang="zh-CN" sz="1800" smtClean="0">
              <a:solidFill>
                <a:srgbClr val="FFFFFF"/>
              </a:solidFill>
            </a:endParaRPr>
          </a:p>
        </p:txBody>
      </p:sp>
      <p:grpSp>
        <p:nvGrpSpPr>
          <p:cNvPr id="115798" name="Group 544"/>
          <p:cNvGrpSpPr/>
          <p:nvPr/>
        </p:nvGrpSpPr>
        <p:grpSpPr bwMode="auto">
          <a:xfrm>
            <a:off x="7408399" y="1965688"/>
            <a:ext cx="485410" cy="128302"/>
            <a:chOff x="4166" y="1012"/>
            <a:chExt cx="250" cy="65"/>
          </a:xfrm>
        </p:grpSpPr>
        <p:sp>
          <p:nvSpPr>
            <p:cNvPr id="115817" name="Line 542"/>
            <p:cNvSpPr>
              <a:spLocks noChangeShapeType="1"/>
            </p:cNvSpPr>
            <p:nvPr/>
          </p:nvSpPr>
          <p:spPr bwMode="auto">
            <a:xfrm>
              <a:off x="4166" y="1040"/>
              <a:ext cx="204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18" name="Freeform 543"/>
            <p:cNvSpPr/>
            <p:nvPr/>
          </p:nvSpPr>
          <p:spPr bwMode="auto">
            <a:xfrm>
              <a:off x="4351" y="1012"/>
              <a:ext cx="65" cy="65"/>
            </a:xfrm>
            <a:custGeom>
              <a:avLst/>
              <a:gdLst>
                <a:gd name="T0" fmla="*/ 0 w 65"/>
                <a:gd name="T1" fmla="*/ 65 h 65"/>
                <a:gd name="T2" fmla="*/ 65 w 65"/>
                <a:gd name="T3" fmla="*/ 37 h 65"/>
                <a:gd name="T4" fmla="*/ 0 w 65"/>
                <a:gd name="T5" fmla="*/ 0 h 65"/>
                <a:gd name="T6" fmla="*/ 0 w 65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0" y="65"/>
                  </a:moveTo>
                  <a:lnTo>
                    <a:pt x="65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15799" name="Line 545"/>
          <p:cNvSpPr>
            <a:spLocks noChangeShapeType="1"/>
          </p:cNvSpPr>
          <p:nvPr/>
        </p:nvSpPr>
        <p:spPr bwMode="auto">
          <a:xfrm>
            <a:off x="5453170" y="2167023"/>
            <a:ext cx="467934" cy="1974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0" name="Freeform 546"/>
          <p:cNvSpPr/>
          <p:nvPr/>
        </p:nvSpPr>
        <p:spPr bwMode="auto">
          <a:xfrm>
            <a:off x="5884213" y="2111754"/>
            <a:ext cx="108732" cy="128302"/>
          </a:xfrm>
          <a:custGeom>
            <a:avLst/>
            <a:gdLst>
              <a:gd name="T0" fmla="*/ 0 w 56"/>
              <a:gd name="T1" fmla="*/ 2147483647 h 65"/>
              <a:gd name="T2" fmla="*/ 2147483647 w 56"/>
              <a:gd name="T3" fmla="*/ 2147483647 h 65"/>
              <a:gd name="T4" fmla="*/ 0 w 56"/>
              <a:gd name="T5" fmla="*/ 0 h 65"/>
              <a:gd name="T6" fmla="*/ 0 w 56"/>
              <a:gd name="T7" fmla="*/ 2147483647 h 65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65"/>
              <a:gd name="T14" fmla="*/ 56 w 56"/>
              <a:gd name="T15" fmla="*/ 65 h 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65">
                <a:moveTo>
                  <a:pt x="0" y="65"/>
                </a:moveTo>
                <a:lnTo>
                  <a:pt x="56" y="37"/>
                </a:lnTo>
                <a:lnTo>
                  <a:pt x="0" y="0"/>
                </a:lnTo>
                <a:lnTo>
                  <a:pt x="0" y="65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1" name="Line 548"/>
          <p:cNvSpPr>
            <a:spLocks noChangeShapeType="1"/>
          </p:cNvSpPr>
          <p:nvPr/>
        </p:nvSpPr>
        <p:spPr bwMode="auto">
          <a:xfrm flipH="1">
            <a:off x="5525010" y="1892656"/>
            <a:ext cx="467935" cy="1973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2" name="Freeform 549"/>
          <p:cNvSpPr/>
          <p:nvPr/>
        </p:nvSpPr>
        <p:spPr bwMode="auto">
          <a:xfrm>
            <a:off x="5453170" y="1837387"/>
            <a:ext cx="126206" cy="128301"/>
          </a:xfrm>
          <a:custGeom>
            <a:avLst/>
            <a:gdLst>
              <a:gd name="T0" fmla="*/ 2147483647 w 65"/>
              <a:gd name="T1" fmla="*/ 0 h 65"/>
              <a:gd name="T2" fmla="*/ 0 w 65"/>
              <a:gd name="T3" fmla="*/ 2147483647 h 65"/>
              <a:gd name="T4" fmla="*/ 2147483647 w 65"/>
              <a:gd name="T5" fmla="*/ 2147483647 h 65"/>
              <a:gd name="T6" fmla="*/ 2147483647 w 65"/>
              <a:gd name="T7" fmla="*/ 0 h 65"/>
              <a:gd name="T8" fmla="*/ 0 60000 65536"/>
              <a:gd name="T9" fmla="*/ 0 60000 65536"/>
              <a:gd name="T10" fmla="*/ 0 60000 65536"/>
              <a:gd name="T11" fmla="*/ 0 60000 65536"/>
              <a:gd name="T12" fmla="*/ 0 w 65"/>
              <a:gd name="T13" fmla="*/ 0 h 65"/>
              <a:gd name="T14" fmla="*/ 65 w 65"/>
              <a:gd name="T15" fmla="*/ 65 h 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" h="65">
                <a:moveTo>
                  <a:pt x="65" y="0"/>
                </a:moveTo>
                <a:lnTo>
                  <a:pt x="0" y="28"/>
                </a:lnTo>
                <a:lnTo>
                  <a:pt x="65" y="65"/>
                </a:lnTo>
                <a:lnTo>
                  <a:pt x="65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3" name="Rectangle 551"/>
          <p:cNvSpPr>
            <a:spLocks noChangeArrowheads="1"/>
          </p:cNvSpPr>
          <p:nvPr/>
        </p:nvSpPr>
        <p:spPr bwMode="auto">
          <a:xfrm>
            <a:off x="6045369" y="4427102"/>
            <a:ext cx="1434871" cy="821129"/>
          </a:xfrm>
          <a:prstGeom prst="rect">
            <a:avLst/>
          </a:prstGeom>
          <a:noFill/>
          <a:ln w="14288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sz="1800" smtClean="0">
              <a:solidFill>
                <a:srgbClr val="FFFFFF"/>
              </a:solidFill>
            </a:endParaRPr>
          </a:p>
        </p:txBody>
      </p:sp>
      <p:sp>
        <p:nvSpPr>
          <p:cNvPr id="115805" name="Freeform 562"/>
          <p:cNvSpPr/>
          <p:nvPr/>
        </p:nvSpPr>
        <p:spPr bwMode="auto">
          <a:xfrm>
            <a:off x="7542806" y="4663966"/>
            <a:ext cx="413570" cy="309897"/>
          </a:xfrm>
          <a:custGeom>
            <a:avLst/>
            <a:gdLst>
              <a:gd name="T0" fmla="*/ 2147483647 w 213"/>
              <a:gd name="T1" fmla="*/ 0 h 157"/>
              <a:gd name="T2" fmla="*/ 2147483647 w 213"/>
              <a:gd name="T3" fmla="*/ 2147483647 h 157"/>
              <a:gd name="T4" fmla="*/ 0 w 213"/>
              <a:gd name="T5" fmla="*/ 2147483647 h 157"/>
              <a:gd name="T6" fmla="*/ 0 w 213"/>
              <a:gd name="T7" fmla="*/ 2147483647 h 157"/>
              <a:gd name="T8" fmla="*/ 2147483647 w 213"/>
              <a:gd name="T9" fmla="*/ 2147483647 h 157"/>
              <a:gd name="T10" fmla="*/ 2147483647 w 213"/>
              <a:gd name="T11" fmla="*/ 2147483647 h 157"/>
              <a:gd name="T12" fmla="*/ 2147483647 w 213"/>
              <a:gd name="T13" fmla="*/ 2147483647 h 157"/>
              <a:gd name="T14" fmla="*/ 2147483647 w 213"/>
              <a:gd name="T15" fmla="*/ 0 h 1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3"/>
              <a:gd name="T25" fmla="*/ 0 h 157"/>
              <a:gd name="T26" fmla="*/ 213 w 213"/>
              <a:gd name="T27" fmla="*/ 157 h 15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3" h="157">
                <a:moveTo>
                  <a:pt x="157" y="0"/>
                </a:moveTo>
                <a:lnTo>
                  <a:pt x="157" y="37"/>
                </a:lnTo>
                <a:lnTo>
                  <a:pt x="0" y="37"/>
                </a:lnTo>
                <a:lnTo>
                  <a:pt x="0" y="120"/>
                </a:lnTo>
                <a:lnTo>
                  <a:pt x="157" y="120"/>
                </a:lnTo>
                <a:lnTo>
                  <a:pt x="157" y="157"/>
                </a:lnTo>
                <a:lnTo>
                  <a:pt x="213" y="74"/>
                </a:lnTo>
                <a:lnTo>
                  <a:pt x="157" y="0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6" name="Freeform 563"/>
          <p:cNvSpPr/>
          <p:nvPr/>
        </p:nvSpPr>
        <p:spPr bwMode="auto">
          <a:xfrm>
            <a:off x="5453170" y="4663966"/>
            <a:ext cx="592199" cy="309897"/>
          </a:xfrm>
          <a:custGeom>
            <a:avLst/>
            <a:gdLst>
              <a:gd name="T0" fmla="*/ 0 w 305"/>
              <a:gd name="T1" fmla="*/ 2147483647 h 157"/>
              <a:gd name="T2" fmla="*/ 2147483647 w 305"/>
              <a:gd name="T3" fmla="*/ 2147483647 h 157"/>
              <a:gd name="T4" fmla="*/ 2147483647 w 305"/>
              <a:gd name="T5" fmla="*/ 2147483647 h 157"/>
              <a:gd name="T6" fmla="*/ 2147483647 w 305"/>
              <a:gd name="T7" fmla="*/ 2147483647 h 157"/>
              <a:gd name="T8" fmla="*/ 2147483647 w 305"/>
              <a:gd name="T9" fmla="*/ 2147483647 h 157"/>
              <a:gd name="T10" fmla="*/ 2147483647 w 305"/>
              <a:gd name="T11" fmla="*/ 2147483647 h 157"/>
              <a:gd name="T12" fmla="*/ 2147483647 w 305"/>
              <a:gd name="T13" fmla="*/ 0 h 157"/>
              <a:gd name="T14" fmla="*/ 2147483647 w 305"/>
              <a:gd name="T15" fmla="*/ 2147483647 h 157"/>
              <a:gd name="T16" fmla="*/ 2147483647 w 305"/>
              <a:gd name="T17" fmla="*/ 2147483647 h 157"/>
              <a:gd name="T18" fmla="*/ 2147483647 w 305"/>
              <a:gd name="T19" fmla="*/ 0 h 157"/>
              <a:gd name="T20" fmla="*/ 0 w 305"/>
              <a:gd name="T21" fmla="*/ 2147483647 h 15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05"/>
              <a:gd name="T34" fmla="*/ 0 h 157"/>
              <a:gd name="T35" fmla="*/ 305 w 305"/>
              <a:gd name="T36" fmla="*/ 157 h 15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05" h="157">
                <a:moveTo>
                  <a:pt x="0" y="74"/>
                </a:moveTo>
                <a:lnTo>
                  <a:pt x="65" y="157"/>
                </a:lnTo>
                <a:lnTo>
                  <a:pt x="65" y="120"/>
                </a:lnTo>
                <a:lnTo>
                  <a:pt x="241" y="120"/>
                </a:lnTo>
                <a:lnTo>
                  <a:pt x="241" y="157"/>
                </a:lnTo>
                <a:lnTo>
                  <a:pt x="305" y="74"/>
                </a:lnTo>
                <a:lnTo>
                  <a:pt x="241" y="0"/>
                </a:lnTo>
                <a:lnTo>
                  <a:pt x="241" y="37"/>
                </a:lnTo>
                <a:lnTo>
                  <a:pt x="65" y="37"/>
                </a:lnTo>
                <a:lnTo>
                  <a:pt x="65" y="0"/>
                </a:lnTo>
                <a:lnTo>
                  <a:pt x="0" y="74"/>
                </a:lnTo>
                <a:close/>
              </a:path>
            </a:pathLst>
          </a:cu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7" name="Line 566"/>
          <p:cNvSpPr>
            <a:spLocks noChangeShapeType="1"/>
          </p:cNvSpPr>
          <p:nvPr/>
        </p:nvSpPr>
        <p:spPr bwMode="auto">
          <a:xfrm flipH="1">
            <a:off x="5812372" y="3605973"/>
            <a:ext cx="914512" cy="1973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8" name="Line 567"/>
          <p:cNvSpPr>
            <a:spLocks noChangeShapeType="1"/>
          </p:cNvSpPr>
          <p:nvPr/>
        </p:nvSpPr>
        <p:spPr bwMode="auto">
          <a:xfrm flipV="1">
            <a:off x="5668691" y="3442141"/>
            <a:ext cx="1942" cy="1294857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09" name="Line 568"/>
          <p:cNvSpPr>
            <a:spLocks noChangeShapeType="1"/>
          </p:cNvSpPr>
          <p:nvPr/>
        </p:nvSpPr>
        <p:spPr bwMode="auto">
          <a:xfrm>
            <a:off x="5668691" y="3442141"/>
            <a:ext cx="968878" cy="1974"/>
          </a:xfrm>
          <a:prstGeom prst="line">
            <a:avLst/>
          </a:prstGeom>
          <a:noFill/>
          <a:ln w="14288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sp>
        <p:nvSpPr>
          <p:cNvPr id="115811" name="Line 569"/>
          <p:cNvSpPr>
            <a:spLocks noChangeShapeType="1"/>
          </p:cNvSpPr>
          <p:nvPr/>
        </p:nvSpPr>
        <p:spPr bwMode="auto">
          <a:xfrm flipV="1">
            <a:off x="5831788" y="3607946"/>
            <a:ext cx="1942" cy="1113261"/>
          </a:xfrm>
          <a:prstGeom prst="line">
            <a:avLst/>
          </a:prstGeom>
          <a:noFill/>
          <a:ln w="14351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FFFFFF"/>
              </a:solidFill>
            </a:endParaRPr>
          </a:p>
        </p:txBody>
      </p:sp>
      <p:grpSp>
        <p:nvGrpSpPr>
          <p:cNvPr id="115812" name="Group 570"/>
          <p:cNvGrpSpPr/>
          <p:nvPr/>
        </p:nvGrpSpPr>
        <p:grpSpPr bwMode="auto">
          <a:xfrm rot="5400000">
            <a:off x="2182311" y="4249514"/>
            <a:ext cx="734279" cy="126206"/>
            <a:chOff x="896" y="1141"/>
            <a:chExt cx="416" cy="65"/>
          </a:xfrm>
        </p:grpSpPr>
        <p:sp>
          <p:nvSpPr>
            <p:cNvPr id="115815" name="Line 571"/>
            <p:cNvSpPr>
              <a:spLocks noChangeShapeType="1"/>
            </p:cNvSpPr>
            <p:nvPr/>
          </p:nvSpPr>
          <p:spPr bwMode="auto">
            <a:xfrm>
              <a:off x="896" y="1169"/>
              <a:ext cx="369" cy="1"/>
            </a:xfrm>
            <a:prstGeom prst="line">
              <a:avLst/>
            </a:prstGeom>
            <a:noFill/>
            <a:ln w="142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15816" name="Freeform 572"/>
            <p:cNvSpPr/>
            <p:nvPr/>
          </p:nvSpPr>
          <p:spPr bwMode="auto">
            <a:xfrm>
              <a:off x="1247" y="1141"/>
              <a:ext cx="65" cy="65"/>
            </a:xfrm>
            <a:custGeom>
              <a:avLst/>
              <a:gdLst>
                <a:gd name="T0" fmla="*/ 0 w 65"/>
                <a:gd name="T1" fmla="*/ 65 h 65"/>
                <a:gd name="T2" fmla="*/ 65 w 65"/>
                <a:gd name="T3" fmla="*/ 37 h 65"/>
                <a:gd name="T4" fmla="*/ 0 w 65"/>
                <a:gd name="T5" fmla="*/ 0 h 65"/>
                <a:gd name="T6" fmla="*/ 0 w 65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"/>
                <a:gd name="T13" fmla="*/ 0 h 65"/>
                <a:gd name="T14" fmla="*/ 65 w 6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" h="65">
                  <a:moveTo>
                    <a:pt x="0" y="65"/>
                  </a:moveTo>
                  <a:lnTo>
                    <a:pt x="65" y="37"/>
                  </a:lnTo>
                  <a:lnTo>
                    <a:pt x="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132" name="矩形 131"/>
          <p:cNvSpPr/>
          <p:nvPr/>
        </p:nvSpPr>
        <p:spPr>
          <a:xfrm>
            <a:off x="3147861" y="142875"/>
            <a:ext cx="34451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DRAM</a:t>
            </a:r>
            <a:r>
              <a:rPr lang="zh-CN" altLang="en-US" sz="3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与总线连接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399029" y="3798424"/>
            <a:ext cx="90286" cy="1179386"/>
          </a:xfrm>
          <a:prstGeom prst="rect">
            <a:avLst/>
          </a:prstGeom>
          <a:solidFill>
            <a:srgbClr val="FF0000"/>
          </a:solidFill>
          <a:ln w="28575" cap="sq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293234" y="329282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DRAM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发展史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311947" y="1340768"/>
            <a:ext cx="8136904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 EDO</a:t>
            </a:r>
            <a:endParaRPr lang="en-US" altLang="zh-CN" sz="280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SDRAM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：和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的总线频率同步</a:t>
            </a:r>
            <a:endParaRPr lang="en-US" altLang="zh-CN" sz="280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 DDR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Doubledatarate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280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DDR2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...DDR5 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293234" y="329282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SDRAM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311947" y="1340768"/>
            <a:ext cx="8136904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 SDRAM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内部分为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多个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Bank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Bank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结构，各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Bank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以方式工作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当一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Bank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可能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处于预充电状态，正在经历访问延迟时，另一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Bank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可能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正在进行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读取。</a:t>
            </a:r>
            <a:endParaRPr lang="en-US" altLang="zh-CN" sz="280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 因此可做到与系统时钟（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133MHz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同步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，比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传统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DRAM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更高的时钟速度（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3X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） 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35624" y="351395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输入</a:t>
            </a:r>
            <a:r>
              <a:rPr lang="en-US" altLang="zh-CN" sz="2800" dirty="0" smtClean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输出</a:t>
            </a:r>
            <a:r>
              <a:rPr lang="en-US" altLang="zh-CN" sz="2800" dirty="0" smtClean="0">
                <a:solidFill>
                  <a:schemeClr val="tx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无条件</a:t>
            </a:r>
            <a:r>
              <a:rPr lang="en-US" altLang="zh-CN" sz="2800" dirty="0" smtClean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程序查询方式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838200" y="1133864"/>
            <a:ext cx="7239000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1009648" y="1819664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2000232" y="1819664"/>
            <a:ext cx="757238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主存</a:t>
            </a:r>
            <a:endParaRPr lang="en-US" altLang="zh-CN" dirty="0">
              <a:solidFill>
                <a:srgbClr val="FF0000"/>
              </a:solidFill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1314448" y="143866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auto">
          <a:xfrm>
            <a:off x="2300270" y="143866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 rot="5400000">
            <a:off x="4685666" y="2102509"/>
            <a:ext cx="2869013" cy="3816423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auto">
          <a:xfrm rot="5400000">
            <a:off x="5978815" y="2395351"/>
            <a:ext cx="303284" cy="3532187"/>
          </a:xfrm>
          <a:prstGeom prst="upDownArrow">
            <a:avLst>
              <a:gd name="adj1" fmla="val 52981"/>
              <a:gd name="adj2" fmla="val 44623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" name="Text Box 7"/>
          <p:cNvSpPr txBox="1">
            <a:spLocks noChangeArrowheads="1"/>
          </p:cNvSpPr>
          <p:nvPr/>
        </p:nvSpPr>
        <p:spPr bwMode="auto">
          <a:xfrm>
            <a:off x="6776866" y="4725144"/>
            <a:ext cx="1179512" cy="465931"/>
          </a:xfrm>
          <a:prstGeom prst="rect">
            <a:avLst/>
          </a:prstGeom>
          <a:solidFill>
            <a:srgbClr val="FFFF99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控制端口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/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AutoShape 8"/>
          <p:cNvSpPr>
            <a:spLocks noChangeArrowheads="1"/>
          </p:cNvSpPr>
          <p:nvPr/>
        </p:nvSpPr>
        <p:spPr bwMode="auto">
          <a:xfrm rot="5400000">
            <a:off x="6951716" y="4281307"/>
            <a:ext cx="443457" cy="328612"/>
          </a:xfrm>
          <a:prstGeom prst="rightArrow">
            <a:avLst>
              <a:gd name="adj1" fmla="val 50000"/>
              <a:gd name="adj2" fmla="val 42029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" name="Text Box 9"/>
          <p:cNvSpPr txBox="1">
            <a:spLocks noChangeArrowheads="1"/>
          </p:cNvSpPr>
          <p:nvPr/>
        </p:nvSpPr>
        <p:spPr bwMode="auto">
          <a:xfrm>
            <a:off x="5540700" y="4736612"/>
            <a:ext cx="1179513" cy="465931"/>
          </a:xfrm>
          <a:prstGeom prst="rect">
            <a:avLst/>
          </a:prstGeom>
          <a:solidFill>
            <a:srgbClr val="FFFF99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状态端口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ts val="1800"/>
              </a:spcBef>
            </a:pP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5" name="AutoShape 10"/>
          <p:cNvSpPr>
            <a:spLocks noChangeArrowheads="1"/>
          </p:cNvSpPr>
          <p:nvPr/>
        </p:nvSpPr>
        <p:spPr bwMode="auto">
          <a:xfrm rot="5400000">
            <a:off x="5774585" y="4291982"/>
            <a:ext cx="443457" cy="330200"/>
          </a:xfrm>
          <a:prstGeom prst="rightArrow">
            <a:avLst>
              <a:gd name="adj1" fmla="val 50000"/>
              <a:gd name="adj2" fmla="val 41827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4283970" y="4731516"/>
            <a:ext cx="1179513" cy="465931"/>
          </a:xfrm>
          <a:prstGeom prst="rect">
            <a:avLst/>
          </a:prstGeom>
          <a:solidFill>
            <a:srgbClr val="FFFF99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数据端口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ts val="1800"/>
              </a:spcBef>
            </a:pP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" name="AutoShape 12"/>
          <p:cNvSpPr>
            <a:spLocks noChangeArrowheads="1"/>
          </p:cNvSpPr>
          <p:nvPr/>
        </p:nvSpPr>
        <p:spPr bwMode="auto">
          <a:xfrm rot="5400000">
            <a:off x="4599198" y="4286248"/>
            <a:ext cx="444731" cy="330200"/>
          </a:xfrm>
          <a:prstGeom prst="rightArrow">
            <a:avLst>
              <a:gd name="adj1" fmla="val 50000"/>
              <a:gd name="adj2" fmla="val 41947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" name="AutoShape 13"/>
          <p:cNvSpPr>
            <a:spLocks noChangeArrowheads="1"/>
          </p:cNvSpPr>
          <p:nvPr/>
        </p:nvSpPr>
        <p:spPr bwMode="auto">
          <a:xfrm rot="5400000">
            <a:off x="5789456" y="3583816"/>
            <a:ext cx="661362" cy="346075"/>
          </a:xfrm>
          <a:prstGeom prst="leftRightArrow">
            <a:avLst>
              <a:gd name="adj1" fmla="val 62241"/>
              <a:gd name="adj2" fmla="val 49753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" name="Text Box 14"/>
          <p:cNvSpPr txBox="1">
            <a:spLocks noChangeArrowheads="1"/>
          </p:cNvSpPr>
          <p:nvPr/>
        </p:nvSpPr>
        <p:spPr bwMode="auto">
          <a:xfrm>
            <a:off x="7069024" y="2671628"/>
            <a:ext cx="635877" cy="847725"/>
          </a:xfrm>
          <a:prstGeom prst="rect">
            <a:avLst/>
          </a:prstGeom>
          <a:solidFill>
            <a:srgbClr val="CC99FF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地址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译码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" name="AutoShape 15"/>
          <p:cNvSpPr>
            <a:spLocks noChangeArrowheads="1"/>
          </p:cNvSpPr>
          <p:nvPr/>
        </p:nvSpPr>
        <p:spPr bwMode="auto">
          <a:xfrm rot="5400000">
            <a:off x="7100095" y="3574550"/>
            <a:ext cx="662637" cy="3302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4" name="Text Box 16"/>
          <p:cNvSpPr txBox="1">
            <a:spLocks noChangeArrowheads="1"/>
          </p:cNvSpPr>
          <p:nvPr/>
        </p:nvSpPr>
        <p:spPr bwMode="auto">
          <a:xfrm>
            <a:off x="5806962" y="2653788"/>
            <a:ext cx="635877" cy="847725"/>
          </a:xfrm>
          <a:prstGeom prst="rect">
            <a:avLst/>
          </a:prstGeom>
          <a:solidFill>
            <a:srgbClr val="00CCFF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缓冲</a:t>
            </a:r>
            <a:endParaRPr kumimoji="1"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Text Box 17"/>
          <p:cNvSpPr txBox="1">
            <a:spLocks noChangeArrowheads="1"/>
          </p:cNvSpPr>
          <p:nvPr/>
        </p:nvSpPr>
        <p:spPr bwMode="auto">
          <a:xfrm>
            <a:off x="4575856" y="2652995"/>
            <a:ext cx="635877" cy="849312"/>
          </a:xfrm>
          <a:prstGeom prst="rect">
            <a:avLst/>
          </a:prstGeom>
          <a:solidFill>
            <a:srgbClr val="FF99CC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控制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电路</a:t>
            </a:r>
            <a:endParaRPr kumimoji="1"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AutoShape 18"/>
          <p:cNvSpPr>
            <a:spLocks noChangeArrowheads="1"/>
          </p:cNvSpPr>
          <p:nvPr/>
        </p:nvSpPr>
        <p:spPr bwMode="auto">
          <a:xfrm rot="5400000">
            <a:off x="4553744" y="3571710"/>
            <a:ext cx="662637" cy="346075"/>
          </a:xfrm>
          <a:prstGeom prst="leftRightArrow">
            <a:avLst>
              <a:gd name="adj1" fmla="val 62241"/>
              <a:gd name="adj2" fmla="val 49849"/>
            </a:avLst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" name="AutoShape 21"/>
          <p:cNvSpPr>
            <a:spLocks noChangeArrowheads="1"/>
          </p:cNvSpPr>
          <p:nvPr/>
        </p:nvSpPr>
        <p:spPr bwMode="auto">
          <a:xfrm rot="5400000">
            <a:off x="6690676" y="1830937"/>
            <a:ext cx="1322725" cy="488950"/>
          </a:xfrm>
          <a:prstGeom prst="rightArrow">
            <a:avLst>
              <a:gd name="adj1" fmla="val 55176"/>
              <a:gd name="adj2" fmla="val 60303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8" name="Text Box 22"/>
          <p:cNvSpPr txBox="1">
            <a:spLocks noChangeArrowheads="1"/>
          </p:cNvSpPr>
          <p:nvPr/>
        </p:nvSpPr>
        <p:spPr bwMode="auto">
          <a:xfrm rot="5400000">
            <a:off x="7411509" y="1859206"/>
            <a:ext cx="600196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kumimoji="1" lang="en-US" altLang="zh-CN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AutoShape 23"/>
          <p:cNvSpPr>
            <a:spLocks noChangeArrowheads="1"/>
          </p:cNvSpPr>
          <p:nvPr/>
        </p:nvSpPr>
        <p:spPr bwMode="auto">
          <a:xfrm rot="5400000">
            <a:off x="5380319" y="1859912"/>
            <a:ext cx="1343114" cy="479425"/>
          </a:xfrm>
          <a:prstGeom prst="leftRightArrow">
            <a:avLst>
              <a:gd name="adj1" fmla="val 64815"/>
              <a:gd name="adj2" fmla="val 62999"/>
            </a:avLst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0" name="Text Box 24"/>
          <p:cNvSpPr txBox="1">
            <a:spLocks noChangeArrowheads="1"/>
          </p:cNvSpPr>
          <p:nvPr/>
        </p:nvSpPr>
        <p:spPr bwMode="auto">
          <a:xfrm rot="5400000">
            <a:off x="6199008" y="1923055"/>
            <a:ext cx="48678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DB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" name="AutoShape 25"/>
          <p:cNvSpPr>
            <a:spLocks noChangeArrowheads="1"/>
          </p:cNvSpPr>
          <p:nvPr/>
        </p:nvSpPr>
        <p:spPr bwMode="auto">
          <a:xfrm rot="5400000">
            <a:off x="4206362" y="1875577"/>
            <a:ext cx="1343114" cy="417512"/>
          </a:xfrm>
          <a:prstGeom prst="leftRightArrow">
            <a:avLst>
              <a:gd name="adj1" fmla="val 64815"/>
              <a:gd name="adj2" fmla="val 72341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" name="Text Box 26"/>
          <p:cNvSpPr txBox="1">
            <a:spLocks noChangeArrowheads="1"/>
          </p:cNvSpPr>
          <p:nvPr/>
        </p:nvSpPr>
        <p:spPr bwMode="auto">
          <a:xfrm rot="5400000">
            <a:off x="5010641" y="1898865"/>
            <a:ext cx="466394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CB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上箭头 26"/>
          <p:cNvSpPr>
            <a:spLocks noChangeArrowheads="1"/>
          </p:cNvSpPr>
          <p:nvPr/>
        </p:nvSpPr>
        <p:spPr bwMode="auto">
          <a:xfrm rot="5400000">
            <a:off x="5392579" y="2891373"/>
            <a:ext cx="286717" cy="42862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下箭头 2"/>
          <p:cNvSpPr/>
          <p:nvPr/>
        </p:nvSpPr>
        <p:spPr>
          <a:xfrm>
            <a:off x="4719501" y="5202543"/>
            <a:ext cx="296862" cy="74673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Text Box 11"/>
          <p:cNvSpPr txBox="1">
            <a:spLocks noChangeArrowheads="1"/>
          </p:cNvSpPr>
          <p:nvPr/>
        </p:nvSpPr>
        <p:spPr bwMode="auto">
          <a:xfrm>
            <a:off x="4355978" y="5949280"/>
            <a:ext cx="1179513" cy="465931"/>
          </a:xfrm>
          <a:prstGeom prst="rect">
            <a:avLst/>
          </a:prstGeom>
          <a:solidFill>
            <a:srgbClr val="FFFF99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800"/>
              </a:spcBef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外设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ts val="1800"/>
              </a:spcBef>
            </a:pP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1605776" y="1527533"/>
            <a:ext cx="602165" cy="256662"/>
          </a:xfrm>
          <a:custGeom>
            <a:avLst/>
            <a:gdLst>
              <a:gd name="connsiteX0" fmla="*/ 602165 w 602165"/>
              <a:gd name="connsiteY0" fmla="*/ 256662 h 256662"/>
              <a:gd name="connsiteX1" fmla="*/ 356839 w 602165"/>
              <a:gd name="connsiteY1" fmla="*/ 184 h 256662"/>
              <a:gd name="connsiteX2" fmla="*/ 0 w 602165"/>
              <a:gd name="connsiteY2" fmla="*/ 212057 h 256662"/>
              <a:gd name="connsiteX3" fmla="*/ 0 w 602165"/>
              <a:gd name="connsiteY3" fmla="*/ 212057 h 25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165" h="256662">
                <a:moveTo>
                  <a:pt x="602165" y="256662"/>
                </a:moveTo>
                <a:cubicBezTo>
                  <a:pt x="529682" y="132140"/>
                  <a:pt x="457200" y="7618"/>
                  <a:pt x="356839" y="184"/>
                </a:cubicBezTo>
                <a:cubicBezTo>
                  <a:pt x="256478" y="-7250"/>
                  <a:pt x="0" y="212057"/>
                  <a:pt x="0" y="212057"/>
                </a:cubicBezTo>
                <a:lnTo>
                  <a:pt x="0" y="212057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5068409" y="3546088"/>
            <a:ext cx="909217" cy="1159727"/>
          </a:xfrm>
          <a:custGeom>
            <a:avLst/>
            <a:gdLst>
              <a:gd name="connsiteX0" fmla="*/ 855142 w 909217"/>
              <a:gd name="connsiteY0" fmla="*/ 0 h 1159727"/>
              <a:gd name="connsiteX1" fmla="*/ 832839 w 909217"/>
              <a:gd name="connsiteY1" fmla="*/ 446049 h 1159727"/>
              <a:gd name="connsiteX2" fmla="*/ 119161 w 909217"/>
              <a:gd name="connsiteY2" fmla="*/ 490653 h 1159727"/>
              <a:gd name="connsiteX3" fmla="*/ 7649 w 909217"/>
              <a:gd name="connsiteY3" fmla="*/ 1159727 h 115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9217" h="1159727">
                <a:moveTo>
                  <a:pt x="855142" y="0"/>
                </a:moveTo>
                <a:cubicBezTo>
                  <a:pt x="905322" y="182137"/>
                  <a:pt x="955503" y="364274"/>
                  <a:pt x="832839" y="446049"/>
                </a:cubicBezTo>
                <a:cubicBezTo>
                  <a:pt x="710175" y="527825"/>
                  <a:pt x="256693" y="371707"/>
                  <a:pt x="119161" y="490653"/>
                </a:cubicBezTo>
                <a:cubicBezTo>
                  <a:pt x="-18371" y="609599"/>
                  <a:pt x="-5361" y="884663"/>
                  <a:pt x="7649" y="1159727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Text Box 35"/>
          <p:cNvSpPr txBox="1">
            <a:spLocks noChangeArrowheads="1"/>
          </p:cNvSpPr>
          <p:nvPr/>
        </p:nvSpPr>
        <p:spPr bwMode="auto">
          <a:xfrm>
            <a:off x="2843808" y="3789040"/>
            <a:ext cx="914400" cy="954088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</a:rPr>
              <a:t>片选电路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995648" y="964897"/>
            <a:ext cx="4884560" cy="1756001"/>
          </a:xfrm>
          <a:custGeom>
            <a:avLst/>
            <a:gdLst>
              <a:gd name="connsiteX0" fmla="*/ 152928 w 4884560"/>
              <a:gd name="connsiteY0" fmla="*/ 763542 h 1756001"/>
              <a:gd name="connsiteX1" fmla="*/ 420557 w 4884560"/>
              <a:gd name="connsiteY1" fmla="*/ 139074 h 1756001"/>
              <a:gd name="connsiteX2" fmla="*/ 3732469 w 4884560"/>
              <a:gd name="connsiteY2" fmla="*/ 83318 h 1756001"/>
              <a:gd name="connsiteX3" fmla="*/ 4747230 w 4884560"/>
              <a:gd name="connsiteY3" fmla="*/ 1109230 h 1756001"/>
              <a:gd name="connsiteX4" fmla="*/ 4847591 w 4884560"/>
              <a:gd name="connsiteY4" fmla="*/ 1756001 h 17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560" h="1756001">
                <a:moveTo>
                  <a:pt x="152928" y="763542"/>
                </a:moveTo>
                <a:cubicBezTo>
                  <a:pt x="-11553" y="507993"/>
                  <a:pt x="-176033" y="252445"/>
                  <a:pt x="420557" y="139074"/>
                </a:cubicBezTo>
                <a:cubicBezTo>
                  <a:pt x="1017147" y="25703"/>
                  <a:pt x="3011357" y="-78375"/>
                  <a:pt x="3732469" y="83318"/>
                </a:cubicBezTo>
                <a:cubicBezTo>
                  <a:pt x="4453581" y="245011"/>
                  <a:pt x="4561376" y="830450"/>
                  <a:pt x="4747230" y="1109230"/>
                </a:cubicBezTo>
                <a:cubicBezTo>
                  <a:pt x="4933084" y="1388010"/>
                  <a:pt x="4890337" y="1572005"/>
                  <a:pt x="4847591" y="1756001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AutoShape 21"/>
          <p:cNvSpPr>
            <a:spLocks noChangeArrowheads="1"/>
          </p:cNvSpPr>
          <p:nvPr/>
        </p:nvSpPr>
        <p:spPr bwMode="auto">
          <a:xfrm rot="5400000">
            <a:off x="2094471" y="2356435"/>
            <a:ext cx="2520281" cy="488950"/>
          </a:xfrm>
          <a:prstGeom prst="rightArrow">
            <a:avLst>
              <a:gd name="adj1" fmla="val 55176"/>
              <a:gd name="adj2" fmla="val 60303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" name="Text Box 22"/>
          <p:cNvSpPr txBox="1">
            <a:spLocks noChangeArrowheads="1"/>
          </p:cNvSpPr>
          <p:nvPr/>
        </p:nvSpPr>
        <p:spPr bwMode="auto">
          <a:xfrm rot="5400000">
            <a:off x="3414082" y="1785925"/>
            <a:ext cx="600196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kumimoji="1" lang="en-US" altLang="zh-CN" sz="1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>
            <a:stCxn id="88" idx="3"/>
          </p:cNvCxnSpPr>
          <p:nvPr/>
        </p:nvCxnSpPr>
        <p:spPr>
          <a:xfrm flipV="1">
            <a:off x="3758208" y="3249044"/>
            <a:ext cx="2073005" cy="101704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35624" y="351395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输入</a:t>
            </a:r>
            <a:r>
              <a:rPr lang="en-US" altLang="zh-CN" sz="2800" dirty="0" smtClean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输出</a:t>
            </a:r>
            <a:r>
              <a:rPr lang="en-US" altLang="zh-CN" sz="2800" dirty="0" smtClean="0">
                <a:solidFill>
                  <a:schemeClr val="tx1"/>
                </a:solidFill>
                <a:latin typeface="+mj-ea"/>
                <a:ea typeface="+mj-ea"/>
              </a:rPr>
              <a:t>——DMA</a:t>
            </a:r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方式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838200" y="2285992"/>
            <a:ext cx="7239000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1009648" y="2971792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2000232" y="2971792"/>
            <a:ext cx="757238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主存</a:t>
            </a:r>
            <a:endParaRPr lang="en-US" altLang="zh-CN" dirty="0">
              <a:solidFill>
                <a:srgbClr val="FF0000"/>
              </a:solidFill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1314448" y="2590792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auto">
          <a:xfrm>
            <a:off x="2300270" y="2590792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3814762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4043362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5724128" y="3631704"/>
            <a:ext cx="72008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1600" b="1" dirty="0" smtClean="0">
                <a:effectLst/>
              </a:rPr>
              <a:t>I/O</a:t>
            </a:r>
            <a:endParaRPr lang="en-US" altLang="zh-CN" sz="1600" b="1" dirty="0" smtClean="0">
              <a:effectLst/>
            </a:endParaRPr>
          </a:p>
          <a:p>
            <a:pPr algn="ctr"/>
            <a:r>
              <a:rPr lang="zh-CN" altLang="en-US" sz="1600" b="1" dirty="0" smtClean="0"/>
              <a:t>接口</a:t>
            </a:r>
            <a:endParaRPr lang="en-US" altLang="zh-CN" sz="1600" dirty="0">
              <a:effectLst/>
            </a:endParaRPr>
          </a:p>
        </p:txBody>
      </p:sp>
      <p:sp>
        <p:nvSpPr>
          <p:cNvPr id="54" name="AutoShape 16"/>
          <p:cNvSpPr>
            <a:spLocks noChangeArrowheads="1"/>
          </p:cNvSpPr>
          <p:nvPr/>
        </p:nvSpPr>
        <p:spPr bwMode="auto">
          <a:xfrm>
            <a:off x="5927576" y="256490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2698007" y="2570134"/>
            <a:ext cx="1260676" cy="418393"/>
          </a:xfrm>
          <a:custGeom>
            <a:avLst/>
            <a:gdLst>
              <a:gd name="connsiteX0" fmla="*/ 22891 w 1260676"/>
              <a:gd name="connsiteY0" fmla="*/ 407242 h 418393"/>
              <a:gd name="connsiteX1" fmla="*/ 134403 w 1260676"/>
              <a:gd name="connsiteY1" fmla="*/ 72705 h 418393"/>
              <a:gd name="connsiteX2" fmla="*/ 1048803 w 1260676"/>
              <a:gd name="connsiteY2" fmla="*/ 28100 h 418393"/>
              <a:gd name="connsiteX3" fmla="*/ 1260676 w 1260676"/>
              <a:gd name="connsiteY3" fmla="*/ 418393 h 418393"/>
              <a:gd name="connsiteX4" fmla="*/ 1260676 w 1260676"/>
              <a:gd name="connsiteY4" fmla="*/ 418393 h 418393"/>
              <a:gd name="connsiteX5" fmla="*/ 1260676 w 1260676"/>
              <a:gd name="connsiteY5" fmla="*/ 418393 h 418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0676" h="418393">
                <a:moveTo>
                  <a:pt x="22891" y="407242"/>
                </a:moveTo>
                <a:cubicBezTo>
                  <a:pt x="-6846" y="271568"/>
                  <a:pt x="-36582" y="135895"/>
                  <a:pt x="134403" y="72705"/>
                </a:cubicBezTo>
                <a:cubicBezTo>
                  <a:pt x="305388" y="9515"/>
                  <a:pt x="861091" y="-29515"/>
                  <a:pt x="1048803" y="28100"/>
                </a:cubicBezTo>
                <a:cubicBezTo>
                  <a:pt x="1236515" y="85715"/>
                  <a:pt x="1260676" y="418393"/>
                  <a:pt x="1260676" y="418393"/>
                </a:cubicBezTo>
                <a:lnTo>
                  <a:pt x="1260676" y="418393"/>
                </a:lnTo>
                <a:lnTo>
                  <a:pt x="1260676" y="418393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4360127" y="2517395"/>
            <a:ext cx="1483112" cy="1095600"/>
          </a:xfrm>
          <a:custGeom>
            <a:avLst/>
            <a:gdLst>
              <a:gd name="connsiteX0" fmla="*/ 0 w 1483112"/>
              <a:gd name="connsiteY0" fmla="*/ 404225 h 1095600"/>
              <a:gd name="connsiteX1" fmla="*/ 211873 w 1483112"/>
              <a:gd name="connsiteY1" fmla="*/ 80839 h 1095600"/>
              <a:gd name="connsiteX2" fmla="*/ 1271239 w 1483112"/>
              <a:gd name="connsiteY2" fmla="*/ 91990 h 1095600"/>
              <a:gd name="connsiteX3" fmla="*/ 1483112 w 1483112"/>
              <a:gd name="connsiteY3" fmla="*/ 1095600 h 10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112" h="1095600">
                <a:moveTo>
                  <a:pt x="0" y="404225"/>
                </a:moveTo>
                <a:cubicBezTo>
                  <a:pt x="0" y="268551"/>
                  <a:pt x="0" y="132878"/>
                  <a:pt x="211873" y="80839"/>
                </a:cubicBezTo>
                <a:cubicBezTo>
                  <a:pt x="423746" y="28800"/>
                  <a:pt x="1059366" y="-77137"/>
                  <a:pt x="1271239" y="91990"/>
                </a:cubicBezTo>
                <a:cubicBezTo>
                  <a:pt x="1483112" y="261117"/>
                  <a:pt x="1483112" y="678358"/>
                  <a:pt x="1483112" y="109560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1440" tIns="45720" rIns="91440" bIns="45720"/>
          <a:lstStyle/>
          <a:p>
            <a:r>
              <a:rPr lang="zh-CN" altLang="en-US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中断</a:t>
            </a:r>
            <a:r>
              <a:rPr lang="zh-CN" altLang="en-US" b="0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</a:t>
            </a:r>
            <a:endParaRPr lang="zh-CN" altLang="en-US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14425"/>
            <a:ext cx="7772400" cy="4916488"/>
          </a:xfrm>
        </p:spPr>
        <p:txBody>
          <a:bodyPr/>
          <a:lstStyle/>
          <a:p>
            <a:pPr marL="742950" lvl="1" indent="-285750" defTabSz="91440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楷体_GB2312"/>
                <a:ea typeface="楷体_GB2312"/>
                <a:cs typeface="楷体_GB2312"/>
              </a:rPr>
              <a:t>中断源很多</a:t>
            </a:r>
            <a:endParaRPr lang="en-US" altLang="zh-CN" sz="2800" dirty="0" smtClean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11620" name="Text Box 6"/>
          <p:cNvSpPr txBox="1">
            <a:spLocks noChangeArrowheads="1"/>
          </p:cNvSpPr>
          <p:nvPr/>
        </p:nvSpPr>
        <p:spPr bwMode="auto">
          <a:xfrm>
            <a:off x="4940300" y="3897313"/>
            <a:ext cx="698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FIQ</a:t>
            </a:r>
            <a:endParaRPr lang="en-US" altLang="zh-CN" sz="1600" smtClean="0">
              <a:solidFill>
                <a:srgbClr val="000000"/>
              </a:solidFill>
            </a:endParaRPr>
          </a:p>
        </p:txBody>
      </p:sp>
      <p:sp>
        <p:nvSpPr>
          <p:cNvPr id="111621" name="Text Box 7"/>
          <p:cNvSpPr txBox="1">
            <a:spLocks noChangeArrowheads="1"/>
          </p:cNvSpPr>
          <p:nvPr/>
        </p:nvSpPr>
        <p:spPr bwMode="auto">
          <a:xfrm>
            <a:off x="5072063" y="4522788"/>
            <a:ext cx="4953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IRQ</a:t>
            </a:r>
            <a:endParaRPr lang="en-US" altLang="zh-CN" sz="1600" smtClean="0">
              <a:solidFill>
                <a:srgbClr val="000000"/>
              </a:solidFill>
            </a:endParaRPr>
          </a:p>
        </p:txBody>
      </p:sp>
      <p:sp>
        <p:nvSpPr>
          <p:cNvPr id="111622" name="Rectangle 8"/>
          <p:cNvSpPr>
            <a:spLocks noChangeArrowheads="1"/>
          </p:cNvSpPr>
          <p:nvPr/>
        </p:nvSpPr>
        <p:spPr bwMode="auto">
          <a:xfrm>
            <a:off x="752475" y="2051050"/>
            <a:ext cx="4189413" cy="3933825"/>
          </a:xfrm>
          <a:prstGeom prst="rect">
            <a:avLst/>
          </a:prstGeom>
          <a:solidFill>
            <a:srgbClr val="339966"/>
          </a:solidFill>
          <a:ln w="9525">
            <a:solidFill>
              <a:srgbClr val="339966"/>
            </a:solidFill>
            <a:prstDash val="dash"/>
            <a:miter lim="800000"/>
          </a:ln>
        </p:spPr>
        <p:txBody>
          <a:bodyPr/>
          <a:lstStyle>
            <a:lvl1pPr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800" b="0" smtClean="0">
              <a:solidFill>
                <a:srgbClr val="000000"/>
              </a:solidFill>
            </a:endParaRPr>
          </a:p>
        </p:txBody>
      </p:sp>
      <p:sp>
        <p:nvSpPr>
          <p:cNvPr id="111623" name="Rectangle 9"/>
          <p:cNvSpPr>
            <a:spLocks noChangeArrowheads="1"/>
          </p:cNvSpPr>
          <p:nvPr/>
        </p:nvSpPr>
        <p:spPr bwMode="auto">
          <a:xfrm>
            <a:off x="3195638" y="2655888"/>
            <a:ext cx="1222375" cy="24193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n"/>
            </a:pPr>
            <a:endParaRPr lang="en-US" altLang="zh-CN" sz="1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n"/>
            </a:pPr>
            <a:endParaRPr lang="en-US" altLang="zh-CN" sz="1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n"/>
            </a:pPr>
            <a:endParaRPr lang="en-US" altLang="zh-CN" sz="1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600" smtClean="0">
                <a:solidFill>
                  <a:srgbClr val="000000"/>
                </a:solidFill>
                <a:latin typeface="Times New Roman" panose="02020603050405020304" pitchFamily="18" charset="0"/>
              </a:rPr>
              <a:t>中断逻辑</a:t>
            </a:r>
            <a:endParaRPr lang="zh-CN" altLang="en-US" sz="1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4" name="Rectangle 10"/>
          <p:cNvSpPr>
            <a:spLocks noChangeArrowheads="1"/>
          </p:cNvSpPr>
          <p:nvPr/>
        </p:nvSpPr>
        <p:spPr bwMode="auto">
          <a:xfrm>
            <a:off x="927100" y="2203450"/>
            <a:ext cx="1276350" cy="45243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lIns="0" tIns="3600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  <a:latin typeface="宋体" panose="02010600030101010101" pitchFamily="2" charset="-122"/>
              </a:rPr>
              <a:t>Reset </a:t>
            </a:r>
            <a:endParaRPr lang="zh-CN" altLang="en-US" sz="160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1625" name="Rectangle 11"/>
          <p:cNvSpPr>
            <a:spLocks noChangeArrowheads="1"/>
          </p:cNvSpPr>
          <p:nvPr/>
        </p:nvSpPr>
        <p:spPr bwMode="auto">
          <a:xfrm>
            <a:off x="927100" y="2959100"/>
            <a:ext cx="1220788" cy="454025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</a:ln>
        </p:spPr>
        <p:txBody>
          <a:bodyPr lIns="0" tIns="3600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  <a:latin typeface="宋体" panose="02010600030101010101" pitchFamily="2" charset="-122"/>
              </a:rPr>
              <a:t>DABT</a:t>
            </a:r>
            <a:endParaRPr lang="zh-CN" altLang="en-US" sz="160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1626" name="Rectangle 12"/>
          <p:cNvSpPr>
            <a:spLocks noChangeArrowheads="1"/>
          </p:cNvSpPr>
          <p:nvPr/>
        </p:nvSpPr>
        <p:spPr bwMode="auto">
          <a:xfrm>
            <a:off x="927100" y="4241800"/>
            <a:ext cx="1220788" cy="452438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</a:ln>
        </p:spPr>
        <p:txBody>
          <a:bodyPr lIns="0" tIns="3600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  <a:latin typeface="Times New Roman" panose="02020603050405020304" pitchFamily="18" charset="0"/>
              </a:rPr>
              <a:t>UDEF</a:t>
            </a:r>
            <a:endParaRPr lang="zh-CN" altLang="en-US" sz="1600" smtClean="0">
              <a:solidFill>
                <a:srgbClr val="000000"/>
              </a:solidFill>
            </a:endParaRPr>
          </a:p>
        </p:txBody>
      </p:sp>
      <p:sp>
        <p:nvSpPr>
          <p:cNvPr id="111627" name="Rectangle 13"/>
          <p:cNvSpPr>
            <a:spLocks noChangeArrowheads="1"/>
          </p:cNvSpPr>
          <p:nvPr/>
        </p:nvSpPr>
        <p:spPr bwMode="auto">
          <a:xfrm>
            <a:off x="927100" y="5011738"/>
            <a:ext cx="1220788" cy="454025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</a:ln>
        </p:spPr>
        <p:txBody>
          <a:bodyPr lIns="0" tIns="3600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  <a:latin typeface="Times New Roman" panose="02020603050405020304" pitchFamily="18" charset="0"/>
              </a:rPr>
              <a:t>SWI</a:t>
            </a:r>
            <a:endParaRPr lang="zh-CN" altLang="en-US" sz="1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8" name="Line 14"/>
          <p:cNvSpPr>
            <a:spLocks noChangeShapeType="1"/>
          </p:cNvSpPr>
          <p:nvPr/>
        </p:nvSpPr>
        <p:spPr bwMode="auto">
          <a:xfrm>
            <a:off x="2147888" y="3165475"/>
            <a:ext cx="10477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9" name="Line 15"/>
          <p:cNvSpPr>
            <a:spLocks noChangeShapeType="1"/>
          </p:cNvSpPr>
          <p:nvPr/>
        </p:nvSpPr>
        <p:spPr bwMode="auto">
          <a:xfrm>
            <a:off x="2147888" y="4470400"/>
            <a:ext cx="10477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0" name="Line 16"/>
          <p:cNvSpPr>
            <a:spLocks noChangeShapeType="1"/>
          </p:cNvSpPr>
          <p:nvPr/>
        </p:nvSpPr>
        <p:spPr bwMode="auto">
          <a:xfrm>
            <a:off x="2147888" y="5227638"/>
            <a:ext cx="5238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1" name="Line 17"/>
          <p:cNvSpPr>
            <a:spLocks noChangeShapeType="1"/>
          </p:cNvSpPr>
          <p:nvPr/>
        </p:nvSpPr>
        <p:spPr bwMode="auto">
          <a:xfrm flipV="1">
            <a:off x="2671763" y="4924425"/>
            <a:ext cx="1587" cy="303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2" name="Line 18"/>
          <p:cNvSpPr>
            <a:spLocks noChangeShapeType="1"/>
          </p:cNvSpPr>
          <p:nvPr/>
        </p:nvSpPr>
        <p:spPr bwMode="auto">
          <a:xfrm>
            <a:off x="2671763" y="4924425"/>
            <a:ext cx="52387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3" name="Line 19"/>
          <p:cNvSpPr>
            <a:spLocks noChangeShapeType="1"/>
          </p:cNvSpPr>
          <p:nvPr/>
        </p:nvSpPr>
        <p:spPr bwMode="auto">
          <a:xfrm>
            <a:off x="2203450" y="2476500"/>
            <a:ext cx="4683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4" name="Line 20"/>
          <p:cNvSpPr>
            <a:spLocks noChangeShapeType="1"/>
          </p:cNvSpPr>
          <p:nvPr/>
        </p:nvSpPr>
        <p:spPr bwMode="auto">
          <a:xfrm flipV="1">
            <a:off x="2671763" y="2474913"/>
            <a:ext cx="1587" cy="323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5" name="Line 21"/>
          <p:cNvSpPr>
            <a:spLocks noChangeShapeType="1"/>
          </p:cNvSpPr>
          <p:nvPr/>
        </p:nvSpPr>
        <p:spPr bwMode="auto">
          <a:xfrm>
            <a:off x="2671763" y="2808288"/>
            <a:ext cx="5238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6" name="Rectangle 23"/>
          <p:cNvSpPr>
            <a:spLocks noChangeArrowheads="1"/>
          </p:cNvSpPr>
          <p:nvPr/>
        </p:nvSpPr>
        <p:spPr bwMode="auto">
          <a:xfrm>
            <a:off x="6180138" y="3563938"/>
            <a:ext cx="1222375" cy="242093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n"/>
            </a:pPr>
            <a:endParaRPr lang="en-US" altLang="zh-CN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中断控</a:t>
            </a:r>
            <a:endParaRPr lang="zh-CN" altLang="en-US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制器</a:t>
            </a:r>
            <a:endParaRPr lang="zh-CN" altLang="en-US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1637" name="Line 24"/>
          <p:cNvSpPr>
            <a:spLocks noChangeShapeType="1"/>
          </p:cNvSpPr>
          <p:nvPr/>
        </p:nvSpPr>
        <p:spPr bwMode="auto">
          <a:xfrm flipH="1" flipV="1">
            <a:off x="4418013" y="4200525"/>
            <a:ext cx="10683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8" name="Line 25"/>
          <p:cNvSpPr>
            <a:spLocks noChangeShapeType="1"/>
          </p:cNvSpPr>
          <p:nvPr/>
        </p:nvSpPr>
        <p:spPr bwMode="auto">
          <a:xfrm flipH="1">
            <a:off x="4418013" y="4775200"/>
            <a:ext cx="10683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9" name="Line 26"/>
          <p:cNvSpPr>
            <a:spLocks noChangeShapeType="1"/>
          </p:cNvSpPr>
          <p:nvPr/>
        </p:nvSpPr>
        <p:spPr bwMode="auto">
          <a:xfrm flipH="1">
            <a:off x="7402513" y="3713163"/>
            <a:ext cx="522287" cy="31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40" name="Line 27"/>
          <p:cNvSpPr>
            <a:spLocks noChangeShapeType="1"/>
          </p:cNvSpPr>
          <p:nvPr/>
        </p:nvSpPr>
        <p:spPr bwMode="auto">
          <a:xfrm flipH="1">
            <a:off x="7402513" y="4017963"/>
            <a:ext cx="522287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41" name="Line 32"/>
          <p:cNvSpPr>
            <a:spLocks noChangeShapeType="1"/>
          </p:cNvSpPr>
          <p:nvPr/>
        </p:nvSpPr>
        <p:spPr bwMode="auto">
          <a:xfrm flipH="1">
            <a:off x="7402513" y="5529263"/>
            <a:ext cx="522287" cy="158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42" name="Line 33"/>
          <p:cNvSpPr>
            <a:spLocks noChangeShapeType="1"/>
          </p:cNvSpPr>
          <p:nvPr/>
        </p:nvSpPr>
        <p:spPr bwMode="auto">
          <a:xfrm flipH="1">
            <a:off x="7402513" y="5834063"/>
            <a:ext cx="522287" cy="158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43" name="Text Box 34"/>
          <p:cNvSpPr txBox="1">
            <a:spLocks noChangeArrowheads="1"/>
          </p:cNvSpPr>
          <p:nvPr/>
        </p:nvSpPr>
        <p:spPr bwMode="auto">
          <a:xfrm>
            <a:off x="2490788" y="5572125"/>
            <a:ext cx="2268537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  <a:latin typeface="宋体" panose="02010600030101010101" pitchFamily="2" charset="-122"/>
              </a:rPr>
              <a:t>ARM920</a:t>
            </a:r>
            <a:r>
              <a:rPr lang="zh-CN" altLang="en-US" sz="1600" smtClean="0">
                <a:solidFill>
                  <a:srgbClr val="000000"/>
                </a:solidFill>
                <a:latin typeface="宋体" panose="02010600030101010101" pitchFamily="2" charset="-122"/>
              </a:rPr>
              <a:t>内核</a:t>
            </a:r>
            <a:endParaRPr lang="zh-CN" altLang="en-US" sz="1600" smtClean="0">
              <a:solidFill>
                <a:srgbClr val="000000"/>
              </a:solidFill>
            </a:endParaRPr>
          </a:p>
        </p:txBody>
      </p:sp>
      <p:sp>
        <p:nvSpPr>
          <p:cNvPr id="111644" name="AutoShape 35"/>
          <p:cNvSpPr/>
          <p:nvPr/>
        </p:nvSpPr>
        <p:spPr bwMode="auto">
          <a:xfrm>
            <a:off x="8099425" y="3714750"/>
            <a:ext cx="174625" cy="2117725"/>
          </a:xfrm>
          <a:prstGeom prst="rightBrace">
            <a:avLst>
              <a:gd name="adj1" fmla="val 101061"/>
              <a:gd name="adj2" fmla="val 50000"/>
            </a:avLst>
          </a:prstGeom>
          <a:noFill/>
          <a:ln w="25400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800" b="0" smtClean="0">
              <a:solidFill>
                <a:srgbClr val="000000"/>
              </a:solidFill>
            </a:endParaRPr>
          </a:p>
        </p:txBody>
      </p:sp>
      <p:sp>
        <p:nvSpPr>
          <p:cNvPr id="111645" name="Rectangle 36"/>
          <p:cNvSpPr>
            <a:spLocks noChangeArrowheads="1"/>
          </p:cNvSpPr>
          <p:nvPr/>
        </p:nvSpPr>
        <p:spPr bwMode="auto">
          <a:xfrm>
            <a:off x="927100" y="3563938"/>
            <a:ext cx="1220788" cy="454025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</a:ln>
        </p:spPr>
        <p:txBody>
          <a:bodyPr lIns="0" tIns="3600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  <a:latin typeface="Times New Roman" panose="02020603050405020304" pitchFamily="18" charset="0"/>
              </a:rPr>
              <a:t>PABT</a:t>
            </a:r>
            <a:endParaRPr lang="zh-CN" altLang="en-US" sz="1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46" name="Line 37"/>
          <p:cNvSpPr>
            <a:spLocks noChangeShapeType="1"/>
          </p:cNvSpPr>
          <p:nvPr/>
        </p:nvSpPr>
        <p:spPr bwMode="auto">
          <a:xfrm>
            <a:off x="2147888" y="3778250"/>
            <a:ext cx="10477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47" name="Text Box 38"/>
          <p:cNvSpPr txBox="1">
            <a:spLocks noChangeArrowheads="1"/>
          </p:cNvSpPr>
          <p:nvPr/>
        </p:nvSpPr>
        <p:spPr bwMode="auto">
          <a:xfrm>
            <a:off x="7905750" y="3686175"/>
            <a:ext cx="889000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22605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800" smtClean="0">
                <a:solidFill>
                  <a:srgbClr val="000000"/>
                </a:solidFill>
              </a:rPr>
              <a:t>中</a:t>
            </a:r>
            <a:endParaRPr lang="zh-CN" altLang="en-US" sz="1800" smtClean="0">
              <a:solidFill>
                <a:srgbClr val="000000"/>
              </a:solidFill>
            </a:endParaRPr>
          </a:p>
          <a:p>
            <a:pPr lvl="1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800" smtClean="0">
                <a:solidFill>
                  <a:srgbClr val="000000"/>
                </a:solidFill>
              </a:rPr>
              <a:t>断</a:t>
            </a:r>
            <a:endParaRPr lang="zh-CN" altLang="en-US" sz="1800" smtClean="0">
              <a:solidFill>
                <a:srgbClr val="000000"/>
              </a:solidFill>
            </a:endParaRPr>
          </a:p>
          <a:p>
            <a:pPr lvl="1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800" smtClean="0">
                <a:solidFill>
                  <a:srgbClr val="000000"/>
                </a:solidFill>
              </a:rPr>
              <a:t>请</a:t>
            </a:r>
            <a:endParaRPr lang="zh-CN" altLang="en-US" sz="1800" smtClean="0">
              <a:solidFill>
                <a:srgbClr val="000000"/>
              </a:solidFill>
            </a:endParaRPr>
          </a:p>
          <a:p>
            <a:pPr lvl="1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800" smtClean="0">
                <a:solidFill>
                  <a:srgbClr val="000000"/>
                </a:solidFill>
              </a:rPr>
              <a:t>求</a:t>
            </a: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111648" name="Text Box 6"/>
          <p:cNvSpPr txBox="1">
            <a:spLocks noChangeArrowheads="1"/>
          </p:cNvSpPr>
          <p:nvPr/>
        </p:nvSpPr>
        <p:spPr bwMode="auto">
          <a:xfrm>
            <a:off x="7400925" y="4533900"/>
            <a:ext cx="698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z="1600" smtClean="0">
                <a:solidFill>
                  <a:srgbClr val="000000"/>
                </a:solidFill>
              </a:rPr>
              <a:t>...</a:t>
            </a:r>
            <a:endParaRPr lang="en-US" altLang="zh-CN" sz="1600" smtClean="0">
              <a:solidFill>
                <a:srgbClr val="000000"/>
              </a:solidFill>
            </a:endParaRPr>
          </a:p>
        </p:txBody>
      </p:sp>
      <p:sp>
        <p:nvSpPr>
          <p:cNvPr id="111649" name="矩形 1"/>
          <p:cNvSpPr>
            <a:spLocks noChangeArrowheads="1"/>
          </p:cNvSpPr>
          <p:nvPr/>
        </p:nvSpPr>
        <p:spPr bwMode="auto">
          <a:xfrm>
            <a:off x="603250" y="1797050"/>
            <a:ext cx="6937375" cy="4530725"/>
          </a:xfrm>
          <a:prstGeom prst="rect">
            <a:avLst/>
          </a:prstGeom>
          <a:noFill/>
          <a:ln w="12700" algn="ctr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3600" b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50" name="Text Box 6"/>
          <p:cNvSpPr txBox="1">
            <a:spLocks noChangeArrowheads="1"/>
          </p:cNvSpPr>
          <p:nvPr/>
        </p:nvSpPr>
        <p:spPr bwMode="auto">
          <a:xfrm>
            <a:off x="6249988" y="1954213"/>
            <a:ext cx="698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rgbClr val="000000"/>
                </a:solidFill>
              </a:rPr>
              <a:t>SOC</a:t>
            </a: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111651" name="矩形 1"/>
          <p:cNvSpPr>
            <a:spLocks noChangeArrowheads="1"/>
          </p:cNvSpPr>
          <p:nvPr/>
        </p:nvSpPr>
        <p:spPr bwMode="auto">
          <a:xfrm>
            <a:off x="5503863" y="4017963"/>
            <a:ext cx="411162" cy="993775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cxnSp>
        <p:nvCxnSpPr>
          <p:cNvPr id="111652" name="直接箭头连接符 3"/>
          <p:cNvCxnSpPr>
            <a:cxnSpLocks noChangeShapeType="1"/>
            <a:endCxn id="111651" idx="3"/>
          </p:cNvCxnSpPr>
          <p:nvPr/>
        </p:nvCxnSpPr>
        <p:spPr bwMode="auto">
          <a:xfrm flipH="1" flipV="1">
            <a:off x="5915025" y="4514850"/>
            <a:ext cx="265113" cy="7938"/>
          </a:xfrm>
          <a:prstGeom prst="straightConnector1">
            <a:avLst/>
          </a:prstGeom>
          <a:noFill/>
          <a:ln w="12700" algn="ctr">
            <a:solidFill>
              <a:schemeClr val="accent1"/>
            </a:solidFill>
            <a:rou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653" name="Text Box 6"/>
          <p:cNvSpPr txBox="1">
            <a:spLocks noChangeArrowheads="1"/>
          </p:cNvSpPr>
          <p:nvPr/>
        </p:nvSpPr>
        <p:spPr bwMode="auto">
          <a:xfrm>
            <a:off x="5429250" y="4187825"/>
            <a:ext cx="5508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0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600" smtClean="0">
                <a:solidFill>
                  <a:srgbClr val="000000"/>
                </a:solidFill>
              </a:rPr>
              <a:t>多路</a:t>
            </a:r>
            <a:endParaRPr lang="en-US" altLang="zh-CN" sz="1600" smtClean="0">
              <a:solidFill>
                <a:srgbClr val="000000"/>
              </a:solidFill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1600" smtClean="0">
                <a:solidFill>
                  <a:srgbClr val="000000"/>
                </a:solidFill>
              </a:rPr>
              <a:t>开关</a:t>
            </a:r>
            <a:endParaRPr lang="en-US" altLang="zh-CN" sz="16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57200" y="533400"/>
            <a:ext cx="82296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indent="-273050" eaLnBrk="0" hangingPunct="0">
              <a:spcBef>
                <a:spcPts val="600"/>
              </a:spcBef>
              <a:buClr>
                <a:srgbClr val="F07F09"/>
              </a:buClr>
              <a:buSzPct val="76000"/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IRQ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FIQ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的内部、外部中断源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55250" y="2475696"/>
            <a:ext cx="1310961" cy="1652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0671" y="2984234"/>
            <a:ext cx="1522406" cy="42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prstClr val="black"/>
                </a:solidFill>
              </a:rPr>
              <a:t>ARM920T</a:t>
            </a:r>
            <a:endParaRPr lang="zh-CN" altLang="en-US" dirty="0">
              <a:solidFill>
                <a:prstClr val="black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466210" y="2729965"/>
            <a:ext cx="5793602" cy="42379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185125" y="3408017"/>
            <a:ext cx="1141805" cy="1186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2835" y="3742165"/>
            <a:ext cx="131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prstClr val="black"/>
                </a:solidFill>
              </a:rPr>
              <a:t>DMA</a:t>
            </a:r>
            <a:endParaRPr lang="zh-CN" altLang="en-US" dirty="0">
              <a:solidFill>
                <a:prstClr val="black"/>
              </a:solidFill>
            </a:endParaRPr>
          </a:p>
        </p:txBody>
      </p:sp>
      <p:cxnSp>
        <p:nvCxnSpPr>
          <p:cNvPr id="14" name="直接连接符 13"/>
          <p:cNvCxnSpPr>
            <a:endCxn id="11" idx="0"/>
          </p:cNvCxnSpPr>
          <p:nvPr/>
        </p:nvCxnSpPr>
        <p:spPr>
          <a:xfrm rot="16200000" flipH="1">
            <a:off x="3417045" y="3090179"/>
            <a:ext cx="635674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580664" y="3408019"/>
            <a:ext cx="1141805" cy="1186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38375" y="3742166"/>
            <a:ext cx="1310961" cy="42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接口电路</a:t>
            </a:r>
            <a:endParaRPr lang="zh-CN" altLang="en-US" dirty="0">
              <a:solidFill>
                <a:prstClr val="black"/>
              </a:solidFill>
            </a:endParaRPr>
          </a:p>
        </p:txBody>
      </p:sp>
      <p:cxnSp>
        <p:nvCxnSpPr>
          <p:cNvPr id="17" name="直接连接符 16"/>
          <p:cNvCxnSpPr>
            <a:endCxn id="15" idx="0"/>
          </p:cNvCxnSpPr>
          <p:nvPr/>
        </p:nvCxnSpPr>
        <p:spPr>
          <a:xfrm rot="16200000" flipH="1">
            <a:off x="4812584" y="3090180"/>
            <a:ext cx="635674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466210" y="2094293"/>
            <a:ext cx="17075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 eaLnBrk="0" hangingPunct="0">
              <a:spcBef>
                <a:spcPts val="600"/>
              </a:spcBef>
              <a:buClr>
                <a:srgbClr val="F07F09"/>
              </a:buClr>
              <a:buSzPct val="76000"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FIQ/IRQ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引脚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74648" y="1712889"/>
            <a:ext cx="7062273" cy="3602145"/>
          </a:xfrm>
          <a:prstGeom prst="rect">
            <a:avLst/>
          </a:prstGeom>
          <a:noFill/>
          <a:ln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11023" y="1797645"/>
            <a:ext cx="222476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S3C2440X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193856" y="4499384"/>
            <a:ext cx="3626616" cy="1835487"/>
            <a:chOff x="5320769" y="4364994"/>
            <a:chExt cx="3626616" cy="1835487"/>
          </a:xfrm>
        </p:grpSpPr>
        <p:cxnSp>
          <p:nvCxnSpPr>
            <p:cNvPr id="37" name="直接连接符 36"/>
            <p:cNvCxnSpPr/>
            <p:nvPr/>
          </p:nvCxnSpPr>
          <p:spPr>
            <a:xfrm rot="16200000" flipH="1">
              <a:off x="6295521" y="5085219"/>
              <a:ext cx="1052926" cy="0"/>
            </a:xfrm>
            <a:prstGeom prst="line">
              <a:avLst/>
            </a:prstGeom>
            <a:ln w="22225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7329453" y="4364994"/>
              <a:ext cx="0" cy="1240160"/>
            </a:xfrm>
            <a:prstGeom prst="line">
              <a:avLst/>
            </a:prstGeom>
            <a:ln w="22225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779695" y="4679362"/>
              <a:ext cx="761203" cy="4286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…..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20769" y="5738816"/>
              <a:ext cx="36266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rgbClr val="FF0000"/>
                  </a:solidFill>
                </a:rPr>
                <a:t>外部中断源：</a:t>
              </a:r>
              <a:r>
                <a:rPr lang="en-US" altLang="zh-CN" sz="2000" dirty="0" smtClean="0">
                  <a:solidFill>
                    <a:srgbClr val="FF0000"/>
                  </a:solidFill>
                </a:rPr>
                <a:t>EINT23-0</a:t>
              </a:r>
              <a:r>
                <a:rPr lang="zh-CN" altLang="en-US" sz="2000" dirty="0" smtClean="0">
                  <a:solidFill>
                    <a:srgbClr val="FF0000"/>
                  </a:solidFill>
                </a:rPr>
                <a:t>，</a:t>
              </a:r>
              <a:r>
                <a:rPr lang="en-US" altLang="zh-CN" sz="2400" dirty="0" smtClean="0">
                  <a:solidFill>
                    <a:prstClr val="black"/>
                  </a:solidFill>
                </a:rPr>
                <a:t>24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756028" y="4594605"/>
            <a:ext cx="2854511" cy="715934"/>
            <a:chOff x="3756028" y="4594605"/>
            <a:chExt cx="2854511" cy="715934"/>
          </a:xfrm>
        </p:grpSpPr>
        <p:cxnSp>
          <p:nvCxnSpPr>
            <p:cNvPr id="26" name="直接连接符 25"/>
            <p:cNvCxnSpPr>
              <a:stCxn id="15" idx="2"/>
            </p:cNvCxnSpPr>
            <p:nvPr/>
          </p:nvCxnSpPr>
          <p:spPr>
            <a:xfrm rot="16200000" flipH="1">
              <a:off x="5003245" y="4742930"/>
              <a:ext cx="29664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172710" y="4891253"/>
              <a:ext cx="1179966" cy="184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rot="16200000" flipH="1">
              <a:off x="6208482" y="4742928"/>
              <a:ext cx="296645" cy="0"/>
            </a:xfrm>
            <a:prstGeom prst="line">
              <a:avLst/>
            </a:prstGeom>
            <a:ln w="22225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11" idx="2"/>
            </p:cNvCxnSpPr>
            <p:nvPr/>
          </p:nvCxnSpPr>
          <p:spPr>
            <a:xfrm rot="16200000" flipH="1">
              <a:off x="3438192" y="4912442"/>
              <a:ext cx="6356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3777171" y="5230278"/>
              <a:ext cx="2748789" cy="184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16200000" flipH="1">
              <a:off x="6208125" y="4912442"/>
              <a:ext cx="63567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305784" y="4848874"/>
              <a:ext cx="230475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rgbClr val="FF0000"/>
                  </a:solidFill>
                </a:rPr>
                <a:t>内部中断源</a:t>
              </a:r>
              <a:r>
                <a:rPr lang="en-US" altLang="zh-CN" sz="2000" dirty="0" smtClean="0">
                  <a:solidFill>
                    <a:srgbClr val="FF0000"/>
                  </a:solidFill>
                </a:rPr>
                <a:t>:</a:t>
              </a:r>
              <a:r>
                <a:rPr lang="en-US" altLang="zh-CN" sz="2400" dirty="0" smtClean="0">
                  <a:solidFill>
                    <a:prstClr val="black"/>
                  </a:solidFill>
                </a:rPr>
                <a:t>26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 flipV="1">
            <a:off x="6615936" y="2553483"/>
            <a:ext cx="1587" cy="109154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rot="10800000" flipV="1">
            <a:off x="2454247" y="2552687"/>
            <a:ext cx="4125969" cy="3651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5904148" y="3450393"/>
            <a:ext cx="1476164" cy="12289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228184" y="3645024"/>
            <a:ext cx="877163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 algn="ctr" eaLnBrk="0" hangingPunct="0">
              <a:spcBef>
                <a:spcPts val="600"/>
              </a:spcBef>
              <a:buClr>
                <a:srgbClr val="F07F09"/>
              </a:buClr>
              <a:buSzPct val="76000"/>
            </a:pPr>
            <a:r>
              <a:rPr lang="zh-CN" altLang="en-US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中断</a:t>
            </a:r>
            <a:endParaRPr lang="en-US" altLang="zh-CN" dirty="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273050" indent="-273050" algn="ctr" eaLnBrk="0" hangingPunct="0">
              <a:spcBef>
                <a:spcPts val="600"/>
              </a:spcBef>
              <a:buClr>
                <a:srgbClr val="F07F09"/>
              </a:buClr>
              <a:buSzPct val="76000"/>
            </a:pPr>
            <a:r>
              <a:rPr lang="zh-CN" altLang="en-US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控制器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33363" y="2013089"/>
            <a:ext cx="2028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INTMOD</a:t>
            </a:r>
            <a:r>
              <a:rPr lang="zh-CN" altLang="en-US" sz="2000" dirty="0">
                <a:solidFill>
                  <a:srgbClr val="FF0000"/>
                </a:solidFill>
              </a:rPr>
              <a:t>寄存器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F3421-8B96-4548-8EA9-CAA957B4DC39}" type="slidenum">
              <a:rPr lang="ko-KR" altLang="en-US"/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S3C</a:t>
            </a:r>
            <a:r>
              <a:rPr lang="zh-CN" altLang="zh-CN" dirty="0" smtClean="0">
                <a:solidFill>
                  <a:srgbClr val="FF0000"/>
                </a:solidFill>
              </a:rPr>
              <a:t>24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zh-CN" dirty="0" smtClean="0">
                <a:solidFill>
                  <a:srgbClr val="FF0000"/>
                </a:solidFill>
              </a:rPr>
              <a:t>0</a:t>
            </a:r>
            <a:r>
              <a:rPr lang="zh-CN" altLang="zh-CN" dirty="0">
                <a:solidFill>
                  <a:srgbClr val="FF0000"/>
                </a:solidFill>
              </a:rPr>
              <a:t>X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内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部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——ARM920T</a:t>
            </a:r>
            <a:endParaRPr 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11267" name="Picture 3" descr="{FD894486-7B69-4747-9AE1-36F379192B8D}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528" y="1500174"/>
            <a:ext cx="8001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椭圆 4"/>
          <p:cNvSpPr/>
          <p:nvPr/>
        </p:nvSpPr>
        <p:spPr>
          <a:xfrm>
            <a:off x="7000892" y="3000372"/>
            <a:ext cx="1785950" cy="178595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4348" y="1428736"/>
            <a:ext cx="1357322" cy="57150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14480" y="3429000"/>
            <a:ext cx="1357322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85720" y="3571876"/>
            <a:ext cx="1143008" cy="79534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DD2A5A81-E658-4490-B498-A52C1C9DF485}" type="slidenum">
              <a:rPr lang="ko-KR" altLang="en-US"/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162800" cy="4495800"/>
          </a:xfrm>
        </p:spPr>
        <p:txBody>
          <a:bodyPr/>
          <a:lstStyle/>
          <a:p>
            <a:pPr>
              <a:buFontTx/>
              <a:buNone/>
            </a:pPr>
            <a:endParaRPr lang="zh-CN" altLang="zh-CN" dirty="0"/>
          </a:p>
        </p:txBody>
      </p:sp>
      <p:pic>
        <p:nvPicPr>
          <p:cNvPr id="12291" name="Picture 3" descr="{E4713A25-8C40-4CB1-8C4C-D96139C097BC}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4488" y="1257304"/>
            <a:ext cx="8343976" cy="488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椭圆 7"/>
          <p:cNvSpPr/>
          <p:nvPr/>
        </p:nvSpPr>
        <p:spPr>
          <a:xfrm>
            <a:off x="1500166" y="2492896"/>
            <a:ext cx="1785950" cy="65035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715008" y="2428868"/>
            <a:ext cx="2313376" cy="78581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006196" y="1142984"/>
            <a:ext cx="1285884" cy="215266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006196" y="3562352"/>
            <a:ext cx="1285884" cy="215266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85728"/>
            <a:ext cx="8183880" cy="619512"/>
          </a:xfrm>
        </p:spPr>
        <p:txBody>
          <a:bodyPr>
            <a:normAutofit fontScale="90000"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S3C</a:t>
            </a:r>
            <a:r>
              <a:rPr lang="zh-CN" altLang="zh-CN" dirty="0" smtClean="0">
                <a:solidFill>
                  <a:srgbClr val="FF0000"/>
                </a:solidFill>
              </a:rPr>
              <a:t>24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zh-CN" dirty="0" smtClean="0">
                <a:solidFill>
                  <a:srgbClr val="FF0000"/>
                </a:solidFill>
              </a:rPr>
              <a:t>0</a:t>
            </a:r>
            <a:r>
              <a:rPr lang="zh-CN" altLang="zh-CN" dirty="0">
                <a:solidFill>
                  <a:srgbClr val="FF0000"/>
                </a:solidFill>
              </a:rPr>
              <a:t>X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内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部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652120" y="1637529"/>
            <a:ext cx="2313376" cy="78581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6F421-1A48-42FD-AAAD-EF581F05A5EE}" type="slidenum">
              <a:rPr lang="ko-KR" altLang="en-US"/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S3C</a:t>
            </a:r>
            <a:r>
              <a:rPr lang="zh-CN" altLang="zh-CN" dirty="0" smtClean="0">
                <a:solidFill>
                  <a:srgbClr val="FF0000"/>
                </a:solidFill>
              </a:rPr>
              <a:t>24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zh-CN" dirty="0" smtClean="0">
                <a:solidFill>
                  <a:srgbClr val="FF0000"/>
                </a:solidFill>
              </a:rPr>
              <a:t>0</a:t>
            </a:r>
            <a:r>
              <a:rPr lang="zh-CN" dirty="0">
                <a:solidFill>
                  <a:srgbClr val="FF0000"/>
                </a:solidFill>
              </a:rPr>
              <a:t>的封装（</a:t>
            </a:r>
            <a:r>
              <a:rPr lang="zh-CN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89</a:t>
            </a:r>
            <a:r>
              <a:rPr lang="zh-CN" altLang="zh-CN" dirty="0" smtClean="0">
                <a:solidFill>
                  <a:srgbClr val="FF0000"/>
                </a:solidFill>
              </a:rPr>
              <a:t>FBGA)</a:t>
            </a:r>
            <a:r>
              <a:rPr lang="en-US" altLang="zh-CN" dirty="0" smtClean="0">
                <a:solidFill>
                  <a:srgbClr val="FF0000"/>
                </a:solidFill>
              </a:rPr>
              <a:t>——6</a:t>
            </a:r>
            <a:r>
              <a:rPr lang="zh-CN" altLang="en-US" dirty="0" smtClean="0">
                <a:solidFill>
                  <a:srgbClr val="FF0000"/>
                </a:solidFill>
              </a:rPr>
              <a:t>层板</a:t>
            </a:r>
            <a:endParaRPr lang="zh-CN" altLang="zh-CN" dirty="0">
              <a:solidFill>
                <a:srgbClr val="FF0000"/>
              </a:solidFill>
            </a:endParaRPr>
          </a:p>
        </p:txBody>
      </p:sp>
      <p:pic>
        <p:nvPicPr>
          <p:cNvPr id="13315" name="Picture 3" descr="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31759" y="1340768"/>
            <a:ext cx="7440641" cy="4791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2576" y="142852"/>
            <a:ext cx="8183880" cy="763528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ARM </a:t>
            </a:r>
            <a:r>
              <a:rPr lang="zh-CN" altLang="en-US" sz="3200" dirty="0">
                <a:solidFill>
                  <a:srgbClr val="FF0000"/>
                </a:solidFill>
              </a:rPr>
              <a:t>核心板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524740" name="Picture 4" descr="ARM核心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14500" y="1092201"/>
            <a:ext cx="6079881" cy="5305425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395536" y="277163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复位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1115616" y="2956302"/>
            <a:ext cx="1296144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47936" y="4139788"/>
            <a:ext cx="754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JTAG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268016" y="4324454"/>
            <a:ext cx="1296144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ChangeArrowheads="1"/>
          </p:cNvSpPr>
          <p:nvPr/>
        </p:nvSpPr>
        <p:spPr bwMode="auto">
          <a:xfrm>
            <a:off x="357158" y="304800"/>
            <a:ext cx="8786842" cy="609600"/>
          </a:xfrm>
          <a:prstGeom prst="rect">
            <a:avLst/>
          </a:prstGeom>
          <a:gradFill rotWithShape="0">
            <a:gsLst>
              <a:gs pos="0">
                <a:srgbClr val="DDDDDD"/>
              </a:gs>
              <a:gs pos="50000">
                <a:srgbClr val="DDDDDD">
                  <a:gamma/>
                  <a:tint val="0"/>
                  <a:invGamma/>
                </a:srgbClr>
              </a:gs>
              <a:gs pos="100000">
                <a:srgbClr val="DDDDDD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+mj-cs"/>
              </a:rPr>
              <a:t>3</a:t>
            </a:r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+mj-cs"/>
              </a:rPr>
              <a:t>、</a:t>
            </a:r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+mj-cs"/>
              </a:rPr>
              <a:t>S3C2440</a:t>
            </a:r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+mj-cs"/>
              </a:rPr>
              <a:t>最小系统</a:t>
            </a:r>
            <a:endParaRPr kumimoji="1" lang="zh-CN" altLang="en-US" sz="4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03459" name="Rectangle 3"/>
          <p:cNvSpPr>
            <a:spLocks noChangeArrowheads="1"/>
          </p:cNvSpPr>
          <p:nvPr/>
        </p:nvSpPr>
        <p:spPr bwMode="auto">
          <a:xfrm>
            <a:off x="468313" y="1412875"/>
            <a:ext cx="7559675" cy="33752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5430" lvl="0" indent="-265430">
              <a:lnSpc>
                <a:spcPct val="15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lang="zh-CN" alt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最小系统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S3C2440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不能独立工作的，需要一些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必要</a:t>
            </a:r>
            <a:r>
              <a:rPr lang="zh-CN" alt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的外围电路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给它提供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最基本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的工作条件。</a:t>
            </a:r>
            <a:endParaRPr lang="en-US" altLang="zh-CN" sz="2600" dirty="0" smtClean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5430" indent="-265430"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lang="zh-CN" alt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最小系统虽然简单，但是作为整个系统正常运行的基本条件，因此其稳定可靠的运行至关重要。</a:t>
            </a:r>
            <a:endParaRPr lang="en-US" altLang="zh-CN" sz="2600" dirty="0" smtClean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5430" indent="-265430"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lang="en-US" altLang="zh-CN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 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最小系统一般包括：</a:t>
            </a:r>
            <a:endParaRPr lang="zh-CN" altLang="en-US" sz="2600" dirty="0" smtClean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9" name="Rectangle 3"/>
          <p:cNvSpPr>
            <a:spLocks noChangeArrowheads="1"/>
          </p:cNvSpPr>
          <p:nvPr/>
        </p:nvSpPr>
        <p:spPr bwMode="auto">
          <a:xfrm>
            <a:off x="468313" y="357166"/>
            <a:ext cx="7889901" cy="63396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25000"/>
              </a:spcBef>
            </a:pPr>
            <a:r>
              <a:rPr lang="en-US" altLang="zh-CN" sz="2400" dirty="0" smtClean="0"/>
              <a:t>(</a:t>
            </a:r>
            <a:r>
              <a:rPr lang="en-US" altLang="zh-CN" sz="2400" dirty="0"/>
              <a:t>1) ARM </a:t>
            </a:r>
            <a:r>
              <a:rPr lang="zh-CN" altLang="en-US" sz="2400" dirty="0"/>
              <a:t>微处理器芯片</a:t>
            </a:r>
            <a:r>
              <a:rPr lang="en-US" altLang="zh-CN" sz="2400" dirty="0">
                <a:solidFill>
                  <a:srgbClr val="FF0000"/>
                </a:solidFill>
              </a:rPr>
              <a:t>S3C2440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spcBef>
                <a:spcPct val="25000"/>
              </a:spcBef>
            </a:pPr>
            <a:r>
              <a:rPr lang="en-US" altLang="zh-CN" sz="2400" dirty="0"/>
              <a:t>(2) </a:t>
            </a:r>
            <a:r>
              <a:rPr lang="zh-CN" altLang="en-US" sz="2400" dirty="0">
                <a:solidFill>
                  <a:srgbClr val="FF0000"/>
                </a:solidFill>
              </a:rPr>
              <a:t>电源及复位电路</a:t>
            </a:r>
            <a:r>
              <a:rPr lang="zh-CN" altLang="en-US" sz="2400" dirty="0"/>
              <a:t>：为</a:t>
            </a:r>
            <a:r>
              <a:rPr lang="en-US" altLang="zh-CN" sz="2400" dirty="0"/>
              <a:t>S3C2440</a:t>
            </a:r>
            <a:r>
              <a:rPr lang="zh-CN" altLang="en-US" sz="2400" dirty="0"/>
              <a:t>提供</a:t>
            </a:r>
            <a:r>
              <a:rPr lang="en-US" altLang="zh-CN" sz="2400" dirty="0">
                <a:solidFill>
                  <a:srgbClr val="FF0000"/>
                </a:solidFill>
              </a:rPr>
              <a:t>1.80V</a:t>
            </a:r>
            <a:r>
              <a:rPr lang="zh-CN" altLang="en-US" sz="2400" dirty="0"/>
              <a:t>工作电压，为部分外围芯片提供</a:t>
            </a:r>
            <a:r>
              <a:rPr lang="en-US" altLang="zh-CN" sz="2400" dirty="0">
                <a:solidFill>
                  <a:srgbClr val="FF0000"/>
                </a:solidFill>
              </a:rPr>
              <a:t>3.3V</a:t>
            </a:r>
            <a:r>
              <a:rPr lang="zh-CN" altLang="en-US" sz="2400" dirty="0"/>
              <a:t>的工作电压</a:t>
            </a:r>
            <a:endParaRPr lang="en-US" altLang="zh-CN" sz="2400" dirty="0"/>
          </a:p>
          <a:p>
            <a:pPr>
              <a:lnSpc>
                <a:spcPct val="125000"/>
              </a:lnSpc>
              <a:spcBef>
                <a:spcPct val="25000"/>
              </a:spcBef>
            </a:pPr>
            <a:r>
              <a:rPr lang="en-US" altLang="zh-CN" sz="2400" dirty="0"/>
              <a:t>(3) </a:t>
            </a:r>
            <a:r>
              <a:rPr lang="zh-CN" altLang="en-US" sz="2400" dirty="0">
                <a:solidFill>
                  <a:srgbClr val="FF0000"/>
                </a:solidFill>
              </a:rPr>
              <a:t>晶振电路</a:t>
            </a:r>
            <a:r>
              <a:rPr lang="zh-CN" altLang="en-US" sz="2400" dirty="0"/>
              <a:t>：为微处理器及其他电路提供工作时钟</a:t>
            </a:r>
            <a:endParaRPr lang="zh-CN" altLang="en-US" sz="2400" dirty="0"/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(4) </a:t>
            </a:r>
            <a:r>
              <a:rPr lang="en-US" altLang="zh-CN" sz="2400" dirty="0" smtClean="0">
                <a:solidFill>
                  <a:srgbClr val="FF0000"/>
                </a:solidFill>
              </a:rPr>
              <a:t>NAND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0000"/>
                </a:solidFill>
              </a:rPr>
              <a:t>FLASH</a:t>
            </a:r>
            <a:r>
              <a:rPr lang="zh-CN" altLang="en-US" sz="2400" dirty="0" smtClean="0">
                <a:solidFill>
                  <a:srgbClr val="FF0000"/>
                </a:solidFill>
              </a:rPr>
              <a:t>存储器</a:t>
            </a:r>
            <a:r>
              <a:rPr lang="zh-CN" altLang="en-US" sz="2400" dirty="0" smtClean="0"/>
              <a:t>：存放嵌入式操作系统、用户应用程序或者其他在系统掉电后需要保存的用户数据等</a:t>
            </a:r>
            <a:endParaRPr lang="en-US" altLang="zh-CN" sz="2400" dirty="0" smtClean="0"/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 dirty="0" smtClean="0">
                <a:solidFill>
                  <a:srgbClr val="FF0000"/>
                </a:solidFill>
              </a:rPr>
              <a:t>(5)</a:t>
            </a:r>
            <a:r>
              <a:rPr lang="en-US" altLang="zh-CN" sz="2400" dirty="0" smtClean="0"/>
              <a:t>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SRAM/SDRAM/NOR FLASH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存储器</a:t>
            </a:r>
            <a:r>
              <a:rPr lang="zh-CN" altLang="en-US" sz="2400" dirty="0" smtClean="0"/>
              <a:t>：作为系统运行时的主要区域，系统及用户数据、堆栈均位于该存储器中；</a:t>
            </a:r>
            <a:endParaRPr lang="en-US" altLang="zh-CN" sz="2400" dirty="0" smtClean="0"/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(6) </a:t>
            </a:r>
            <a:r>
              <a:rPr lang="en-US" altLang="zh-CN" sz="2400" dirty="0" smtClean="0">
                <a:solidFill>
                  <a:srgbClr val="FF0000"/>
                </a:solidFill>
              </a:rPr>
              <a:t>JTAG</a:t>
            </a:r>
            <a:r>
              <a:rPr lang="zh-CN" altLang="en-US" sz="2400" dirty="0" smtClean="0">
                <a:solidFill>
                  <a:srgbClr val="FF0000"/>
                </a:solidFill>
              </a:rPr>
              <a:t>接口</a:t>
            </a:r>
            <a:r>
              <a:rPr lang="zh-CN" altLang="en-US" sz="2400" dirty="0" smtClean="0"/>
              <a:t>：对芯片内部所有部件进行访问，通过该接口对系统进行调试、编程等</a:t>
            </a:r>
            <a:endParaRPr lang="zh-CN" altLang="en-US" sz="2400" dirty="0" smtClean="0"/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 smtClean="0"/>
              <a:t>(7)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zh-CN" altLang="en-US" sz="2400" dirty="0" smtClean="0">
                <a:solidFill>
                  <a:srgbClr val="FF0000"/>
                </a:solidFill>
              </a:rPr>
              <a:t>系统总线扩展</a:t>
            </a:r>
            <a:r>
              <a:rPr lang="zh-CN" altLang="en-US" sz="2400" dirty="0" smtClean="0"/>
              <a:t>：引出地址总线、数据总线和必须的控制总线，便于用户根据自身的特定需求，扩展外围电路。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23917" y="1643050"/>
            <a:ext cx="6767513" cy="3384550"/>
            <a:chOff x="748" y="1706"/>
            <a:chExt cx="4263" cy="2132"/>
          </a:xfrm>
        </p:grpSpPr>
        <p:sp>
          <p:nvSpPr>
            <p:cNvPr id="453635" name="Oval 3"/>
            <p:cNvSpPr>
              <a:spLocks noChangeArrowheads="1"/>
            </p:cNvSpPr>
            <p:nvPr/>
          </p:nvSpPr>
          <p:spPr bwMode="auto">
            <a:xfrm>
              <a:off x="2200" y="2386"/>
              <a:ext cx="1360" cy="635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S3C2440</a:t>
              </a:r>
              <a:endPara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53636" name="Oval 4"/>
            <p:cNvSpPr>
              <a:spLocks noChangeArrowheads="1"/>
            </p:cNvSpPr>
            <p:nvPr/>
          </p:nvSpPr>
          <p:spPr bwMode="auto">
            <a:xfrm>
              <a:off x="1383" y="1706"/>
              <a:ext cx="1089" cy="499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时钟系统</a:t>
              </a:r>
              <a:endPara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53637" name="Oval 5"/>
            <p:cNvSpPr>
              <a:spLocks noChangeArrowheads="1"/>
            </p:cNvSpPr>
            <p:nvPr/>
          </p:nvSpPr>
          <p:spPr bwMode="auto">
            <a:xfrm>
              <a:off x="3288" y="1706"/>
              <a:ext cx="1088" cy="499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调试测试接口</a:t>
              </a:r>
              <a:endPara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ctr"/>
              <a:r>
                <a:rPr kumimoji="1" lang="zh-CN" altLang="en-US" sz="16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（</a:t>
              </a: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JTAG+</a:t>
              </a:r>
              <a:r>
                <a:rPr kumimoji="1" lang="zh-CN" altLang="en-US" sz="16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串口）</a:t>
              </a:r>
              <a:endParaRPr kumimoji="1"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53638" name="Oval 6"/>
            <p:cNvSpPr>
              <a:spLocks noChangeArrowheads="1"/>
            </p:cNvSpPr>
            <p:nvPr/>
          </p:nvSpPr>
          <p:spPr bwMode="auto">
            <a:xfrm>
              <a:off x="3923" y="2658"/>
              <a:ext cx="1088" cy="499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复位及其</a:t>
              </a:r>
              <a:endPara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ctr"/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配置系统</a:t>
              </a:r>
              <a:endPara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53639" name="Oval 7"/>
            <p:cNvSpPr>
              <a:spLocks noChangeArrowheads="1"/>
            </p:cNvSpPr>
            <p:nvPr/>
          </p:nvSpPr>
          <p:spPr bwMode="auto">
            <a:xfrm>
              <a:off x="2336" y="3339"/>
              <a:ext cx="1088" cy="499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存储器系统</a:t>
              </a:r>
              <a:endParaRPr kumimoji="1"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ctr"/>
              <a:r>
                <a:rPr kumimoji="1"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（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FLASH+SDRAM)</a:t>
              </a:r>
              <a:endParaRPr kumimoji="1"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53640" name="Oval 8"/>
            <p:cNvSpPr>
              <a:spLocks noChangeArrowheads="1"/>
            </p:cNvSpPr>
            <p:nvPr/>
          </p:nvSpPr>
          <p:spPr bwMode="auto">
            <a:xfrm>
              <a:off x="748" y="2658"/>
              <a:ext cx="1088" cy="499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供电系统</a:t>
              </a:r>
              <a:endPara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ctr"/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(</a:t>
              </a: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电源</a:t>
              </a:r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)</a:t>
              </a:r>
              <a:endPara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53641" name="AutoShape 9"/>
            <p:cNvSpPr>
              <a:spLocks noChangeArrowheads="1"/>
            </p:cNvSpPr>
            <p:nvPr/>
          </p:nvSpPr>
          <p:spPr bwMode="auto">
            <a:xfrm rot="-919755">
              <a:off x="1836" y="2742"/>
              <a:ext cx="407" cy="136"/>
            </a:xfrm>
            <a:prstGeom prst="rightArrow">
              <a:avLst>
                <a:gd name="adj1" fmla="val 50000"/>
                <a:gd name="adj2" fmla="val 74816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642" name="AutoShape 10"/>
            <p:cNvSpPr>
              <a:spLocks noChangeArrowheads="1"/>
            </p:cNvSpPr>
            <p:nvPr/>
          </p:nvSpPr>
          <p:spPr bwMode="auto">
            <a:xfrm rot="3260731">
              <a:off x="2189" y="2245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643" name="AutoShape 11"/>
            <p:cNvSpPr>
              <a:spLocks noChangeArrowheads="1"/>
            </p:cNvSpPr>
            <p:nvPr/>
          </p:nvSpPr>
          <p:spPr bwMode="auto">
            <a:xfrm rot="16200000">
              <a:off x="2664" y="3078"/>
              <a:ext cx="386" cy="136"/>
            </a:xfrm>
            <a:prstGeom prst="rightArrow">
              <a:avLst>
                <a:gd name="adj1" fmla="val 50000"/>
                <a:gd name="adj2" fmla="val 70956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644" name="AutoShape 12"/>
            <p:cNvSpPr>
              <a:spLocks noChangeArrowheads="1"/>
            </p:cNvSpPr>
            <p:nvPr/>
          </p:nvSpPr>
          <p:spPr bwMode="auto">
            <a:xfrm rot="7627086">
              <a:off x="3161" y="2222"/>
              <a:ext cx="362" cy="136"/>
            </a:xfrm>
            <a:prstGeom prst="rightArrow">
              <a:avLst>
                <a:gd name="adj1" fmla="val 50000"/>
                <a:gd name="adj2" fmla="val 66544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645" name="AutoShape 13"/>
            <p:cNvSpPr>
              <a:spLocks noChangeArrowheads="1"/>
            </p:cNvSpPr>
            <p:nvPr/>
          </p:nvSpPr>
          <p:spPr bwMode="auto">
            <a:xfrm rot="11683952">
              <a:off x="3515" y="2742"/>
              <a:ext cx="407" cy="136"/>
            </a:xfrm>
            <a:prstGeom prst="rightArrow">
              <a:avLst>
                <a:gd name="adj1" fmla="val 50000"/>
                <a:gd name="adj2" fmla="val 74816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3646" name="AutoShape 14"/>
          <p:cNvSpPr>
            <a:spLocks noChangeArrowheads="1"/>
          </p:cNvSpPr>
          <p:nvPr/>
        </p:nvSpPr>
        <p:spPr bwMode="auto">
          <a:xfrm>
            <a:off x="5232430" y="4092563"/>
            <a:ext cx="3249612" cy="1131887"/>
          </a:xfrm>
          <a:prstGeom prst="wedgeRoundRectCallout">
            <a:avLst>
              <a:gd name="adj1" fmla="val -67194"/>
              <a:gd name="adj2" fmla="val -4699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注意：部分面向嵌入式领域的微控制器内部集成了程序和数据存储器</a:t>
            </a:r>
            <a:endParaRPr kumimoji="1" lang="zh-CN" altLang="en-US" sz="200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53648" name="AutoShape 16"/>
          <p:cNvSpPr>
            <a:spLocks noChangeArrowheads="1"/>
          </p:cNvSpPr>
          <p:nvPr/>
        </p:nvSpPr>
        <p:spPr bwMode="auto">
          <a:xfrm>
            <a:off x="6531005" y="1787513"/>
            <a:ext cx="2255837" cy="936625"/>
          </a:xfrm>
          <a:prstGeom prst="wedgeRoundRectCallout">
            <a:avLst>
              <a:gd name="adj1" fmla="val -63162"/>
              <a:gd name="adj2" fmla="val -4574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注意：样品阶段通常会设计这部分电路，正式产品去掉</a:t>
            </a:r>
            <a:endParaRPr kumimoji="1" lang="zh-CN" altLang="en-US" sz="180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3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3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46" grpId="0" animBg="1"/>
      <p:bldP spid="45364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533400" y="404664"/>
            <a:ext cx="80772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2550" tIns="41275" rIns="82550" bIns="41275"/>
          <a:lstStyle/>
          <a:p>
            <a:pPr marL="254000" indent="-254000" algn="ctr" defTabSz="678180">
              <a:lnSpc>
                <a:spcPct val="90000"/>
              </a:lnSpc>
              <a:spcBef>
                <a:spcPct val="50000"/>
              </a:spcBef>
              <a:buSzPct val="75000"/>
            </a:pPr>
            <a:r>
              <a:rPr lang="zh-CN" altLang="en-US" sz="3200" b="1" dirty="0">
                <a:solidFill>
                  <a:srgbClr val="FFFF00"/>
                </a:solidFill>
                <a:ea typeface="黑体" panose="02010609060101010101" pitchFamily="49" charset="-122"/>
              </a:rPr>
              <a:t>本节提要</a:t>
            </a:r>
            <a:endParaRPr lang="zh-CN" altLang="en-US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zh-CN" alt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zh-CN" altLang="en-US"/>
          </a:p>
        </p:txBody>
      </p:sp>
      <p:pic>
        <p:nvPicPr>
          <p:cNvPr id="10245" name="Picture 5" descr="TurbineAgenda"/>
          <p:cNvPicPr>
            <a:picLocks noChangeAspect="1" noChangeArrowheads="1"/>
          </p:cNvPicPr>
          <p:nvPr/>
        </p:nvPicPr>
        <p:blipFill>
          <a:blip r:embed="rId1"/>
          <a:srcRect l="6398"/>
          <a:stretch>
            <a:fillRect/>
          </a:stretch>
        </p:blipFill>
        <p:spPr bwMode="auto">
          <a:xfrm>
            <a:off x="38100" y="2066925"/>
            <a:ext cx="323850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Arc 6"/>
          <p:cNvSpPr/>
          <p:nvPr/>
        </p:nvSpPr>
        <p:spPr bwMode="gray">
          <a:xfrm>
            <a:off x="1633538" y="1687513"/>
            <a:ext cx="2251075" cy="4478337"/>
          </a:xfrm>
          <a:custGeom>
            <a:avLst/>
            <a:gdLst>
              <a:gd name="T0" fmla="*/ 2147483647 w 21600"/>
              <a:gd name="T1" fmla="*/ 0 h 42956"/>
              <a:gd name="T2" fmla="*/ 2147483647 w 21600"/>
              <a:gd name="T3" fmla="*/ 2147483647 h 42956"/>
              <a:gd name="T4" fmla="*/ 0 w 21600"/>
              <a:gd name="T5" fmla="*/ 2147483647 h 42956"/>
              <a:gd name="T6" fmla="*/ 0 60000 65536"/>
              <a:gd name="T7" fmla="*/ 0 60000 65536"/>
              <a:gd name="T8" fmla="*/ 0 60000 65536"/>
              <a:gd name="T9" fmla="*/ 0 w 21600"/>
              <a:gd name="T10" fmla="*/ 0 h 42956"/>
              <a:gd name="T11" fmla="*/ 21600 w 21600"/>
              <a:gd name="T12" fmla="*/ 42956 h 429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2956" fill="none" extrusionOk="0">
                <a:moveTo>
                  <a:pt x="1655" y="-1"/>
                </a:moveTo>
                <a:cubicBezTo>
                  <a:pt x="12909" y="864"/>
                  <a:pt x="21600" y="10248"/>
                  <a:pt x="21600" y="21536"/>
                </a:cubicBezTo>
                <a:cubicBezTo>
                  <a:pt x="21600" y="32389"/>
                  <a:pt x="13545" y="41558"/>
                  <a:pt x="2782" y="42956"/>
                </a:cubicBezTo>
              </a:path>
              <a:path w="21600" h="42956" stroke="0" extrusionOk="0">
                <a:moveTo>
                  <a:pt x="1655" y="-1"/>
                </a:moveTo>
                <a:cubicBezTo>
                  <a:pt x="12909" y="864"/>
                  <a:pt x="21600" y="10248"/>
                  <a:pt x="21600" y="21536"/>
                </a:cubicBezTo>
                <a:cubicBezTo>
                  <a:pt x="21600" y="32389"/>
                  <a:pt x="13545" y="41558"/>
                  <a:pt x="2782" y="42956"/>
                </a:cubicBezTo>
                <a:lnTo>
                  <a:pt x="0" y="21536"/>
                </a:lnTo>
                <a:lnTo>
                  <a:pt x="1655" y="-1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567" name="Oval 7">
            <a:hlinkClick r:id="rId2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2208213" y="1555750"/>
            <a:ext cx="444500" cy="444500"/>
          </a:xfrm>
          <a:prstGeom prst="ellipse">
            <a:avLst/>
          </a:prstGeom>
          <a:gradFill rotWithShape="0">
            <a:gsLst>
              <a:gs pos="0">
                <a:srgbClr val="000066">
                  <a:gamma/>
                  <a:tint val="0"/>
                  <a:invGamma/>
                </a:srgbClr>
              </a:gs>
              <a:gs pos="100000">
                <a:srgbClr val="000066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2D86"/>
            </a:solidFill>
            <a:round/>
          </a:ln>
          <a:effectLst>
            <a:outerShdw dist="35921" dir="2700000" algn="ctr" rotWithShape="0">
              <a:schemeClr val="tx2"/>
            </a:outerShdw>
          </a:effec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986569" name="Oval 9">
            <a:hlinkClick r:id="rId2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3130550" y="2292350"/>
            <a:ext cx="444500" cy="444500"/>
          </a:xfrm>
          <a:prstGeom prst="ellipse">
            <a:avLst/>
          </a:prstGeom>
          <a:gradFill rotWithShape="0">
            <a:gsLst>
              <a:gs pos="0">
                <a:srgbClr val="000066">
                  <a:gamma/>
                  <a:tint val="0"/>
                  <a:invGamma/>
                </a:srgbClr>
              </a:gs>
              <a:gs pos="100000">
                <a:srgbClr val="000066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2D86"/>
            </a:solidFill>
            <a:round/>
          </a:ln>
          <a:effectLst>
            <a:outerShdw dist="35921" dir="2700000" algn="ctr" rotWithShape="0">
              <a:schemeClr val="tx2"/>
            </a:outerShdw>
          </a:effec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2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251" name="Rectangle 13"/>
          <p:cNvSpPr>
            <a:spLocks noChangeArrowheads="1"/>
          </p:cNvSpPr>
          <p:nvPr/>
        </p:nvSpPr>
        <p:spPr bwMode="auto">
          <a:xfrm>
            <a:off x="2943225" y="1593850"/>
            <a:ext cx="5373688" cy="4508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82550" tIns="41275" rIns="82550" bIns="41275"/>
          <a:lstStyle/>
          <a:p>
            <a:pPr>
              <a:lnSpc>
                <a:spcPct val="90000"/>
              </a:lnSpc>
            </a:pPr>
            <a:r>
              <a:rPr lang="en-US" altLang="zh-CN" sz="24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S3C2440</a:t>
            </a:r>
            <a:r>
              <a:rPr lang="zh-CN" altLang="en-US" sz="2400" b="1" dirty="0" smtClean="0">
                <a:latin typeface="Arial" panose="020B0604020202020204" pitchFamily="34" charset="0"/>
                <a:ea typeface="华文楷体" panose="02010600040101010101" pitchFamily="2" charset="-122"/>
              </a:rPr>
              <a:t>及最小系统</a:t>
            </a:r>
            <a:endParaRPr lang="zh-CN" altLang="en-US" sz="2400" b="1" dirty="0"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252" name="Rectangle 14"/>
          <p:cNvSpPr>
            <a:spLocks noChangeArrowheads="1"/>
          </p:cNvSpPr>
          <p:nvPr/>
        </p:nvSpPr>
        <p:spPr bwMode="auto">
          <a:xfrm>
            <a:off x="3789363" y="2278063"/>
            <a:ext cx="5200650" cy="4508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82550" tIns="41275" rIns="82550" bIns="41275"/>
          <a:lstStyle/>
          <a:p>
            <a:pPr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最小系统设计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、电源电路设计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183880" cy="46593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S3C2440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及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RTC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模块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时钟电路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提供的电源：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1.8V/300mA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存储器等的电源：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3.3V/ 600mA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实现：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DC-DC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转换器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实现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5V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到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3.3V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5V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到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1.8V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的转换。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 RTC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模块在外部掉电由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电池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供电</a:t>
            </a:r>
            <a:endParaRPr lang="zh-CN" altLang="en-US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60803" name="Picture 2"/>
          <p:cNvPicPr>
            <a:picLocks noChangeAspect="1" noChangeArrowheads="1"/>
          </p:cNvPicPr>
          <p:nvPr/>
        </p:nvPicPr>
        <p:blipFill>
          <a:blip r:embed="rId1"/>
          <a:srcRect l="-1770" t="-2165" r="-1770" b="-2165"/>
          <a:stretch>
            <a:fillRect/>
          </a:stretch>
        </p:blipFill>
        <p:spPr bwMode="auto">
          <a:xfrm>
            <a:off x="361953" y="500042"/>
            <a:ext cx="8496327" cy="5688219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</p:pic>
      <p:pic>
        <p:nvPicPr>
          <p:cNvPr id="4608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0115" y="1493492"/>
            <a:ext cx="1350065" cy="1215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715140" y="1785926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>
                <a:solidFill>
                  <a:srgbClr val="FF0000"/>
                </a:solidFill>
              </a:rPr>
              <a:t>电源指示灯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1953" y="2492896"/>
            <a:ext cx="753663" cy="851255"/>
          </a:xfrm>
          <a:prstGeom prst="rect">
            <a:avLst/>
          </a:pr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、晶振电路设计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183880" cy="501833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S3C2440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需要外部提供时钟信号：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外部晶振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或者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外部时钟信号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10-20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MHZ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内部时钟控制逻辑包括两个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PLL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MPLL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和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UPLL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 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MPLL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用于产生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FCLK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（最高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400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MHz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 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AHB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总线接口的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HCLK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APB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总线接口的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PCLK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UPLL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用于产生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USB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模块的时钟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UCLK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48MHZ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引脚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OM3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OM2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选择时钟源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lang="zh-CN" altLang="en-US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162800" cy="4495800"/>
          </a:xfrm>
        </p:spPr>
        <p:txBody>
          <a:bodyPr/>
          <a:lstStyle/>
          <a:p>
            <a:pPr>
              <a:buFontTx/>
              <a:buNone/>
            </a:pPr>
            <a:endParaRPr lang="zh-CN" altLang="zh-CN" dirty="0"/>
          </a:p>
        </p:txBody>
      </p:sp>
      <p:pic>
        <p:nvPicPr>
          <p:cNvPr id="12291" name="Picture 3" descr="{E4713A25-8C40-4CB1-8C4C-D96139C097BC}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4488" y="1277824"/>
            <a:ext cx="8096602" cy="4743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椭圆 7"/>
          <p:cNvSpPr/>
          <p:nvPr/>
        </p:nvSpPr>
        <p:spPr>
          <a:xfrm>
            <a:off x="107504" y="2859206"/>
            <a:ext cx="3154102" cy="78581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85728"/>
            <a:ext cx="8183880" cy="619512"/>
          </a:xfrm>
        </p:spPr>
        <p:txBody>
          <a:bodyPr>
            <a:normAutofit fontScale="90000"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S3C</a:t>
            </a:r>
            <a:r>
              <a:rPr lang="zh-CN" altLang="zh-CN" dirty="0" smtClean="0">
                <a:solidFill>
                  <a:srgbClr val="FF0000"/>
                </a:solidFill>
              </a:rPr>
              <a:t>24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zh-CN" dirty="0" smtClean="0">
                <a:solidFill>
                  <a:srgbClr val="FF0000"/>
                </a:solidFill>
              </a:rPr>
              <a:t>0</a:t>
            </a:r>
            <a:r>
              <a:rPr lang="zh-CN" altLang="zh-CN" dirty="0">
                <a:solidFill>
                  <a:srgbClr val="FF0000"/>
                </a:solidFill>
              </a:rPr>
              <a:t>X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内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部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61950" y="736600"/>
            <a:ext cx="8420100" cy="538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矩形 2"/>
          <p:cNvSpPr/>
          <p:nvPr/>
        </p:nvSpPr>
        <p:spPr>
          <a:xfrm>
            <a:off x="1928794" y="857232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29190" y="5929330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857620" y="5643578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143108" y="5643578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00694" y="5643578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000892" y="5357826"/>
            <a:ext cx="1714512" cy="100965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接口组成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9" y="1808127"/>
            <a:ext cx="8517203" cy="349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8596" y="1142984"/>
            <a:ext cx="8120377" cy="1497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2" name="Picture 2" descr="http://file.elecfans.com/web1/M00/45/5C/o4YBAFppiXeAeQ0vAAoeenwb34s09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3357562"/>
            <a:ext cx="4059235" cy="2857496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5292080" y="1412776"/>
            <a:ext cx="3256893" cy="360040"/>
          </a:xfrm>
          <a:prstGeom prst="rect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72154" y="2267346"/>
            <a:ext cx="3256893" cy="360040"/>
          </a:xfrm>
          <a:prstGeom prst="rect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Text Box 2"/>
          <p:cNvSpPr txBox="1">
            <a:spLocks noChangeArrowheads="1"/>
          </p:cNvSpPr>
          <p:nvPr/>
        </p:nvSpPr>
        <p:spPr bwMode="auto">
          <a:xfrm>
            <a:off x="381000" y="785794"/>
            <a:ext cx="8534400" cy="51117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000" rIns="18000" bIns="3600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OM[3:2]=00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时，</a:t>
            </a:r>
            <a:r>
              <a:rPr kumimoji="1"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MPLL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UPLL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的时钟均选择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外部石英振荡器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； </a:t>
            </a:r>
            <a:endParaRPr kumimoji="1"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62864" name="Picture 1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72042" y="2047857"/>
            <a:ext cx="4114800" cy="38433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</p:pic>
      <p:sp>
        <p:nvSpPr>
          <p:cNvPr id="462865" name="Text Box 17"/>
          <p:cNvSpPr txBox="1">
            <a:spLocks noChangeArrowheads="1"/>
          </p:cNvSpPr>
          <p:nvPr/>
        </p:nvSpPr>
        <p:spPr bwMode="auto">
          <a:xfrm>
            <a:off x="6729442" y="2171682"/>
            <a:ext cx="1304327" cy="50359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800" b="1" dirty="0" smtClean="0">
                <a:solidFill>
                  <a:schemeClr val="tx1"/>
                </a:solidFill>
                <a:latin typeface="Garamond" panose="02020404030301010803" pitchFamily="18" charset="0"/>
              </a:rPr>
              <a:t>S3C2440</a:t>
            </a:r>
            <a:endParaRPr lang="en-US" altLang="zh-CN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2866" name="Rectangle 18"/>
          <p:cNvSpPr>
            <a:spLocks noChangeArrowheads="1"/>
          </p:cNvSpPr>
          <p:nvPr/>
        </p:nvSpPr>
        <p:spPr bwMode="auto">
          <a:xfrm>
            <a:off x="328642" y="2047857"/>
            <a:ext cx="3962400" cy="3843337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 anchor="ctr"/>
          <a:lstStyle/>
          <a:p>
            <a:pPr algn="ctr"/>
            <a:endParaRPr lang="zh-CN" altLang="en-US" sz="28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2867" name="Rectangle 19"/>
          <p:cNvSpPr>
            <a:spLocks noChangeArrowheads="1"/>
          </p:cNvSpPr>
          <p:nvPr/>
        </p:nvSpPr>
        <p:spPr bwMode="auto">
          <a:xfrm>
            <a:off x="2157442" y="2125644"/>
            <a:ext cx="1676400" cy="36893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txBody>
          <a:bodyPr wrap="none" lIns="18000" tIns="36000" rIns="18000" bIns="36000" anchor="ctr"/>
          <a:lstStyle/>
          <a:p>
            <a:pPr algn="ctr"/>
            <a:endParaRPr lang="zh-CN" altLang="en-US" sz="28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2868" name="Text Box 20"/>
          <p:cNvSpPr txBox="1">
            <a:spLocks noChangeArrowheads="1"/>
          </p:cNvSpPr>
          <p:nvPr/>
        </p:nvSpPr>
        <p:spPr bwMode="auto">
          <a:xfrm>
            <a:off x="2309842" y="2171682"/>
            <a:ext cx="1304327" cy="50359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800" b="1" dirty="0" smtClean="0">
                <a:solidFill>
                  <a:schemeClr val="tx1"/>
                </a:solidFill>
                <a:latin typeface="Garamond" panose="02020404030301010803" pitchFamily="18" charset="0"/>
              </a:rPr>
              <a:t>S3C2440</a:t>
            </a:r>
            <a:endParaRPr lang="en-US" altLang="zh-CN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2869" name="Text Box 21"/>
          <p:cNvSpPr txBox="1">
            <a:spLocks noChangeArrowheads="1"/>
          </p:cNvSpPr>
          <p:nvPr/>
        </p:nvSpPr>
        <p:spPr bwMode="auto">
          <a:xfrm>
            <a:off x="2254280" y="3589319"/>
            <a:ext cx="588962" cy="37782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000" b="1">
                <a:solidFill>
                  <a:schemeClr val="tx1"/>
                </a:solidFill>
                <a:latin typeface="Garamond" panose="02020404030301010803" pitchFamily="18" charset="0"/>
              </a:rPr>
              <a:t>OM3</a:t>
            </a:r>
            <a:endParaRPr lang="en-US" altLang="zh-CN" sz="20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2870" name="Text Box 22"/>
          <p:cNvSpPr txBox="1">
            <a:spLocks noChangeArrowheads="1"/>
          </p:cNvSpPr>
          <p:nvPr/>
        </p:nvSpPr>
        <p:spPr bwMode="auto">
          <a:xfrm>
            <a:off x="2254280" y="4279882"/>
            <a:ext cx="588962" cy="37782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000" b="1">
                <a:solidFill>
                  <a:schemeClr val="tx1"/>
                </a:solidFill>
                <a:latin typeface="Garamond" panose="02020404030301010803" pitchFamily="18" charset="0"/>
              </a:rPr>
              <a:t>OM2</a:t>
            </a:r>
            <a:endParaRPr lang="en-US" altLang="zh-CN" sz="20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2871" name="Line 23"/>
          <p:cNvSpPr>
            <a:spLocks noChangeShapeType="1"/>
          </p:cNvSpPr>
          <p:nvPr/>
        </p:nvSpPr>
        <p:spPr bwMode="auto">
          <a:xfrm flipH="1">
            <a:off x="1241455" y="3736957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lIns="18000" tIns="36000" rIns="18000" bIns="36000"/>
          <a:lstStyle/>
          <a:p>
            <a:endParaRPr lang="zh-CN" altLang="en-US"/>
          </a:p>
        </p:txBody>
      </p:sp>
      <p:sp>
        <p:nvSpPr>
          <p:cNvPr id="462872" name="Line 24"/>
          <p:cNvSpPr>
            <a:spLocks noChangeShapeType="1"/>
          </p:cNvSpPr>
          <p:nvPr/>
        </p:nvSpPr>
        <p:spPr bwMode="auto">
          <a:xfrm flipH="1">
            <a:off x="1243042" y="4430694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oval" w="med" len="med"/>
          </a:ln>
          <a:effectLst/>
        </p:spPr>
        <p:txBody>
          <a:bodyPr lIns="18000" tIns="36000" rIns="18000" bIns="36000"/>
          <a:lstStyle/>
          <a:p>
            <a:endParaRPr lang="zh-CN" altLang="en-US"/>
          </a:p>
        </p:txBody>
      </p:sp>
      <p:sp>
        <p:nvSpPr>
          <p:cNvPr id="462873" name="Line 25"/>
          <p:cNvSpPr>
            <a:spLocks noChangeShapeType="1"/>
          </p:cNvSpPr>
          <p:nvPr/>
        </p:nvSpPr>
        <p:spPr bwMode="auto">
          <a:xfrm>
            <a:off x="1243042" y="3738544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lIns="18000" tIns="36000" rIns="18000" bIns="36000"/>
          <a:lstStyle/>
          <a:p>
            <a:endParaRPr lang="zh-CN" altLang="en-US"/>
          </a:p>
        </p:txBody>
      </p:sp>
      <p:sp>
        <p:nvSpPr>
          <p:cNvPr id="462874" name="AutoShape 26"/>
          <p:cNvSpPr>
            <a:spLocks noChangeArrowheads="1"/>
          </p:cNvSpPr>
          <p:nvPr/>
        </p:nvSpPr>
        <p:spPr bwMode="auto">
          <a:xfrm rot="10800000">
            <a:off x="1014442" y="4738669"/>
            <a:ext cx="457200" cy="230188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</a:ln>
          <a:effectLst/>
        </p:spPr>
        <p:txBody>
          <a:bodyPr wrap="none" lIns="18000" tIns="36000" rIns="18000" bIns="360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Text Box 2"/>
          <p:cNvSpPr txBox="1">
            <a:spLocks noChangeArrowheads="1"/>
          </p:cNvSpPr>
          <p:nvPr/>
        </p:nvSpPr>
        <p:spPr bwMode="auto">
          <a:xfrm>
            <a:off x="500034" y="1071546"/>
            <a:ext cx="8534400" cy="51117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000" rIns="18000" bIns="3600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>
                <a:solidFill>
                  <a:srgbClr val="0033CC"/>
                </a:solidFill>
                <a:latin typeface="Garamond" panose="02020404030301010803" pitchFamily="18" charset="0"/>
              </a:rPr>
              <a:t>OM[3:2]=11</a:t>
            </a:r>
            <a:r>
              <a:rPr kumimoji="1"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时，</a:t>
            </a:r>
            <a:r>
              <a:rPr kumimoji="1"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MPLL</a:t>
            </a:r>
            <a:r>
              <a:rPr kumimoji="1"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和</a:t>
            </a:r>
            <a:r>
              <a:rPr kumimoji="1"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UPLL</a:t>
            </a:r>
            <a:r>
              <a:rPr kumimoji="1"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的时钟均选择</a:t>
            </a:r>
            <a:r>
              <a:rPr kumimoji="1" lang="zh-CN" altLang="en-US" sz="2400" b="1">
                <a:solidFill>
                  <a:srgbClr val="FF0000"/>
                </a:solidFill>
                <a:latin typeface="Garamond" panose="02020404030301010803" pitchFamily="18" charset="0"/>
              </a:rPr>
              <a:t>外部时钟源</a:t>
            </a:r>
            <a:r>
              <a:rPr kumimoji="1"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pic>
        <p:nvPicPr>
          <p:cNvPr id="463876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91034" y="2138346"/>
            <a:ext cx="3886200" cy="419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63877" name="Rectangle 5"/>
          <p:cNvSpPr>
            <a:spLocks noChangeArrowheads="1"/>
          </p:cNvSpPr>
          <p:nvPr/>
        </p:nvSpPr>
        <p:spPr bwMode="auto">
          <a:xfrm>
            <a:off x="500034" y="2214546"/>
            <a:ext cx="3810000" cy="39624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 anchor="ctr"/>
          <a:lstStyle/>
          <a:p>
            <a:pPr algn="ctr"/>
            <a:endParaRPr lang="zh-CN" altLang="en-US" sz="28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3878" name="Rectangle 6"/>
          <p:cNvSpPr>
            <a:spLocks noChangeArrowheads="1"/>
          </p:cNvSpPr>
          <p:nvPr/>
        </p:nvSpPr>
        <p:spPr bwMode="auto">
          <a:xfrm>
            <a:off x="2252634" y="2366946"/>
            <a:ext cx="1905000" cy="3657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txBody>
          <a:bodyPr wrap="none" lIns="18000" tIns="36000" rIns="18000" bIns="36000" anchor="ctr"/>
          <a:lstStyle/>
          <a:p>
            <a:endParaRPr lang="zh-CN" altLang="en-US"/>
          </a:p>
        </p:txBody>
      </p:sp>
      <p:sp>
        <p:nvSpPr>
          <p:cNvPr id="463879" name="Line 7"/>
          <p:cNvSpPr>
            <a:spLocks noChangeShapeType="1"/>
          </p:cNvSpPr>
          <p:nvPr/>
        </p:nvSpPr>
        <p:spPr bwMode="auto">
          <a:xfrm>
            <a:off x="1262034" y="3662346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</a:ln>
          <a:effectLst/>
        </p:spPr>
        <p:txBody>
          <a:bodyPr lIns="18000" tIns="36000" rIns="18000" bIns="36000"/>
          <a:lstStyle/>
          <a:p>
            <a:endParaRPr lang="zh-CN" altLang="en-US"/>
          </a:p>
        </p:txBody>
      </p:sp>
      <p:sp>
        <p:nvSpPr>
          <p:cNvPr id="463880" name="Line 8"/>
          <p:cNvSpPr>
            <a:spLocks noChangeShapeType="1"/>
          </p:cNvSpPr>
          <p:nvPr/>
        </p:nvSpPr>
        <p:spPr bwMode="auto">
          <a:xfrm>
            <a:off x="1262034" y="3128946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lIns="18000" tIns="36000" rIns="18000" bIns="36000"/>
          <a:lstStyle/>
          <a:p>
            <a:endParaRPr lang="zh-CN" altLang="en-US"/>
          </a:p>
        </p:txBody>
      </p:sp>
      <p:sp>
        <p:nvSpPr>
          <p:cNvPr id="463881" name="Line 9"/>
          <p:cNvSpPr>
            <a:spLocks noChangeShapeType="1"/>
          </p:cNvSpPr>
          <p:nvPr/>
        </p:nvSpPr>
        <p:spPr bwMode="auto">
          <a:xfrm>
            <a:off x="1262034" y="4576746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lIns="18000" tIns="36000" rIns="18000" bIns="36000"/>
          <a:lstStyle/>
          <a:p>
            <a:endParaRPr lang="zh-CN" altLang="en-US"/>
          </a:p>
        </p:txBody>
      </p:sp>
      <p:sp>
        <p:nvSpPr>
          <p:cNvPr id="463882" name="Oval 10"/>
          <p:cNvSpPr>
            <a:spLocks noChangeArrowheads="1"/>
          </p:cNvSpPr>
          <p:nvPr/>
        </p:nvSpPr>
        <p:spPr bwMode="auto">
          <a:xfrm>
            <a:off x="1185834" y="2976546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8000" tIns="36000" rIns="18000" bIns="36000" anchor="ctr"/>
          <a:lstStyle/>
          <a:p>
            <a:endParaRPr lang="zh-CN" altLang="en-US"/>
          </a:p>
        </p:txBody>
      </p:sp>
      <p:sp>
        <p:nvSpPr>
          <p:cNvPr id="463883" name="Text Box 11"/>
          <p:cNvSpPr txBox="1">
            <a:spLocks noChangeArrowheads="1"/>
          </p:cNvSpPr>
          <p:nvPr/>
        </p:nvSpPr>
        <p:spPr bwMode="auto">
          <a:xfrm>
            <a:off x="965172" y="2671746"/>
            <a:ext cx="601662" cy="37782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000" b="1">
                <a:solidFill>
                  <a:schemeClr val="tx1"/>
                </a:solidFill>
                <a:latin typeface="Garamond" panose="02020404030301010803" pitchFamily="18" charset="0"/>
              </a:rPr>
              <a:t>VDD</a:t>
            </a:r>
            <a:endParaRPr lang="en-US" altLang="zh-CN" sz="20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3884" name="Text Box 12"/>
          <p:cNvSpPr txBox="1">
            <a:spLocks noChangeArrowheads="1"/>
          </p:cNvSpPr>
          <p:nvPr/>
        </p:nvSpPr>
        <p:spPr bwMode="auto">
          <a:xfrm>
            <a:off x="2328834" y="3509946"/>
            <a:ext cx="588963" cy="37782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000" b="1">
                <a:solidFill>
                  <a:schemeClr val="tx1"/>
                </a:solidFill>
                <a:latin typeface="Garamond" panose="02020404030301010803" pitchFamily="18" charset="0"/>
              </a:rPr>
              <a:t>OM3</a:t>
            </a:r>
            <a:endParaRPr lang="en-US" altLang="zh-CN" sz="20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3885" name="Text Box 13"/>
          <p:cNvSpPr txBox="1">
            <a:spLocks noChangeArrowheads="1"/>
          </p:cNvSpPr>
          <p:nvPr/>
        </p:nvSpPr>
        <p:spPr bwMode="auto">
          <a:xfrm>
            <a:off x="2328834" y="4348146"/>
            <a:ext cx="588963" cy="37782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000" b="1">
                <a:solidFill>
                  <a:schemeClr val="tx1"/>
                </a:solidFill>
                <a:latin typeface="Garamond" panose="02020404030301010803" pitchFamily="18" charset="0"/>
              </a:rPr>
              <a:t>OM2</a:t>
            </a:r>
            <a:endParaRPr lang="en-US" altLang="zh-CN" sz="20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3886" name="Text Box 14"/>
          <p:cNvSpPr txBox="1">
            <a:spLocks noChangeArrowheads="1"/>
          </p:cNvSpPr>
          <p:nvPr/>
        </p:nvSpPr>
        <p:spPr bwMode="auto">
          <a:xfrm>
            <a:off x="2557434" y="2519346"/>
            <a:ext cx="1123188" cy="44203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400" b="1" dirty="0" smtClean="0">
                <a:solidFill>
                  <a:schemeClr val="tx1"/>
                </a:solidFill>
                <a:latin typeface="Garamond" panose="02020404030301010803" pitchFamily="18" charset="0"/>
              </a:rPr>
              <a:t>S3C2440</a:t>
            </a:r>
            <a:endParaRPr lang="en-US" altLang="zh-CN" sz="24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3887" name="Text Box 15"/>
          <p:cNvSpPr txBox="1">
            <a:spLocks noChangeArrowheads="1"/>
          </p:cNvSpPr>
          <p:nvPr/>
        </p:nvSpPr>
        <p:spPr bwMode="auto">
          <a:xfrm>
            <a:off x="6754784" y="2443146"/>
            <a:ext cx="1123188" cy="44203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en-US" altLang="zh-CN" sz="2400" b="1" dirty="0" smtClean="0">
                <a:solidFill>
                  <a:schemeClr val="tx1"/>
                </a:solidFill>
                <a:latin typeface="Garamond" panose="02020404030301010803" pitchFamily="18" charset="0"/>
              </a:rPr>
              <a:t>S3C2440</a:t>
            </a:r>
            <a:endParaRPr lang="en-US" altLang="zh-CN" sz="24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457200"/>
            <a:ext cx="8229600" cy="685800"/>
          </a:xfrm>
        </p:spPr>
        <p:txBody>
          <a:bodyPr/>
          <a:lstStyle/>
          <a:p>
            <a:r>
              <a:rPr lang="zh-CN" altLang="en-US" sz="2400" dirty="0"/>
              <a:t>外部振荡器晶振</a:t>
            </a:r>
            <a:r>
              <a:rPr lang="zh-CN" altLang="en-US" sz="2400" dirty="0" smtClean="0"/>
              <a:t>电路</a:t>
            </a:r>
            <a:endParaRPr lang="zh-CN" altLang="en-US" sz="2400" dirty="0"/>
          </a:p>
        </p:txBody>
      </p:sp>
      <p:pic>
        <p:nvPicPr>
          <p:cNvPr id="464899" name="Picture 2"/>
          <p:cNvPicPr>
            <a:picLocks noChangeAspect="1" noChangeArrowheads="1"/>
          </p:cNvPicPr>
          <p:nvPr/>
        </p:nvPicPr>
        <p:blipFill>
          <a:blip r:embed="rId1"/>
          <a:srcRect l="-2512" t="-4695" r="-2512" b="-4695"/>
          <a:stretch>
            <a:fillRect/>
          </a:stretch>
        </p:blipFill>
        <p:spPr bwMode="auto">
          <a:xfrm>
            <a:off x="304800" y="1905000"/>
            <a:ext cx="8534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4900" name="Text Box 4"/>
          <p:cNvSpPr txBox="1">
            <a:spLocks noChangeArrowheads="1"/>
          </p:cNvSpPr>
          <p:nvPr/>
        </p:nvSpPr>
        <p:spPr bwMode="auto">
          <a:xfrm>
            <a:off x="381000" y="5146675"/>
            <a:ext cx="8451850" cy="94932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        外部振荡器电路有</a:t>
            </a: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12MHz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晶振和</a:t>
            </a: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个</a:t>
            </a: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15pF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的微调电容组成，</a:t>
            </a:r>
            <a:endParaRPr lang="zh-CN" altLang="en-US" sz="2400" b="1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12MHz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的时钟信号经过片内的</a:t>
            </a: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PLL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倍频可以达到</a:t>
            </a: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203MHz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。</a:t>
            </a:r>
            <a:endParaRPr lang="zh-CN" altLang="en-US" sz="24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64901" name="Text Box 5"/>
          <p:cNvSpPr txBox="1">
            <a:spLocks noChangeArrowheads="1"/>
          </p:cNvSpPr>
          <p:nvPr/>
        </p:nvSpPr>
        <p:spPr bwMode="auto">
          <a:xfrm>
            <a:off x="993775" y="5962650"/>
            <a:ext cx="5540375" cy="43815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8000" tIns="36000" rIns="18000" bIns="3600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系统所需要的</a:t>
            </a:r>
            <a:r>
              <a:rPr lang="en-US" altLang="zh-CN" sz="2400" b="1">
                <a:solidFill>
                  <a:schemeClr val="tx1"/>
                </a:solidFill>
                <a:latin typeface="Garamond" panose="02020404030301010803" pitchFamily="18" charset="0"/>
              </a:rPr>
              <a:t>RTC</a:t>
            </a:r>
            <a:r>
              <a:rPr lang="zh-CN" altLang="en-US" sz="2400" b="1">
                <a:solidFill>
                  <a:schemeClr val="tx1"/>
                </a:solidFill>
                <a:latin typeface="Garamond" panose="02020404030301010803" pitchFamily="18" charset="0"/>
              </a:rPr>
              <a:t>时钟采用相同的方式。</a:t>
            </a:r>
            <a:endParaRPr lang="zh-CN" altLang="en-US" sz="2400" b="1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pic>
        <p:nvPicPr>
          <p:cNvPr id="4649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1295400"/>
            <a:ext cx="990600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4904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371600"/>
            <a:ext cx="1524000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build="p"/>
      <p:bldP spid="464900" grpId="0"/>
      <p:bldP spid="46490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、复位电路设计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183880" cy="46593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复位信号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nRESET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(J12)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使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S3C2440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初始化为某个确定的状态。大多数微处理器需要外部输入这个信号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0"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复位信号时序</a:t>
            </a:r>
            <a:endParaRPr lang="zh-CN" altLang="en-US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50638" y="4162434"/>
            <a:ext cx="6393196" cy="1766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4348" y="571480"/>
            <a:ext cx="76438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5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阻容复位（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RC)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：成本低廉，但不能保证任何情况产生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稳定可靠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的复位信号</a:t>
            </a:r>
            <a:endParaRPr kumimoji="1"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2411760" y="2228800"/>
            <a:ext cx="3810000" cy="3200400"/>
            <a:chOff x="2112" y="1488"/>
            <a:chExt cx="2400" cy="2016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072" y="1488"/>
              <a:ext cx="1440" cy="20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36000" rIns="18000" bIns="36000" anchor="ctr"/>
            <a:lstStyle/>
            <a:p>
              <a:pPr algn="ctr"/>
              <a:endParaRPr lang="zh-CN" altLang="en-US" sz="2800" b="1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328" y="1509"/>
              <a:ext cx="822" cy="31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none" lIns="18000" tIns="36000" rIns="18000" bIns="3600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tx1"/>
                  </a:solidFill>
                  <a:latin typeface="Garamond" panose="02020404030301010803" pitchFamily="18" charset="0"/>
                </a:rPr>
                <a:t>S3C2440</a:t>
              </a:r>
              <a:endParaRPr lang="en-US" altLang="zh-CN" sz="2800" b="1" dirty="0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152" y="2256"/>
              <a:ext cx="640" cy="2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none" lIns="18000" tIns="36000" rIns="18000" bIns="36000">
              <a:spAutoFit/>
            </a:bodyPr>
            <a:lstStyle/>
            <a:p>
              <a:r>
                <a:rPr lang="en-US" altLang="zh-CN" sz="2000" b="1">
                  <a:solidFill>
                    <a:schemeClr val="tx1"/>
                  </a:solidFill>
                  <a:latin typeface="Garamond" panose="02020404030301010803" pitchFamily="18" charset="0"/>
                </a:rPr>
                <a:t>nRESET</a:t>
              </a:r>
              <a:endParaRPr lang="en-US" altLang="zh-CN" sz="2000" b="1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208" y="1824"/>
              <a:ext cx="96" cy="3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36000" rIns="18000" bIns="36000" anchor="ctr"/>
            <a:lstStyle/>
            <a:p>
              <a:pPr algn="ctr"/>
              <a:endParaRPr lang="zh-CN" altLang="en-US" sz="2800" b="1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112" y="254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lIns="18000" tIns="36000" rIns="18000" bIns="36000"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112" y="264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lIns="18000" tIns="36000" rIns="18000" bIns="36000"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256" y="220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lIns="18000" tIns="36000" rIns="18000" bIns="36000"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256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lIns="18000" tIns="36000" rIns="18000" bIns="36000"/>
            <a:lstStyle/>
            <a:p>
              <a:endParaRPr lang="zh-CN" altLang="en-US"/>
            </a:p>
          </p:txBody>
        </p:sp>
        <p:sp>
          <p:nvSpPr>
            <p:cNvPr id="14" name="AutoShape 13"/>
            <p:cNvSpPr>
              <a:spLocks noChangeArrowheads="1"/>
            </p:cNvSpPr>
            <p:nvPr/>
          </p:nvSpPr>
          <p:spPr bwMode="auto">
            <a:xfrm rot="10800000">
              <a:off x="2112" y="2928"/>
              <a:ext cx="288" cy="144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36000" rIns="18000" bIns="36000" anchor="ctr"/>
            <a:lstStyle/>
            <a:p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2208" y="1584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18000" tIns="36000" rIns="18000" bIns="36000" anchor="ctr"/>
            <a:lstStyle/>
            <a:p>
              <a:endParaRPr lang="zh-CN" alt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255" y="1679"/>
              <a:ext cx="0" cy="1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lIns="18000" tIns="36000" rIns="18000" bIns="36000"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256" y="235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 lIns="18000" tIns="36000" rIns="18000" bIns="36000"/>
            <a:lstStyle/>
            <a:p>
              <a:endParaRPr lang="zh-CN" alt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2304" y="1488"/>
              <a:ext cx="344" cy="21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none" lIns="18000" tIns="36000" rIns="18000" bIns="36000">
              <a:spAutoFit/>
            </a:bodyPr>
            <a:lstStyle/>
            <a:p>
              <a:r>
                <a:rPr lang="en-US" altLang="zh-CN" sz="1800" b="1">
                  <a:solidFill>
                    <a:schemeClr val="tx1"/>
                  </a:solidFill>
                  <a:latin typeface="Garamond" panose="02020404030301010803" pitchFamily="18" charset="0"/>
                </a:rPr>
                <a:t>VDD</a:t>
              </a:r>
              <a:endParaRPr lang="en-US" altLang="zh-CN" sz="1800" b="1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347" y="1872"/>
              <a:ext cx="245" cy="2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none" lIns="18000" tIns="36000" rIns="18000" bIns="36000">
              <a:spAutoFit/>
            </a:bodyPr>
            <a:lstStyle/>
            <a:p>
              <a:r>
                <a:rPr lang="en-US" altLang="zh-CN" sz="2000" b="1">
                  <a:solidFill>
                    <a:schemeClr val="tx1"/>
                  </a:solidFill>
                  <a:latin typeface="Garamond" panose="02020404030301010803" pitchFamily="18" charset="0"/>
                </a:rPr>
                <a:t>10k</a:t>
              </a:r>
              <a:endParaRPr lang="en-US" altLang="zh-CN" sz="2000" b="1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437" y="2450"/>
              <a:ext cx="346" cy="2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none" lIns="18000" tIns="36000" rIns="18000" bIns="36000">
              <a:spAutoFit/>
            </a:bodyPr>
            <a:lstStyle/>
            <a:p>
              <a:r>
                <a:rPr lang="en-US" altLang="zh-CN" sz="2000" b="1" dirty="0">
                  <a:solidFill>
                    <a:schemeClr val="tx1"/>
                  </a:solidFill>
                  <a:latin typeface="Garamond" panose="02020404030301010803" pitchFamily="18" charset="0"/>
                </a:rPr>
                <a:t>10uF</a:t>
              </a:r>
              <a:endParaRPr lang="en-US" altLang="zh-CN" sz="2000" b="1" dirty="0">
                <a:solidFill>
                  <a:schemeClr val="tx1"/>
                </a:solidFill>
                <a:latin typeface="Garamond" panose="02020404030301010803" pitchFamily="18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161368" y="5949280"/>
            <a:ext cx="43615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2000" i="1" dirty="0"/>
              <a:t>Vt = </a:t>
            </a:r>
            <a:r>
              <a:rPr lang="fr-FR" altLang="zh-CN" sz="2000" i="1" dirty="0" smtClean="0"/>
              <a:t>VDD </a:t>
            </a:r>
            <a:r>
              <a:rPr lang="fr-FR" altLang="zh-CN" sz="2000" i="1" dirty="0"/>
              <a:t>* [1 – exp( -t/RC)]</a:t>
            </a:r>
            <a:r>
              <a:rPr lang="fr-FR" altLang="zh-CN" sz="2000" dirty="0"/>
              <a:t> 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4348" y="571480"/>
            <a:ext cx="76438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5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更可靠的复位电路</a:t>
            </a:r>
            <a:endParaRPr kumimoji="1"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"/>
          <a:srcRect l="-1852" t="-3818" r="-1852" b="-3818"/>
          <a:stretch>
            <a:fillRect/>
          </a:stretch>
        </p:blipFill>
        <p:spPr bwMode="auto">
          <a:xfrm>
            <a:off x="428596" y="1666892"/>
            <a:ext cx="8302340" cy="4476752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2428860" y="3500438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179512" y="2564904"/>
            <a:ext cx="1368152" cy="324036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2910" y="478367"/>
            <a:ext cx="7858180" cy="5593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5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工作原理：</a:t>
            </a:r>
            <a:endParaRPr kumimoji="1" lang="en-US" altLang="zh-CN" sz="28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(1)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系统上电时，通过电阻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R108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向电容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C162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充电，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C162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相当于导通，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点为低电平，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28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nReset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端输出为低电平系统处于复位状态；当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C162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两端的电压达到高电平的门限电压时，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28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nReset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端输出为高电平，系统进入正常工作状态。</a:t>
            </a:r>
            <a:endParaRPr kumimoji="1" lang="en-US" altLang="zh-CN" sz="28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(2)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当按下按钮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RESET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时，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C162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两端的电荷被泻放掉，</a:t>
            </a:r>
            <a:r>
              <a:rPr kumimoji="1" lang="en-US" altLang="zh-CN" sz="28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nReset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端输出为低电平，系统进入复位状态。</a:t>
            </a:r>
            <a:endParaRPr kumimoji="1" lang="en-US" altLang="zh-CN" sz="28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(3)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二极管的作用是：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VDD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掉电后，加快电容的放电</a:t>
            </a:r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速度，防止不稳定状态。</a:t>
            </a:r>
            <a:endParaRPr kumimoji="1"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4348" y="571480"/>
            <a:ext cx="8001056" cy="1018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实际工程使用复位芯片（如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MAX811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或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IMP811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）实现复位</a:t>
            </a:r>
            <a:endParaRPr kumimoji="1"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0" y="2071678"/>
            <a:ext cx="8039339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JTAG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调试接口设计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183880" cy="46593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IEEE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制定的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JTAG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标准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主要用于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芯片内部测试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及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对系统进行调试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芯片内部有专门的电路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测试访问接口（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TAP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），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通过专用的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JTAG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测试工具对内部节点进行测试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目前大多数微处理器（</a:t>
            </a:r>
            <a:r>
              <a:rPr kumimoji="1" lang="en-US" altLang="zh-CN" b="1" dirty="0" smtClean="0">
                <a:latin typeface="楷体_GB2312" pitchFamily="49" charset="-122"/>
                <a:ea typeface="楷体_GB2312" pitchFamily="49" charset="-122"/>
              </a:rPr>
              <a:t> ARM</a:t>
            </a:r>
            <a:r>
              <a:rPr kumimoji="1" lang="zh-CN" altLang="en-US" b="1" dirty="0" smtClean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kumimoji="1" lang="en-US" altLang="zh-CN" b="1" dirty="0" smtClean="0">
                <a:latin typeface="楷体_GB2312" pitchFamily="49" charset="-122"/>
                <a:ea typeface="楷体_GB2312" pitchFamily="49" charset="-122"/>
              </a:rPr>
              <a:t>DSP</a:t>
            </a:r>
            <a:r>
              <a:rPr kumimoji="1" lang="zh-CN" altLang="en-US" b="1" dirty="0" smtClean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kumimoji="1" lang="en-US" altLang="zh-CN" b="1" dirty="0" smtClean="0">
                <a:latin typeface="楷体_GB2312" pitchFamily="49" charset="-122"/>
                <a:ea typeface="楷体_GB2312" pitchFamily="49" charset="-122"/>
              </a:rPr>
              <a:t>FPGA 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）都支持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JTAG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标准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92576" y="44624"/>
            <a:ext cx="8183880" cy="76352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早期调试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仿真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36745" y="1612779"/>
            <a:ext cx="2500330" cy="4601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87601" y="2612912"/>
            <a:ext cx="1500198" cy="192882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51059" y="118415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嵌入式系统硬件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6145297" y="2136234"/>
            <a:ext cx="12186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CPU</a:t>
            </a:r>
            <a:r>
              <a:rPr lang="zh-CN" altLang="en-US" sz="2000" dirty="0" smtClean="0"/>
              <a:t>插座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3347863" y="2562604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电缆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971599" y="1612780"/>
            <a:ext cx="2212298" cy="4601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547663" y="1184152"/>
            <a:ext cx="518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PC</a:t>
            </a:r>
            <a:endParaRPr lang="zh-CN" altLang="en-US" sz="2000" dirty="0"/>
          </a:p>
        </p:txBody>
      </p:sp>
      <p:sp>
        <p:nvSpPr>
          <p:cNvPr id="9" name="左右箭头 8"/>
          <p:cNvSpPr/>
          <p:nvPr/>
        </p:nvSpPr>
        <p:spPr>
          <a:xfrm>
            <a:off x="2699792" y="3126425"/>
            <a:ext cx="3528392" cy="928694"/>
          </a:xfrm>
          <a:prstGeom prst="left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842535" y="2852936"/>
            <a:ext cx="857256" cy="1928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976910" y="3524396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并口</a:t>
            </a:r>
            <a:endParaRPr lang="zh-CN" altLang="en-US" sz="2000" dirty="0"/>
          </a:p>
        </p:txBody>
      </p:sp>
      <p:sp>
        <p:nvSpPr>
          <p:cNvPr id="16" name="矩形 15"/>
          <p:cNvSpPr/>
          <p:nvPr/>
        </p:nvSpPr>
        <p:spPr>
          <a:xfrm>
            <a:off x="6051059" y="4970366"/>
            <a:ext cx="723904" cy="5095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470295" y="4970366"/>
            <a:ext cx="723904" cy="5095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6339409" y="4756052"/>
            <a:ext cx="1497600" cy="1588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rot="5400000">
            <a:off x="7015472" y="4648895"/>
            <a:ext cx="214314" cy="1588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rot="5400000">
            <a:off x="6230448" y="4862415"/>
            <a:ext cx="214314" cy="1588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rot="5400000">
            <a:off x="7730646" y="4862415"/>
            <a:ext cx="214314" cy="1588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161403" y="1960280"/>
            <a:ext cx="1950486" cy="7143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61403" y="2114565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仿真运行程序</a:t>
            </a:r>
            <a:endParaRPr lang="zh-CN" altLang="en-US" sz="2000" dirty="0"/>
          </a:p>
        </p:txBody>
      </p:sp>
      <p:sp>
        <p:nvSpPr>
          <p:cNvPr id="25" name="矩形 24"/>
          <p:cNvSpPr/>
          <p:nvPr/>
        </p:nvSpPr>
        <p:spPr>
          <a:xfrm>
            <a:off x="6730134" y="4872538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总线</a:t>
            </a:r>
            <a:endParaRPr lang="zh-CN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052228" y="5496994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主存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8203403" y="5025106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接口</a:t>
            </a:r>
            <a:endParaRPr lang="zh-CN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7622695" y="3256424"/>
            <a:ext cx="723904" cy="5095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658176" y="3734660"/>
            <a:ext cx="6976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辅助</a:t>
            </a:r>
            <a:endParaRPr lang="en-US" altLang="zh-CN" sz="2000" dirty="0" smtClean="0"/>
          </a:p>
          <a:p>
            <a:r>
              <a:rPr lang="zh-CN" altLang="en-US" sz="2000" dirty="0" smtClean="0"/>
              <a:t>电路</a:t>
            </a:r>
            <a:endParaRPr lang="zh-CN" altLang="en-US" sz="2000" dirty="0"/>
          </a:p>
        </p:txBody>
      </p:sp>
      <p:cxnSp>
        <p:nvCxnSpPr>
          <p:cNvPr id="3" name="直接连接符 2"/>
          <p:cNvCxnSpPr>
            <a:stCxn id="28" idx="1"/>
          </p:cNvCxnSpPr>
          <p:nvPr/>
        </p:nvCxnSpPr>
        <p:spPr>
          <a:xfrm flipH="1">
            <a:off x="7470295" y="3511219"/>
            <a:ext cx="152400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十字星 3"/>
          <p:cNvSpPr/>
          <p:nvPr/>
        </p:nvSpPr>
        <p:spPr>
          <a:xfrm>
            <a:off x="7658176" y="5869492"/>
            <a:ext cx="326471" cy="344887"/>
          </a:xfrm>
          <a:prstGeom prst="star4">
            <a:avLst/>
          </a:pr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>
            <a:stCxn id="17" idx="2"/>
            <a:endCxn id="4" idx="0"/>
          </p:cNvCxnSpPr>
          <p:nvPr/>
        </p:nvCxnSpPr>
        <p:spPr>
          <a:xfrm flipH="1">
            <a:off x="7821412" y="5479956"/>
            <a:ext cx="10835" cy="389536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8324569" y="5814269"/>
            <a:ext cx="639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Led</a:t>
            </a:r>
            <a:endParaRPr lang="en-US" altLang="zh-CN" sz="2000" dirty="0" smtClean="0"/>
          </a:p>
        </p:txBody>
      </p:sp>
      <p:sp>
        <p:nvSpPr>
          <p:cNvPr id="30" name="矩形 29"/>
          <p:cNvSpPr/>
          <p:nvPr/>
        </p:nvSpPr>
        <p:spPr>
          <a:xfrm>
            <a:off x="4075258" y="2962713"/>
            <a:ext cx="857256" cy="10924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995936" y="3392323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仿真器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/>
      <p:bldP spid="10" grpId="0"/>
      <p:bldP spid="12" grpId="0" animBg="1"/>
      <p:bldP spid="13" grpId="0"/>
      <p:bldP spid="9" grpId="0" animBg="1"/>
      <p:bldP spid="14" grpId="0" animBg="1"/>
      <p:bldP spid="15" grpId="0"/>
      <p:bldP spid="20" grpId="0" animBg="1"/>
      <p:bldP spid="24" grpId="0"/>
      <p:bldP spid="30" grpId="0" animBg="1"/>
      <p:bldP spid="3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59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28771" y="2276475"/>
          <a:ext cx="8563709" cy="3337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52" name="Visio" r:id="rId1" imgW="6197600" imgH="2164080" progId="">
                  <p:embed/>
                </p:oleObj>
              </mc:Choice>
              <mc:Fallback>
                <p:oleObj name="Visio" r:id="rId1" imgW="6197600" imgH="2164080" progId="">
                  <p:embed/>
                  <p:pic>
                    <p:nvPicPr>
                      <p:cNvPr id="0" name="图片 43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" y="2276475"/>
                        <a:ext cx="8563709" cy="3337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95536" y="620688"/>
            <a:ext cx="8321578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ARM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处理器的实时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JTAG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仿真器与开发板的连线图</a:t>
            </a:r>
            <a:endParaRPr kumimoji="1"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6567" y="1988098"/>
            <a:ext cx="249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Multi-ICE</a:t>
            </a:r>
            <a:r>
              <a:rPr lang="zh-CN" altLang="en-US" dirty="0" smtClean="0"/>
              <a:t>或</a:t>
            </a:r>
            <a:r>
              <a:rPr lang="en-US" altLang="zh-CN" dirty="0" smtClean="0"/>
              <a:t>H-JTAG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19575" y="5429264"/>
            <a:ext cx="12461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TAP</a:t>
            </a:r>
            <a:r>
              <a:rPr lang="zh-CN" altLang="en-US" dirty="0" smtClean="0"/>
              <a:t>接口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305589" y="1788043"/>
            <a:ext cx="15053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嵌入式系统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F3421-8B96-4548-8EA9-CAA957B4DC39}" type="slidenum">
              <a:rPr lang="ko-KR" altLang="en-US"/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S3C</a:t>
            </a:r>
            <a:r>
              <a:rPr lang="zh-CN" altLang="zh-CN" dirty="0" smtClean="0">
                <a:solidFill>
                  <a:srgbClr val="FF0000"/>
                </a:solidFill>
              </a:rPr>
              <a:t>24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zh-CN" dirty="0" smtClean="0">
                <a:solidFill>
                  <a:srgbClr val="FF0000"/>
                </a:solidFill>
              </a:rPr>
              <a:t>0</a:t>
            </a:r>
            <a:r>
              <a:rPr lang="zh-CN" altLang="zh-CN" dirty="0">
                <a:solidFill>
                  <a:srgbClr val="FF0000"/>
                </a:solidFill>
              </a:rPr>
              <a:t>X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内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部</a:t>
            </a:r>
            <a:r>
              <a:rPr 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11267" name="Picture 3" descr="{FD894486-7B69-4747-9AE1-36F379192B8D}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528" y="1500174"/>
            <a:ext cx="8001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714348" y="1428736"/>
            <a:ext cx="1357322" cy="57150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14480" y="3429000"/>
            <a:ext cx="1357322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85720" y="3571876"/>
            <a:ext cx="1143008" cy="79534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33CC"/>
                </a:solidFill>
              </a:rPr>
              <a:t>JTAG</a:t>
            </a:r>
            <a:r>
              <a:rPr lang="zh-CN" altLang="en-US">
                <a:solidFill>
                  <a:srgbClr val="0033CC"/>
                </a:solidFill>
              </a:rPr>
              <a:t>接口的</a:t>
            </a:r>
            <a:r>
              <a:rPr lang="en-US" altLang="zh-CN">
                <a:solidFill>
                  <a:srgbClr val="0033CC"/>
                </a:solidFill>
              </a:rPr>
              <a:t>IC</a:t>
            </a:r>
            <a:r>
              <a:rPr lang="zh-CN" altLang="en-US">
                <a:solidFill>
                  <a:srgbClr val="0033CC"/>
                </a:solidFill>
              </a:rPr>
              <a:t>内部结构</a:t>
            </a:r>
            <a:endParaRPr lang="zh-CN" altLang="en-US">
              <a:solidFill>
                <a:srgbClr val="0033CC"/>
              </a:solidFill>
            </a:endParaRPr>
          </a:p>
        </p:txBody>
      </p:sp>
      <p:graphicFrame>
        <p:nvGraphicFramePr>
          <p:cNvPr id="492547" name="Object 3"/>
          <p:cNvGraphicFramePr>
            <a:graphicFrameLocks noChangeAspect="1"/>
          </p:cNvGraphicFramePr>
          <p:nvPr/>
        </p:nvGraphicFramePr>
        <p:xfrm>
          <a:off x="514350" y="285750"/>
          <a:ext cx="7467600" cy="616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8" name="VISIO" r:id="rId1" imgW="6283960" imgH="5170170" progId="">
                  <p:embed/>
                </p:oleObj>
              </mc:Choice>
              <mc:Fallback>
                <p:oleObj name="VISIO" r:id="rId1" imgW="6283960" imgH="517017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285750"/>
                        <a:ext cx="7467600" cy="6164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1800">
              <a:solidFill>
                <a:schemeClr val="tx1"/>
              </a:solidFill>
              <a:latin typeface="Franklin Gothic Book" panose="020B05030201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51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1800">
              <a:solidFill>
                <a:schemeClr val="tx1"/>
              </a:solidFill>
              <a:latin typeface="Franklin Gothic Book" panose="020B05030201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42910" y="500042"/>
            <a:ext cx="800105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20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针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JTAG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接口定义</a:t>
            </a:r>
            <a:endParaRPr kumimoji="1" lang="zh-CN" altLang="en-US" sz="28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48" name="Group 3"/>
          <p:cNvGrpSpPr/>
          <p:nvPr/>
        </p:nvGrpSpPr>
        <p:grpSpPr bwMode="auto">
          <a:xfrm>
            <a:off x="914400" y="1428736"/>
            <a:ext cx="6443682" cy="5200664"/>
            <a:chOff x="576" y="96"/>
            <a:chExt cx="4608" cy="4080"/>
          </a:xfrm>
        </p:grpSpPr>
        <p:sp>
          <p:nvSpPr>
            <p:cNvPr id="49" name="Rectangle 4"/>
            <p:cNvSpPr>
              <a:spLocks noChangeArrowheads="1"/>
            </p:cNvSpPr>
            <p:nvPr/>
          </p:nvSpPr>
          <p:spPr bwMode="auto">
            <a:xfrm>
              <a:off x="576" y="1152"/>
              <a:ext cx="953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引</a:t>
              </a:r>
              <a:r>
                <a:rPr 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脚</a:t>
              </a:r>
              <a:endParaRPr lang="zh-CN" altLang="en-US" sz="1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1529" y="1152"/>
              <a:ext cx="954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名</a:t>
              </a:r>
              <a:r>
                <a:rPr 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称</a:t>
              </a:r>
              <a:endParaRPr lang="zh-CN" altLang="en-US" sz="1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>
              <a:off x="2483" y="1152"/>
              <a:ext cx="2701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描</a:t>
              </a:r>
              <a:r>
                <a:rPr 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r>
                <a:rPr lang="zh-CN" altLang="en-US" sz="18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述</a:t>
              </a:r>
              <a:endParaRPr lang="zh-CN" altLang="en-US" sz="1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576" y="1399"/>
              <a:ext cx="95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1529" y="1399"/>
              <a:ext cx="954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VTref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2483" y="1399"/>
              <a:ext cx="2701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目标板参考电压，接电源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576" y="1644"/>
              <a:ext cx="953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1529" y="1644"/>
              <a:ext cx="954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VCC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2483" y="1644"/>
              <a:ext cx="2701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接电源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576" y="1891"/>
              <a:ext cx="953" cy="2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" name="Rectangle 14"/>
            <p:cNvSpPr>
              <a:spLocks noChangeArrowheads="1"/>
            </p:cNvSpPr>
            <p:nvPr/>
          </p:nvSpPr>
          <p:spPr bwMode="auto">
            <a:xfrm>
              <a:off x="1529" y="1891"/>
              <a:ext cx="954" cy="2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nTRST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" name="Rectangle 15"/>
            <p:cNvSpPr>
              <a:spLocks noChangeArrowheads="1"/>
            </p:cNvSpPr>
            <p:nvPr/>
          </p:nvSpPr>
          <p:spPr bwMode="auto">
            <a:xfrm>
              <a:off x="2483" y="1891"/>
              <a:ext cx="2701" cy="2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测试系统复位信号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576" y="2137"/>
              <a:ext cx="953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1529" y="2137"/>
              <a:ext cx="954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TDI</a:t>
              </a:r>
              <a:endPara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2483" y="2137"/>
              <a:ext cx="2701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测试数据串行输入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576" y="2409"/>
              <a:ext cx="953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1529" y="2409"/>
              <a:ext cx="954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TMS</a:t>
              </a:r>
              <a:endPara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2483" y="2409"/>
              <a:ext cx="2701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测试模式选择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576" y="2656"/>
              <a:ext cx="953" cy="2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1529" y="2656"/>
              <a:ext cx="954" cy="2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TCK</a:t>
              </a:r>
              <a:endPara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483" y="2656"/>
              <a:ext cx="2701" cy="2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测试时钟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576" y="2900"/>
              <a:ext cx="953" cy="2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11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1529" y="2900"/>
              <a:ext cx="954" cy="2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RTCK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2483" y="2900"/>
              <a:ext cx="2701" cy="2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测试时钟返回信号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" name="Rectangle 28"/>
            <p:cNvSpPr>
              <a:spLocks noChangeArrowheads="1"/>
            </p:cNvSpPr>
            <p:nvPr/>
          </p:nvSpPr>
          <p:spPr bwMode="auto">
            <a:xfrm>
              <a:off x="576" y="3166"/>
              <a:ext cx="953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13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4" name="Rectangle 29"/>
            <p:cNvSpPr>
              <a:spLocks noChangeArrowheads="1"/>
            </p:cNvSpPr>
            <p:nvPr/>
          </p:nvSpPr>
          <p:spPr bwMode="auto">
            <a:xfrm>
              <a:off x="1529" y="3166"/>
              <a:ext cx="954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TDO</a:t>
              </a:r>
              <a:endPara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5" name="Rectangle 30"/>
            <p:cNvSpPr>
              <a:spLocks noChangeArrowheads="1"/>
            </p:cNvSpPr>
            <p:nvPr/>
          </p:nvSpPr>
          <p:spPr bwMode="auto">
            <a:xfrm>
              <a:off x="2483" y="3166"/>
              <a:ext cx="2701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测试数据串行输出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" name="Rectangle 31"/>
            <p:cNvSpPr>
              <a:spLocks noChangeArrowheads="1"/>
            </p:cNvSpPr>
            <p:nvPr/>
          </p:nvSpPr>
          <p:spPr bwMode="auto">
            <a:xfrm>
              <a:off x="576" y="3413"/>
              <a:ext cx="953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15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7" name="Rectangle 32"/>
            <p:cNvSpPr>
              <a:spLocks noChangeArrowheads="1"/>
            </p:cNvSpPr>
            <p:nvPr/>
          </p:nvSpPr>
          <p:spPr bwMode="auto">
            <a:xfrm>
              <a:off x="1529" y="3413"/>
              <a:ext cx="954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 dirty="0" err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nRESET</a:t>
              </a:r>
              <a:endParaRPr lang="zh-CN" altLang="zh-CN" sz="1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8" name="Rectangle 33"/>
            <p:cNvSpPr>
              <a:spLocks noChangeArrowheads="1"/>
            </p:cNvSpPr>
            <p:nvPr/>
          </p:nvSpPr>
          <p:spPr bwMode="auto">
            <a:xfrm>
              <a:off x="2483" y="3413"/>
              <a:ext cx="2701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目标系统复位信号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" name="Rectangle 34"/>
            <p:cNvSpPr>
              <a:spLocks noChangeArrowheads="1"/>
            </p:cNvSpPr>
            <p:nvPr/>
          </p:nvSpPr>
          <p:spPr bwMode="auto">
            <a:xfrm>
              <a:off x="576" y="3663"/>
              <a:ext cx="953" cy="2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17</a:t>
              </a: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</a:t>
              </a: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19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0" name="Rectangle 35"/>
            <p:cNvSpPr>
              <a:spLocks noChangeArrowheads="1"/>
            </p:cNvSpPr>
            <p:nvPr/>
          </p:nvSpPr>
          <p:spPr bwMode="auto">
            <a:xfrm>
              <a:off x="1529" y="3663"/>
              <a:ext cx="954" cy="2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NC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1" name="Rectangle 36"/>
            <p:cNvSpPr>
              <a:spLocks noChangeArrowheads="1"/>
            </p:cNvSpPr>
            <p:nvPr/>
          </p:nvSpPr>
          <p:spPr bwMode="auto">
            <a:xfrm>
              <a:off x="2483" y="3663"/>
              <a:ext cx="2701" cy="2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未连接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2" name="Rectangle 37"/>
            <p:cNvSpPr>
              <a:spLocks noChangeArrowheads="1"/>
            </p:cNvSpPr>
            <p:nvPr/>
          </p:nvSpPr>
          <p:spPr bwMode="auto">
            <a:xfrm>
              <a:off x="576" y="3929"/>
              <a:ext cx="953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其他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3" name="Rectangle 38"/>
            <p:cNvSpPr>
              <a:spLocks noChangeArrowheads="1"/>
            </p:cNvSpPr>
            <p:nvPr/>
          </p:nvSpPr>
          <p:spPr bwMode="auto">
            <a:xfrm>
              <a:off x="1529" y="3929"/>
              <a:ext cx="954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ctr" eaLnBrk="0" hangingPunct="0">
                <a:lnSpc>
                  <a:spcPts val="1400"/>
                </a:lnSpc>
              </a:pPr>
              <a:r>
                <a:rPr lang="en-US" altLang="zh-CN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GND</a:t>
              </a:r>
              <a:endParaRPr lang="zh-CN" altLang="zh-CN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4" name="Rectangle 39"/>
            <p:cNvSpPr>
              <a:spLocks noChangeArrowheads="1"/>
            </p:cNvSpPr>
            <p:nvPr/>
          </p:nvSpPr>
          <p:spPr bwMode="auto">
            <a:xfrm>
              <a:off x="2483" y="3929"/>
              <a:ext cx="2701" cy="24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54000" rIns="18000" bIns="0" anchor="ctr"/>
            <a:lstStyle/>
            <a:p>
              <a:pPr algn="just" eaLnBrk="0" hangingPunct="0">
                <a:lnSpc>
                  <a:spcPts val="1400"/>
                </a:lnSpc>
              </a:pPr>
              <a:r>
                <a:rPr lang="zh-CN" altLang="en-US" sz="1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接地</a:t>
              </a:r>
              <a:endParaRPr lang="zh-CN" altLang="en-US" sz="1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" name="Line 40"/>
            <p:cNvSpPr>
              <a:spLocks noChangeShapeType="1"/>
            </p:cNvSpPr>
            <p:nvPr/>
          </p:nvSpPr>
          <p:spPr bwMode="auto">
            <a:xfrm>
              <a:off x="576" y="1399"/>
              <a:ext cx="460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86" name="Line 41"/>
            <p:cNvSpPr>
              <a:spLocks noChangeShapeType="1"/>
            </p:cNvSpPr>
            <p:nvPr/>
          </p:nvSpPr>
          <p:spPr bwMode="auto">
            <a:xfrm>
              <a:off x="576" y="1152"/>
              <a:ext cx="460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87" name="Line 42"/>
            <p:cNvSpPr>
              <a:spLocks noChangeShapeType="1"/>
            </p:cNvSpPr>
            <p:nvPr/>
          </p:nvSpPr>
          <p:spPr bwMode="auto">
            <a:xfrm>
              <a:off x="576" y="4176"/>
              <a:ext cx="460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88" name="Line 43"/>
            <p:cNvSpPr>
              <a:spLocks noChangeShapeType="1"/>
            </p:cNvSpPr>
            <p:nvPr/>
          </p:nvSpPr>
          <p:spPr bwMode="auto">
            <a:xfrm>
              <a:off x="1529" y="1152"/>
              <a:ext cx="0" cy="3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89" name="Line 44"/>
            <p:cNvSpPr>
              <a:spLocks noChangeShapeType="1"/>
            </p:cNvSpPr>
            <p:nvPr/>
          </p:nvSpPr>
          <p:spPr bwMode="auto">
            <a:xfrm>
              <a:off x="2483" y="1152"/>
              <a:ext cx="0" cy="3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0" name="Line 45"/>
            <p:cNvSpPr>
              <a:spLocks noChangeShapeType="1"/>
            </p:cNvSpPr>
            <p:nvPr/>
          </p:nvSpPr>
          <p:spPr bwMode="auto">
            <a:xfrm>
              <a:off x="576" y="1644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1" name="Line 46"/>
            <p:cNvSpPr>
              <a:spLocks noChangeShapeType="1"/>
            </p:cNvSpPr>
            <p:nvPr/>
          </p:nvSpPr>
          <p:spPr bwMode="auto">
            <a:xfrm>
              <a:off x="576" y="1891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2" name="Line 47"/>
            <p:cNvSpPr>
              <a:spLocks noChangeShapeType="1"/>
            </p:cNvSpPr>
            <p:nvPr/>
          </p:nvSpPr>
          <p:spPr bwMode="auto">
            <a:xfrm>
              <a:off x="576" y="2137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3" name="Line 48"/>
            <p:cNvSpPr>
              <a:spLocks noChangeShapeType="1"/>
            </p:cNvSpPr>
            <p:nvPr/>
          </p:nvSpPr>
          <p:spPr bwMode="auto">
            <a:xfrm>
              <a:off x="576" y="2409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4" name="Line 49"/>
            <p:cNvSpPr>
              <a:spLocks noChangeShapeType="1"/>
            </p:cNvSpPr>
            <p:nvPr/>
          </p:nvSpPr>
          <p:spPr bwMode="auto">
            <a:xfrm>
              <a:off x="576" y="2656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5" name="Line 50"/>
            <p:cNvSpPr>
              <a:spLocks noChangeShapeType="1"/>
            </p:cNvSpPr>
            <p:nvPr/>
          </p:nvSpPr>
          <p:spPr bwMode="auto">
            <a:xfrm>
              <a:off x="576" y="290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6" name="Line 51"/>
            <p:cNvSpPr>
              <a:spLocks noChangeShapeType="1"/>
            </p:cNvSpPr>
            <p:nvPr/>
          </p:nvSpPr>
          <p:spPr bwMode="auto">
            <a:xfrm>
              <a:off x="576" y="3166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7" name="Line 52"/>
            <p:cNvSpPr>
              <a:spLocks noChangeShapeType="1"/>
            </p:cNvSpPr>
            <p:nvPr/>
          </p:nvSpPr>
          <p:spPr bwMode="auto">
            <a:xfrm>
              <a:off x="576" y="3413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8" name="Line 53"/>
            <p:cNvSpPr>
              <a:spLocks noChangeShapeType="1"/>
            </p:cNvSpPr>
            <p:nvPr/>
          </p:nvSpPr>
          <p:spPr bwMode="auto">
            <a:xfrm>
              <a:off x="576" y="3663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sp>
          <p:nvSpPr>
            <p:cNvPr id="99" name="Line 54"/>
            <p:cNvSpPr>
              <a:spLocks noChangeShapeType="1"/>
            </p:cNvSpPr>
            <p:nvPr/>
          </p:nvSpPr>
          <p:spPr bwMode="auto">
            <a:xfrm>
              <a:off x="576" y="3929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54000" rIns="18000" bIns="0" anchor="ctr"/>
            <a:lstStyle/>
            <a:p>
              <a:endParaRPr lang="zh-CN" altLang="en-US"/>
            </a:p>
          </p:txBody>
        </p:sp>
        <p:pic>
          <p:nvPicPr>
            <p:cNvPr id="100" name="Picture 55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2400" y="96"/>
              <a:ext cx="2616" cy="96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1800">
              <a:solidFill>
                <a:schemeClr val="tx1"/>
              </a:solidFill>
              <a:latin typeface="Franklin Gothic Book" panose="020B0503020102020204" pitchFamily="34" charset="0"/>
              <a:ea typeface="华文楷体" panose="02010600040101010101" pitchFamily="2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5984" y="1625874"/>
            <a:ext cx="4518264" cy="4246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642910" y="642918"/>
            <a:ext cx="800105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  <a:buFont typeface="Wingdings 2" panose="05020102010507070707"/>
              <a:buChar char="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JTAG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接口电路</a:t>
            </a:r>
            <a:endParaRPr kumimoji="1" lang="zh-CN" altLang="en-US" sz="28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584" y="2564904"/>
            <a:ext cx="857256" cy="1928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89816" y="1988840"/>
            <a:ext cx="16658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dirty="0"/>
              <a:t>S3C2440X</a:t>
            </a:r>
            <a:endParaRPr lang="zh-CN" altLang="en-US" sz="2200" dirty="0"/>
          </a:p>
        </p:txBody>
      </p:sp>
      <p:sp>
        <p:nvSpPr>
          <p:cNvPr id="2" name="右箭头 1"/>
          <p:cNvSpPr/>
          <p:nvPr/>
        </p:nvSpPr>
        <p:spPr>
          <a:xfrm>
            <a:off x="1684840" y="3140968"/>
            <a:ext cx="601144" cy="7239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32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、主存储器设计</a:t>
            </a:r>
            <a:endParaRPr lang="zh-CN" altLang="en-US" sz="3200" dirty="0" smtClean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5838" y="2144944"/>
            <a:ext cx="8183880" cy="38558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SRAM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SDRAM 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（同步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DRAM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  <a:sym typeface="Symbol" panose="05050102010706020507"/>
              </a:rPr>
              <a:t>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  <a:sym typeface="Symbol" panose="05050102010706020507"/>
              </a:rPr>
              <a:t>DDR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  <a:sym typeface="Symbol" panose="05050102010706020507"/>
              </a:rPr>
              <a:t>、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  <a:sym typeface="Symbol" panose="05050102010706020507"/>
              </a:rPr>
              <a:t>DDR2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NOR Flash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1433931"/>
            <a:ext cx="842493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(5.1)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使用芯片：使用两大类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——RAM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ROM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3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种</a:t>
            </a:r>
            <a:endParaRPr kumimoji="1" lang="zh-CN" altLang="en-US" sz="28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3608" y="4797152"/>
            <a:ext cx="7560840" cy="673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NAND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Flash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——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外存</a:t>
            </a:r>
            <a:endParaRPr kumimoji="1" lang="en-US" altLang="zh-CN" sz="28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一般计算机系统的架构（单总线）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94976" y="2885534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4114674" y="3571334"/>
            <a:ext cx="971552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 smtClean="0">
                <a:effectLst/>
              </a:rPr>
              <a:t>SDRAM</a:t>
            </a:r>
            <a:endParaRPr lang="en-US" altLang="zh-CN" sz="1600" b="1" dirty="0" smtClean="0">
              <a:effectLst/>
            </a:endParaRPr>
          </a:p>
          <a:p>
            <a:r>
              <a:rPr lang="zh-CN" altLang="en-US" b="1" dirty="0" smtClean="0">
                <a:effectLst/>
              </a:rPr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5514838" y="3571334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I/O</a:t>
            </a:r>
            <a:endParaRPr lang="en-US" altLang="zh-CN" b="1" dirty="0" smtClean="0">
              <a:effectLst/>
            </a:endParaRPr>
          </a:p>
          <a:p>
            <a:r>
              <a:rPr lang="zh-CN" altLang="en-US" b="1" dirty="0" smtClean="0"/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799776" y="250453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432932" y="2492896"/>
            <a:ext cx="900932" cy="1757708"/>
            <a:chOff x="7847532" y="2654399"/>
            <a:chExt cx="900932" cy="1757708"/>
          </a:xfrm>
        </p:grpSpPr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7847532" y="3192907"/>
              <a:ext cx="900932" cy="12192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600" b="1" dirty="0" smtClean="0">
                  <a:solidFill>
                    <a:srgbClr val="FF0000"/>
                  </a:solidFill>
                  <a:effectLst/>
                </a:rPr>
                <a:t>SRAM</a:t>
              </a:r>
              <a:endParaRPr lang="en-US" altLang="zh-CN" sz="1600" b="1" dirty="0" smtClean="0">
                <a:solidFill>
                  <a:srgbClr val="FF0000"/>
                </a:solidFill>
                <a:effectLst/>
              </a:endParaRPr>
            </a:p>
            <a:p>
              <a:r>
                <a:rPr lang="en-US" altLang="zh-CN" sz="1600" b="1" dirty="0" smtClean="0">
                  <a:solidFill>
                    <a:srgbClr val="FF0000"/>
                  </a:solidFill>
                  <a:effectLst/>
                </a:rPr>
                <a:t>/NOR</a:t>
              </a:r>
              <a:endParaRPr lang="en-US" altLang="zh-CN" sz="1600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9" name="AutoShape 13"/>
            <p:cNvSpPr>
              <a:spLocks noChangeArrowheads="1"/>
            </p:cNvSpPr>
            <p:nvPr/>
          </p:nvSpPr>
          <p:spPr bwMode="auto">
            <a:xfrm>
              <a:off x="7957174" y="2654399"/>
              <a:ext cx="228600" cy="538507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0" name="AutoShape 14"/>
          <p:cNvSpPr>
            <a:spLocks noChangeArrowheads="1"/>
          </p:cNvSpPr>
          <p:nvPr/>
        </p:nvSpPr>
        <p:spPr bwMode="auto">
          <a:xfrm>
            <a:off x="4343274" y="250453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5667238" y="250453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1514326" y="2866486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中断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1742926" y="2485486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2400162" y="2866486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2628762" y="2485486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437808" y="4628626"/>
            <a:ext cx="976314" cy="1285884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电源、时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钟及复位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电路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771180" y="4128560"/>
            <a:ext cx="285752" cy="5000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3228838" y="3552286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 smtClean="0">
                <a:effectLst/>
              </a:rPr>
              <a:t>Flash</a:t>
            </a:r>
            <a:endParaRPr lang="en-US" altLang="zh-CN" sz="1600" b="1" dirty="0" smtClean="0">
              <a:effectLst/>
            </a:endParaRPr>
          </a:p>
          <a:p>
            <a:r>
              <a:rPr lang="zh-CN" altLang="en-US" b="1" dirty="0" smtClean="0">
                <a:effectLst/>
              </a:rPr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3457438" y="2485486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228838" y="4085702"/>
            <a:ext cx="685800" cy="914400"/>
            <a:chOff x="4643438" y="4171960"/>
            <a:chExt cx="685800" cy="914400"/>
          </a:xfrm>
        </p:grpSpPr>
        <p:sp>
          <p:nvSpPr>
            <p:cNvPr id="27" name="AutoShape 12"/>
            <p:cNvSpPr>
              <a:spLocks noChangeArrowheads="1"/>
            </p:cNvSpPr>
            <p:nvPr/>
          </p:nvSpPr>
          <p:spPr bwMode="auto">
            <a:xfrm>
              <a:off x="4886324" y="4171960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4643438" y="4552960"/>
              <a:ext cx="685800" cy="5334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/>
              <a:r>
                <a:rPr lang="en-US" altLang="zh-CN" sz="1600" b="1" dirty="0" smtClean="0">
                  <a:solidFill>
                    <a:srgbClr val="FF0000"/>
                  </a:solidFill>
                </a:rPr>
                <a:t>NAND</a:t>
              </a:r>
              <a:endParaRPr lang="en-US" altLang="zh-CN" sz="1600" b="1" dirty="0" smtClean="0">
                <a:solidFill>
                  <a:srgbClr val="FF0000"/>
                </a:solidFill>
              </a:endParaRPr>
            </a:p>
            <a:p>
              <a:pPr lvl="0"/>
              <a:r>
                <a:rPr lang="en-US" altLang="zh-CN" sz="1600" b="1" dirty="0" smtClean="0">
                  <a:solidFill>
                    <a:srgbClr val="FF0000"/>
                  </a:solidFill>
                </a:rPr>
                <a:t>Flash</a:t>
              </a:r>
              <a:endParaRPr lang="en-US" altLang="zh-CN" sz="1600" b="1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1699874" y="4628626"/>
            <a:ext cx="762000" cy="1000132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JTAG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rot="10800000">
            <a:off x="1271246" y="4128560"/>
            <a:ext cx="500066" cy="428628"/>
          </a:xfrm>
          <a:prstGeom prst="straightConnector1">
            <a:avLst/>
          </a:prstGeom>
          <a:ln w="34925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6386716" y="1142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系统总线扩展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604316" y="2492896"/>
            <a:ext cx="1000132" cy="1054530"/>
            <a:chOff x="7604316" y="2492896"/>
            <a:chExt cx="1000132" cy="1054530"/>
          </a:xfrm>
        </p:grpSpPr>
        <p:sp>
          <p:nvSpPr>
            <p:cNvPr id="37" name="AutoShape 12"/>
            <p:cNvSpPr>
              <a:spLocks noChangeArrowheads="1"/>
            </p:cNvSpPr>
            <p:nvPr/>
          </p:nvSpPr>
          <p:spPr bwMode="auto">
            <a:xfrm>
              <a:off x="7875782" y="2492896"/>
              <a:ext cx="228600" cy="521129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7604316" y="3014026"/>
              <a:ext cx="1000132" cy="5334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/>
              <a:r>
                <a:rPr lang="en-US" altLang="zh-CN" sz="1600" b="1" dirty="0" smtClean="0">
                  <a:solidFill>
                    <a:srgbClr val="FF0000"/>
                  </a:solidFill>
                </a:rPr>
                <a:t>SDRAM</a:t>
              </a:r>
              <a:endParaRPr lang="en-US" altLang="zh-CN" sz="1600" b="1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2301132" y="1901840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S3C2440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>
            <a:stCxn id="33" idx="3"/>
          </p:cNvCxnSpPr>
          <p:nvPr/>
        </p:nvCxnSpPr>
        <p:spPr>
          <a:xfrm>
            <a:off x="5086226" y="3838034"/>
            <a:ext cx="205854" cy="0"/>
          </a:xfrm>
          <a:prstGeom prst="line">
            <a:avLst/>
          </a:prstGeom>
          <a:ln w="1270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endCxn id="54" idx="2"/>
          </p:cNvCxnSpPr>
          <p:nvPr/>
        </p:nvCxnSpPr>
        <p:spPr>
          <a:xfrm flipV="1">
            <a:off x="5292080" y="2666256"/>
            <a:ext cx="0" cy="1171778"/>
          </a:xfrm>
          <a:prstGeom prst="line">
            <a:avLst/>
          </a:prstGeom>
          <a:ln w="1270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箭头 13"/>
          <p:cNvSpPr/>
          <p:nvPr/>
        </p:nvSpPr>
        <p:spPr>
          <a:xfrm>
            <a:off x="437808" y="2204864"/>
            <a:ext cx="4854272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9"/>
          <p:cNvSpPr>
            <a:spLocks noChangeArrowheads="1"/>
          </p:cNvSpPr>
          <p:nvPr/>
        </p:nvSpPr>
        <p:spPr bwMode="auto">
          <a:xfrm>
            <a:off x="4949180" y="2132856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dirty="0" smtClean="0">
                <a:effectLst/>
              </a:rPr>
              <a:t>多路</a:t>
            </a:r>
            <a:endParaRPr lang="en-US" altLang="zh-CN" dirty="0" smtClean="0">
              <a:effectLst/>
            </a:endParaRPr>
          </a:p>
          <a:p>
            <a:r>
              <a:rPr lang="zh-CN" altLang="en-US" dirty="0" smtClean="0">
                <a:effectLst/>
              </a:rPr>
              <a:t>开关</a:t>
            </a:r>
            <a:endParaRPr lang="en-US" altLang="zh-CN" dirty="0">
              <a:effectLst/>
            </a:endParaRPr>
          </a:p>
        </p:txBody>
      </p:sp>
      <p:sp>
        <p:nvSpPr>
          <p:cNvPr id="59" name="左箭头 58"/>
          <p:cNvSpPr/>
          <p:nvPr/>
        </p:nvSpPr>
        <p:spPr>
          <a:xfrm rot="10800000">
            <a:off x="5667238" y="2201867"/>
            <a:ext cx="3153234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37808" y="1901840"/>
            <a:ext cx="5862384" cy="24410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0482"/>
            <a:ext cx="8183880" cy="49531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按启动方式不同，有两种组织方式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使用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NAND </a:t>
            </a: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Flash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启动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——OM[1:0]=00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使用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NOR </a:t>
            </a: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Flash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启动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—— OM[1:0]=01,10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sz="3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存储空间的划分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 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地址总线位数、地址如何实现划分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buClr>
                <a:srgbClr val="C00000"/>
              </a:buClr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统一编址、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1472" y="404664"/>
            <a:ext cx="800105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(5.2)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存储器组织</a:t>
            </a:r>
            <a:endParaRPr kumimoji="1" lang="zh-CN" altLang="en-US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121" y="500042"/>
            <a:ext cx="7572780" cy="5811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786578" y="857232"/>
            <a:ext cx="2071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SROM means</a:t>
            </a:r>
            <a:endParaRPr lang="en-US" altLang="zh-CN" sz="2000" dirty="0" smtClean="0"/>
          </a:p>
          <a:p>
            <a:r>
              <a:rPr lang="en-US" altLang="zh-CN" sz="2000" dirty="0" smtClean="0"/>
              <a:t>ROM or SRAM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5918" y="500042"/>
            <a:ext cx="3571900" cy="28575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1406" y="2000240"/>
            <a:ext cx="2143140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571604" y="1214422"/>
            <a:ext cx="4296540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863453" y="3645024"/>
            <a:ext cx="1452963" cy="108012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79512" y="548680"/>
            <a:ext cx="2143140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067944" y="3861048"/>
            <a:ext cx="1452963" cy="32403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44208" y="5961474"/>
            <a:ext cx="2431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NAND FLASH</a:t>
            </a:r>
            <a:r>
              <a:rPr lang="zh-CN" altLang="en-US" sz="2000" b="1" dirty="0" smtClean="0"/>
              <a:t>本身不占用地址空间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(a) </a:t>
            </a:r>
            <a:r>
              <a:rPr lang="en-US" altLang="zh-CN" sz="3200" dirty="0">
                <a:solidFill>
                  <a:srgbClr val="FF0000"/>
                </a:solidFill>
              </a:rPr>
              <a:t>NOR </a:t>
            </a:r>
            <a:r>
              <a:rPr lang="en-US" altLang="zh-CN" sz="3200" dirty="0" smtClean="0">
                <a:solidFill>
                  <a:srgbClr val="FF0000"/>
                </a:solidFill>
              </a:rPr>
              <a:t>flash</a:t>
            </a:r>
            <a:r>
              <a:rPr lang="zh-CN" altLang="en-US" sz="3200" dirty="0" smtClean="0">
                <a:solidFill>
                  <a:srgbClr val="FF0000"/>
                </a:solidFill>
              </a:rPr>
              <a:t>和</a:t>
            </a:r>
            <a:r>
              <a:rPr lang="en-US" altLang="zh-CN" sz="3200" dirty="0">
                <a:solidFill>
                  <a:srgbClr val="FF0000"/>
                </a:solidFill>
              </a:rPr>
              <a:t>NAND flash</a:t>
            </a:r>
            <a:r>
              <a:rPr lang="zh-CN" altLang="en-US" sz="3200" dirty="0" smtClean="0">
                <a:solidFill>
                  <a:schemeClr val="tx1"/>
                </a:solidFill>
              </a:rPr>
              <a:t>的理解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268414"/>
            <a:ext cx="7979020" cy="5184775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  <a:spcAft>
                <a:spcPts val="1000"/>
              </a:spcAft>
            </a:pP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 Flash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具有</a:t>
            </a:r>
            <a:r>
              <a:rPr lang="en-US" altLang="zh-CN" sz="32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SRAM</a:t>
            </a:r>
            <a:r>
              <a:rPr lang="zh-CN" altLang="en-US" sz="32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接口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，线性寻址，按字或字节访问，主要用于</a:t>
            </a:r>
            <a:r>
              <a:rPr lang="zh-CN" altLang="en-US" sz="32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主存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。可实现</a:t>
            </a:r>
            <a:r>
              <a:rPr lang="zh-CN" altLang="en-US" sz="32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片内执行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3200" b="1" dirty="0" smtClean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  <a:spcAft>
                <a:spcPts val="1000"/>
              </a:spcAft>
            </a:pP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NOR Flash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写入和擦除速度快、稳定性高、价格高。</a:t>
            </a:r>
            <a:endParaRPr lang="en-US" altLang="zh-CN" sz="32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  <a:spcAft>
                <a:spcPts val="1000"/>
              </a:spcAft>
            </a:pP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使用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NOR </a:t>
            </a: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Flash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启动，则复位时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PC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指向</a:t>
            </a:r>
            <a:r>
              <a:rPr lang="en-US" altLang="zh-CN" sz="32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0x00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NOR </a:t>
            </a: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Flash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相当于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EPROM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EEPROM</a:t>
            </a:r>
            <a:endParaRPr lang="en-US" altLang="zh-CN" sz="32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6580" y="260648"/>
            <a:ext cx="8540750" cy="576734"/>
          </a:xfrm>
        </p:spPr>
        <p:txBody>
          <a:bodyPr>
            <a:noAutofit/>
          </a:bodyPr>
          <a:lstStyle/>
          <a:p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嵌入式系统启动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NOR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33712" y="3127003"/>
            <a:ext cx="2160240" cy="2952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833712" y="6121722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主存</a:t>
            </a:r>
            <a:endParaRPr lang="zh-CN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96368" y="1844824"/>
            <a:ext cx="93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79512" y="3140968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0x10000000</a:t>
            </a:r>
            <a:endParaRPr lang="zh-CN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41850" y="5709999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0x3FFFFFFF</a:t>
            </a:r>
            <a:endParaRPr lang="zh-CN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79512" y="2276872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0x07FFFFFF</a:t>
            </a:r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1802012" y="2006687"/>
            <a:ext cx="2191940" cy="544252"/>
            <a:chOff x="1802012" y="2006687"/>
            <a:chExt cx="2191940" cy="544252"/>
          </a:xfrm>
        </p:grpSpPr>
        <p:sp>
          <p:nvSpPr>
            <p:cNvPr id="7" name="矩形 6"/>
            <p:cNvSpPr/>
            <p:nvPr/>
          </p:nvSpPr>
          <p:spPr>
            <a:xfrm>
              <a:off x="1833712" y="2006687"/>
              <a:ext cx="2160240" cy="5442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802012" y="2088685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NOR FLASH</a:t>
              </a:r>
              <a:endParaRPr lang="zh-CN" altLang="en-US" dirty="0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137968" y="1213787"/>
            <a:ext cx="3242344" cy="2702771"/>
            <a:chOff x="4137968" y="1213787"/>
            <a:chExt cx="3242344" cy="2702771"/>
          </a:xfrm>
        </p:grpSpPr>
        <p:grpSp>
          <p:nvGrpSpPr>
            <p:cNvPr id="50" name="组合 49"/>
            <p:cNvGrpSpPr/>
            <p:nvPr/>
          </p:nvGrpSpPr>
          <p:grpSpPr>
            <a:xfrm>
              <a:off x="5188372" y="1213787"/>
              <a:ext cx="2191940" cy="2702771"/>
              <a:chOff x="5188372" y="1213787"/>
              <a:chExt cx="2191940" cy="2702771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5188372" y="1213787"/>
                <a:ext cx="2191940" cy="539010"/>
                <a:chOff x="1802012" y="2006687"/>
                <a:chExt cx="2191940" cy="544252"/>
              </a:xfrm>
            </p:grpSpPr>
            <p:sp>
              <p:nvSpPr>
                <p:cNvPr id="52" name="矩形 51"/>
                <p:cNvSpPr/>
                <p:nvPr/>
              </p:nvSpPr>
              <p:spPr>
                <a:xfrm>
                  <a:off x="1833712" y="2006687"/>
                  <a:ext cx="2160240" cy="5442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1802012" y="2088685"/>
                  <a:ext cx="2160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 err="1"/>
                    <a:t>BootLoader</a:t>
                  </a:r>
                  <a:endParaRPr lang="zh-CN" altLang="en-US" dirty="0"/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5188372" y="1734341"/>
                <a:ext cx="2191940" cy="539010"/>
                <a:chOff x="1802012" y="2006687"/>
                <a:chExt cx="2191940" cy="544252"/>
              </a:xfrm>
            </p:grpSpPr>
            <p:sp>
              <p:nvSpPr>
                <p:cNvPr id="55" name="矩形 54"/>
                <p:cNvSpPr/>
                <p:nvPr/>
              </p:nvSpPr>
              <p:spPr>
                <a:xfrm>
                  <a:off x="1833712" y="2006687"/>
                  <a:ext cx="2160240" cy="5442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1802012" y="2088685"/>
                  <a:ext cx="2160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内核参数</a:t>
                  </a:r>
                  <a:endParaRPr lang="zh-CN" altLang="en-US" dirty="0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88372" y="2297428"/>
                <a:ext cx="2191940" cy="539010"/>
                <a:chOff x="1802012" y="2006687"/>
                <a:chExt cx="2191940" cy="544252"/>
              </a:xfrm>
            </p:grpSpPr>
            <p:sp>
              <p:nvSpPr>
                <p:cNvPr id="58" name="矩形 57"/>
                <p:cNvSpPr/>
                <p:nvPr/>
              </p:nvSpPr>
              <p:spPr>
                <a:xfrm>
                  <a:off x="1833712" y="2006687"/>
                  <a:ext cx="2160240" cy="5442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1802012" y="2088685"/>
                  <a:ext cx="2160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/>
                    <a:t>OS kernel</a:t>
                  </a:r>
                  <a:endParaRPr lang="zh-CN" altLang="en-US" dirty="0"/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5188372" y="2817982"/>
                <a:ext cx="2191940" cy="539010"/>
                <a:chOff x="1802012" y="2006687"/>
                <a:chExt cx="2191940" cy="544252"/>
              </a:xfrm>
            </p:grpSpPr>
            <p:sp>
              <p:nvSpPr>
                <p:cNvPr id="61" name="矩形 60"/>
                <p:cNvSpPr/>
                <p:nvPr/>
              </p:nvSpPr>
              <p:spPr>
                <a:xfrm>
                  <a:off x="1833712" y="2006687"/>
                  <a:ext cx="2160240" cy="5442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1802012" y="2088685"/>
                  <a:ext cx="2160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根文件系统</a:t>
                  </a:r>
                  <a:endParaRPr lang="zh-CN" altLang="en-US" dirty="0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5188372" y="3377548"/>
                <a:ext cx="2191940" cy="539010"/>
                <a:chOff x="1802012" y="2006687"/>
                <a:chExt cx="2191940" cy="544252"/>
              </a:xfrm>
            </p:grpSpPr>
            <p:sp>
              <p:nvSpPr>
                <p:cNvPr id="64" name="矩形 63"/>
                <p:cNvSpPr/>
                <p:nvPr/>
              </p:nvSpPr>
              <p:spPr>
                <a:xfrm>
                  <a:off x="1833712" y="2006687"/>
                  <a:ext cx="2160240" cy="54425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1802012" y="2088685"/>
                  <a:ext cx="2160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/>
                    <a:t>应用程序</a:t>
                  </a:r>
                  <a:endParaRPr lang="zh-CN" altLang="en-US" dirty="0"/>
                </a:p>
              </p:txBody>
            </p:sp>
          </p:grpSp>
        </p:grpSp>
        <p:sp>
          <p:nvSpPr>
            <p:cNvPr id="69" name="右箭头 68"/>
            <p:cNvSpPr/>
            <p:nvPr/>
          </p:nvSpPr>
          <p:spPr>
            <a:xfrm>
              <a:off x="4137968" y="2181324"/>
              <a:ext cx="938088" cy="385609"/>
            </a:xfrm>
            <a:prstGeom prst="rightArrow">
              <a:avLst/>
            </a:prstGeom>
            <a:no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179512" y="2910979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0x0FFFFFFF</a:t>
            </a:r>
            <a:endParaRPr lang="zh-CN" altLang="en-US" dirty="0"/>
          </a:p>
        </p:txBody>
      </p:sp>
      <p:grpSp>
        <p:nvGrpSpPr>
          <p:cNvPr id="73" name="组合 72"/>
          <p:cNvGrpSpPr/>
          <p:nvPr/>
        </p:nvGrpSpPr>
        <p:grpSpPr>
          <a:xfrm>
            <a:off x="1802012" y="2582751"/>
            <a:ext cx="2191940" cy="544252"/>
            <a:chOff x="1802012" y="2006687"/>
            <a:chExt cx="2191940" cy="544252"/>
          </a:xfrm>
        </p:grpSpPr>
        <p:sp>
          <p:nvSpPr>
            <p:cNvPr id="74" name="矩形 73"/>
            <p:cNvSpPr/>
            <p:nvPr/>
          </p:nvSpPr>
          <p:spPr>
            <a:xfrm>
              <a:off x="1833712" y="2006687"/>
              <a:ext cx="2160240" cy="5442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802012" y="2088685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NOR FLASH</a:t>
              </a:r>
              <a:endParaRPr lang="zh-CN" altLang="en-US" dirty="0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79512" y="2564904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0x08000000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3993952" y="2854877"/>
            <a:ext cx="1226120" cy="1244234"/>
          </a:xfrm>
          <a:prstGeom prst="straightConnector1">
            <a:avLst/>
          </a:prstGeom>
          <a:ln w="603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8" grpId="0"/>
      <p:bldP spid="43" grpId="0"/>
      <p:bldP spid="72" grpId="0"/>
      <p:bldP spid="7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268414"/>
            <a:ext cx="7979020" cy="5184775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  <a:spcAft>
                <a:spcPts val="1000"/>
              </a:spcAft>
            </a:pPr>
            <a:r>
              <a:rPr lang="en-US" altLang="zh-CN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NAND Flash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每比特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成本低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容量大，但读出速度较慢、无存储器接口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。因此可从</a:t>
            </a:r>
            <a:r>
              <a:rPr lang="en-US" altLang="zh-CN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NAND Flash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启动和引导系统，而在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SDRAM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上执 行主程序代码</a:t>
            </a:r>
            <a:endParaRPr lang="en-US" altLang="zh-CN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  <a:spcAft>
                <a:spcPts val="1000"/>
              </a:spcAft>
            </a:pPr>
            <a:r>
              <a:rPr lang="en-US" altLang="zh-CN" sz="3200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NAND Flash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的读写类似硬盘，因此可独立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成为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外存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，如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USB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盘、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CF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SD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MMC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存储卡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等，取代磁盘。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需要专门的控制器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集成在</a:t>
            </a: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S3C2440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6580" y="260648"/>
            <a:ext cx="8540750" cy="576734"/>
          </a:xfrm>
        </p:spPr>
        <p:txBody>
          <a:bodyPr>
            <a:noAutofit/>
          </a:bodyPr>
          <a:lstStyle/>
          <a:p>
            <a:r>
              <a:rPr kumimoji="1" lang="en-US" altLang="zh-CN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嵌入式系统启动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NAND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33712" y="1974875"/>
            <a:ext cx="2160240" cy="4104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33712" y="2006687"/>
            <a:ext cx="2160240" cy="5442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833712" y="6121722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主存</a:t>
            </a:r>
            <a:endParaRPr lang="zh-CN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96368" y="1844824"/>
            <a:ext cx="93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221312" y="1972613"/>
            <a:ext cx="2160240" cy="4104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221312" y="2046883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BootLoader1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221312" y="1974875"/>
            <a:ext cx="2160240" cy="5442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312396" y="206233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4KB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222552" y="324019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内核参数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5222552" y="3074639"/>
            <a:ext cx="2160240" cy="7004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221312" y="468035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根文件系统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221312" y="4514799"/>
            <a:ext cx="2160240" cy="7004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221312" y="6135687"/>
            <a:ext cx="2591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NAND——</a:t>
            </a:r>
            <a:r>
              <a:rPr lang="zh-CN" altLang="en-US" sz="2400" dirty="0" smtClean="0"/>
              <a:t>外存</a:t>
            </a:r>
            <a:endParaRPr lang="zh-CN" alt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5220072" y="258275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BootLoader2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5220072" y="2510743"/>
            <a:ext cx="2160240" cy="5442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308304" y="255093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180KB</a:t>
            </a:r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220072" y="396027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OS kernel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5220072" y="3794719"/>
            <a:ext cx="2160240" cy="7004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255096" y="5503267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应用程序</a:t>
            </a:r>
            <a:endParaRPr lang="zh-CN" altLang="en-US" dirty="0"/>
          </a:p>
        </p:txBody>
      </p:sp>
      <p:grpSp>
        <p:nvGrpSpPr>
          <p:cNvPr id="44" name="组合 43"/>
          <p:cNvGrpSpPr/>
          <p:nvPr/>
        </p:nvGrpSpPr>
        <p:grpSpPr>
          <a:xfrm>
            <a:off x="3993952" y="2247001"/>
            <a:ext cx="1227360" cy="520416"/>
            <a:chOff x="4209976" y="1684902"/>
            <a:chExt cx="1227360" cy="520416"/>
          </a:xfrm>
        </p:grpSpPr>
        <p:cxnSp>
          <p:nvCxnSpPr>
            <p:cNvPr id="6" name="直接箭头连接符 5"/>
            <p:cNvCxnSpPr>
              <a:stCxn id="14" idx="1"/>
              <a:endCxn id="4" idx="3"/>
            </p:cNvCxnSpPr>
            <p:nvPr/>
          </p:nvCxnSpPr>
          <p:spPr>
            <a:xfrm flipH="1">
              <a:off x="4209976" y="1684902"/>
              <a:ext cx="1227360" cy="31749"/>
            </a:xfrm>
            <a:prstGeom prst="straightConnector1">
              <a:avLst/>
            </a:prstGeom>
            <a:ln w="603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320592" y="1835986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自动</a:t>
              </a:r>
              <a:endParaRPr lang="zh-CN" altLang="en-US" dirty="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07504" y="3686909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0x30000000</a:t>
            </a:r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1835696" y="2854877"/>
            <a:ext cx="3384376" cy="1473490"/>
            <a:chOff x="2051720" y="2292778"/>
            <a:chExt cx="3384376" cy="1473490"/>
          </a:xfrm>
        </p:grpSpPr>
        <p:sp>
          <p:nvSpPr>
            <p:cNvPr id="19" name="TextBox 18"/>
            <p:cNvSpPr txBox="1"/>
            <p:nvPr/>
          </p:nvSpPr>
          <p:spPr>
            <a:xfrm>
              <a:off x="2051720" y="3294024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BootLoader2</a:t>
              </a:r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2051720" y="3222016"/>
              <a:ext cx="2160240" cy="5442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箭头连接符 15"/>
            <p:cNvCxnSpPr>
              <a:stCxn id="32" idx="1"/>
              <a:endCxn id="3" idx="3"/>
            </p:cNvCxnSpPr>
            <p:nvPr/>
          </p:nvCxnSpPr>
          <p:spPr>
            <a:xfrm flipH="1">
              <a:off x="4209976" y="2292778"/>
              <a:ext cx="1226120" cy="1244234"/>
            </a:xfrm>
            <a:prstGeom prst="straightConnector1">
              <a:avLst/>
            </a:prstGeom>
            <a:ln w="603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141188" y="4485863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0x40000000</a:t>
            </a:r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835696" y="4216945"/>
            <a:ext cx="3384376" cy="1142306"/>
            <a:chOff x="2051720" y="3654846"/>
            <a:chExt cx="3384376" cy="1142306"/>
          </a:xfrm>
        </p:grpSpPr>
        <p:sp>
          <p:nvSpPr>
            <p:cNvPr id="41" name="TextBox 40"/>
            <p:cNvSpPr txBox="1"/>
            <p:nvPr/>
          </p:nvSpPr>
          <p:spPr>
            <a:xfrm>
              <a:off x="2051720" y="4262268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OS kernel</a:t>
              </a:r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2051720" y="4096716"/>
              <a:ext cx="2160240" cy="7004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箭头连接符 23"/>
            <p:cNvCxnSpPr>
              <a:stCxn id="35" idx="1"/>
              <a:endCxn id="42" idx="3"/>
            </p:cNvCxnSpPr>
            <p:nvPr/>
          </p:nvCxnSpPr>
          <p:spPr>
            <a:xfrm flipH="1">
              <a:off x="4211960" y="3654846"/>
              <a:ext cx="1224136" cy="792088"/>
            </a:xfrm>
            <a:prstGeom prst="straightConnector1">
              <a:avLst/>
            </a:prstGeom>
            <a:ln w="603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8100392" y="1974875"/>
            <a:ext cx="1296144" cy="1008112"/>
            <a:chOff x="8100392" y="1412776"/>
            <a:chExt cx="1296144" cy="1008112"/>
          </a:xfrm>
        </p:grpSpPr>
        <p:sp>
          <p:nvSpPr>
            <p:cNvPr id="5" name="右大括号 4"/>
            <p:cNvSpPr/>
            <p:nvPr/>
          </p:nvSpPr>
          <p:spPr>
            <a:xfrm>
              <a:off x="8100392" y="1412776"/>
              <a:ext cx="576064" cy="1008112"/>
            </a:xfrm>
            <a:prstGeom prst="rightBrace">
              <a:avLst/>
            </a:prstGeom>
            <a:ln w="603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676456" y="1572753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映像文件</a:t>
              </a:r>
              <a:endParaRPr lang="zh-CN" altLang="en-US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79512" y="2334915"/>
            <a:ext cx="169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0x00000FFF</a:t>
            </a:r>
            <a:endParaRPr lang="zh-CN" altLang="en-US" dirty="0"/>
          </a:p>
        </p:txBody>
      </p:sp>
      <p:grpSp>
        <p:nvGrpSpPr>
          <p:cNvPr id="26" name="组合 25"/>
          <p:cNvGrpSpPr/>
          <p:nvPr/>
        </p:nvGrpSpPr>
        <p:grpSpPr>
          <a:xfrm>
            <a:off x="1619672" y="1412776"/>
            <a:ext cx="4752528" cy="1138163"/>
            <a:chOff x="1619672" y="1412776"/>
            <a:chExt cx="4752528" cy="1138163"/>
          </a:xfrm>
        </p:grpSpPr>
        <p:sp>
          <p:nvSpPr>
            <p:cNvPr id="4" name="TextBox 3"/>
            <p:cNvSpPr txBox="1"/>
            <p:nvPr/>
          </p:nvSpPr>
          <p:spPr>
            <a:xfrm>
              <a:off x="1833712" y="2078695"/>
              <a:ext cx="21602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Steppingstone</a:t>
              </a:r>
              <a:endParaRPr lang="zh-CN" altLang="en-US" sz="2000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619672" y="1412776"/>
              <a:ext cx="2844936" cy="1138163"/>
            </a:xfrm>
            <a:prstGeom prst="rect">
              <a:avLst/>
            </a:prstGeom>
            <a:no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368004" y="1416746"/>
              <a:ext cx="1627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NAND</a:t>
              </a:r>
              <a:r>
                <a:rPr lang="zh-CN" altLang="en-US" dirty="0" smtClean="0"/>
                <a:t>控制器</a:t>
              </a:r>
              <a:endParaRPr lang="zh-CN" altLang="en-US" dirty="0"/>
            </a:p>
          </p:txBody>
        </p:sp>
        <p:sp>
          <p:nvSpPr>
            <p:cNvPr id="23" name="下箭头 22"/>
            <p:cNvSpPr/>
            <p:nvPr/>
          </p:nvSpPr>
          <p:spPr>
            <a:xfrm>
              <a:off x="6084168" y="1648091"/>
              <a:ext cx="288032" cy="340749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箭头 24"/>
            <p:cNvSpPr/>
            <p:nvPr/>
          </p:nvSpPr>
          <p:spPr>
            <a:xfrm>
              <a:off x="4464608" y="1484784"/>
              <a:ext cx="1838064" cy="294160"/>
            </a:xfrm>
            <a:prstGeom prst="lef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2576" y="260648"/>
            <a:ext cx="800105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(b)</a:t>
            </a:r>
            <a:r>
              <a:rPr kumimoji="1"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地址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划分、统一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编址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举例</a:t>
            </a:r>
            <a:endParaRPr kumimoji="1" lang="zh-CN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428113" y="2160085"/>
            <a:ext cx="8402975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91601" y="3865984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CPU</a:t>
            </a:r>
            <a:endParaRPr lang="en-US" altLang="zh-CN" b="1" dirty="0">
              <a:effectLst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633521" y="348498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423828" y="1830015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CB</a:t>
            </a:r>
            <a:endParaRPr lang="zh-CN" altLang="en-US" sz="2400" dirty="0"/>
          </a:p>
        </p:txBody>
      </p:sp>
      <p:sp>
        <p:nvSpPr>
          <p:cNvPr id="17" name="AutoShape 4"/>
          <p:cNvSpPr>
            <a:spLocks noChangeArrowheads="1"/>
          </p:cNvSpPr>
          <p:nvPr/>
        </p:nvSpPr>
        <p:spPr bwMode="auto">
          <a:xfrm>
            <a:off x="417497" y="2687960"/>
            <a:ext cx="8402975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186249" y="2348880"/>
            <a:ext cx="104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A7-A0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8323423" y="2384476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AB</a:t>
            </a:r>
            <a:endParaRPr lang="zh-CN" altLang="en-US" sz="2400" dirty="0"/>
          </a:p>
        </p:txBody>
      </p:sp>
      <p:sp>
        <p:nvSpPr>
          <p:cNvPr id="21" name="AutoShape 4"/>
          <p:cNvSpPr>
            <a:spLocks noChangeArrowheads="1"/>
          </p:cNvSpPr>
          <p:nvPr/>
        </p:nvSpPr>
        <p:spPr bwMode="auto">
          <a:xfrm>
            <a:off x="417497" y="3225363"/>
            <a:ext cx="8402975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chemeClr val="tx1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225699" y="2895327"/>
            <a:ext cx="104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D7-D0</a:t>
            </a:r>
            <a:endParaRPr lang="zh-CN" altLang="en-US" sz="2400" dirty="0"/>
          </a:p>
        </p:txBody>
      </p:sp>
      <p:sp>
        <p:nvSpPr>
          <p:cNvPr id="24" name="矩形 23"/>
          <p:cNvSpPr/>
          <p:nvPr/>
        </p:nvSpPr>
        <p:spPr>
          <a:xfrm>
            <a:off x="8316416" y="2895327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DB</a:t>
            </a:r>
            <a:endParaRPr lang="zh-CN" altLang="en-US" sz="2400" dirty="0"/>
          </a:p>
        </p:txBody>
      </p:sp>
      <p:sp>
        <p:nvSpPr>
          <p:cNvPr id="25" name="AutoShape 12"/>
          <p:cNvSpPr>
            <a:spLocks noChangeArrowheads="1"/>
          </p:cNvSpPr>
          <p:nvPr/>
        </p:nvSpPr>
        <p:spPr bwMode="auto">
          <a:xfrm>
            <a:off x="862121" y="2924944"/>
            <a:ext cx="203448" cy="936104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6" name="AutoShape 12"/>
          <p:cNvSpPr>
            <a:spLocks noChangeArrowheads="1"/>
          </p:cNvSpPr>
          <p:nvPr/>
        </p:nvSpPr>
        <p:spPr bwMode="auto">
          <a:xfrm>
            <a:off x="1065569" y="2420888"/>
            <a:ext cx="216024" cy="1440160"/>
          </a:xfrm>
          <a:prstGeom prst="upDownArrow">
            <a:avLst>
              <a:gd name="adj1" fmla="val 50000"/>
              <a:gd name="adj2" fmla="val 33333"/>
            </a:avLst>
          </a:prstGeom>
          <a:solidFill>
            <a:srgbClr val="EF93E6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2406559" y="2996952"/>
            <a:ext cx="720080" cy="1392289"/>
            <a:chOff x="2555776" y="2564904"/>
            <a:chExt cx="720080" cy="139228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2843808" y="2564904"/>
              <a:ext cx="0" cy="99371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2777001" y="3100898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A5</a:t>
              </a:r>
              <a:endParaRPr lang="zh-CN" altLang="en-US" sz="2000" dirty="0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2555776" y="2564904"/>
              <a:ext cx="0" cy="1296144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2555776" y="3557083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A0</a:t>
              </a:r>
              <a:endParaRPr lang="zh-CN" altLang="en-US" sz="2000" dirty="0"/>
            </a:p>
          </p:txBody>
        </p:sp>
      </p:grpSp>
      <p:sp>
        <p:nvSpPr>
          <p:cNvPr id="47" name="矩形 46"/>
          <p:cNvSpPr/>
          <p:nvPr/>
        </p:nvSpPr>
        <p:spPr>
          <a:xfrm>
            <a:off x="2334551" y="3494646"/>
            <a:ext cx="3770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...</a:t>
            </a:r>
            <a:endParaRPr lang="zh-CN" altLang="en-US" sz="2000" dirty="0"/>
          </a:p>
        </p:txBody>
      </p:sp>
      <p:grpSp>
        <p:nvGrpSpPr>
          <p:cNvPr id="116" name="组合 115"/>
          <p:cNvGrpSpPr/>
          <p:nvPr/>
        </p:nvGrpSpPr>
        <p:grpSpPr>
          <a:xfrm>
            <a:off x="1259632" y="2996952"/>
            <a:ext cx="1069718" cy="1478632"/>
            <a:chOff x="1408849" y="2564904"/>
            <a:chExt cx="1069718" cy="1478632"/>
          </a:xfrm>
        </p:grpSpPr>
        <p:cxnSp>
          <p:nvCxnSpPr>
            <p:cNvPr id="57" name="直接箭头连接符 56"/>
            <p:cNvCxnSpPr/>
            <p:nvPr/>
          </p:nvCxnSpPr>
          <p:spPr>
            <a:xfrm>
              <a:off x="1907704" y="2564904"/>
              <a:ext cx="0" cy="1478632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1408849" y="3253298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A7</a:t>
              </a:r>
              <a:endParaRPr lang="zh-CN" altLang="en-US" sz="2000" dirty="0"/>
            </a:p>
          </p:txBody>
        </p:sp>
        <p:cxnSp>
          <p:nvCxnSpPr>
            <p:cNvPr id="60" name="直接箭头连接符 59"/>
            <p:cNvCxnSpPr/>
            <p:nvPr/>
          </p:nvCxnSpPr>
          <p:spPr>
            <a:xfrm>
              <a:off x="2046519" y="2564904"/>
              <a:ext cx="0" cy="1478632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/>
            <p:cNvSpPr/>
            <p:nvPr/>
          </p:nvSpPr>
          <p:spPr>
            <a:xfrm>
              <a:off x="1979712" y="3244914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A6</a:t>
              </a:r>
              <a:endParaRPr lang="zh-CN" altLang="en-US" sz="2000" dirty="0"/>
            </a:p>
          </p:txBody>
        </p:sp>
      </p:grpSp>
      <p:cxnSp>
        <p:nvCxnSpPr>
          <p:cNvPr id="63" name="直接箭头连接符 62"/>
          <p:cNvCxnSpPr/>
          <p:nvPr/>
        </p:nvCxnSpPr>
        <p:spPr>
          <a:xfrm>
            <a:off x="2190535" y="4725144"/>
            <a:ext cx="79208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/>
          <p:cNvGrpSpPr/>
          <p:nvPr/>
        </p:nvGrpSpPr>
        <p:grpSpPr>
          <a:xfrm>
            <a:off x="6576670" y="2996952"/>
            <a:ext cx="565662" cy="1392289"/>
            <a:chOff x="5009249" y="2564904"/>
            <a:chExt cx="565662" cy="1392289"/>
          </a:xfrm>
        </p:grpSpPr>
        <p:cxnSp>
          <p:nvCxnSpPr>
            <p:cNvPr id="78" name="直接连接符 77"/>
            <p:cNvCxnSpPr/>
            <p:nvPr/>
          </p:nvCxnSpPr>
          <p:spPr>
            <a:xfrm>
              <a:off x="5220072" y="2564904"/>
              <a:ext cx="0" cy="99371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5076056" y="2564904"/>
              <a:ext cx="0" cy="1296144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 80"/>
            <p:cNvSpPr/>
            <p:nvPr/>
          </p:nvSpPr>
          <p:spPr>
            <a:xfrm>
              <a:off x="5009249" y="3557083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A0</a:t>
              </a:r>
              <a:endParaRPr lang="zh-CN" altLang="en-US" sz="2000" dirty="0"/>
            </a:p>
          </p:txBody>
        </p:sp>
        <p:sp>
          <p:nvSpPr>
            <p:cNvPr id="83" name="矩形 82"/>
            <p:cNvSpPr/>
            <p:nvPr/>
          </p:nvSpPr>
          <p:spPr>
            <a:xfrm>
              <a:off x="5076056" y="3212976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A1</a:t>
              </a:r>
              <a:endParaRPr lang="zh-CN" altLang="en-US" sz="2000" dirty="0"/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1470455" y="4437112"/>
            <a:ext cx="864096" cy="1872208"/>
            <a:chOff x="1619672" y="4005064"/>
            <a:chExt cx="864096" cy="1872208"/>
          </a:xfrm>
        </p:grpSpPr>
        <p:grpSp>
          <p:nvGrpSpPr>
            <p:cNvPr id="115" name="组合 114"/>
            <p:cNvGrpSpPr/>
            <p:nvPr/>
          </p:nvGrpSpPr>
          <p:grpSpPr>
            <a:xfrm>
              <a:off x="1619672" y="4005064"/>
              <a:ext cx="864096" cy="1800200"/>
              <a:chOff x="1619672" y="4005064"/>
              <a:chExt cx="864096" cy="1800200"/>
            </a:xfrm>
          </p:grpSpPr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1619672" y="4005064"/>
                <a:ext cx="762000" cy="1800200"/>
              </a:xfrm>
              <a:prstGeom prst="rect">
                <a:avLst/>
              </a:prstGeom>
              <a:solidFill>
                <a:srgbClr val="FFFF66"/>
              </a:solidFill>
              <a:ln w="25400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t" anchorCtr="0"/>
              <a:lstStyle/>
              <a:p>
                <a:endParaRPr lang="en-US" altLang="zh-CN" b="1" dirty="0" smtClean="0">
                  <a:effectLst/>
                </a:endParaRPr>
              </a:p>
              <a:p>
                <a:r>
                  <a:rPr lang="en-US" altLang="zh-CN" b="1" dirty="0" smtClean="0">
                    <a:effectLst/>
                  </a:rPr>
                  <a:t>2-4</a:t>
                </a:r>
                <a:endParaRPr lang="en-US" altLang="zh-CN" b="1" dirty="0" smtClean="0">
                  <a:effectLst/>
                </a:endParaRPr>
              </a:p>
              <a:p>
                <a:r>
                  <a:rPr lang="zh-CN" altLang="en-US" b="1" dirty="0"/>
                  <a:t>译码</a:t>
                </a:r>
                <a:endParaRPr lang="en-US" altLang="zh-CN" b="1" dirty="0">
                  <a:effectLst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984913" y="4037002"/>
                <a:ext cx="49885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Y0</a:t>
                </a:r>
                <a:endParaRPr lang="zh-CN" altLang="en-US" sz="2000" dirty="0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979712" y="4901098"/>
                <a:ext cx="49885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Y1</a:t>
                </a:r>
                <a:endParaRPr lang="zh-CN" altLang="en-US" sz="2000" dirty="0"/>
              </a:p>
            </p:txBody>
          </p:sp>
        </p:grpSp>
        <p:sp>
          <p:nvSpPr>
            <p:cNvPr id="92" name="矩形 91"/>
            <p:cNvSpPr/>
            <p:nvPr/>
          </p:nvSpPr>
          <p:spPr>
            <a:xfrm>
              <a:off x="1979712" y="5189130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Y2</a:t>
              </a:r>
              <a:endParaRPr lang="zh-CN" altLang="en-US" sz="2000" dirty="0"/>
            </a:p>
          </p:txBody>
        </p:sp>
        <p:sp>
          <p:nvSpPr>
            <p:cNvPr id="94" name="矩形 93"/>
            <p:cNvSpPr/>
            <p:nvPr/>
          </p:nvSpPr>
          <p:spPr>
            <a:xfrm>
              <a:off x="1979712" y="5477162"/>
              <a:ext cx="4988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Y3</a:t>
              </a:r>
              <a:endParaRPr lang="zh-CN" altLang="en-US" sz="2000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185334" y="5056380"/>
            <a:ext cx="4890191" cy="820892"/>
            <a:chOff x="2185334" y="5056380"/>
            <a:chExt cx="4890191" cy="820892"/>
          </a:xfrm>
        </p:grpSpPr>
        <p:cxnSp>
          <p:nvCxnSpPr>
            <p:cNvPr id="88" name="直接连接符 87"/>
            <p:cNvCxnSpPr/>
            <p:nvPr/>
          </p:nvCxnSpPr>
          <p:spPr>
            <a:xfrm flipV="1">
              <a:off x="6636434" y="5056380"/>
              <a:ext cx="23798" cy="820892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>
              <a:off x="6636434" y="5085184"/>
              <a:ext cx="4390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/>
          </p:nvCxnSpPr>
          <p:spPr>
            <a:xfrm>
              <a:off x="2185334" y="5877272"/>
              <a:ext cx="44581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2185334" y="5909210"/>
            <a:ext cx="2664981" cy="400110"/>
            <a:chOff x="2185334" y="5909210"/>
            <a:chExt cx="2664981" cy="400110"/>
          </a:xfrm>
        </p:grpSpPr>
        <p:cxnSp>
          <p:nvCxnSpPr>
            <p:cNvPr id="93" name="直接箭头连接符 92"/>
            <p:cNvCxnSpPr/>
            <p:nvPr/>
          </p:nvCxnSpPr>
          <p:spPr>
            <a:xfrm>
              <a:off x="2185334" y="6165304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矩形 95"/>
            <p:cNvSpPr/>
            <p:nvPr/>
          </p:nvSpPr>
          <p:spPr>
            <a:xfrm>
              <a:off x="3054631" y="5909210"/>
              <a:ext cx="17956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0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其它</a:t>
              </a:r>
              <a:r>
                <a:rPr kumimoji="1" lang="zh-CN" altLang="en-US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接口的</a:t>
              </a:r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endParaRPr lang="zh-CN" altLang="en-US" sz="2000" dirty="0"/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564426" y="2420888"/>
            <a:ext cx="1807243" cy="2848102"/>
            <a:chOff x="4997005" y="1988840"/>
            <a:chExt cx="1807243" cy="2848102"/>
          </a:xfrm>
        </p:grpSpPr>
        <p:sp>
          <p:nvSpPr>
            <p:cNvPr id="85" name="矩形 84"/>
            <p:cNvSpPr/>
            <p:nvPr/>
          </p:nvSpPr>
          <p:spPr>
            <a:xfrm>
              <a:off x="4997005" y="4221088"/>
              <a:ext cx="5132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endParaRPr lang="zh-CN" altLang="en-US" sz="2000" dirty="0"/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5078287" y="1988840"/>
              <a:ext cx="1725961" cy="2848102"/>
              <a:chOff x="5078287" y="1988840"/>
              <a:chExt cx="1725961" cy="2848102"/>
            </a:xfrm>
          </p:grpSpPr>
          <p:grpSp>
            <p:nvGrpSpPr>
              <p:cNvPr id="106" name="组合 105"/>
              <p:cNvGrpSpPr/>
              <p:nvPr/>
            </p:nvGrpSpPr>
            <p:grpSpPr>
              <a:xfrm>
                <a:off x="6390202" y="1988840"/>
                <a:ext cx="414046" cy="2144218"/>
                <a:chOff x="6390202" y="1988840"/>
                <a:chExt cx="414046" cy="2144218"/>
              </a:xfrm>
            </p:grpSpPr>
            <p:sp>
              <p:nvSpPr>
                <p:cNvPr id="74" name="上箭头 73"/>
                <p:cNvSpPr/>
                <p:nvPr/>
              </p:nvSpPr>
              <p:spPr>
                <a:xfrm>
                  <a:off x="6570222" y="3042860"/>
                  <a:ext cx="108012" cy="713962"/>
                </a:xfrm>
                <a:prstGeom prst="up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左箭头 74"/>
                <p:cNvSpPr/>
                <p:nvPr/>
              </p:nvSpPr>
              <p:spPr>
                <a:xfrm>
                  <a:off x="6390202" y="3756821"/>
                  <a:ext cx="259200" cy="104400"/>
                </a:xfrm>
                <a:prstGeom prst="lef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上箭头 75"/>
                <p:cNvSpPr/>
                <p:nvPr/>
              </p:nvSpPr>
              <p:spPr>
                <a:xfrm>
                  <a:off x="6750242" y="1988840"/>
                  <a:ext cx="54006" cy="2108040"/>
                </a:xfrm>
                <a:prstGeom prst="upArrow">
                  <a:avLst/>
                </a:prstGeom>
                <a:solidFill>
                  <a:srgbClr val="EF93E6"/>
                </a:solidFill>
                <a:ln>
                  <a:solidFill>
                    <a:srgbClr val="EF93E6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左箭头 76"/>
                <p:cNvSpPr/>
                <p:nvPr/>
              </p:nvSpPr>
              <p:spPr>
                <a:xfrm>
                  <a:off x="6390202" y="4028658"/>
                  <a:ext cx="403200" cy="104400"/>
                </a:xfrm>
                <a:prstGeom prst="leftArrow">
                  <a:avLst/>
                </a:prstGeom>
                <a:solidFill>
                  <a:srgbClr val="EF93E6"/>
                </a:solidFill>
                <a:ln>
                  <a:solidFill>
                    <a:srgbClr val="EF93E6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5078287" y="3573016"/>
                <a:ext cx="432000" cy="288032"/>
                <a:chOff x="5112708" y="3573016"/>
                <a:chExt cx="432000" cy="288032"/>
              </a:xfrm>
            </p:grpSpPr>
            <p:cxnSp>
              <p:nvCxnSpPr>
                <p:cNvPr id="80" name="直接箭头连接符 79"/>
                <p:cNvCxnSpPr/>
                <p:nvPr/>
              </p:nvCxnSpPr>
              <p:spPr>
                <a:xfrm>
                  <a:off x="5112708" y="3861048"/>
                  <a:ext cx="432000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箭头连接符 81"/>
                <p:cNvCxnSpPr/>
                <p:nvPr/>
              </p:nvCxnSpPr>
              <p:spPr>
                <a:xfrm>
                  <a:off x="5256676" y="3573016"/>
                  <a:ext cx="28803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组合 101"/>
              <p:cNvGrpSpPr/>
              <p:nvPr/>
            </p:nvGrpSpPr>
            <p:grpSpPr>
              <a:xfrm>
                <a:off x="5526106" y="3324774"/>
                <a:ext cx="874672" cy="1512168"/>
                <a:chOff x="5526106" y="3324774"/>
                <a:chExt cx="874672" cy="1512168"/>
              </a:xfrm>
            </p:grpSpPr>
            <p:sp>
              <p:nvSpPr>
                <p:cNvPr id="67" name="Rectangle 5"/>
                <p:cNvSpPr>
                  <a:spLocks noChangeArrowheads="1"/>
                </p:cNvSpPr>
                <p:nvPr/>
              </p:nvSpPr>
              <p:spPr bwMode="auto">
                <a:xfrm>
                  <a:off x="5598114" y="3411184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128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68" name="Rectangle 5"/>
                <p:cNvSpPr>
                  <a:spLocks noChangeArrowheads="1"/>
                </p:cNvSpPr>
                <p:nvPr/>
              </p:nvSpPr>
              <p:spPr bwMode="auto">
                <a:xfrm>
                  <a:off x="5598114" y="3612806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129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70" name="Rectangle 5"/>
                <p:cNvSpPr>
                  <a:spLocks noChangeArrowheads="1"/>
                </p:cNvSpPr>
                <p:nvPr/>
              </p:nvSpPr>
              <p:spPr bwMode="auto">
                <a:xfrm>
                  <a:off x="5598114" y="3828830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130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72" name="Rectangle 5"/>
                <p:cNvSpPr>
                  <a:spLocks noChangeArrowheads="1"/>
                </p:cNvSpPr>
                <p:nvPr/>
              </p:nvSpPr>
              <p:spPr bwMode="auto">
                <a:xfrm>
                  <a:off x="5598114" y="4077072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131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5526106" y="3324774"/>
                  <a:ext cx="864096" cy="151216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5574911" y="4408308"/>
                  <a:ext cx="82586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kumimoji="1" lang="zh-CN" altLang="en-US" sz="2000" b="1" dirty="0" smtClean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rPr>
                    <a:t>接口</a:t>
                  </a:r>
                  <a:r>
                    <a:rPr kumimoji="1" lang="en-US" altLang="zh-CN" sz="2000" b="1" dirty="0" smtClean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rPr>
                    <a:t>1</a:t>
                  </a:r>
                  <a:endParaRPr lang="zh-CN" altLang="en-US" sz="2000" dirty="0"/>
                </a:p>
              </p:txBody>
            </p:sp>
          </p:grpSp>
        </p:grpSp>
      </p:grpSp>
      <p:grpSp>
        <p:nvGrpSpPr>
          <p:cNvPr id="113" name="组合 112"/>
          <p:cNvGrpSpPr/>
          <p:nvPr/>
        </p:nvGrpSpPr>
        <p:grpSpPr>
          <a:xfrm>
            <a:off x="2406559" y="2453106"/>
            <a:ext cx="2065779" cy="2848102"/>
            <a:chOff x="2555776" y="2021058"/>
            <a:chExt cx="2065779" cy="2848102"/>
          </a:xfrm>
        </p:grpSpPr>
        <p:sp>
          <p:nvSpPr>
            <p:cNvPr id="65" name="矩形 64"/>
            <p:cNvSpPr/>
            <p:nvPr/>
          </p:nvSpPr>
          <p:spPr>
            <a:xfrm>
              <a:off x="2627784" y="3933056"/>
              <a:ext cx="5132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endParaRPr lang="zh-CN" altLang="en-US" sz="2000" dirty="0"/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2555776" y="2021058"/>
              <a:ext cx="2065779" cy="2848102"/>
              <a:chOff x="2555776" y="2021058"/>
              <a:chExt cx="2065779" cy="2848102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3131840" y="3356992"/>
                <a:ext cx="864096" cy="1512168"/>
                <a:chOff x="3131840" y="3356992"/>
                <a:chExt cx="864096" cy="1512168"/>
              </a:xfrm>
            </p:grpSpPr>
            <p:sp>
              <p:nvSpPr>
                <p:cNvPr id="27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3443402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0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28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3645024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29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4077072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ts val="1160"/>
                    </a:lnSpc>
                  </a:pPr>
                  <a:r>
                    <a:rPr lang="en-US" altLang="zh-CN" b="1" dirty="0" smtClean="0">
                      <a:effectLst/>
                    </a:rPr>
                    <a:t>...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30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3861048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2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32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4293096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62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33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4509120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63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3131840" y="3356992"/>
                  <a:ext cx="864096" cy="151216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3995936" y="2021058"/>
                <a:ext cx="414046" cy="2144218"/>
                <a:chOff x="3995936" y="2021058"/>
                <a:chExt cx="414046" cy="2144218"/>
              </a:xfrm>
            </p:grpSpPr>
            <p:sp>
              <p:nvSpPr>
                <p:cNvPr id="51" name="上箭头 50"/>
                <p:cNvSpPr/>
                <p:nvPr/>
              </p:nvSpPr>
              <p:spPr>
                <a:xfrm>
                  <a:off x="4175956" y="3075078"/>
                  <a:ext cx="108012" cy="713962"/>
                </a:xfrm>
                <a:prstGeom prst="up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左箭头 51"/>
                <p:cNvSpPr/>
                <p:nvPr/>
              </p:nvSpPr>
              <p:spPr>
                <a:xfrm>
                  <a:off x="3995936" y="3789039"/>
                  <a:ext cx="259200" cy="104400"/>
                </a:xfrm>
                <a:prstGeom prst="lef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上箭头 52"/>
                <p:cNvSpPr/>
                <p:nvPr/>
              </p:nvSpPr>
              <p:spPr>
                <a:xfrm>
                  <a:off x="4355976" y="2021058"/>
                  <a:ext cx="54006" cy="2108040"/>
                </a:xfrm>
                <a:prstGeom prst="upArrow">
                  <a:avLst/>
                </a:prstGeom>
                <a:solidFill>
                  <a:srgbClr val="EF93E6"/>
                </a:solidFill>
                <a:ln>
                  <a:solidFill>
                    <a:srgbClr val="EF93E6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左箭头 53"/>
                <p:cNvSpPr/>
                <p:nvPr/>
              </p:nvSpPr>
              <p:spPr>
                <a:xfrm>
                  <a:off x="3995936" y="4060876"/>
                  <a:ext cx="403200" cy="104400"/>
                </a:xfrm>
                <a:prstGeom prst="leftArrow">
                  <a:avLst/>
                </a:prstGeom>
                <a:solidFill>
                  <a:srgbClr val="EF93E6"/>
                </a:solidFill>
                <a:ln>
                  <a:solidFill>
                    <a:srgbClr val="EF93E6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9" name="矩形 98"/>
              <p:cNvSpPr/>
              <p:nvPr/>
            </p:nvSpPr>
            <p:spPr>
              <a:xfrm>
                <a:off x="3923928" y="4437112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000" b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主存</a:t>
                </a:r>
                <a:endParaRPr lang="zh-CN" altLang="en-US" sz="2000" dirty="0"/>
              </a:p>
            </p:txBody>
          </p:sp>
          <p:grpSp>
            <p:nvGrpSpPr>
              <p:cNvPr id="103" name="组合 102"/>
              <p:cNvGrpSpPr/>
              <p:nvPr/>
            </p:nvGrpSpPr>
            <p:grpSpPr>
              <a:xfrm>
                <a:off x="2555776" y="3429000"/>
                <a:ext cx="593050" cy="432048"/>
                <a:chOff x="2555776" y="3429000"/>
                <a:chExt cx="593050" cy="432048"/>
              </a:xfrm>
            </p:grpSpPr>
            <p:cxnSp>
              <p:nvCxnSpPr>
                <p:cNvPr id="38" name="直接箭头连接符 37"/>
                <p:cNvCxnSpPr/>
                <p:nvPr/>
              </p:nvCxnSpPr>
              <p:spPr>
                <a:xfrm>
                  <a:off x="2843808" y="3573016"/>
                  <a:ext cx="28803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/>
                <p:cNvCxnSpPr/>
                <p:nvPr/>
              </p:nvCxnSpPr>
              <p:spPr>
                <a:xfrm>
                  <a:off x="2555776" y="3861048"/>
                  <a:ext cx="576064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矩形 99"/>
                <p:cNvSpPr/>
                <p:nvPr/>
              </p:nvSpPr>
              <p:spPr>
                <a:xfrm>
                  <a:off x="2771800" y="3429000"/>
                  <a:ext cx="37702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000" b="1" dirty="0" smtClean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rPr>
                    <a:t>...</a:t>
                  </a:r>
                  <a:endParaRPr lang="zh-CN" altLang="en-US" sz="2000" dirty="0"/>
                </a:p>
              </p:txBody>
            </p:sp>
          </p:grpSp>
        </p:grpSp>
      </p:grpSp>
      <p:sp>
        <p:nvSpPr>
          <p:cNvPr id="120" name="矩形 119"/>
          <p:cNvSpPr/>
          <p:nvPr/>
        </p:nvSpPr>
        <p:spPr>
          <a:xfrm>
            <a:off x="417497" y="122869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000000</a:t>
            </a:r>
            <a:endParaRPr lang="zh-CN" altLang="en-US" sz="2000" dirty="0"/>
          </a:p>
        </p:txBody>
      </p:sp>
      <p:sp>
        <p:nvSpPr>
          <p:cNvPr id="122" name="矩形 121"/>
          <p:cNvSpPr/>
          <p:nvPr/>
        </p:nvSpPr>
        <p:spPr>
          <a:xfrm>
            <a:off x="429889" y="1660738"/>
            <a:ext cx="11397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111111</a:t>
            </a:r>
            <a:endParaRPr lang="zh-CN" altLang="en-US" sz="2000" dirty="0"/>
          </a:p>
        </p:txBody>
      </p:sp>
      <p:sp>
        <p:nvSpPr>
          <p:cNvPr id="123" name="矩形 122"/>
          <p:cNvSpPr/>
          <p:nvPr/>
        </p:nvSpPr>
        <p:spPr>
          <a:xfrm>
            <a:off x="1900435" y="119675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01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885375" y="1660738"/>
            <a:ext cx="1196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01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312877" y="119675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10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3297817" y="1660738"/>
            <a:ext cx="1196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10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4609021" y="119675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11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4593961" y="1660738"/>
            <a:ext cx="1196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11</a:t>
            </a:r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95536" y="1372706"/>
            <a:ext cx="3770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...</a:t>
            </a:r>
            <a:endParaRPr lang="zh-CN" altLang="en-US" sz="2000" dirty="0"/>
          </a:p>
        </p:txBody>
      </p:sp>
      <p:sp>
        <p:nvSpPr>
          <p:cNvPr id="104" name="矩形 103"/>
          <p:cNvSpPr/>
          <p:nvPr/>
        </p:nvSpPr>
        <p:spPr>
          <a:xfrm>
            <a:off x="1907704" y="1372706"/>
            <a:ext cx="3770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...</a:t>
            </a:r>
            <a:endParaRPr lang="zh-CN" altLang="en-US" sz="2000" dirty="0"/>
          </a:p>
        </p:txBody>
      </p:sp>
      <p:sp>
        <p:nvSpPr>
          <p:cNvPr id="110" name="矩形 109"/>
          <p:cNvSpPr/>
          <p:nvPr/>
        </p:nvSpPr>
        <p:spPr>
          <a:xfrm>
            <a:off x="3347864" y="1372706"/>
            <a:ext cx="3770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...</a:t>
            </a:r>
            <a:endParaRPr lang="zh-CN" altLang="en-US" sz="2000" dirty="0"/>
          </a:p>
        </p:txBody>
      </p:sp>
      <p:sp>
        <p:nvSpPr>
          <p:cNvPr id="121" name="矩形 120"/>
          <p:cNvSpPr/>
          <p:nvPr/>
        </p:nvSpPr>
        <p:spPr>
          <a:xfrm>
            <a:off x="4860032" y="1372706"/>
            <a:ext cx="3770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...</a:t>
            </a:r>
            <a:endParaRPr lang="zh-CN" altLang="en-US" sz="2000" dirty="0"/>
          </a:p>
        </p:txBody>
      </p:sp>
      <p:grpSp>
        <p:nvGrpSpPr>
          <p:cNvPr id="43" name="组合 42"/>
          <p:cNvGrpSpPr/>
          <p:nvPr/>
        </p:nvGrpSpPr>
        <p:grpSpPr>
          <a:xfrm>
            <a:off x="2262543" y="4853191"/>
            <a:ext cx="2701176" cy="695981"/>
            <a:chOff x="2262543" y="4853191"/>
            <a:chExt cx="2701176" cy="695981"/>
          </a:xfrm>
        </p:grpSpPr>
        <p:cxnSp>
          <p:nvCxnSpPr>
            <p:cNvPr id="84" name="直接箭头连接符 83"/>
            <p:cNvCxnSpPr/>
            <p:nvPr/>
          </p:nvCxnSpPr>
          <p:spPr>
            <a:xfrm flipV="1">
              <a:off x="2262543" y="5549171"/>
              <a:ext cx="2367057" cy="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4629600" y="4869160"/>
              <a:ext cx="0" cy="664042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4609021" y="4853191"/>
              <a:ext cx="354698" cy="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/>
        </p:nvGrpSpPr>
        <p:grpSpPr>
          <a:xfrm>
            <a:off x="4378429" y="2453106"/>
            <a:ext cx="2065779" cy="2848102"/>
            <a:chOff x="2555776" y="2021058"/>
            <a:chExt cx="2065779" cy="2848102"/>
          </a:xfrm>
        </p:grpSpPr>
        <p:sp>
          <p:nvSpPr>
            <p:cNvPr id="130" name="矩形 129"/>
            <p:cNvSpPr/>
            <p:nvPr/>
          </p:nvSpPr>
          <p:spPr>
            <a:xfrm>
              <a:off x="2627784" y="4109290"/>
              <a:ext cx="5132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endParaRPr lang="zh-CN" altLang="en-US" sz="2000" dirty="0"/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2555776" y="2021058"/>
              <a:ext cx="2065779" cy="2848102"/>
              <a:chOff x="2555776" y="2021058"/>
              <a:chExt cx="2065779" cy="2848102"/>
            </a:xfrm>
          </p:grpSpPr>
          <p:grpSp>
            <p:nvGrpSpPr>
              <p:cNvPr id="132" name="组合 131"/>
              <p:cNvGrpSpPr/>
              <p:nvPr/>
            </p:nvGrpSpPr>
            <p:grpSpPr>
              <a:xfrm>
                <a:off x="3131840" y="3356992"/>
                <a:ext cx="864096" cy="1512168"/>
                <a:chOff x="3131840" y="3356992"/>
                <a:chExt cx="864096" cy="1512168"/>
              </a:xfrm>
            </p:grpSpPr>
            <p:sp>
              <p:nvSpPr>
                <p:cNvPr id="143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3443402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64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144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3645024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65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145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4077072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ts val="1160"/>
                    </a:lnSpc>
                  </a:pPr>
                  <a:r>
                    <a:rPr lang="en-US" altLang="zh-CN" b="1" dirty="0" smtClean="0">
                      <a:effectLst/>
                    </a:rPr>
                    <a:t>...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146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3861048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66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147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4293096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126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148" name="Rectangle 5"/>
                <p:cNvSpPr>
                  <a:spLocks noChangeArrowheads="1"/>
                </p:cNvSpPr>
                <p:nvPr/>
              </p:nvSpPr>
              <p:spPr bwMode="auto">
                <a:xfrm>
                  <a:off x="3203848" y="4509120"/>
                  <a:ext cx="689992" cy="230425"/>
                </a:xfrm>
                <a:prstGeom prst="rect">
                  <a:avLst/>
                </a:prstGeom>
                <a:solidFill>
                  <a:srgbClr val="FFFF66"/>
                </a:solidFill>
                <a:ln w="25400">
                  <a:solidFill>
                    <a:srgbClr val="CC33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 smtClean="0">
                      <a:effectLst/>
                    </a:rPr>
                    <a:t>127</a:t>
                  </a:r>
                  <a:endParaRPr lang="en-US" altLang="zh-CN" b="1" dirty="0">
                    <a:effectLst/>
                  </a:endParaRPr>
                </a:p>
              </p:txBody>
            </p:sp>
            <p:sp>
              <p:nvSpPr>
                <p:cNvPr id="149" name="矩形 148"/>
                <p:cNvSpPr/>
                <p:nvPr/>
              </p:nvSpPr>
              <p:spPr>
                <a:xfrm>
                  <a:off x="3131840" y="3356992"/>
                  <a:ext cx="864096" cy="151216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3" name="组合 132"/>
              <p:cNvGrpSpPr/>
              <p:nvPr/>
            </p:nvGrpSpPr>
            <p:grpSpPr>
              <a:xfrm>
                <a:off x="3995936" y="2021058"/>
                <a:ext cx="414046" cy="2144218"/>
                <a:chOff x="3995936" y="2021058"/>
                <a:chExt cx="414046" cy="2144218"/>
              </a:xfrm>
            </p:grpSpPr>
            <p:sp>
              <p:nvSpPr>
                <p:cNvPr id="139" name="上箭头 138"/>
                <p:cNvSpPr/>
                <p:nvPr/>
              </p:nvSpPr>
              <p:spPr>
                <a:xfrm>
                  <a:off x="4175956" y="3075078"/>
                  <a:ext cx="108012" cy="713962"/>
                </a:xfrm>
                <a:prstGeom prst="up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左箭头 139"/>
                <p:cNvSpPr/>
                <p:nvPr/>
              </p:nvSpPr>
              <p:spPr>
                <a:xfrm>
                  <a:off x="3995936" y="3789039"/>
                  <a:ext cx="259200" cy="104400"/>
                </a:xfrm>
                <a:prstGeom prst="lef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1" name="上箭头 140"/>
                <p:cNvSpPr/>
                <p:nvPr/>
              </p:nvSpPr>
              <p:spPr>
                <a:xfrm>
                  <a:off x="4355976" y="2021058"/>
                  <a:ext cx="54006" cy="2108040"/>
                </a:xfrm>
                <a:prstGeom prst="upArrow">
                  <a:avLst/>
                </a:prstGeom>
                <a:solidFill>
                  <a:srgbClr val="EF93E6"/>
                </a:solidFill>
                <a:ln>
                  <a:solidFill>
                    <a:srgbClr val="EF93E6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左箭头 141"/>
                <p:cNvSpPr/>
                <p:nvPr/>
              </p:nvSpPr>
              <p:spPr>
                <a:xfrm>
                  <a:off x="3995936" y="4060876"/>
                  <a:ext cx="403200" cy="104400"/>
                </a:xfrm>
                <a:prstGeom prst="leftArrow">
                  <a:avLst/>
                </a:prstGeom>
                <a:solidFill>
                  <a:srgbClr val="EF93E6"/>
                </a:solidFill>
                <a:ln>
                  <a:solidFill>
                    <a:srgbClr val="EF93E6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4" name="矩形 133"/>
              <p:cNvSpPr/>
              <p:nvPr/>
            </p:nvSpPr>
            <p:spPr>
              <a:xfrm>
                <a:off x="3923928" y="4437112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000" b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主存</a:t>
                </a:r>
                <a:endParaRPr lang="zh-CN" altLang="en-US" sz="2000" dirty="0"/>
              </a:p>
            </p:txBody>
          </p:sp>
          <p:grpSp>
            <p:nvGrpSpPr>
              <p:cNvPr id="135" name="组合 134"/>
              <p:cNvGrpSpPr/>
              <p:nvPr/>
            </p:nvGrpSpPr>
            <p:grpSpPr>
              <a:xfrm>
                <a:off x="2555776" y="3429000"/>
                <a:ext cx="593050" cy="432048"/>
                <a:chOff x="2555776" y="3429000"/>
                <a:chExt cx="593050" cy="432048"/>
              </a:xfrm>
            </p:grpSpPr>
            <p:cxnSp>
              <p:nvCxnSpPr>
                <p:cNvPr id="136" name="直接箭头连接符 135"/>
                <p:cNvCxnSpPr/>
                <p:nvPr/>
              </p:nvCxnSpPr>
              <p:spPr>
                <a:xfrm>
                  <a:off x="2843808" y="3573016"/>
                  <a:ext cx="28803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箭头连接符 136"/>
                <p:cNvCxnSpPr/>
                <p:nvPr/>
              </p:nvCxnSpPr>
              <p:spPr>
                <a:xfrm>
                  <a:off x="2555776" y="3861048"/>
                  <a:ext cx="576064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8" name="矩形 137"/>
                <p:cNvSpPr/>
                <p:nvPr/>
              </p:nvSpPr>
              <p:spPr>
                <a:xfrm>
                  <a:off x="2771800" y="3429000"/>
                  <a:ext cx="37702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2000" b="1" dirty="0" smtClean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rPr>
                    <a:t>...</a:t>
                  </a:r>
                  <a:endParaRPr lang="zh-CN" altLang="en-US" sz="2000" dirty="0"/>
                </a:p>
              </p:txBody>
            </p:sp>
          </p:grpSp>
        </p:grpSp>
      </p:grpSp>
      <p:grpSp>
        <p:nvGrpSpPr>
          <p:cNvPr id="50" name="组合 49"/>
          <p:cNvGrpSpPr/>
          <p:nvPr/>
        </p:nvGrpSpPr>
        <p:grpSpPr>
          <a:xfrm>
            <a:off x="4355976" y="2996952"/>
            <a:ext cx="288032" cy="1296144"/>
            <a:chOff x="4355976" y="2996952"/>
            <a:chExt cx="288032" cy="1296144"/>
          </a:xfrm>
        </p:grpSpPr>
        <p:cxnSp>
          <p:nvCxnSpPr>
            <p:cNvPr id="150" name="直接连接符 149"/>
            <p:cNvCxnSpPr/>
            <p:nvPr/>
          </p:nvCxnSpPr>
          <p:spPr>
            <a:xfrm>
              <a:off x="4644008" y="2996952"/>
              <a:ext cx="0" cy="99371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4355976" y="2996952"/>
              <a:ext cx="0" cy="1296144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97" grpId="0"/>
      <p:bldP spid="104" grpId="0"/>
      <p:bldP spid="110" grpId="0"/>
      <p:bldP spid="1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kumimoji="1" lang="en-US" altLang="zh-CN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(c) </a:t>
            </a: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分区（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</a:t>
            </a:r>
            <a:r>
              <a:rPr kumimoji="1" lang="zh-CN" altLang="en-US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的理解</a:t>
            </a:r>
            <a:endParaRPr lang="zh-CN" altLang="en-US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568952" cy="52326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两种方式存储器空间均为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1GB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0X00000000-0X3FFFFFFF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）</a:t>
            </a: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本来需要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32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根地址引脚，利用高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5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位地址产生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根片选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信号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nGCS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[0:7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]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，相当于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将存储空间划分为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个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，每根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片选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选择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每个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。因此只有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27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根地址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ADDR[0:26]</a:t>
            </a:r>
            <a:endParaRPr kumimoji="1"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每个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可实现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ROM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或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SRAM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Bank6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7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还可实现</a:t>
            </a:r>
            <a:r>
              <a:rPr kumimoji="1" lang="en-US" altLang="zh-CN" sz="2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SDRAM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endParaRPr kumimoji="1"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Bank7-1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可按总线宽度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8/16/32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位访问，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Bank0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只能按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16/32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位访问</a:t>
            </a:r>
            <a:endParaRPr kumimoji="1"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kumimoji="1" lang="en-US" altLang="zh-CN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(c) </a:t>
            </a: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分区（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</a:t>
            </a:r>
            <a:r>
              <a:rPr kumimoji="1" lang="zh-CN" altLang="en-US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的理解</a:t>
            </a:r>
            <a:endParaRPr lang="zh-CN" altLang="en-US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183880" cy="46593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在使用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NAND </a:t>
            </a:r>
            <a:r>
              <a:rPr lang="en-US" altLang="zh-CN" b="1" dirty="0" smtClean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Flash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启动时，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Bank0 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设计为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4KB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SRAM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，复位时，将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NAND Flash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的前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4KB(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引导代码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被送入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，在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中执行。这称为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自引导模式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NAND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Flash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控制器中已经设置了</a:t>
            </a:r>
            <a:r>
              <a:rPr kumimoji="1" lang="en-US" altLang="zh-CN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一般计算机系统的架构（单总线）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838200" y="2069968"/>
            <a:ext cx="7910264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1009648" y="2755768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7559178" y="2755768"/>
            <a:ext cx="757238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2000" dirty="0" smtClean="0">
                <a:solidFill>
                  <a:srgbClr val="FF0000"/>
                </a:solidFill>
                <a:effectLst/>
              </a:rPr>
              <a:t>主存</a:t>
            </a:r>
            <a:endParaRPr lang="en-US" altLang="zh-CN" sz="2000" dirty="0">
              <a:solidFill>
                <a:srgbClr val="FF0000"/>
              </a:solidFill>
              <a:effectLst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4174232" y="3441568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dirty="0" smtClean="0">
                <a:effectLst/>
              </a:rPr>
              <a:t>I/O</a:t>
            </a:r>
            <a:endParaRPr lang="en-US" altLang="zh-CN" dirty="0" smtClean="0">
              <a:effectLst/>
            </a:endParaRPr>
          </a:p>
          <a:p>
            <a:r>
              <a:rPr lang="zh-CN" altLang="en-US" dirty="0" smtClean="0"/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1314448" y="2374768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auto">
          <a:xfrm>
            <a:off x="7812360" y="2374768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4326632" y="2374768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2243126" y="2736720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中断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2471726" y="235572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3128962" y="2736720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3357562" y="235572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3656102" y="1684777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</a:rPr>
              <a:t>根地址线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1628800"/>
            <a:ext cx="5616624" cy="28083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907704" y="4067780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S3C2440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4860032" y="1844824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6824454" y="1628800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27</a:t>
            </a:r>
            <a:r>
              <a:rPr lang="zh-CN" altLang="en-US" dirty="0" smtClean="0">
                <a:solidFill>
                  <a:srgbClr val="FF0000"/>
                </a:solidFill>
              </a:rPr>
              <a:t>根地址线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H="1">
            <a:off x="7596336" y="1788847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5326360" y="3429000"/>
            <a:ext cx="757808" cy="63878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片选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电路</a:t>
            </a:r>
            <a:endParaRPr lang="en-US" altLang="zh-CN" dirty="0">
              <a:effectLst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5705264" y="2374768"/>
            <a:ext cx="90872" cy="105423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5326360" y="2755768"/>
            <a:ext cx="613792" cy="529216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756093" y="2492896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地址线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高</a:t>
            </a:r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>
            <a:stCxn id="59" idx="3"/>
          </p:cNvCxnSpPr>
          <p:nvPr/>
        </p:nvCxnSpPr>
        <p:spPr>
          <a:xfrm>
            <a:off x="6084168" y="3748390"/>
            <a:ext cx="504056" cy="0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6588224" y="2450968"/>
            <a:ext cx="0" cy="1257300"/>
          </a:xfrm>
          <a:prstGeom prst="straightConnector1">
            <a:avLst/>
          </a:prstGeom>
          <a:ln w="635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588224" y="2492896"/>
            <a:ext cx="648072" cy="0"/>
          </a:xfrm>
          <a:prstGeom prst="straightConnector1">
            <a:avLst/>
          </a:prstGeom>
          <a:ln w="635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336196" y="3020376"/>
            <a:ext cx="488258" cy="40862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6571697" y="2564904"/>
            <a:ext cx="87716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</a:rPr>
              <a:t>个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Bank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的片选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61902" y="5116542"/>
            <a:ext cx="6776753" cy="1480810"/>
            <a:chOff x="961902" y="5116542"/>
            <a:chExt cx="6776753" cy="1480810"/>
          </a:xfrm>
        </p:grpSpPr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3357562" y="5116542"/>
              <a:ext cx="757808" cy="148081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dirty="0" smtClean="0">
                  <a:effectLst/>
                </a:rPr>
                <a:t>片选</a:t>
              </a:r>
              <a:endParaRPr lang="en-US" altLang="zh-CN" dirty="0" smtClean="0">
                <a:effectLst/>
              </a:endParaRPr>
            </a:p>
            <a:p>
              <a:pPr algn="ctr"/>
              <a:r>
                <a:rPr lang="zh-CN" altLang="en-US" dirty="0" smtClean="0">
                  <a:effectLst/>
                </a:rPr>
                <a:t>电路</a:t>
              </a:r>
              <a:endParaRPr lang="en-US" altLang="zh-CN" dirty="0">
                <a:effectLst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>
              <a:off x="1907704" y="5301208"/>
              <a:ext cx="14498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971600" y="5116542"/>
              <a:ext cx="9220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+mj-ea"/>
                </a:rPr>
                <a:t>A31=0</a:t>
              </a:r>
              <a:endParaRPr lang="zh-CN" altLang="en-US" dirty="0"/>
            </a:p>
          </p:txBody>
        </p:sp>
        <p:cxnSp>
          <p:nvCxnSpPr>
            <p:cNvPr id="33" name="直接箭头连接符 32"/>
            <p:cNvCxnSpPr/>
            <p:nvPr/>
          </p:nvCxnSpPr>
          <p:spPr>
            <a:xfrm>
              <a:off x="1907704" y="5589240"/>
              <a:ext cx="14498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971600" y="5373216"/>
              <a:ext cx="9220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+mj-ea"/>
                </a:rPr>
                <a:t>A30=0</a:t>
              </a:r>
              <a:endParaRPr lang="zh-CN" altLang="en-US" dirty="0"/>
            </a:p>
          </p:txBody>
        </p:sp>
        <p:cxnSp>
          <p:nvCxnSpPr>
            <p:cNvPr id="36" name="直接箭头连接符 35"/>
            <p:cNvCxnSpPr/>
            <p:nvPr/>
          </p:nvCxnSpPr>
          <p:spPr>
            <a:xfrm>
              <a:off x="1898006" y="5845914"/>
              <a:ext cx="14498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961902" y="5661248"/>
              <a:ext cx="6158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+mj-ea"/>
                </a:rPr>
                <a:t>A29</a:t>
              </a:r>
              <a:endParaRPr lang="zh-CN" altLang="en-US" dirty="0"/>
            </a:p>
          </p:txBody>
        </p:sp>
        <p:cxnSp>
          <p:nvCxnSpPr>
            <p:cNvPr id="40" name="直接箭头连接符 39"/>
            <p:cNvCxnSpPr/>
            <p:nvPr/>
          </p:nvCxnSpPr>
          <p:spPr>
            <a:xfrm>
              <a:off x="1898006" y="6124654"/>
              <a:ext cx="14498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>
              <a:off x="961902" y="5939988"/>
              <a:ext cx="6158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+mj-ea"/>
                </a:rPr>
                <a:t>A28</a:t>
              </a:r>
              <a:endParaRPr lang="zh-CN" altLang="en-US" dirty="0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1907704" y="6412686"/>
              <a:ext cx="14498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/>
            <p:cNvSpPr/>
            <p:nvPr/>
          </p:nvSpPr>
          <p:spPr>
            <a:xfrm>
              <a:off x="971600" y="6228020"/>
              <a:ext cx="6158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+mj-ea"/>
                </a:rPr>
                <a:t>A27</a:t>
              </a:r>
              <a:endParaRPr lang="zh-CN" altLang="en-US" dirty="0"/>
            </a:p>
          </p:txBody>
        </p:sp>
        <p:sp>
          <p:nvSpPr>
            <p:cNvPr id="10" name="右箭头 9"/>
            <p:cNvSpPr/>
            <p:nvPr/>
          </p:nvSpPr>
          <p:spPr>
            <a:xfrm>
              <a:off x="4115370" y="5661248"/>
              <a:ext cx="1210990" cy="566772"/>
            </a:xfrm>
            <a:prstGeom prst="rightArrow">
              <a:avLst/>
            </a:prstGeom>
            <a:no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421995" y="5650196"/>
              <a:ext cx="23166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 smtClean="0">
                  <a:latin typeface="+mj-ea"/>
                </a:rPr>
                <a:t>8</a:t>
              </a:r>
              <a:r>
                <a:rPr lang="zh-CN" altLang="en-US" sz="2400" dirty="0" smtClean="0">
                  <a:latin typeface="+mj-ea"/>
                </a:rPr>
                <a:t>个</a:t>
              </a:r>
              <a:r>
                <a:rPr lang="en-US" altLang="zh-CN" sz="2400" dirty="0" smtClean="0">
                  <a:latin typeface="+mj-ea"/>
                </a:rPr>
                <a:t>Bank</a:t>
              </a:r>
              <a:r>
                <a:rPr lang="zh-CN" altLang="en-US" sz="2400" dirty="0" smtClean="0">
                  <a:latin typeface="+mj-ea"/>
                </a:rPr>
                <a:t>的片选</a:t>
              </a:r>
              <a:endParaRPr lang="zh-CN" altLang="en-US" sz="2400" dirty="0"/>
            </a:p>
          </p:txBody>
        </p:sp>
      </p:grpSp>
      <p:cxnSp>
        <p:nvCxnSpPr>
          <p:cNvPr id="20" name="直接箭头连接符 19"/>
          <p:cNvCxnSpPr>
            <a:stCxn id="59" idx="1"/>
          </p:cNvCxnSpPr>
          <p:nvPr/>
        </p:nvCxnSpPr>
        <p:spPr>
          <a:xfrm flipH="1">
            <a:off x="4860032" y="3748390"/>
            <a:ext cx="46632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69" grpId="0"/>
      <p:bldP spid="49" grpId="0"/>
      <p:bldP spid="54" grpId="0"/>
      <p:bldP spid="64" grpId="0"/>
      <p:bldP spid="6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046466"/>
            <a:ext cx="8183880" cy="547887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0...00                 0X00000000        Bank0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......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1...11                 0X07FFFFFF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00001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0...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00                0X08000000        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Bank1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  ......</a:t>
            </a:r>
            <a:endParaRPr kumimoji="1" lang="en-US" altLang="zh-CN" sz="32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00001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1...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11           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0X0FFFFFFF</a:t>
            </a:r>
            <a:endParaRPr kumimoji="1" lang="en-US" altLang="zh-CN" sz="32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00010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0...00               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       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Bank2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......</a:t>
            </a:r>
            <a:endParaRPr kumimoji="1" lang="en-US" altLang="zh-CN" sz="32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20000"/>
              </a:lnSpc>
              <a:buClr>
                <a:srgbClr val="C00000"/>
              </a:buClr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00010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1...11                0X17FFFFFF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......</a:t>
            </a:r>
            <a:endParaRPr kumimoji="1" lang="en-US" altLang="zh-CN" sz="32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1472" y="260648"/>
            <a:ext cx="8001056" cy="608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存储空间</a:t>
            </a:r>
            <a:r>
              <a:rPr kumimoji="1"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划分</a:t>
            </a:r>
            <a:endParaRPr kumimoji="1" lang="zh-CN" altLang="en-US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694184" y="1477873"/>
            <a:ext cx="7910264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1582514" y="3773870"/>
            <a:ext cx="757238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  <a:effectLst/>
              </a:rPr>
              <a:t>128M</a:t>
            </a:r>
            <a:endParaRPr lang="en-US" altLang="zh-CN" sz="2000" dirty="0" smtClean="0">
              <a:solidFill>
                <a:srgbClr val="FF0000"/>
              </a:solidFill>
              <a:effectLst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effectLst/>
              </a:rPr>
              <a:t>X32</a:t>
            </a:r>
            <a:endParaRPr lang="en-US" altLang="zh-CN" sz="2000" dirty="0" smtClean="0">
              <a:solidFill>
                <a:srgbClr val="FF0000"/>
              </a:solidFill>
              <a:effectLst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</a:rPr>
              <a:t>SRAM</a:t>
            </a:r>
            <a:endParaRPr lang="en-US" altLang="zh-CN" sz="2000" dirty="0">
              <a:solidFill>
                <a:srgbClr val="FF0000"/>
              </a:solidFill>
              <a:effectLst/>
            </a:endParaRPr>
          </a:p>
        </p:txBody>
      </p:sp>
      <p:sp>
        <p:nvSpPr>
          <p:cNvPr id="39" name="AutoShape 13"/>
          <p:cNvSpPr>
            <a:spLocks noChangeArrowheads="1"/>
          </p:cNvSpPr>
          <p:nvPr/>
        </p:nvSpPr>
        <p:spPr bwMode="auto">
          <a:xfrm>
            <a:off x="1872854" y="1196752"/>
            <a:ext cx="228600" cy="2577118"/>
          </a:xfrm>
          <a:prstGeom prst="upDownArrow">
            <a:avLst>
              <a:gd name="adj1" fmla="val 50000"/>
              <a:gd name="adj2" fmla="val 33333"/>
            </a:avLst>
          </a:prstGeom>
          <a:solidFill>
            <a:srgbClr val="C00000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680438" y="1243437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27</a:t>
            </a:r>
            <a:r>
              <a:rPr lang="zh-CN" altLang="en-US" dirty="0" smtClean="0">
                <a:solidFill>
                  <a:srgbClr val="FF0000"/>
                </a:solidFill>
              </a:rPr>
              <a:t>根地址线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H="1">
            <a:off x="7452320" y="1196752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4"/>
          <p:cNvSpPr>
            <a:spLocks noChangeArrowheads="1"/>
          </p:cNvSpPr>
          <p:nvPr/>
        </p:nvSpPr>
        <p:spPr bwMode="auto">
          <a:xfrm>
            <a:off x="683568" y="917840"/>
            <a:ext cx="7910264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chemeClr val="accent2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6669822" y="683404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</a:rPr>
              <a:t>根数据线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3" name="直接连接符 52"/>
          <p:cNvCxnSpPr/>
          <p:nvPr/>
        </p:nvCxnSpPr>
        <p:spPr>
          <a:xfrm flipH="1">
            <a:off x="7441704" y="636719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toShape 4"/>
          <p:cNvSpPr>
            <a:spLocks noChangeArrowheads="1"/>
          </p:cNvSpPr>
          <p:nvPr/>
        </p:nvSpPr>
        <p:spPr bwMode="auto">
          <a:xfrm>
            <a:off x="683568" y="2112260"/>
            <a:ext cx="7910264" cy="381000"/>
          </a:xfrm>
          <a:prstGeom prst="leftRightArrow">
            <a:avLst>
              <a:gd name="adj1" fmla="val 50000"/>
              <a:gd name="adj2" fmla="val 115231"/>
            </a:avLst>
          </a:prstGeom>
          <a:solidFill>
            <a:srgbClr val="FF99FF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7441704" y="1772816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6660232" y="1835896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</a:rPr>
              <a:t>根</a:t>
            </a:r>
            <a:r>
              <a:rPr lang="en-US" altLang="zh-CN" dirty="0" smtClean="0">
                <a:solidFill>
                  <a:srgbClr val="FF0000"/>
                </a:solidFill>
              </a:rPr>
              <a:t>Bank</a:t>
            </a:r>
            <a:r>
              <a:rPr lang="zh-CN" altLang="en-US" dirty="0" smtClean="0">
                <a:solidFill>
                  <a:srgbClr val="FF0000"/>
                </a:solidFill>
              </a:rPr>
              <a:t>片选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55576" y="2708920"/>
            <a:ext cx="7507980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6660232" y="2411596"/>
            <a:ext cx="511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OE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755576" y="2996952"/>
            <a:ext cx="7507980" cy="0"/>
          </a:xfrm>
          <a:prstGeom prst="line">
            <a:avLst/>
          </a:prstGeom>
          <a:ln w="25400">
            <a:solidFill>
              <a:srgbClr val="EF93E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6660232" y="2699628"/>
            <a:ext cx="572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WR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1654522" y="1772816"/>
            <a:ext cx="181174" cy="2001054"/>
          </a:xfrm>
          <a:prstGeom prst="down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ectangle 6"/>
          <p:cNvSpPr>
            <a:spLocks noChangeArrowheads="1"/>
          </p:cNvSpPr>
          <p:nvPr/>
        </p:nvSpPr>
        <p:spPr bwMode="auto">
          <a:xfrm>
            <a:off x="4462834" y="3767638"/>
            <a:ext cx="757238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  <a:effectLst/>
              </a:rPr>
              <a:t>64M</a:t>
            </a:r>
            <a:endParaRPr lang="en-US" altLang="zh-CN" sz="2000" dirty="0" smtClean="0">
              <a:solidFill>
                <a:srgbClr val="FF0000"/>
              </a:solidFill>
              <a:effectLst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effectLst/>
              </a:rPr>
              <a:t>x32</a:t>
            </a:r>
            <a:endParaRPr lang="en-US" altLang="zh-CN" sz="2000" dirty="0">
              <a:solidFill>
                <a:srgbClr val="FF0000"/>
              </a:solidFill>
              <a:effectLst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997671" y="1745795"/>
            <a:ext cx="790353" cy="2001054"/>
            <a:chOff x="3853655" y="1745795"/>
            <a:chExt cx="790353" cy="2001054"/>
          </a:xfrm>
        </p:grpSpPr>
        <p:sp>
          <p:nvSpPr>
            <p:cNvPr id="77" name="下箭头 76"/>
            <p:cNvSpPr/>
            <p:nvPr/>
          </p:nvSpPr>
          <p:spPr>
            <a:xfrm>
              <a:off x="4318818" y="1745795"/>
              <a:ext cx="181174" cy="2001054"/>
            </a:xfrm>
            <a:prstGeom prst="downArrow">
              <a:avLst/>
            </a:prstGeom>
            <a:solidFill>
              <a:srgbClr val="EF93E6"/>
            </a:solidFill>
            <a:ln>
              <a:solidFill>
                <a:srgbClr val="EF93E6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4139952" y="3107903"/>
              <a:ext cx="504056" cy="537121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矩形 77"/>
            <p:cNvSpPr/>
            <p:nvPr/>
          </p:nvSpPr>
          <p:spPr>
            <a:xfrm>
              <a:off x="3853655" y="3107903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26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79" name="矩形 78"/>
          <p:cNvSpPr/>
          <p:nvPr/>
        </p:nvSpPr>
        <p:spPr>
          <a:xfrm>
            <a:off x="5356999" y="411110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每个单元两个地址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2878658" y="1196752"/>
            <a:ext cx="1481057" cy="3796318"/>
            <a:chOff x="2878658" y="1196752"/>
            <a:chExt cx="1481057" cy="3796318"/>
          </a:xfrm>
        </p:grpSpPr>
        <p:grpSp>
          <p:nvGrpSpPr>
            <p:cNvPr id="19" name="组合 18"/>
            <p:cNvGrpSpPr/>
            <p:nvPr/>
          </p:nvGrpSpPr>
          <p:grpSpPr>
            <a:xfrm>
              <a:off x="2878658" y="1196752"/>
              <a:ext cx="757238" cy="3796318"/>
              <a:chOff x="2734642" y="1196752"/>
              <a:chExt cx="757238" cy="3796318"/>
            </a:xfrm>
          </p:grpSpPr>
          <p:sp>
            <p:nvSpPr>
              <p:cNvPr id="71" name="Rectangle 6"/>
              <p:cNvSpPr>
                <a:spLocks noChangeArrowheads="1"/>
              </p:cNvSpPr>
              <p:nvPr/>
            </p:nvSpPr>
            <p:spPr bwMode="auto">
              <a:xfrm>
                <a:off x="2734642" y="3773870"/>
                <a:ext cx="757238" cy="1219200"/>
              </a:xfrm>
              <a:prstGeom prst="rect">
                <a:avLst/>
              </a:prstGeom>
              <a:solidFill>
                <a:srgbClr val="FFFF66"/>
              </a:solidFill>
              <a:ln w="25400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000" dirty="0" smtClean="0">
                    <a:solidFill>
                      <a:srgbClr val="FF0000"/>
                    </a:solidFill>
                    <a:effectLst/>
                  </a:rPr>
                  <a:t>128M</a:t>
                </a:r>
                <a:endParaRPr lang="en-US" altLang="zh-CN" sz="2000" dirty="0" smtClean="0">
                  <a:solidFill>
                    <a:srgbClr val="FF0000"/>
                  </a:solidFill>
                  <a:effectLst/>
                </a:endParaRPr>
              </a:p>
              <a:p>
                <a:r>
                  <a:rPr lang="en-US" altLang="zh-CN" sz="2000" dirty="0" smtClean="0">
                    <a:solidFill>
                      <a:srgbClr val="FF0000"/>
                    </a:solidFill>
                    <a:effectLst/>
                  </a:rPr>
                  <a:t>X32</a:t>
                </a:r>
                <a:endParaRPr lang="en-US" altLang="zh-CN" sz="2000" dirty="0" smtClean="0">
                  <a:solidFill>
                    <a:srgbClr val="FF0000"/>
                  </a:solidFill>
                  <a:effectLst/>
                </a:endParaRPr>
              </a:p>
              <a:p>
                <a:r>
                  <a:rPr lang="en-US" altLang="zh-CN" sz="2000" dirty="0" smtClean="0">
                    <a:solidFill>
                      <a:srgbClr val="FF0000"/>
                    </a:solidFill>
                  </a:rPr>
                  <a:t>ROM</a:t>
                </a:r>
                <a:endParaRPr lang="en-US" altLang="zh-CN" sz="2000" dirty="0">
                  <a:solidFill>
                    <a:srgbClr val="FF0000"/>
                  </a:solidFill>
                  <a:effectLst/>
                </a:endParaRPr>
              </a:p>
            </p:txBody>
          </p:sp>
          <p:sp>
            <p:nvSpPr>
              <p:cNvPr id="72" name="AutoShape 13"/>
              <p:cNvSpPr>
                <a:spLocks noChangeArrowheads="1"/>
              </p:cNvSpPr>
              <p:nvPr/>
            </p:nvSpPr>
            <p:spPr bwMode="auto">
              <a:xfrm>
                <a:off x="3024982" y="1196752"/>
                <a:ext cx="228600" cy="2577118"/>
              </a:xfrm>
              <a:prstGeom prst="upDownArrow">
                <a:avLst>
                  <a:gd name="adj1" fmla="val 50000"/>
                  <a:gd name="adj2" fmla="val 33333"/>
                </a:avLst>
              </a:prstGeom>
              <a:solidFill>
                <a:srgbClr val="C00000"/>
              </a:solidFill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73" name="下箭头 72"/>
              <p:cNvSpPr/>
              <p:nvPr/>
            </p:nvSpPr>
            <p:spPr>
              <a:xfrm>
                <a:off x="2806650" y="1772816"/>
                <a:ext cx="181174" cy="2001054"/>
              </a:xfrm>
              <a:prstGeom prst="downArrow">
                <a:avLst/>
              </a:prstGeom>
              <a:solidFill>
                <a:srgbClr val="EF93E6"/>
              </a:solidFill>
              <a:ln>
                <a:solidFill>
                  <a:srgbClr val="EF93E6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/>
              <p:nvPr/>
            </p:nvCxnSpPr>
            <p:spPr>
              <a:xfrm>
                <a:off x="3385022" y="2411596"/>
                <a:ext cx="0" cy="13622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矩形 32"/>
            <p:cNvSpPr/>
            <p:nvPr/>
          </p:nvSpPr>
          <p:spPr>
            <a:xfrm>
              <a:off x="3529038" y="2381759"/>
              <a:ext cx="8306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GCS1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229155" y="2359269"/>
            <a:ext cx="830677" cy="1414601"/>
            <a:chOff x="2229155" y="2359269"/>
            <a:chExt cx="830677" cy="1414601"/>
          </a:xfrm>
        </p:grpSpPr>
        <p:cxnSp>
          <p:nvCxnSpPr>
            <p:cNvPr id="18" name="直接箭头连接符 17"/>
            <p:cNvCxnSpPr/>
            <p:nvPr/>
          </p:nvCxnSpPr>
          <p:spPr>
            <a:xfrm>
              <a:off x="2232894" y="2411596"/>
              <a:ext cx="0" cy="136227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2229155" y="2359269"/>
              <a:ext cx="8306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GCS0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788024" y="1211922"/>
            <a:ext cx="1262725" cy="2577118"/>
            <a:chOff x="4788024" y="1211922"/>
            <a:chExt cx="1262725" cy="2577118"/>
          </a:xfrm>
        </p:grpSpPr>
        <p:grpSp>
          <p:nvGrpSpPr>
            <p:cNvPr id="20" name="组合 19"/>
            <p:cNvGrpSpPr/>
            <p:nvPr/>
          </p:nvGrpSpPr>
          <p:grpSpPr>
            <a:xfrm>
              <a:off x="4788024" y="1211922"/>
              <a:ext cx="360040" cy="2577118"/>
              <a:chOff x="4644008" y="1211922"/>
              <a:chExt cx="360040" cy="2577118"/>
            </a:xfrm>
          </p:grpSpPr>
          <p:sp>
            <p:nvSpPr>
              <p:cNvPr id="75" name="AutoShape 13"/>
              <p:cNvSpPr>
                <a:spLocks noChangeArrowheads="1"/>
              </p:cNvSpPr>
              <p:nvPr/>
            </p:nvSpPr>
            <p:spPr bwMode="auto">
              <a:xfrm>
                <a:off x="4644008" y="1211922"/>
                <a:ext cx="228600" cy="2577118"/>
              </a:xfrm>
              <a:prstGeom prst="upDownArrow">
                <a:avLst>
                  <a:gd name="adj1" fmla="val 50000"/>
                  <a:gd name="adj2" fmla="val 33333"/>
                </a:avLst>
              </a:prstGeom>
              <a:solidFill>
                <a:srgbClr val="C00000"/>
              </a:solidFill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cxnSp>
            <p:nvCxnSpPr>
              <p:cNvPr id="76" name="直接箭头连接符 75"/>
              <p:cNvCxnSpPr/>
              <p:nvPr/>
            </p:nvCxnSpPr>
            <p:spPr>
              <a:xfrm>
                <a:off x="5004048" y="2426766"/>
                <a:ext cx="0" cy="13622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矩形 34"/>
            <p:cNvSpPr/>
            <p:nvPr/>
          </p:nvSpPr>
          <p:spPr>
            <a:xfrm>
              <a:off x="5220072" y="2390973"/>
              <a:ext cx="8306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GCS2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16" grpId="0" animBg="1"/>
      <p:bldP spid="70" grpId="0" animBg="1"/>
      <p:bldP spid="7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1472" y="714356"/>
            <a:ext cx="800105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(5.3)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如何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按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字节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/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按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字</a:t>
            </a:r>
            <a:r>
              <a:rPr kumimoji="1"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同时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访问？</a:t>
            </a:r>
            <a:endParaRPr kumimoji="1"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92576" y="2492896"/>
            <a:ext cx="8183880" cy="3456384"/>
          </a:xfrm>
          <a:prstGeom prst="rect">
            <a:avLst/>
          </a:prstGeom>
        </p:spPr>
        <p:txBody>
          <a:bodyPr vert="horz" lIns="182880" tIns="91440">
            <a:normAutofit fontScale="92500" lnSpcReduction="20000"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 R1, [R0]		;R0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中放字地址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;R0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中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放半字地址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		;R0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中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放字节地址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</a:t>
            </a:r>
            <a:endParaRPr kumimoji="1" lang="en-US" altLang="zh-CN" sz="32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 2" panose="05020102010507070707"/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 2" panose="05020102010507070707"/>
              <a:buNone/>
            </a:pP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188640"/>
            <a:ext cx="800105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）解决方案</a:t>
            </a:r>
            <a:endParaRPr kumimoji="1" lang="zh-CN" altLang="en-US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54134" y="4983559"/>
            <a:ext cx="48182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同时按</a:t>
            </a:r>
            <a:r>
              <a:rPr lang="zh-CN" altLang="en-US" sz="2200" dirty="0" smtClean="0"/>
              <a:t>字节</a:t>
            </a:r>
            <a:r>
              <a:rPr lang="en-US" altLang="zh-CN" sz="2200" dirty="0" smtClean="0"/>
              <a:t>/</a:t>
            </a:r>
            <a:r>
              <a:rPr lang="zh-CN" altLang="en-US" sz="2200" dirty="0" smtClean="0"/>
              <a:t>字访问的思路</a:t>
            </a:r>
            <a:endParaRPr lang="zh-CN" altLang="en-US" sz="2200" dirty="0"/>
          </a:p>
        </p:txBody>
      </p:sp>
      <p:sp>
        <p:nvSpPr>
          <p:cNvPr id="78" name="TextBox 77"/>
          <p:cNvSpPr txBox="1"/>
          <p:nvPr/>
        </p:nvSpPr>
        <p:spPr>
          <a:xfrm>
            <a:off x="3347864" y="5805264"/>
            <a:ext cx="511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选体信号的产生</a:t>
            </a:r>
            <a:endParaRPr lang="zh-CN" altLang="en-US" sz="22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3929058" y="1692346"/>
            <a:ext cx="1000132" cy="2579698"/>
            <a:chOff x="3929058" y="2071678"/>
            <a:chExt cx="1571636" cy="2143140"/>
          </a:xfrm>
        </p:grpSpPr>
        <p:sp>
          <p:nvSpPr>
            <p:cNvPr id="6" name="矩形 5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318168" y="1340768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8</a:t>
            </a:r>
            <a:r>
              <a:rPr lang="zh-CN" altLang="en-US" sz="2000" dirty="0" smtClean="0"/>
              <a:t>位</a:t>
            </a:r>
            <a:endParaRPr lang="zh-CN" alt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267744" y="3790432"/>
            <a:ext cx="1571636" cy="48161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0XFFFFFFFC</a:t>
            </a:r>
            <a:endParaRPr lang="zh-CN" alt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14546" y="1692346"/>
            <a:ext cx="1714512" cy="48161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0X00000000</a:t>
            </a:r>
            <a:endParaRPr lang="zh-CN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2214546" y="2208286"/>
            <a:ext cx="1714512" cy="48161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0X00000004</a:t>
            </a:r>
            <a:endParaRPr lang="zh-CN" altLang="en-US" sz="2000" dirty="0"/>
          </a:p>
        </p:txBody>
      </p:sp>
      <p:sp>
        <p:nvSpPr>
          <p:cNvPr id="20" name="燕尾形箭头 19"/>
          <p:cNvSpPr/>
          <p:nvPr/>
        </p:nvSpPr>
        <p:spPr>
          <a:xfrm>
            <a:off x="317258" y="3102512"/>
            <a:ext cx="3534662" cy="687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17258" y="2564904"/>
            <a:ext cx="3534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只接前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30</a:t>
            </a:r>
            <a:r>
              <a:rPr lang="zh-CN" altLang="en-US" sz="2000" dirty="0"/>
              <a:t>位</a:t>
            </a:r>
            <a:r>
              <a:rPr lang="zh-CN" altLang="en-US" sz="2000" dirty="0" smtClean="0"/>
              <a:t>地址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A31-A2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r>
              <a:rPr lang="en-US" altLang="zh-CN" sz="2000" dirty="0" smtClean="0"/>
              <a:t>(</a:t>
            </a:r>
            <a:r>
              <a:rPr lang="zh-CN" altLang="en-US" sz="2000" dirty="0" smtClean="0"/>
              <a:t>高位片选，低位接芯片</a:t>
            </a:r>
            <a:r>
              <a:rPr lang="en-US" altLang="zh-CN" sz="2000" dirty="0" smtClean="0"/>
              <a:t>)</a:t>
            </a:r>
            <a:endParaRPr lang="zh-CN" altLang="en-US" sz="2000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929924" y="4650331"/>
            <a:ext cx="3499200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1" idx="2"/>
          </p:cNvCxnSpPr>
          <p:nvPr/>
        </p:nvCxnSpPr>
        <p:spPr>
          <a:xfrm rot="16200000" flipV="1">
            <a:off x="4217251" y="4461187"/>
            <a:ext cx="378287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39552" y="4869160"/>
            <a:ext cx="2942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]/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nBE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072066" y="1692346"/>
            <a:ext cx="1000132" cy="2579698"/>
            <a:chOff x="3929058" y="2071678"/>
            <a:chExt cx="1571636" cy="2143140"/>
          </a:xfrm>
        </p:grpSpPr>
        <p:sp>
          <p:nvSpPr>
            <p:cNvPr id="46" name="矩形 45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50" name="矩形 49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461176" y="1340768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8</a:t>
            </a:r>
            <a:r>
              <a:rPr lang="zh-CN" altLang="en-US" sz="2000" dirty="0" smtClean="0"/>
              <a:t>位</a:t>
            </a:r>
            <a:endParaRPr lang="zh-CN" altLang="en-US" sz="2000" dirty="0"/>
          </a:p>
        </p:txBody>
      </p:sp>
      <p:cxnSp>
        <p:nvCxnSpPr>
          <p:cNvPr id="53" name="直接箭头连接符 52"/>
          <p:cNvCxnSpPr/>
          <p:nvPr/>
        </p:nvCxnSpPr>
        <p:spPr>
          <a:xfrm rot="16200000" flipV="1">
            <a:off x="5339236" y="4526155"/>
            <a:ext cx="420332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6215074" y="1692346"/>
            <a:ext cx="1000132" cy="2579698"/>
            <a:chOff x="3929058" y="2071678"/>
            <a:chExt cx="1571636" cy="2143140"/>
          </a:xfrm>
        </p:grpSpPr>
        <p:sp>
          <p:nvSpPr>
            <p:cNvPr id="55" name="矩形 54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6676192" y="1340768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8</a:t>
            </a:r>
            <a:r>
              <a:rPr lang="zh-CN" altLang="en-US" sz="2000" dirty="0" smtClean="0"/>
              <a:t>位</a:t>
            </a:r>
            <a:endParaRPr lang="zh-CN" altLang="en-US" sz="2000" dirty="0"/>
          </a:p>
        </p:txBody>
      </p:sp>
      <p:cxnSp>
        <p:nvCxnSpPr>
          <p:cNvPr id="62" name="直接箭头连接符 61"/>
          <p:cNvCxnSpPr/>
          <p:nvPr/>
        </p:nvCxnSpPr>
        <p:spPr>
          <a:xfrm rot="16200000" flipV="1">
            <a:off x="6438911" y="4568811"/>
            <a:ext cx="50699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358082" y="1692346"/>
            <a:ext cx="1000132" cy="2579698"/>
            <a:chOff x="3929058" y="2071678"/>
            <a:chExt cx="1571636" cy="2143140"/>
          </a:xfrm>
        </p:grpSpPr>
        <p:sp>
          <p:nvSpPr>
            <p:cNvPr id="64" name="矩形 63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7891208" y="1340768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8</a:t>
            </a:r>
            <a:r>
              <a:rPr lang="zh-CN" altLang="en-US" sz="2000" dirty="0" smtClean="0"/>
              <a:t>位</a:t>
            </a:r>
            <a:endParaRPr lang="zh-CN" altLang="en-US" sz="2000" dirty="0"/>
          </a:p>
        </p:txBody>
      </p:sp>
      <p:cxnSp>
        <p:nvCxnSpPr>
          <p:cNvPr id="71" name="直接箭头连接符 70"/>
          <p:cNvCxnSpPr/>
          <p:nvPr/>
        </p:nvCxnSpPr>
        <p:spPr>
          <a:xfrm rot="16200000" flipV="1">
            <a:off x="7538586" y="4611468"/>
            <a:ext cx="593665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928662" y="4736321"/>
            <a:ext cx="4644000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928662" y="4822311"/>
            <a:ext cx="5786478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28662" y="4908301"/>
            <a:ext cx="6894000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067944" y="17108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0</a:t>
            </a:r>
            <a:endParaRPr lang="zh-CN" altLang="en-US" sz="2000" dirty="0"/>
          </a:p>
        </p:txBody>
      </p:sp>
      <p:sp>
        <p:nvSpPr>
          <p:cNvPr id="74" name="TextBox 73"/>
          <p:cNvSpPr txBox="1"/>
          <p:nvPr/>
        </p:nvSpPr>
        <p:spPr>
          <a:xfrm>
            <a:off x="5210952" y="17108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1</a:t>
            </a:r>
            <a:endParaRPr lang="zh-CN" altLang="en-US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6353960" y="17108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2</a:t>
            </a:r>
            <a:endParaRPr lang="zh-CN" altLang="en-US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7496968" y="17108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3</a:t>
            </a:r>
            <a:endParaRPr lang="zh-CN" altLang="en-US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4067944" y="22693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4</a:t>
            </a:r>
            <a:endParaRPr lang="zh-CN" altLang="en-US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5210952" y="22693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5</a:t>
            </a:r>
            <a:endParaRPr lang="zh-CN" altLang="en-US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6353960" y="22693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6</a:t>
            </a:r>
            <a:endParaRPr lang="zh-CN" altLang="en-US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7496968" y="2269393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7</a:t>
            </a:r>
            <a:endParaRPr lang="zh-CN" altLang="en-US" sz="2000" dirty="0"/>
          </a:p>
        </p:txBody>
      </p:sp>
      <p:sp>
        <p:nvSpPr>
          <p:cNvPr id="2" name="左右箭头 1"/>
          <p:cNvSpPr/>
          <p:nvPr/>
        </p:nvSpPr>
        <p:spPr>
          <a:xfrm>
            <a:off x="683568" y="1052736"/>
            <a:ext cx="7674646" cy="312814"/>
          </a:xfrm>
          <a:prstGeom prst="leftRigh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上下箭头 2"/>
          <p:cNvSpPr/>
          <p:nvPr/>
        </p:nvSpPr>
        <p:spPr>
          <a:xfrm>
            <a:off x="4211959" y="1285120"/>
            <a:ext cx="72000" cy="360000"/>
          </a:xfrm>
          <a:prstGeom prst="upDown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上下箭头 86"/>
          <p:cNvSpPr/>
          <p:nvPr/>
        </p:nvSpPr>
        <p:spPr>
          <a:xfrm>
            <a:off x="5436104" y="1293542"/>
            <a:ext cx="72000" cy="360000"/>
          </a:xfrm>
          <a:prstGeom prst="upDown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上下箭头 87"/>
          <p:cNvSpPr/>
          <p:nvPr/>
        </p:nvSpPr>
        <p:spPr>
          <a:xfrm>
            <a:off x="6660231" y="1293542"/>
            <a:ext cx="72000" cy="360000"/>
          </a:xfrm>
          <a:prstGeom prst="upDown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上下箭头 88"/>
          <p:cNvSpPr/>
          <p:nvPr/>
        </p:nvSpPr>
        <p:spPr>
          <a:xfrm>
            <a:off x="7812360" y="1301964"/>
            <a:ext cx="72000" cy="360000"/>
          </a:xfrm>
          <a:prstGeom prst="upDown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3354134" y="5373216"/>
            <a:ext cx="48182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字节</a:t>
            </a:r>
            <a:r>
              <a:rPr lang="en-US" altLang="zh-CN" sz="2200" dirty="0" smtClean="0"/>
              <a:t>/</a:t>
            </a:r>
            <a:r>
              <a:rPr lang="zh-CN" altLang="en-US" sz="2200" dirty="0" smtClean="0"/>
              <a:t>字地址的形成</a:t>
            </a:r>
            <a:endParaRPr lang="zh-CN" altLang="en-US" sz="2200" dirty="0"/>
          </a:p>
        </p:txBody>
      </p:sp>
      <p:sp>
        <p:nvSpPr>
          <p:cNvPr id="91" name="TextBox 90"/>
          <p:cNvSpPr txBox="1"/>
          <p:nvPr/>
        </p:nvSpPr>
        <p:spPr>
          <a:xfrm>
            <a:off x="3347864" y="6165304"/>
            <a:ext cx="5616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读出的情况：</a:t>
            </a:r>
            <a:r>
              <a:rPr lang="en-US" altLang="zh-CN" sz="2200" dirty="0" smtClean="0"/>
              <a:t>OE</a:t>
            </a:r>
            <a:r>
              <a:rPr lang="zh-CN" altLang="en-US" sz="2200" dirty="0" smtClean="0"/>
              <a:t>同时有效，只能</a:t>
            </a:r>
            <a:r>
              <a:rPr lang="en-US" altLang="zh-CN" sz="2200" dirty="0" smtClean="0"/>
              <a:t>4</a:t>
            </a:r>
            <a:r>
              <a:rPr lang="zh-CN" altLang="en-US" sz="2200" dirty="0" smtClean="0"/>
              <a:t>体同时读</a:t>
            </a:r>
            <a:endParaRPr lang="zh-CN" altLang="en-US" sz="2200" dirty="0"/>
          </a:p>
        </p:txBody>
      </p:sp>
      <p:sp>
        <p:nvSpPr>
          <p:cNvPr id="92" name="TextBox 91"/>
          <p:cNvSpPr txBox="1"/>
          <p:nvPr/>
        </p:nvSpPr>
        <p:spPr>
          <a:xfrm>
            <a:off x="3347864" y="6526505"/>
            <a:ext cx="511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总容量</a:t>
            </a:r>
            <a:r>
              <a:rPr lang="en-US" altLang="zh-CN" sz="2200" dirty="0" smtClean="0"/>
              <a:t>4GB</a:t>
            </a:r>
            <a:r>
              <a:rPr lang="zh-CN" altLang="en-US" sz="2200" dirty="0"/>
              <a:t>，每个体容量</a:t>
            </a:r>
            <a:r>
              <a:rPr lang="en-US" altLang="zh-CN" sz="2200" dirty="0" smtClean="0"/>
              <a:t>1GB</a:t>
            </a:r>
            <a:endParaRPr lang="zh-CN" altLang="en-US" sz="2200" dirty="0"/>
          </a:p>
        </p:txBody>
      </p:sp>
      <p:sp>
        <p:nvSpPr>
          <p:cNvPr id="84" name="TextBox 83"/>
          <p:cNvSpPr txBox="1"/>
          <p:nvPr/>
        </p:nvSpPr>
        <p:spPr>
          <a:xfrm>
            <a:off x="4202869" y="581854"/>
            <a:ext cx="1560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DB(32</a:t>
            </a:r>
            <a:r>
              <a:rPr lang="zh-CN" altLang="en-US" sz="2000" b="1" dirty="0" smtClean="0"/>
              <a:t>根</a:t>
            </a:r>
            <a:r>
              <a:rPr lang="en-US" altLang="zh-CN" sz="2000" b="1" dirty="0" smtClean="0"/>
              <a:t>)</a:t>
            </a:r>
            <a:endParaRPr lang="zh-CN" altLang="en-US" sz="2000" b="1" dirty="0"/>
          </a:p>
        </p:txBody>
      </p:sp>
      <p:sp>
        <p:nvSpPr>
          <p:cNvPr id="86" name="TextBox 85"/>
          <p:cNvSpPr txBox="1"/>
          <p:nvPr/>
        </p:nvSpPr>
        <p:spPr>
          <a:xfrm>
            <a:off x="666685" y="36311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AB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714356"/>
            <a:ext cx="8359816" cy="2037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如何产生？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2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 STR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、地址是字地址，则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个都有效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 STRH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STRB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，则根据地址最低两位产生</a:t>
            </a:r>
            <a:endParaRPr kumimoji="1"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71472" y="3645024"/>
            <a:ext cx="8183880" cy="2736304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 R1, [R0]		;R0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中放字地址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;R0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中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放半字地址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	;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R0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中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放字节地址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 2" panose="05020102010507070707"/>
              <a:buNone/>
            </a:pP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714356"/>
            <a:ext cx="8359816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字地址、字节地址如何确定？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2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假设每个体只用一个芯片组成，以访问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0—3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字节够成的字为例：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2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四个体都访问其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号字节，高位相同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22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</a:t>
            </a:r>
            <a:r>
              <a:rPr kumimoji="1" lang="en-US" altLang="zh-CN" sz="32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接四组芯片的写引脚</a:t>
            </a:r>
            <a:endParaRPr kumimoji="1"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89176" y="4437112"/>
            <a:ext cx="8183880" cy="1944216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0X000000...0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位字地址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89176" y="692696"/>
            <a:ext cx="8183880" cy="1944216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0X000000...0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位半字地址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1560" y="2492896"/>
            <a:ext cx="8183880" cy="1944216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0X000000...0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半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字地址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64584" y="4509120"/>
            <a:ext cx="8579416" cy="1944216"/>
          </a:xfrm>
          <a:prstGeom prst="rect">
            <a:avLst/>
          </a:prstGeom>
        </p:spPr>
        <p:txBody>
          <a:bodyPr vert="horz" lIns="182880" tIns="91440">
            <a:normAutofit fontScale="92500"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0X0000...0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00/01/10/11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位字节地址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89176" y="692696"/>
            <a:ext cx="8183880" cy="1944216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0X000000...0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位半字地址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;?	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929058" y="3451494"/>
            <a:ext cx="1000132" cy="2579698"/>
            <a:chOff x="3929058" y="2071678"/>
            <a:chExt cx="1571636" cy="2143140"/>
          </a:xfrm>
        </p:grpSpPr>
        <p:sp>
          <p:nvSpPr>
            <p:cNvPr id="26" name="矩形 25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30" name="矩形 29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14546" y="3451494"/>
            <a:ext cx="1714512" cy="48161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0X00000000</a:t>
            </a:r>
            <a:endParaRPr lang="zh-CN" alt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2214546" y="3967434"/>
            <a:ext cx="1714512" cy="48161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0X00000004</a:t>
            </a:r>
            <a:endParaRPr lang="zh-CN" altLang="en-US" sz="2000" dirty="0"/>
          </a:p>
        </p:txBody>
      </p:sp>
      <p:cxnSp>
        <p:nvCxnSpPr>
          <p:cNvPr id="38" name="直接连接符 37"/>
          <p:cNvCxnSpPr/>
          <p:nvPr/>
        </p:nvCxnSpPr>
        <p:spPr>
          <a:xfrm>
            <a:off x="929924" y="6409479"/>
            <a:ext cx="3499200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endCxn id="31" idx="2"/>
          </p:cNvCxnSpPr>
          <p:nvPr/>
        </p:nvCxnSpPr>
        <p:spPr>
          <a:xfrm rot="16200000" flipV="1">
            <a:off x="4217251" y="6220335"/>
            <a:ext cx="378287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5072066" y="3451494"/>
            <a:ext cx="1000132" cy="2579698"/>
            <a:chOff x="3929058" y="2071678"/>
            <a:chExt cx="1571636" cy="2143140"/>
          </a:xfrm>
        </p:grpSpPr>
        <p:sp>
          <p:nvSpPr>
            <p:cNvPr id="41" name="矩形 40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8" name="直接箭头连接符 47"/>
          <p:cNvCxnSpPr/>
          <p:nvPr/>
        </p:nvCxnSpPr>
        <p:spPr>
          <a:xfrm rot="16200000" flipV="1">
            <a:off x="5339236" y="6285303"/>
            <a:ext cx="420332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6215074" y="3451494"/>
            <a:ext cx="1000132" cy="2579698"/>
            <a:chOff x="3929058" y="2071678"/>
            <a:chExt cx="1571636" cy="2143140"/>
          </a:xfrm>
        </p:grpSpPr>
        <p:sp>
          <p:nvSpPr>
            <p:cNvPr id="50" name="矩形 49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54" name="矩形 53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7" name="直接箭头连接符 56"/>
          <p:cNvCxnSpPr/>
          <p:nvPr/>
        </p:nvCxnSpPr>
        <p:spPr>
          <a:xfrm rot="16200000" flipV="1">
            <a:off x="6438911" y="6327959"/>
            <a:ext cx="50699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7358082" y="3451494"/>
            <a:ext cx="1000132" cy="2579698"/>
            <a:chOff x="3929058" y="2071678"/>
            <a:chExt cx="1571636" cy="2143140"/>
          </a:xfrm>
        </p:grpSpPr>
        <p:sp>
          <p:nvSpPr>
            <p:cNvPr id="59" name="矩形 58"/>
            <p:cNvSpPr/>
            <p:nvPr/>
          </p:nvSpPr>
          <p:spPr>
            <a:xfrm>
              <a:off x="3929058" y="2071678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3929058" y="2500306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3929058" y="2928934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929058" y="2928934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3929058" y="3357562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3929058" y="3786190"/>
              <a:ext cx="1500198" cy="4286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6" name="直接箭头连接符 65"/>
          <p:cNvCxnSpPr/>
          <p:nvPr/>
        </p:nvCxnSpPr>
        <p:spPr>
          <a:xfrm rot="16200000" flipV="1">
            <a:off x="7538586" y="6370616"/>
            <a:ext cx="593665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928662" y="6495469"/>
            <a:ext cx="4644000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928662" y="6581459"/>
            <a:ext cx="5786478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928662" y="6667449"/>
            <a:ext cx="6894000" cy="191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067944" y="3470041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0</a:t>
            </a:r>
            <a:endParaRPr lang="zh-CN" altLang="en-US" sz="2000" dirty="0"/>
          </a:p>
        </p:txBody>
      </p:sp>
      <p:sp>
        <p:nvSpPr>
          <p:cNvPr id="71" name="TextBox 70"/>
          <p:cNvSpPr txBox="1"/>
          <p:nvPr/>
        </p:nvSpPr>
        <p:spPr>
          <a:xfrm>
            <a:off x="5210952" y="3470041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1</a:t>
            </a:r>
            <a:endParaRPr lang="zh-CN" altLang="en-US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6353960" y="3470041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496968" y="3470041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3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067944" y="4028541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4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210952" y="4028541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5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353960" y="4028541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6</a:t>
            </a:r>
            <a:endParaRPr lang="zh-CN" altLang="en-US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7496968" y="4028541"/>
            <a:ext cx="857256" cy="48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7</a:t>
            </a:r>
            <a:endParaRPr lang="zh-CN" altLang="en-US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5072066" y="2836967"/>
            <a:ext cx="3782224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dirty="0" smtClean="0"/>
              <a:t>高</a:t>
            </a:r>
            <a:r>
              <a:rPr lang="en-US" altLang="zh-CN" sz="2400" dirty="0" smtClean="0"/>
              <a:t>30</a:t>
            </a:r>
            <a:r>
              <a:rPr lang="zh-CN" altLang="en-US" sz="2400" dirty="0" smtClean="0"/>
              <a:t>位：</a:t>
            </a:r>
            <a:r>
              <a:rPr lang="en-US" altLang="zh-CN" sz="2400" dirty="0" smtClean="0"/>
              <a:t>000000...00</a:t>
            </a:r>
            <a:endParaRPr lang="zh-CN" altLang="en-US" sz="2400" dirty="0"/>
          </a:p>
        </p:txBody>
      </p:sp>
      <p:sp>
        <p:nvSpPr>
          <p:cNvPr id="84" name="燕尾形箭头 83"/>
          <p:cNvSpPr/>
          <p:nvPr/>
        </p:nvSpPr>
        <p:spPr>
          <a:xfrm>
            <a:off x="393940" y="4583978"/>
            <a:ext cx="3534662" cy="687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533282" y="5246255"/>
            <a:ext cx="3534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高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30</a:t>
            </a:r>
            <a:r>
              <a:rPr lang="zh-CN" altLang="en-US" sz="2000" dirty="0"/>
              <a:t>位</a:t>
            </a:r>
            <a:r>
              <a:rPr lang="zh-CN" altLang="en-US" sz="2000" dirty="0" smtClean="0"/>
              <a:t>地址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A31-A2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r>
              <a:rPr lang="en-US" altLang="zh-CN" sz="2000" dirty="0" smtClean="0"/>
              <a:t>(</a:t>
            </a:r>
            <a:r>
              <a:rPr lang="zh-CN" altLang="en-US" sz="2000" dirty="0" smtClean="0"/>
              <a:t>高位片选，低位接芯片</a:t>
            </a:r>
            <a:r>
              <a:rPr lang="en-US" altLang="zh-CN" sz="2000" dirty="0" smtClean="0"/>
              <a:t>)</a:t>
            </a:r>
            <a:endParaRPr lang="zh-CN" altLang="en-US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179193" y="4305545"/>
            <a:ext cx="3642707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dirty="0" smtClean="0"/>
              <a:t>高</a:t>
            </a:r>
            <a:r>
              <a:rPr lang="en-US" altLang="zh-CN" sz="2400" dirty="0" smtClean="0"/>
              <a:t>30</a:t>
            </a:r>
            <a:r>
              <a:rPr lang="zh-CN" altLang="en-US" sz="2400" dirty="0" smtClean="0"/>
              <a:t>位：</a:t>
            </a:r>
            <a:r>
              <a:rPr lang="en-US" altLang="zh-CN" sz="2400" dirty="0" smtClean="0"/>
              <a:t>000000...01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1472" y="357166"/>
            <a:ext cx="800105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存储容量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4GB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的理解</a:t>
            </a:r>
            <a:endParaRPr kumimoji="1" lang="zh-CN" altLang="en-US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29058" y="2071678"/>
            <a:ext cx="150019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929058" y="2500306"/>
            <a:ext cx="150019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29058" y="2928934"/>
            <a:ext cx="150019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29058" y="2928934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929058" y="3357562"/>
            <a:ext cx="150019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929058" y="3786190"/>
            <a:ext cx="150019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86182" y="1600130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32</a:t>
            </a:r>
            <a:r>
              <a:rPr lang="zh-CN" altLang="en-US" sz="2000" dirty="0" smtClean="0"/>
              <a:t>位存储单元</a:t>
            </a:r>
            <a:endParaRPr lang="zh-CN" alt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285984" y="3814708"/>
            <a:ext cx="157163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0XFFFFFFFF</a:t>
            </a:r>
            <a:endParaRPr lang="zh-CN" alt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14546" y="2071678"/>
            <a:ext cx="171451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000" dirty="0" smtClean="0"/>
              <a:t>0X00000000</a:t>
            </a:r>
            <a:endParaRPr lang="zh-CN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3357554" y="4786322"/>
            <a:ext cx="20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容量：</a:t>
            </a:r>
            <a:r>
              <a:rPr lang="en-US" altLang="zh-CN" sz="2400" dirty="0" smtClean="0"/>
              <a:t>16GB</a:t>
            </a:r>
            <a:endParaRPr lang="zh-CN" alt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3214678" y="5396227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但只能按字访问</a:t>
            </a:r>
            <a:endParaRPr lang="zh-CN" altLang="en-US" sz="2400" dirty="0"/>
          </a:p>
        </p:txBody>
      </p:sp>
      <p:sp>
        <p:nvSpPr>
          <p:cNvPr id="18" name="燕尾形箭头 17"/>
          <p:cNvSpPr/>
          <p:nvPr/>
        </p:nvSpPr>
        <p:spPr>
          <a:xfrm>
            <a:off x="714348" y="2928934"/>
            <a:ext cx="3071834" cy="57150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57224" y="2500306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32</a:t>
            </a:r>
            <a:r>
              <a:rPr lang="zh-CN" altLang="en-US" sz="2000" dirty="0" smtClean="0"/>
              <a:t>位地址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88640"/>
            <a:ext cx="8327896" cy="57278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*(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unsigned char *) 0x300000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= 0x78; </a:t>
            </a: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只有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有效，访问一个字节</a:t>
            </a: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C00000"/>
              </a:buClr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*(unsigned char *)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0x300000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01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0x78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; </a:t>
            </a:r>
            <a:endParaRPr kumimoji="1" lang="en-US" altLang="zh-CN" sz="24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只有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nWBE1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信号有效，访问一个字节</a:t>
            </a:r>
            <a:endParaRPr kumimoji="1" lang="en-US" altLang="zh-CN" sz="24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*(unsigned short *)0x300000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0x1978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nWBE1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有效，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访问两个字节，地址最低位必</a:t>
            </a: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须是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，因为按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位对齐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，否则会使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异常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*(unsigned 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*)0x300000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0x19783456;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nWBE3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信号均有效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访问一个字，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地址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最低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两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位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必</a:t>
            </a:r>
            <a:endParaRPr kumimoji="1" lang="en-US" altLang="zh-CN" sz="24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须是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因为要按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32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位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对齐，否则会使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异常</a:t>
            </a: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88640"/>
            <a:ext cx="8496944" cy="63367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LDR R0, =0x30000000</a:t>
            </a: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MOV R1, 0x78</a:t>
            </a: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R1, [R0]	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只有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nWBE0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有效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，在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D7-0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传</a:t>
            </a:r>
            <a:endParaRPr kumimoji="1" lang="en-US" altLang="zh-CN" sz="2600" b="1" dirty="0" smtClean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LDR R0, =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0x30000001</a:t>
            </a:r>
            <a:endParaRPr kumimoji="1" lang="en-US" altLang="zh-CN" sz="26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MOV R1,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0x78	</a:t>
            </a: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STR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R1, [R0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]	</a:t>
            </a:r>
            <a:r>
              <a:rPr kumimoji="1" lang="en-US" altLang="zh-CN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只有</a:t>
            </a:r>
            <a:r>
              <a:rPr kumimoji="1" lang="en-US" altLang="zh-CN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nWBE1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信号有效，在</a:t>
            </a:r>
            <a:r>
              <a:rPr kumimoji="1" lang="en-US" altLang="zh-CN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D15-8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传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</a:t>
            </a:r>
            <a:endParaRPr kumimoji="1" lang="en-US" altLang="zh-CN" sz="26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LDR R0, =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0x3000000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endParaRPr kumimoji="1" lang="en-US" altLang="zh-CN" sz="2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MOV R1,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0x1978</a:t>
            </a:r>
            <a:endParaRPr kumimoji="1" lang="en-US" altLang="zh-CN" sz="26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R1, [R0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]	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nWBE1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有效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D15-0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传</a:t>
            </a:r>
            <a:endParaRPr kumimoji="1" lang="en-US" altLang="zh-CN" sz="2400" b="1" dirty="0" smtClean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88640"/>
            <a:ext cx="8496944" cy="63367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LDR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R0, =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0x300000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10</a:t>
            </a:r>
            <a:endParaRPr kumimoji="1" lang="en-US" altLang="zh-CN" sz="2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MOV R1,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0x1978</a:t>
            </a:r>
            <a:endParaRPr kumimoji="1" lang="en-US" altLang="zh-CN" sz="2600" b="1" dirty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R1, [R0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]	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nWBE3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有效，在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D31-16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传</a:t>
            </a:r>
            <a:endParaRPr kumimoji="1"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LDR R0, =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0x300000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00</a:t>
            </a:r>
            <a:endParaRPr kumimoji="1" lang="en-US" altLang="zh-CN" sz="2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MOV R1,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0x19783456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  STR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R1, [R0]	</a:t>
            </a:r>
            <a:r>
              <a:rPr kumimoji="1" lang="en-US" altLang="zh-CN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nWBE3-0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信号</a:t>
            </a:r>
            <a:r>
              <a:rPr kumimoji="1" lang="zh-CN" alt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有效，在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D31-0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传</a:t>
            </a:r>
            <a:endParaRPr kumimoji="1"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rgbClr val="C00000"/>
              </a:buClr>
            </a:pP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476672"/>
            <a:ext cx="8359816" cy="2643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读出的情况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读操作时</a:t>
            </a:r>
            <a:r>
              <a:rPr kumimoji="1" lang="en-US" altLang="zh-CN" sz="32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无效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所有芯片的读信号有效，同时读出、传输，最终由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选择</a:t>
            </a:r>
            <a:endParaRPr kumimoji="1"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476672"/>
            <a:ext cx="8359816" cy="210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读出的情况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 使用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LDR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只能用字地址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对于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LDRH</a:t>
            </a:r>
            <a:r>
              <a:rPr kumimoji="1"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LDRB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根据地址选择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</a:t>
            </a:r>
            <a:endParaRPr kumimoji="1"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83504" y="3284984"/>
            <a:ext cx="8183880" cy="3168352"/>
          </a:xfrm>
          <a:prstGeom prst="rect">
            <a:avLst/>
          </a:prstGeom>
        </p:spPr>
        <p:txBody>
          <a:bodyPr vert="horz" lIns="182880" tIns="91440">
            <a:normAutofit fontScale="92500" lnSpcReduction="10000"/>
          </a:bodyPr>
          <a:lstStyle>
            <a:lvl1pPr marL="265430" indent="-265430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295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130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 panose="05020102010507070707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255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 panose="020B0604030504040204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345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53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 panose="020B0604030504040204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0X000000...0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位字地址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R0, 0X000000...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;  32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半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字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地址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6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LDRH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	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(e.2) S3C2440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总线中与主存芯片有关引脚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268760"/>
            <a:ext cx="8365704" cy="532859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DATA[0:31]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endParaRPr kumimoji="1"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ADDR[0:26]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：概念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上相当于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32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根地址线，为什么有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ADDR[0:1]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？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en-US" altLang="zh-CN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nGCS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[0:7]——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分区（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）信号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en-US" altLang="zh-CN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nWE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nOE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：指示读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/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写周期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/</a:t>
            </a:r>
            <a:r>
              <a:rPr kumimoji="1"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</a:rPr>
              <a:t>nBE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[3:0]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Write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Byte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Enable/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Byte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Enable 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即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（写）选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体信号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endParaRPr kumimoji="1"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3127" y="-27384"/>
            <a:ext cx="8183880" cy="763528"/>
          </a:xfrm>
        </p:spPr>
        <p:txBody>
          <a:bodyPr>
            <a:normAutofit/>
          </a:bodyPr>
          <a:lstStyle/>
          <a:p>
            <a:r>
              <a:rPr lang="pt-BR" altLang="zh-CN" sz="2800" dirty="0"/>
              <a:t>S3C2440A External </a:t>
            </a:r>
            <a:r>
              <a:rPr lang="pt-BR" altLang="zh-CN" sz="2800" dirty="0" smtClean="0"/>
              <a:t>Timing </a:t>
            </a:r>
            <a:r>
              <a:rPr lang="pt-BR" altLang="zh-CN" sz="2800" dirty="0"/>
              <a:t>Diagram</a:t>
            </a:r>
            <a:endParaRPr lang="zh-CN" altLang="en-US" sz="2800" dirty="0"/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26" y="1252539"/>
            <a:ext cx="8416270" cy="4048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一般计算机系统的架构（单总线）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97280" y="2971792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2889852" y="3657592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I/O</a:t>
            </a:r>
            <a:endParaRPr lang="en-US" altLang="zh-CN" b="1" dirty="0" smtClean="0">
              <a:effectLst/>
            </a:endParaRPr>
          </a:p>
          <a:p>
            <a:r>
              <a:rPr lang="zh-CN" altLang="en-US" b="1" dirty="0" smtClean="0"/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802080" y="2590792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7050008" y="2590792"/>
            <a:ext cx="757238" cy="1600200"/>
            <a:chOff x="7050008" y="2590792"/>
            <a:chExt cx="757238" cy="1600200"/>
          </a:xfrm>
        </p:grpSpPr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7050008" y="2971792"/>
              <a:ext cx="757238" cy="12192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dirty="0" smtClean="0">
                  <a:solidFill>
                    <a:srgbClr val="FF0000"/>
                  </a:solidFill>
                  <a:effectLst/>
                </a:rPr>
                <a:t>SRAM</a:t>
              </a:r>
              <a:endParaRPr lang="en-US" altLang="zh-CN" sz="2000" dirty="0" smtClean="0">
                <a:solidFill>
                  <a:srgbClr val="FF0000"/>
                </a:solidFill>
                <a:effectLst/>
              </a:endParaRPr>
            </a:p>
            <a:p>
              <a:pPr algn="ctr"/>
              <a:r>
                <a:rPr lang="en-US" altLang="zh-CN" sz="2000" dirty="0" smtClean="0">
                  <a:solidFill>
                    <a:srgbClr val="FF0000"/>
                  </a:solidFill>
                  <a:effectLst/>
                </a:rPr>
                <a:t>/NOR</a:t>
              </a:r>
              <a:endParaRPr lang="en-US" altLang="zh-CN" sz="2000" dirty="0" smtClean="0">
                <a:solidFill>
                  <a:srgbClr val="FF0000"/>
                </a:solidFill>
                <a:effectLst/>
              </a:endParaRPr>
            </a:p>
            <a:p>
              <a:pPr algn="ctr"/>
              <a:r>
                <a:rPr lang="zh-CN" altLang="en-US" sz="2000" dirty="0" smtClean="0">
                  <a:solidFill>
                    <a:srgbClr val="FF0000"/>
                  </a:solidFill>
                  <a:effectLst/>
                </a:rPr>
                <a:t>主存</a:t>
              </a:r>
              <a:endParaRPr lang="en-US" altLang="zh-CN" sz="2000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9" name="AutoShape 13"/>
            <p:cNvSpPr>
              <a:spLocks noChangeArrowheads="1"/>
            </p:cNvSpPr>
            <p:nvPr/>
          </p:nvSpPr>
          <p:spPr bwMode="auto">
            <a:xfrm>
              <a:off x="7295728" y="2590792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3042252" y="2590792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1323328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中断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1551928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2081456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2310056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3397806" y="1900801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</a:rPr>
              <a:t>根地址线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5272" y="1844824"/>
            <a:ext cx="5859006" cy="28083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649408" y="4283804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S3C2440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517271" y="1025441"/>
            <a:ext cx="194316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+mj-ea"/>
              </a:rPr>
              <a:t>D31-0</a:t>
            </a:r>
            <a:r>
              <a:rPr lang="zh-CN" altLang="en-US" sz="2000" dirty="0" smtClean="0">
                <a:latin typeface="+mj-ea"/>
              </a:rPr>
              <a:t>、</a:t>
            </a:r>
            <a:r>
              <a:rPr lang="en-US" altLang="zh-CN" sz="2000" dirty="0" smtClean="0">
                <a:latin typeface="+mj-ea"/>
              </a:rPr>
              <a:t>A26-0</a:t>
            </a:r>
            <a:endParaRPr lang="en-US" altLang="zh-CN" sz="2000" dirty="0" smtClean="0">
              <a:latin typeface="+mj-ea"/>
            </a:endParaRPr>
          </a:p>
          <a:p>
            <a:r>
              <a:rPr lang="en-US" altLang="zh-CN" sz="2000" dirty="0" smtClean="0">
                <a:latin typeface="+mj-ea"/>
              </a:rPr>
              <a:t>GCS7-0</a:t>
            </a:r>
            <a:r>
              <a:rPr lang="zh-CN" altLang="en-US" sz="2000" dirty="0" smtClean="0">
                <a:latin typeface="+mj-ea"/>
              </a:rPr>
              <a:t>、</a:t>
            </a:r>
            <a:endParaRPr lang="en-US" altLang="zh-CN" sz="2000" dirty="0" smtClean="0">
              <a:latin typeface="+mj-ea"/>
            </a:endParaRPr>
          </a:p>
          <a:p>
            <a:r>
              <a:rPr lang="en-US" altLang="zh-CN" sz="2000" dirty="0" smtClean="0">
                <a:latin typeface="+mj-ea"/>
              </a:rPr>
              <a:t>WBE/BE3-0</a:t>
            </a:r>
            <a:endParaRPr lang="en-US" altLang="zh-CN" sz="2000" dirty="0" smtClean="0">
              <a:latin typeface="+mj-ea"/>
            </a:endParaRPr>
          </a:p>
          <a:p>
            <a:r>
              <a:rPr lang="en-US" altLang="zh-CN" sz="2000" dirty="0" smtClean="0">
                <a:latin typeface="+mj-ea"/>
              </a:rPr>
              <a:t>WE</a:t>
            </a:r>
            <a:r>
              <a:rPr lang="zh-CN" altLang="en-US" sz="2000" dirty="0">
                <a:latin typeface="+mj-ea"/>
              </a:rPr>
              <a:t>、</a:t>
            </a:r>
            <a:r>
              <a:rPr lang="en-US" altLang="zh-CN" sz="2000" dirty="0" smtClean="0">
                <a:latin typeface="+mj-ea"/>
              </a:rPr>
              <a:t>OE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H="1">
            <a:off x="7659566" y="2146341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5068064" y="3645024"/>
            <a:ext cx="757808" cy="63878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片选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电路</a:t>
            </a:r>
            <a:endParaRPr lang="en-US" altLang="zh-CN" dirty="0">
              <a:effectLst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5446968" y="2590792"/>
            <a:ext cx="90872" cy="105423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5452765" y="2708920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地址线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高</a:t>
            </a:r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>
            <a:stCxn id="59" idx="3"/>
          </p:cNvCxnSpPr>
          <p:nvPr/>
        </p:nvCxnSpPr>
        <p:spPr>
          <a:xfrm flipV="1">
            <a:off x="5825872" y="3954388"/>
            <a:ext cx="594000" cy="10026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6401936" y="2666992"/>
            <a:ext cx="0" cy="1257300"/>
          </a:xfrm>
          <a:prstGeom prst="straightConnector1">
            <a:avLst/>
          </a:prstGeom>
          <a:ln w="635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401936" y="2708920"/>
            <a:ext cx="648072" cy="0"/>
          </a:xfrm>
          <a:prstGeom prst="straightConnector1">
            <a:avLst/>
          </a:prstGeom>
          <a:ln w="635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077900" y="3236400"/>
            <a:ext cx="488258" cy="40862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6345616" y="344071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</a:rPr>
              <a:t>根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片选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左箭头 42"/>
          <p:cNvSpPr/>
          <p:nvPr/>
        </p:nvSpPr>
        <p:spPr>
          <a:xfrm>
            <a:off x="179512" y="2348880"/>
            <a:ext cx="4854272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665632" y="2276872"/>
            <a:ext cx="1711052" cy="1944216"/>
            <a:chOff x="3665632" y="2276872"/>
            <a:chExt cx="1711052" cy="1944216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4637184" y="3933056"/>
              <a:ext cx="205854" cy="0"/>
            </a:xfrm>
            <a:prstGeom prst="line">
              <a:avLst/>
            </a:prstGeom>
            <a:ln w="1270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3665632" y="2276872"/>
              <a:ext cx="1711052" cy="1944216"/>
              <a:chOff x="3665632" y="2276872"/>
              <a:chExt cx="1711052" cy="1944216"/>
            </a:xfrm>
          </p:grpSpPr>
          <p:sp>
            <p:nvSpPr>
              <p:cNvPr id="30" name="Rectangle 7"/>
              <p:cNvSpPr>
                <a:spLocks noChangeArrowheads="1"/>
              </p:cNvSpPr>
              <p:nvPr/>
            </p:nvSpPr>
            <p:spPr bwMode="auto">
              <a:xfrm>
                <a:off x="3665632" y="3687688"/>
                <a:ext cx="971552" cy="533400"/>
              </a:xfrm>
              <a:prstGeom prst="rect">
                <a:avLst/>
              </a:prstGeom>
              <a:solidFill>
                <a:srgbClr val="FFFF66"/>
              </a:solidFill>
              <a:ln w="25400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r>
                  <a:rPr lang="en-US" altLang="zh-CN" sz="1600" b="1" dirty="0" smtClean="0">
                    <a:effectLst/>
                  </a:rPr>
                  <a:t>SDRAM</a:t>
                </a:r>
                <a:endParaRPr lang="en-US" altLang="zh-CN" sz="1600" b="1" dirty="0" smtClean="0">
                  <a:effectLst/>
                </a:endParaRPr>
              </a:p>
              <a:p>
                <a:r>
                  <a:rPr lang="zh-CN" altLang="en-US" b="1" dirty="0"/>
                  <a:t>控制器</a:t>
                </a:r>
                <a:endParaRPr lang="en-US" altLang="zh-CN" dirty="0">
                  <a:effectLst/>
                </a:endParaRPr>
              </a:p>
            </p:txBody>
          </p:sp>
          <p:sp>
            <p:nvSpPr>
              <p:cNvPr id="37" name="AutoShape 14"/>
              <p:cNvSpPr>
                <a:spLocks noChangeArrowheads="1"/>
              </p:cNvSpPr>
              <p:nvPr/>
            </p:nvSpPr>
            <p:spPr bwMode="auto">
              <a:xfrm>
                <a:off x="3894232" y="2620888"/>
                <a:ext cx="228600" cy="1066800"/>
              </a:xfrm>
              <a:prstGeom prst="upDownArrow">
                <a:avLst>
                  <a:gd name="adj1" fmla="val 50000"/>
                  <a:gd name="adj2" fmla="val 93333"/>
                </a:avLst>
              </a:prstGeom>
              <a:solidFill>
                <a:schemeClr val="tx1"/>
              </a:solidFill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 flipV="1">
                <a:off x="4889768" y="2810272"/>
                <a:ext cx="0" cy="1171778"/>
              </a:xfrm>
              <a:prstGeom prst="line">
                <a:avLst/>
              </a:prstGeom>
              <a:ln w="1270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9"/>
              <p:cNvSpPr>
                <a:spLocks noChangeArrowheads="1"/>
              </p:cNvSpPr>
              <p:nvPr/>
            </p:nvSpPr>
            <p:spPr bwMode="auto">
              <a:xfrm>
                <a:off x="4690884" y="2276872"/>
                <a:ext cx="685800" cy="533400"/>
              </a:xfrm>
              <a:prstGeom prst="rect">
                <a:avLst/>
              </a:prstGeom>
              <a:solidFill>
                <a:srgbClr val="FFFF66"/>
              </a:solidFill>
              <a:ln w="25400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r>
                  <a:rPr lang="zh-CN" altLang="en-US" dirty="0" smtClean="0">
                    <a:effectLst/>
                  </a:rPr>
                  <a:t>多路</a:t>
                </a:r>
                <a:endParaRPr lang="en-US" altLang="zh-CN" dirty="0" smtClean="0">
                  <a:effectLst/>
                </a:endParaRPr>
              </a:p>
              <a:p>
                <a:r>
                  <a:rPr lang="zh-CN" altLang="en-US" dirty="0" smtClean="0">
                    <a:effectLst/>
                  </a:rPr>
                  <a:t>开关</a:t>
                </a:r>
                <a:endParaRPr lang="en-US" altLang="zh-CN" dirty="0">
                  <a:effectLst/>
                </a:endParaRPr>
              </a:p>
            </p:txBody>
          </p:sp>
        </p:grpSp>
      </p:grpSp>
      <p:sp>
        <p:nvSpPr>
          <p:cNvPr id="50" name="左箭头 49"/>
          <p:cNvSpPr/>
          <p:nvPr/>
        </p:nvSpPr>
        <p:spPr>
          <a:xfrm rot="10800000">
            <a:off x="5033784" y="2345883"/>
            <a:ext cx="3786688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7969106" y="2615952"/>
            <a:ext cx="900932" cy="1555992"/>
            <a:chOff x="7969106" y="2615952"/>
            <a:chExt cx="900932" cy="1555992"/>
          </a:xfrm>
        </p:grpSpPr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7969106" y="3001888"/>
              <a:ext cx="900932" cy="1170056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rgbClr val="FF0000"/>
                  </a:solidFill>
                </a:rPr>
                <a:t>SDRAM</a:t>
              </a:r>
              <a:endParaRPr lang="en-US" altLang="zh-CN" sz="2000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dirty="0">
                  <a:solidFill>
                    <a:srgbClr val="FF0000"/>
                  </a:solidFill>
                </a:rPr>
                <a:t>主存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51" name="AutoShape 13"/>
            <p:cNvSpPr>
              <a:spLocks noChangeArrowheads="1"/>
            </p:cNvSpPr>
            <p:nvPr/>
          </p:nvSpPr>
          <p:spPr bwMode="auto">
            <a:xfrm>
              <a:off x="8231832" y="2615952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395536" y="5301208"/>
            <a:ext cx="8136904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对于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SDRAM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D31-0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GCS7-0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WE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OE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WBE3-0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endParaRPr lang="en-US" altLang="zh-CN" sz="24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spcBef>
                <a:spcPts val="15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                       RAS#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CAS#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CKE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CKE0</a:t>
            </a:r>
            <a:endParaRPr lang="en-US" altLang="zh-CN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algn="l">
              <a:spcBef>
                <a:spcPts val="15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                      A26-A24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A14-A0 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6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37443" y="332656"/>
            <a:ext cx="7785588" cy="858168"/>
          </a:xfrm>
        </p:spPr>
        <p:txBody>
          <a:bodyPr>
            <a:normAutofit fontScale="90000"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利用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块</a:t>
            </a:r>
            <a:r>
              <a:rPr lang="en-US" altLang="zh-CN" sz="2800" dirty="0">
                <a:solidFill>
                  <a:srgbClr val="FF0000"/>
                </a:solidFill>
              </a:rPr>
              <a:t>8</a:t>
            </a:r>
            <a:r>
              <a:rPr lang="zh-CN" altLang="en-US" sz="2800" dirty="0" smtClean="0">
                <a:solidFill>
                  <a:srgbClr val="FF0000"/>
                </a:solidFill>
              </a:rPr>
              <a:t>位</a:t>
            </a:r>
            <a:r>
              <a:rPr lang="en-US" altLang="zh-CN" sz="28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800" dirty="0" smtClean="0">
                <a:solidFill>
                  <a:srgbClr val="FF0000"/>
                </a:solidFill>
              </a:rPr>
              <a:t>芯片</a:t>
            </a:r>
            <a:r>
              <a:rPr lang="en-US" altLang="zh-CN" sz="2800" dirty="0" smtClean="0">
                <a:solidFill>
                  <a:schemeClr val="accent4">
                    <a:lumMod val="75000"/>
                  </a:schemeClr>
                </a:solidFill>
              </a:rPr>
              <a:t>28F128</a:t>
            </a:r>
            <a:r>
              <a:rPr lang="zh-CN" altLang="en-US" sz="2800" dirty="0" smtClean="0">
                <a:solidFill>
                  <a:srgbClr val="FF0000"/>
                </a:solidFill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</a:rPr>
              <a:t>64K</a:t>
            </a:r>
            <a:r>
              <a:rPr lang="en-US" altLang="zh-CN" sz="2800" dirty="0" smtClean="0">
                <a:solidFill>
                  <a:srgbClr val="FF0000"/>
                </a:solidFill>
                <a:sym typeface="Symbol" panose="05050102010706020507"/>
              </a:rPr>
              <a:t>8</a:t>
            </a:r>
            <a:r>
              <a:rPr lang="zh-CN" altLang="en-US" sz="2800" dirty="0" smtClean="0">
                <a:solidFill>
                  <a:srgbClr val="FF0000"/>
                </a:solidFill>
              </a:rPr>
              <a:t>）</a:t>
            </a:r>
            <a:br>
              <a:rPr lang="en-US" altLang="zh-CN" sz="2800" dirty="0" smtClean="0">
                <a:solidFill>
                  <a:srgbClr val="FF0000"/>
                </a:solidFill>
              </a:rPr>
            </a:br>
            <a:r>
              <a:rPr lang="zh-CN" altLang="en-US" sz="2800" dirty="0" smtClean="0">
                <a:solidFill>
                  <a:srgbClr val="FF0000"/>
                </a:solidFill>
              </a:rPr>
              <a:t>扩展</a:t>
            </a:r>
            <a:r>
              <a:rPr lang="en-US" altLang="zh-CN" sz="2800" dirty="0">
                <a:solidFill>
                  <a:srgbClr val="FF0000"/>
                </a:solidFill>
              </a:rPr>
              <a:t>8</a:t>
            </a:r>
            <a:r>
              <a:rPr lang="zh-CN" altLang="en-US" sz="2800" dirty="0">
                <a:solidFill>
                  <a:srgbClr val="FF0000"/>
                </a:solidFill>
              </a:rPr>
              <a:t>位</a:t>
            </a:r>
            <a:r>
              <a:rPr lang="en-US" altLang="zh-CN" sz="2800" dirty="0">
                <a:solidFill>
                  <a:srgbClr val="FF0000"/>
                </a:solidFill>
              </a:rPr>
              <a:t>ROM</a:t>
            </a:r>
            <a:r>
              <a:rPr lang="zh-CN" altLang="en-US" sz="2800" dirty="0">
                <a:solidFill>
                  <a:srgbClr val="FF0000"/>
                </a:solidFill>
              </a:rPr>
              <a:t>存储器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265669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500298" y="1187470"/>
            <a:ext cx="4421065" cy="517048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85786" y="3187734"/>
            <a:ext cx="1643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直接连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S3C2440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的总线</a:t>
            </a:r>
            <a:endParaRPr kumimoji="1" lang="en-US" altLang="zh-CN" sz="24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929322" y="4473618"/>
            <a:ext cx="1500198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714612" y="1714488"/>
            <a:ext cx="1500198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372200" y="5406315"/>
            <a:ext cx="2160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指令如何</a:t>
            </a:r>
            <a:endParaRPr kumimoji="1" lang="en-US" altLang="zh-CN" sz="28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ctr"/>
            <a:r>
              <a:rPr kumimoji="1" lang="zh-CN" altLang="en-US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访问？</a:t>
            </a:r>
            <a:endParaRPr kumimoji="1" lang="en-US" altLang="zh-CN" sz="28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04" y="1484784"/>
            <a:ext cx="24064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A1A0</a:t>
            </a:r>
            <a:endParaRPr kumimoji="1" lang="en-US" altLang="zh-CN" sz="28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ctr"/>
            <a:r>
              <a:rPr kumimoji="1" lang="zh-CN" altLang="en-US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不用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WBE[3:0]</a:t>
            </a:r>
            <a:endParaRPr kumimoji="1" lang="en-US" altLang="zh-CN" sz="28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写入：假定接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GCS1:08000000-0FFFFFFF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365704" cy="5089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</a:t>
            </a:r>
            <a:r>
              <a:rPr kumimoji="1" lang="en-US" altLang="zh-CN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;BANK1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nGCS1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STR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R1, [R0]  	      ;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0x80000000 </a:t>
            </a:r>
            <a:endParaRPr kumimoji="1" lang="en-US" altLang="zh-CN" b="1" i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</a:t>
            </a:r>
            <a:r>
              <a:rPr kumimoji="1" lang="en-US" altLang="zh-CN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0001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</a:t>
            </a:r>
            <a:r>
              <a:rPr kumimoji="1" lang="en-US" altLang="zh-CN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FFFF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</a:t>
            </a:r>
            <a:r>
              <a:rPr kumimoji="1" lang="en-US" altLang="zh-CN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01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STR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R0]</a:t>
            </a:r>
            <a:endParaRPr kumimoji="1"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i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51920" y="4212377"/>
            <a:ext cx="5184576" cy="1817622"/>
            <a:chOff x="3851920" y="4212377"/>
            <a:chExt cx="5184576" cy="1817622"/>
          </a:xfrm>
        </p:grpSpPr>
        <p:sp>
          <p:nvSpPr>
            <p:cNvPr id="3" name="矩形 2"/>
            <p:cNvSpPr/>
            <p:nvPr/>
          </p:nvSpPr>
          <p:spPr>
            <a:xfrm>
              <a:off x="3851920" y="5445224"/>
              <a:ext cx="518457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32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00001</a:t>
              </a:r>
              <a:r>
                <a:rPr kumimoji="1" lang="en-US" altLang="zh-CN" sz="3200" b="1" dirty="0" smtClean="0">
                  <a:solidFill>
                    <a:srgbClr val="7030A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000 0000 0000</a:t>
              </a:r>
              <a:r>
                <a:rPr kumimoji="1" lang="en-US" altLang="zh-CN" sz="3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 00....00 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sp>
          <p:nvSpPr>
            <p:cNvPr id="4" name="右大括号 3"/>
            <p:cNvSpPr/>
            <p:nvPr/>
          </p:nvSpPr>
          <p:spPr>
            <a:xfrm rot="-5400000">
              <a:off x="7740352" y="4581128"/>
              <a:ext cx="720080" cy="1152128"/>
            </a:xfrm>
            <a:prstGeom prst="rightBrace">
              <a:avLst>
                <a:gd name="adj1" fmla="val 8333"/>
                <a:gd name="adj2" fmla="val 50000"/>
              </a:avLst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7812360" y="4212377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32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16</a:t>
              </a:r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读出：假定接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GCS1:08000000-0FFFFFFF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365704" cy="511256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0x0800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	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;BANK1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nGCS1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LDR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R1, [R0]			;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0x80000000 </a:t>
            </a:r>
            <a:endParaRPr kumimoji="1" lang="en-US" altLang="zh-CN" b="1" i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0x0800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0001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MOV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0x0800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0002</a:t>
            </a:r>
            <a:endParaRPr kumimoji="1"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0003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0x080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0000/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#0x080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0001</a:t>
            </a:r>
            <a:endParaRPr kumimoji="1"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1100"/>
              </a:spcBef>
              <a:buClr>
                <a:srgbClr val="C00000"/>
              </a:buClr>
              <a:buNone/>
            </a:pPr>
            <a:r>
              <a:rPr kumimoji="1" lang="en-US" altLang="zh-CN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</a:t>
            </a:r>
            <a:r>
              <a:rPr kumimoji="1"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		</a:t>
            </a:r>
            <a:endParaRPr kumimoji="1" lang="en-US" altLang="zh-CN" b="1" i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0072" y="3284983"/>
            <a:ext cx="309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根据字节地址进行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选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endParaRPr kumimoji="1" lang="en-US" altLang="zh-CN" sz="28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066" y="473075"/>
            <a:ext cx="7785588" cy="649288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利用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块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 smtClean="0">
                <a:solidFill>
                  <a:srgbClr val="FF0000"/>
                </a:solidFill>
              </a:rPr>
              <a:t>位</a:t>
            </a:r>
            <a:r>
              <a:rPr lang="en-US" altLang="zh-CN" sz="24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400" dirty="0" smtClean="0">
                <a:solidFill>
                  <a:srgbClr val="FF0000"/>
                </a:solidFill>
              </a:rPr>
              <a:t>芯片</a:t>
            </a:r>
            <a:r>
              <a:rPr lang="zh-CN" altLang="en-US" sz="2400" dirty="0">
                <a:solidFill>
                  <a:srgbClr val="FF0000"/>
                </a:solidFill>
              </a:rPr>
              <a:t>扩展</a:t>
            </a:r>
            <a:r>
              <a:rPr lang="en-US" altLang="zh-CN" sz="2400" dirty="0">
                <a:solidFill>
                  <a:srgbClr val="FF0000"/>
                </a:solidFill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</a:rPr>
              <a:t>位</a:t>
            </a:r>
            <a:r>
              <a:rPr lang="en-US" altLang="zh-CN" sz="2400" dirty="0">
                <a:solidFill>
                  <a:srgbClr val="FF0000"/>
                </a:solidFill>
              </a:rPr>
              <a:t>ROM</a:t>
            </a:r>
            <a:r>
              <a:rPr lang="zh-CN" altLang="en-US" sz="2400" dirty="0">
                <a:solidFill>
                  <a:srgbClr val="FF0000"/>
                </a:solidFill>
              </a:rPr>
              <a:t>存储器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514501" name="Picture 5"/>
          <p:cNvPicPr>
            <a:picLocks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93531" y="1093789"/>
            <a:ext cx="7115908" cy="5026025"/>
          </a:xfrm>
          <a:prstGeom prst="rect">
            <a:avLst/>
          </a:prstGeom>
          <a:noFill/>
        </p:spPr>
      </p:pic>
      <p:sp>
        <p:nvSpPr>
          <p:cNvPr id="4" name="椭圆 3"/>
          <p:cNvSpPr/>
          <p:nvPr/>
        </p:nvSpPr>
        <p:spPr>
          <a:xfrm>
            <a:off x="928662" y="1714488"/>
            <a:ext cx="1500198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928926" y="3857628"/>
            <a:ext cx="1500198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572264" y="3857628"/>
            <a:ext cx="1500198" cy="4286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写入</a:t>
            </a:r>
            <a:r>
              <a:rPr lang="zh-CN" altLang="en-US" sz="3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：假定接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GCS2:10000000-17FFFFFF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365704" cy="50897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   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;BANK2</a:t>
            </a:r>
            <a:r>
              <a:rPr kumimoji="1" lang="zh-CN" altLang="en-US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sz="2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nGCS2</a:t>
            </a:r>
            <a:endParaRPr kumimoji="1" lang="en-US" altLang="zh-CN" sz="2600" b="1" dirty="0" smtClean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R1, [R0]  ;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#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</a:t>
            </a:r>
            <a:endParaRPr kumimoji="1" lang="en-US" altLang="zh-CN" sz="2600" b="1" i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</a:t>
            </a: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; #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</a:t>
            </a: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 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R0,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=0x10000001   </a:t>
            </a:r>
            <a:endParaRPr kumimoji="1" lang="en-US" altLang="zh-CN" sz="26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[R0] ; #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0x10000001</a:t>
            </a:r>
            <a:endParaRPr kumimoji="1" lang="en-US" altLang="zh-CN" sz="26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LDR  R0, =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</a:t>
            </a:r>
            <a:endParaRPr kumimoji="1" lang="en-US" altLang="zh-CN" sz="26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STR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H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</a:t>
            </a:r>
            <a:r>
              <a:rPr kumimoji="1" lang="en-US" altLang="zh-CN" sz="26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sz="26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</a:t>
            </a:r>
            <a:endParaRPr kumimoji="1" lang="en-US" altLang="zh-CN" sz="2600" b="1" i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读出：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196752"/>
            <a:ext cx="8365704" cy="52565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   ;BANK2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nGCS2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LDRH  R1, [R0]  ;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0x10000001 </a:t>
            </a:r>
            <a:endParaRPr kumimoji="1" lang="en-US" altLang="zh-CN" b="1" i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#0x10000000  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;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BANK2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nGCS2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LDRB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]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;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0x10000000</a:t>
            </a:r>
            <a:endParaRPr kumimoji="1" lang="en-US" altLang="zh-CN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0x10000001 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; BANK2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nGCS2  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LDRB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[R0] ;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0x10000001</a:t>
            </a:r>
            <a:endParaRPr kumimoji="1"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MOV  R0,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0x10000002 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; BANK2</a:t>
            </a:r>
            <a:r>
              <a:rPr kumimoji="1"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nGCS2  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LDRH 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R1, [R0]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;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0x10000002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#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0x10000003</a:t>
            </a:r>
            <a:endParaRPr kumimoji="1"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endParaRPr kumimoji="1" lang="en-US" altLang="zh-CN" b="1" i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165142"/>
            <a:ext cx="8183880" cy="7635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时序</a:t>
            </a:r>
            <a:endParaRPr lang="zh-CN" altLang="en-US" sz="28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4565064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</a:t>
            </a:r>
            <a:r>
              <a:rPr lang="zh-CN" altLang="en-US" sz="2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公司发布的集成开发环境，包括：</a:t>
            </a:r>
            <a:endParaRPr lang="en-US" altLang="zh-CN" sz="280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汇编器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armasm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、连接器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armlink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C/C++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编译器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armcc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/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armcpp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altLang="zh-CN" b="1" dirty="0" err="1" smtClean="0">
                <a:solidFill>
                  <a:srgbClr val="FF0000"/>
                </a:solidFill>
              </a:rPr>
              <a:t>fromELF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：</a:t>
            </a:r>
            <a:r>
              <a:rPr lang="en-US" altLang="zh-CN" b="1" dirty="0" smtClean="0">
                <a:solidFill>
                  <a:srgbClr val="FF0000"/>
                </a:solidFill>
              </a:rPr>
              <a:t>  ARM</a:t>
            </a:r>
            <a:r>
              <a:rPr lang="zh-CN" altLang="en-US" b="1" dirty="0" smtClean="0">
                <a:solidFill>
                  <a:srgbClr val="FF0000"/>
                </a:solidFill>
              </a:rPr>
              <a:t>映像文件的转换工具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altLang="zh-CN" b="1" dirty="0" smtClean="0">
                <a:solidFill>
                  <a:srgbClr val="FF0000"/>
                </a:solidFill>
              </a:rPr>
              <a:t>CodeWarrior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：</a:t>
            </a:r>
            <a:r>
              <a:rPr lang="zh-CN" altLang="en-US" b="1" dirty="0" smtClean="0">
                <a:solidFill>
                  <a:srgbClr val="FF0000"/>
                </a:solidFill>
              </a:rPr>
              <a:t>集成开发环境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altLang="zh-CN" b="1" dirty="0" smtClean="0">
                <a:solidFill>
                  <a:srgbClr val="FF0000"/>
                </a:solidFill>
              </a:rPr>
              <a:t>AXD</a:t>
            </a:r>
            <a:r>
              <a:rPr lang="zh-CN" altLang="en-US" b="1" dirty="0" smtClean="0">
                <a:solidFill>
                  <a:srgbClr val="FF0000"/>
                </a:solidFill>
              </a:rPr>
              <a:t>： 仿真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调试器</a:t>
            </a:r>
            <a:endParaRPr lang="zh-CN" altLang="en-US" b="1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endParaRPr lang="en-US" altLang="zh-CN" b="1" dirty="0" smtClean="0">
              <a:solidFill>
                <a:srgbClr val="FF0000"/>
              </a:solidFill>
            </a:endParaRP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5720" y="1000108"/>
            <a:ext cx="85725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83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762000" y="604838"/>
            <a:ext cx="7754815" cy="482600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利用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块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 smtClean="0">
                <a:solidFill>
                  <a:srgbClr val="FF0000"/>
                </a:solidFill>
              </a:rPr>
              <a:t>位</a:t>
            </a:r>
            <a:r>
              <a:rPr lang="en-US" altLang="zh-CN" sz="24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400" dirty="0" smtClean="0">
                <a:solidFill>
                  <a:srgbClr val="FF0000"/>
                </a:solidFill>
              </a:rPr>
              <a:t>芯片</a:t>
            </a:r>
            <a:r>
              <a:rPr lang="zh-CN" altLang="en-US" sz="2400" dirty="0">
                <a:solidFill>
                  <a:srgbClr val="FF0000"/>
                </a:solidFill>
              </a:rPr>
              <a:t>扩展</a:t>
            </a:r>
            <a:r>
              <a:rPr lang="en-US" altLang="zh-CN" sz="2400" dirty="0">
                <a:solidFill>
                  <a:srgbClr val="FF0000"/>
                </a:solidFill>
              </a:rPr>
              <a:t>32</a:t>
            </a:r>
            <a:r>
              <a:rPr lang="zh-CN" altLang="en-US" sz="2400" dirty="0">
                <a:solidFill>
                  <a:srgbClr val="FF0000"/>
                </a:solidFill>
              </a:rPr>
              <a:t>位</a:t>
            </a:r>
            <a:r>
              <a:rPr lang="en-US" altLang="zh-CN" sz="2400" dirty="0">
                <a:solidFill>
                  <a:srgbClr val="FF0000"/>
                </a:solidFill>
              </a:rPr>
              <a:t>ROM</a:t>
            </a:r>
            <a:r>
              <a:rPr lang="zh-CN" altLang="en-US" sz="2400" dirty="0">
                <a:solidFill>
                  <a:srgbClr val="FF0000"/>
                </a:solidFill>
              </a:rPr>
              <a:t>存储器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72837" name="Rectangle 5"/>
          <p:cNvSpPr>
            <a:spLocks noChangeArrowheads="1"/>
          </p:cNvSpPr>
          <p:nvPr/>
        </p:nvSpPr>
        <p:spPr bwMode="auto">
          <a:xfrm>
            <a:off x="2136531" y="1885950"/>
            <a:ext cx="9144000" cy="36933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72839" name="Rectangle 7"/>
          <p:cNvSpPr>
            <a:spLocks noChangeArrowheads="1"/>
          </p:cNvSpPr>
          <p:nvPr/>
        </p:nvSpPr>
        <p:spPr bwMode="auto">
          <a:xfrm>
            <a:off x="2299189" y="871538"/>
            <a:ext cx="9144000" cy="36933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1272840" name="Picture 8"/>
          <p:cNvPicPr>
            <a:picLocks noChangeArrowheads="1"/>
          </p:cNvPicPr>
          <p:nvPr/>
        </p:nvPicPr>
        <p:blipFill>
          <a:blip r:embed="rId1"/>
          <a:srcRect t="6250"/>
          <a:stretch>
            <a:fillRect/>
          </a:stretch>
        </p:blipFill>
        <p:spPr bwMode="auto">
          <a:xfrm>
            <a:off x="656493" y="1122364"/>
            <a:ext cx="7867650" cy="52482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2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2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834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29750" y="285728"/>
            <a:ext cx="7785588" cy="649288"/>
          </a:xfrm>
        </p:spPr>
        <p:txBody>
          <a:bodyPr>
            <a:normAutofit fontScale="90000"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利用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块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zh-CN" altLang="en-US" sz="2800" dirty="0" smtClean="0">
                <a:solidFill>
                  <a:schemeClr val="tx1"/>
                </a:solidFill>
              </a:rPr>
              <a:t>位</a:t>
            </a:r>
            <a:r>
              <a:rPr lang="en-US" altLang="zh-CN" sz="28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800" dirty="0" smtClean="0">
                <a:solidFill>
                  <a:srgbClr val="FF0000"/>
                </a:solidFill>
              </a:rPr>
              <a:t>芯片</a:t>
            </a:r>
            <a:r>
              <a:rPr lang="zh-CN" altLang="en-US" sz="2800" dirty="0">
                <a:solidFill>
                  <a:srgbClr val="FF0000"/>
                </a:solidFill>
              </a:rPr>
              <a:t>扩展</a:t>
            </a:r>
            <a:r>
              <a:rPr lang="en-US" altLang="zh-CN" sz="2800" dirty="0">
                <a:solidFill>
                  <a:srgbClr val="FF0000"/>
                </a:solidFill>
              </a:rPr>
              <a:t>16</a:t>
            </a:r>
            <a:r>
              <a:rPr lang="zh-CN" altLang="en-US" sz="2800" dirty="0">
                <a:solidFill>
                  <a:srgbClr val="FF0000"/>
                </a:solidFill>
              </a:rPr>
              <a:t>位</a:t>
            </a:r>
            <a:r>
              <a:rPr lang="en-US" altLang="zh-CN" sz="2800" dirty="0">
                <a:solidFill>
                  <a:srgbClr val="FF0000"/>
                </a:solidFill>
              </a:rPr>
              <a:t>ROM</a:t>
            </a:r>
            <a:r>
              <a:rPr lang="zh-CN" altLang="en-US" sz="2800" dirty="0">
                <a:solidFill>
                  <a:srgbClr val="FF0000"/>
                </a:solidFill>
              </a:rPr>
              <a:t>存储器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285125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25567" y="1000108"/>
            <a:ext cx="4262803" cy="5334000"/>
          </a:xfrm>
          <a:prstGeom prst="rect">
            <a:avLst/>
          </a:prstGeom>
          <a:noFill/>
        </p:spPr>
      </p:pic>
      <p:sp>
        <p:nvSpPr>
          <p:cNvPr id="4" name="椭圆 3"/>
          <p:cNvSpPr/>
          <p:nvPr/>
        </p:nvSpPr>
        <p:spPr>
          <a:xfrm>
            <a:off x="4714876" y="5357826"/>
            <a:ext cx="1928826" cy="50006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2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88640"/>
            <a:ext cx="8365704" cy="60486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3200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与</a:t>
            </a:r>
            <a:r>
              <a:rPr kumimoji="1" lang="en-US" altLang="zh-CN" sz="3200" b="1" dirty="0" err="1">
                <a:latin typeface="Times New Roman" panose="02020603050405020304" pitchFamily="18" charset="0"/>
                <a:ea typeface="华文新魏" panose="02010800040101010101" pitchFamily="2" charset="-122"/>
              </a:rPr>
              <a:t>nBE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共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用一组引脚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，可以通过对相关寄存器设置来进行功能选择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。可以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用做</a:t>
            </a:r>
            <a:r>
              <a:rPr kumimoji="1" lang="en-US" altLang="zh-CN" sz="3200" b="1" dirty="0" err="1"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，也可用作</a:t>
            </a:r>
            <a:r>
              <a:rPr kumimoji="1" lang="en-US" altLang="zh-CN" sz="3200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nBE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。</a:t>
            </a:r>
            <a:endParaRPr kumimoji="1" lang="en-US" altLang="zh-CN" sz="32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作为</a:t>
            </a:r>
            <a:r>
              <a:rPr kumimoji="1" lang="en-US" altLang="zh-CN" sz="3200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nWBE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[3:0]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：接存储器芯片写引脚。写操作时选体；读操作无效，而读信号接所有芯片，导致以字为单位读，由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CPU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选择。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Clr>
                <a:srgbClr val="C00000"/>
              </a:buClr>
            </a:pP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作为</a:t>
            </a:r>
            <a:r>
              <a:rPr kumimoji="1" lang="en-US" altLang="zh-CN" sz="3200" b="1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nBE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[3:0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]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：用于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16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位字长的存储器，用于选择高低字节。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lang="en-US" altLang="zh-CN" sz="32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nBE</a:t>
            </a:r>
            <a:r>
              <a:rPr lang="en-US" altLang="zh-CN" sz="3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[3:0] 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 </a:t>
            </a:r>
            <a:r>
              <a:rPr lang="en-US" altLang="zh-CN" sz="32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nWBE</a:t>
            </a:r>
            <a:r>
              <a:rPr lang="en-US" altLang="zh-CN" sz="3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[3:0] </a:t>
            </a:r>
            <a:r>
              <a:rPr lang="en-US" altLang="zh-CN" sz="32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err="1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nOE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按位与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7544" y="1397000"/>
          <a:ext cx="8208912" cy="4624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  <a:gridCol w="1008112"/>
                <a:gridCol w="936104"/>
                <a:gridCol w="5256584"/>
              </a:tblGrid>
              <a:tr h="924858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rgbClr val="4F4F4F"/>
                          </a:solidFill>
                          <a:effectLst/>
                        </a:rPr>
                        <a:t>nWBE</a:t>
                      </a:r>
                      <a:endParaRPr lang="en-US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rgbClr val="4F4F4F"/>
                          </a:solidFill>
                          <a:effectLst/>
                        </a:rPr>
                        <a:t>nOE</a:t>
                      </a:r>
                      <a:endParaRPr lang="en-US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rgbClr val="4F4F4F"/>
                          </a:solidFill>
                          <a:effectLst/>
                        </a:rPr>
                        <a:t>nBE</a:t>
                      </a:r>
                      <a:endParaRPr lang="en-US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rgbClr val="4F4F4F"/>
                          </a:solidFill>
                          <a:effectLst/>
                        </a:rPr>
                        <a:t>说明</a:t>
                      </a:r>
                      <a:endParaRPr lang="zh-CN" altLang="en-US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</a:tr>
              <a:tr h="92485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  <a:endParaRPr lang="en-US" altLang="zh-CN" sz="2400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  <a:endParaRPr lang="en-US" altLang="zh-CN" sz="2400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 err="1">
                          <a:solidFill>
                            <a:srgbClr val="4F4F4F"/>
                          </a:solidFill>
                          <a:effectLst/>
                        </a:rPr>
                        <a:t>nWBE</a:t>
                      </a:r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, </a:t>
                      </a:r>
                      <a:r>
                        <a:rPr lang="en-US" altLang="zh-CN" sz="2400" b="0" dirty="0" err="1">
                          <a:solidFill>
                            <a:srgbClr val="4F4F4F"/>
                          </a:solidFill>
                          <a:effectLst/>
                        </a:rPr>
                        <a:t>nOE</a:t>
                      </a:r>
                      <a:r>
                        <a:rPr lang="zh-CN" altLang="en-US" sz="2400" b="0" dirty="0">
                          <a:solidFill>
                            <a:srgbClr val="4F4F4F"/>
                          </a:solidFill>
                          <a:effectLst/>
                        </a:rPr>
                        <a:t>均无效（低电平有效），于是</a:t>
                      </a:r>
                      <a:r>
                        <a:rPr lang="en-US" altLang="zh-CN" sz="2400" b="0" dirty="0" err="1">
                          <a:solidFill>
                            <a:srgbClr val="4F4F4F"/>
                          </a:solidFill>
                          <a:effectLst/>
                        </a:rPr>
                        <a:t>nBE</a:t>
                      </a:r>
                      <a:r>
                        <a:rPr lang="zh-CN" altLang="en-US" sz="2400" b="0" dirty="0">
                          <a:solidFill>
                            <a:srgbClr val="4F4F4F"/>
                          </a:solidFill>
                          <a:effectLst/>
                        </a:rPr>
                        <a:t>无效</a:t>
                      </a:r>
                      <a:endParaRPr lang="zh-CN" altLang="en-US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</a:tr>
              <a:tr h="92485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 rowSpan="3">
                  <a:txBody>
                    <a:bodyPr/>
                    <a:lstStyle/>
                    <a:p>
                      <a:r>
                        <a:rPr lang="en-US" altLang="zh-CN" sz="2400" dirty="0" err="1" smtClean="0"/>
                        <a:t>nWBE</a:t>
                      </a:r>
                      <a:r>
                        <a:rPr lang="en-US" altLang="zh-CN" sz="2400" dirty="0" smtClean="0"/>
                        <a:t>, </a:t>
                      </a:r>
                      <a:r>
                        <a:rPr lang="en-US" altLang="zh-CN" sz="2400" dirty="0" err="1" smtClean="0"/>
                        <a:t>nOE</a:t>
                      </a:r>
                      <a:r>
                        <a:rPr lang="zh-CN" altLang="en-US" sz="2400" dirty="0" smtClean="0"/>
                        <a:t>任意一个有效（低电平有效），则</a:t>
                      </a:r>
                      <a:r>
                        <a:rPr lang="en-US" altLang="zh-CN" sz="2400" dirty="0" err="1" smtClean="0"/>
                        <a:t>nBE</a:t>
                      </a:r>
                      <a:r>
                        <a:rPr lang="zh-CN" altLang="en-US" sz="2400" dirty="0" smtClean="0"/>
                        <a:t>有效</a:t>
                      </a:r>
                      <a:endParaRPr lang="zh-CN" altLang="en-US" sz="2400" dirty="0"/>
                    </a:p>
                  </a:txBody>
                  <a:tcPr anchor="ctr"/>
                </a:tc>
              </a:tr>
              <a:tr h="92485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 vMerge="1">
                  <a:tcPr/>
                </a:tc>
              </a:tr>
              <a:tr h="92485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>
                          <a:solidFill>
                            <a:srgbClr val="4F4F4F"/>
                          </a:solidFill>
                          <a:effectLst/>
                        </a:rPr>
                        <a:t>1</a:t>
                      </a:r>
                      <a:endParaRPr lang="en-US" altLang="zh-CN" sz="2400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0" dirty="0">
                          <a:solidFill>
                            <a:srgbClr val="4F4F4F"/>
                          </a:solidFill>
                          <a:effectLst/>
                        </a:rPr>
                        <a:t>0</a:t>
                      </a:r>
                      <a:endParaRPr lang="en-US" altLang="zh-CN" sz="2400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50800" marR="50800" marT="50800" marB="50800" anchor="ctr"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3497"/>
            <a:ext cx="7497728" cy="625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/>
          <p:cNvSpPr/>
          <p:nvPr/>
        </p:nvSpPr>
        <p:spPr>
          <a:xfrm>
            <a:off x="755576" y="1556792"/>
            <a:ext cx="1944216" cy="648072"/>
          </a:xfrm>
          <a:prstGeom prst="ellipse">
            <a:avLst/>
          </a:pr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29750" y="285728"/>
            <a:ext cx="7785588" cy="649288"/>
          </a:xfrm>
        </p:spPr>
        <p:txBody>
          <a:bodyPr>
            <a:normAutofit fontScale="90000"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利用</a:t>
            </a:r>
            <a:r>
              <a:rPr lang="en-US" altLang="zh-CN" sz="2800" dirty="0" smtClean="0">
                <a:solidFill>
                  <a:srgbClr val="FF0000"/>
                </a:solidFill>
              </a:rPr>
              <a:t>2</a:t>
            </a:r>
            <a:r>
              <a:rPr lang="zh-CN" altLang="en-US" sz="2800" dirty="0" smtClean="0">
                <a:solidFill>
                  <a:srgbClr val="FF0000"/>
                </a:solidFill>
              </a:rPr>
              <a:t>块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zh-CN" altLang="en-US" sz="2800" dirty="0" smtClean="0">
                <a:solidFill>
                  <a:schemeClr val="tx1"/>
                </a:solidFill>
              </a:rPr>
              <a:t>位</a:t>
            </a:r>
            <a:r>
              <a:rPr lang="en-US" altLang="zh-CN" sz="2800" dirty="0" smtClean="0">
                <a:solidFill>
                  <a:srgbClr val="FF0000"/>
                </a:solidFill>
              </a:rPr>
              <a:t>NOR Flash</a:t>
            </a:r>
            <a:r>
              <a:rPr lang="zh-CN" altLang="en-US" sz="2800" dirty="0" smtClean="0">
                <a:solidFill>
                  <a:srgbClr val="FF0000"/>
                </a:solidFill>
              </a:rPr>
              <a:t>芯片扩展</a:t>
            </a:r>
            <a:r>
              <a:rPr lang="en-US" altLang="zh-CN" sz="2800" dirty="0" smtClean="0">
                <a:solidFill>
                  <a:srgbClr val="FF0000"/>
                </a:solidFill>
              </a:rPr>
              <a:t>32</a:t>
            </a:r>
            <a:r>
              <a:rPr lang="zh-CN" altLang="en-US" sz="2800" dirty="0" smtClean="0">
                <a:solidFill>
                  <a:srgbClr val="FF0000"/>
                </a:solidFill>
              </a:rPr>
              <a:t>位</a:t>
            </a:r>
            <a:r>
              <a:rPr lang="en-US" altLang="zh-CN" sz="2800" dirty="0">
                <a:solidFill>
                  <a:srgbClr val="FF0000"/>
                </a:solidFill>
              </a:rPr>
              <a:t>ROM</a:t>
            </a:r>
            <a:r>
              <a:rPr lang="zh-CN" altLang="en-US" sz="2800" dirty="0">
                <a:solidFill>
                  <a:srgbClr val="FF0000"/>
                </a:solidFill>
              </a:rPr>
              <a:t>存储器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57275"/>
            <a:ext cx="787717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2699792" y="5229200"/>
            <a:ext cx="1928826" cy="50006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732240" y="5229200"/>
            <a:ext cx="1928826" cy="50006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2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76" y="1500174"/>
            <a:ext cx="8183880" cy="385582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S3C2440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内部封装了多个接口，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SFR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实际是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I/O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端口</a:t>
            </a:r>
            <a:endParaRPr kumimoji="1"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为什么与存储单元一起编址？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        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统一编址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None/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              如何访问？</a:t>
            </a:r>
            <a:endParaRPr kumimoji="1" lang="en-US" altLang="zh-CN" sz="3200" b="1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1472" y="714356"/>
            <a:ext cx="800105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25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(f) 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SFR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（特殊功能寄存器）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的理解</a:t>
            </a:r>
            <a:endParaRPr kumimoji="1" lang="zh-CN" altLang="en-US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14810" y="4500570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——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使用相同指令访问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normAutofit/>
          </a:bodyPr>
          <a:lstStyle/>
          <a:p>
            <a:r>
              <a:rPr kumimoji="1" lang="en-US" altLang="zh-CN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(g)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如何在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S3C2440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外部扩展</a:t>
            </a:r>
            <a:r>
              <a:rPr lang="en-US" altLang="zh-CN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2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接口？</a:t>
            </a:r>
            <a:endParaRPr lang="zh-CN" altLang="en-US" sz="320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7504" y="289208"/>
            <a:ext cx="8183880" cy="763528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(5.3) SDRAM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63888" y="332656"/>
            <a:ext cx="5643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EM63A165TS-6G</a:t>
            </a:r>
            <a:r>
              <a:rPr lang="zh-CN" altLang="en-US" sz="2400" dirty="0"/>
              <a:t>（</a:t>
            </a:r>
            <a:r>
              <a:rPr lang="en-US" altLang="zh-CN" sz="2400" b="1" dirty="0"/>
              <a:t>16M x 16 bit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3563888" y="724634"/>
            <a:ext cx="5643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地址</a:t>
            </a:r>
            <a:r>
              <a:rPr lang="en-US" altLang="zh-CN" sz="2400" dirty="0" smtClean="0"/>
              <a:t>13</a:t>
            </a:r>
            <a:r>
              <a:rPr lang="zh-CN" altLang="en-US" sz="2400" dirty="0" smtClean="0"/>
              <a:t>根，行地址</a:t>
            </a:r>
            <a:r>
              <a:rPr lang="en-US" altLang="zh-CN" sz="2400" dirty="0" smtClean="0"/>
              <a:t>13</a:t>
            </a:r>
            <a:r>
              <a:rPr lang="zh-CN" altLang="en-US" sz="2400" dirty="0" smtClean="0"/>
              <a:t>位，列地址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位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563888" y="1156682"/>
            <a:ext cx="5643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每片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L-BANK</a:t>
            </a:r>
            <a:r>
              <a:rPr lang="zh-CN" altLang="en-US" sz="2400" dirty="0" smtClean="0"/>
              <a:t>，由</a:t>
            </a:r>
            <a:r>
              <a:rPr lang="en-US" altLang="zh-CN" sz="2400" dirty="0" smtClean="0"/>
              <a:t>BA1-0</a:t>
            </a:r>
            <a:r>
              <a:rPr lang="zh-CN" altLang="en-US" sz="2400" dirty="0" smtClean="0"/>
              <a:t>选择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4295200" y="1988840"/>
            <a:ext cx="1864486" cy="4320480"/>
          </a:xfrm>
          <a:prstGeom prst="rect">
            <a:avLst/>
          </a:pr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367208" y="3710775"/>
            <a:ext cx="17924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16M x 16 bit</a:t>
            </a:r>
            <a:endParaRPr lang="zh-CN" altLang="en-US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285005" y="2121226"/>
            <a:ext cx="1991810" cy="369332"/>
            <a:chOff x="761605" y="2121226"/>
            <a:chExt cx="1991810" cy="369332"/>
          </a:xfrm>
        </p:grpSpPr>
        <p:sp>
          <p:nvSpPr>
            <p:cNvPr id="9" name="矩形 8"/>
            <p:cNvSpPr/>
            <p:nvPr/>
          </p:nvSpPr>
          <p:spPr>
            <a:xfrm>
              <a:off x="761605" y="2121226"/>
              <a:ext cx="11705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D15-D0</a:t>
              </a:r>
              <a:endParaRPr lang="zh-CN" altLang="en-US" b="1" dirty="0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1961327" y="2317522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2772203" y="2564904"/>
            <a:ext cx="1512168" cy="369332"/>
            <a:chOff x="1248803" y="2564904"/>
            <a:chExt cx="1512168" cy="369332"/>
          </a:xfrm>
        </p:grpSpPr>
        <p:cxnSp>
          <p:nvCxnSpPr>
            <p:cNvPr id="12" name="直接箭头连接符 11"/>
            <p:cNvCxnSpPr/>
            <p:nvPr/>
          </p:nvCxnSpPr>
          <p:spPr>
            <a:xfrm rot="10800000">
              <a:off x="1968883" y="2780928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248803" y="2564904"/>
              <a:ext cx="5148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CS</a:t>
              </a:r>
              <a:endParaRPr lang="zh-CN" altLang="en-US" b="1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1320811" y="2636912"/>
              <a:ext cx="32781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486888" y="3050376"/>
            <a:ext cx="2780436" cy="369332"/>
            <a:chOff x="-36512" y="3050376"/>
            <a:chExt cx="2780436" cy="369332"/>
          </a:xfrm>
        </p:grpSpPr>
        <p:cxnSp>
          <p:nvCxnSpPr>
            <p:cNvPr id="16" name="直接箭头连接符 15"/>
            <p:cNvCxnSpPr/>
            <p:nvPr/>
          </p:nvCxnSpPr>
          <p:spPr>
            <a:xfrm rot="10800000">
              <a:off x="1951836" y="3266400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187624" y="3050376"/>
              <a:ext cx="6014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WE</a:t>
              </a:r>
              <a:endParaRPr lang="zh-CN" altLang="en-US" b="1" dirty="0"/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1259632" y="3122384"/>
              <a:ext cx="32781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36512" y="305037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/>
                <a:t>高读低写</a:t>
              </a:r>
              <a:endParaRPr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67408" y="3347700"/>
            <a:ext cx="1500936" cy="1449452"/>
            <a:chOff x="5292080" y="3347700"/>
            <a:chExt cx="1500936" cy="1449452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5292080" y="3563724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6084168" y="3347700"/>
              <a:ext cx="7088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RAS</a:t>
              </a:r>
              <a:endParaRPr lang="zh-CN" altLang="en-US" b="1" dirty="0"/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6156176" y="3419708"/>
              <a:ext cx="32781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5303312" y="3923764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6095400" y="3707740"/>
              <a:ext cx="6944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C</a:t>
              </a:r>
              <a:r>
                <a:rPr lang="en-US" altLang="zh-CN" b="1" dirty="0" smtClean="0"/>
                <a:t>AS</a:t>
              </a:r>
              <a:endParaRPr lang="zh-CN" altLang="en-US" b="1" dirty="0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6167408" y="3779748"/>
              <a:ext cx="32781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5292080" y="4283804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6084168" y="4067780"/>
              <a:ext cx="6767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CLK</a:t>
              </a:r>
              <a:endParaRPr lang="zh-CN" altLang="en-US" b="1" dirty="0"/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5292080" y="4643844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6084168" y="4427820"/>
              <a:ext cx="6864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CKE</a:t>
              </a:r>
              <a:endParaRPr lang="zh-CN" altLang="en-US" b="1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290794" y="3635732"/>
            <a:ext cx="2004407" cy="369332"/>
            <a:chOff x="767394" y="3635732"/>
            <a:chExt cx="2004407" cy="369332"/>
          </a:xfrm>
        </p:grpSpPr>
        <p:cxnSp>
          <p:nvCxnSpPr>
            <p:cNvPr id="32" name="直接箭头连接符 31"/>
            <p:cNvCxnSpPr/>
            <p:nvPr/>
          </p:nvCxnSpPr>
          <p:spPr>
            <a:xfrm rot="10800000">
              <a:off x="1979713" y="3851755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767394" y="3635732"/>
              <a:ext cx="12843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L/UDQM</a:t>
              </a:r>
              <a:endParaRPr lang="zh-CN" altLang="en-US" b="1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278976" y="4499828"/>
            <a:ext cx="2016224" cy="1305436"/>
            <a:chOff x="755576" y="4499828"/>
            <a:chExt cx="2016224" cy="1305436"/>
          </a:xfrm>
        </p:grpSpPr>
        <p:cxnSp>
          <p:nvCxnSpPr>
            <p:cNvPr id="34" name="直接箭头连接符 33"/>
            <p:cNvCxnSpPr/>
            <p:nvPr/>
          </p:nvCxnSpPr>
          <p:spPr>
            <a:xfrm rot="10800000">
              <a:off x="1979712" y="4715851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767393" y="4499828"/>
              <a:ext cx="7040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BA0</a:t>
              </a:r>
              <a:endParaRPr lang="zh-CN" altLang="en-US" b="1" dirty="0"/>
            </a:p>
          </p:txBody>
        </p:sp>
        <p:cxnSp>
          <p:nvCxnSpPr>
            <p:cNvPr id="36" name="直接箭头连接符 35"/>
            <p:cNvCxnSpPr/>
            <p:nvPr/>
          </p:nvCxnSpPr>
          <p:spPr>
            <a:xfrm rot="10800000">
              <a:off x="1967895" y="5147899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755576" y="4931876"/>
              <a:ext cx="7040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BA1</a:t>
              </a:r>
              <a:endParaRPr lang="zh-CN" altLang="en-US" b="1" dirty="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 rot="10800000">
              <a:off x="1967895" y="5651955"/>
              <a:ext cx="79208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755576" y="5435932"/>
              <a:ext cx="114486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/>
                <a:t>A12-A0</a:t>
              </a:r>
              <a:endParaRPr lang="zh-CN" altLang="en-US" b="1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8615001" cy="49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一般计算机系统的架构（单总线）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97280" y="2971792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2889852" y="3657592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I/O</a:t>
            </a:r>
            <a:endParaRPr lang="en-US" altLang="zh-CN" b="1" dirty="0" smtClean="0">
              <a:effectLst/>
            </a:endParaRPr>
          </a:p>
          <a:p>
            <a:r>
              <a:rPr lang="zh-CN" altLang="en-US" b="1" dirty="0" smtClean="0"/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802080" y="2590792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7050008" y="2590792"/>
            <a:ext cx="757238" cy="1600200"/>
            <a:chOff x="7050008" y="2590792"/>
            <a:chExt cx="757238" cy="1600200"/>
          </a:xfrm>
        </p:grpSpPr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7050008" y="2971792"/>
              <a:ext cx="757238" cy="12192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dirty="0" smtClean="0">
                  <a:solidFill>
                    <a:srgbClr val="FF0000"/>
                  </a:solidFill>
                  <a:effectLst/>
                </a:rPr>
                <a:t>SRAM</a:t>
              </a:r>
              <a:endParaRPr lang="en-US" altLang="zh-CN" sz="2000" dirty="0" smtClean="0">
                <a:solidFill>
                  <a:srgbClr val="FF0000"/>
                </a:solidFill>
                <a:effectLst/>
              </a:endParaRPr>
            </a:p>
            <a:p>
              <a:pPr algn="ctr"/>
              <a:r>
                <a:rPr lang="en-US" altLang="zh-CN" sz="2000" dirty="0" smtClean="0">
                  <a:solidFill>
                    <a:srgbClr val="FF0000"/>
                  </a:solidFill>
                  <a:effectLst/>
                </a:rPr>
                <a:t>/NOR</a:t>
              </a:r>
              <a:endParaRPr lang="en-US" altLang="zh-CN" sz="2000" dirty="0" smtClean="0">
                <a:solidFill>
                  <a:srgbClr val="FF0000"/>
                </a:solidFill>
                <a:effectLst/>
              </a:endParaRPr>
            </a:p>
            <a:p>
              <a:pPr algn="ctr"/>
              <a:r>
                <a:rPr lang="zh-CN" altLang="en-US" sz="2000" dirty="0" smtClean="0">
                  <a:solidFill>
                    <a:srgbClr val="FF0000"/>
                  </a:solidFill>
                  <a:effectLst/>
                </a:rPr>
                <a:t>主存</a:t>
              </a:r>
              <a:endParaRPr lang="en-US" altLang="zh-CN" sz="2000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9" name="AutoShape 13"/>
            <p:cNvSpPr>
              <a:spLocks noChangeArrowheads="1"/>
            </p:cNvSpPr>
            <p:nvPr/>
          </p:nvSpPr>
          <p:spPr bwMode="auto">
            <a:xfrm>
              <a:off x="7295728" y="2590792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3042252" y="2590792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1323328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中断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1551928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2081456" y="2952744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2310056" y="257174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3397806" y="1900801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32</a:t>
            </a:r>
            <a:r>
              <a:rPr lang="zh-CN" altLang="en-US" dirty="0" smtClean="0">
                <a:solidFill>
                  <a:srgbClr val="FF0000"/>
                </a:solidFill>
              </a:rPr>
              <a:t>根地址线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5272" y="1844824"/>
            <a:ext cx="5859006" cy="28083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649408" y="4283804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S3C2440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566158" y="1497558"/>
            <a:ext cx="218681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ea"/>
              </a:rPr>
              <a:t>D31-0</a:t>
            </a:r>
            <a:r>
              <a:rPr lang="zh-CN" altLang="en-US" dirty="0" smtClean="0">
                <a:latin typeface="+mj-ea"/>
              </a:rPr>
              <a:t>、</a:t>
            </a:r>
            <a:r>
              <a:rPr lang="en-US" altLang="zh-CN" dirty="0" smtClean="0">
                <a:latin typeface="+mj-ea"/>
              </a:rPr>
              <a:t>A26-0</a:t>
            </a:r>
            <a:endParaRPr lang="en-US" altLang="zh-CN" dirty="0" smtClean="0">
              <a:latin typeface="+mj-ea"/>
            </a:endParaRPr>
          </a:p>
          <a:p>
            <a:r>
              <a:rPr lang="en-US" altLang="zh-CN" dirty="0" smtClean="0">
                <a:latin typeface="+mj-ea"/>
              </a:rPr>
              <a:t>GCS7-0</a:t>
            </a:r>
            <a:r>
              <a:rPr lang="zh-CN" altLang="en-US" dirty="0" smtClean="0">
                <a:latin typeface="+mj-ea"/>
              </a:rPr>
              <a:t>、</a:t>
            </a:r>
            <a:r>
              <a:rPr lang="en-US" altLang="zh-CN" dirty="0">
                <a:latin typeface="+mj-ea"/>
              </a:rPr>
              <a:t>WBE3-0</a:t>
            </a:r>
            <a:endParaRPr lang="en-US" altLang="zh-CN" dirty="0" smtClean="0">
              <a:latin typeface="+mj-ea"/>
            </a:endParaRPr>
          </a:p>
          <a:p>
            <a:r>
              <a:rPr lang="en-US" altLang="zh-CN" dirty="0" smtClean="0">
                <a:latin typeface="+mj-ea"/>
              </a:rPr>
              <a:t>WE</a:t>
            </a:r>
            <a:r>
              <a:rPr lang="zh-CN" altLang="en-US" dirty="0">
                <a:latin typeface="+mj-ea"/>
              </a:rPr>
              <a:t>、</a:t>
            </a:r>
            <a:r>
              <a:rPr lang="en-US" altLang="zh-CN" dirty="0" smtClean="0">
                <a:latin typeface="+mj-ea"/>
              </a:rPr>
              <a:t>OE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H="1">
            <a:off x="7659566" y="2146341"/>
            <a:ext cx="648072" cy="72044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5068064" y="3645024"/>
            <a:ext cx="757808" cy="63878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片选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电路</a:t>
            </a:r>
            <a:endParaRPr lang="en-US" altLang="zh-CN" dirty="0">
              <a:effectLst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5446968" y="2590792"/>
            <a:ext cx="90872" cy="105423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5452765" y="2708920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地址线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高</a:t>
            </a:r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>
            <a:stCxn id="59" idx="3"/>
          </p:cNvCxnSpPr>
          <p:nvPr/>
        </p:nvCxnSpPr>
        <p:spPr>
          <a:xfrm flipV="1">
            <a:off x="5825872" y="3954388"/>
            <a:ext cx="594000" cy="10026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6401936" y="2666992"/>
            <a:ext cx="0" cy="1257300"/>
          </a:xfrm>
          <a:prstGeom prst="straightConnector1">
            <a:avLst/>
          </a:prstGeom>
          <a:ln w="635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401936" y="2708920"/>
            <a:ext cx="648072" cy="0"/>
          </a:xfrm>
          <a:prstGeom prst="straightConnector1">
            <a:avLst/>
          </a:prstGeom>
          <a:ln w="635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077900" y="3236400"/>
            <a:ext cx="488258" cy="408624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6345616" y="344071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</a:rPr>
              <a:t>根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片选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左箭头 42"/>
          <p:cNvSpPr/>
          <p:nvPr/>
        </p:nvSpPr>
        <p:spPr>
          <a:xfrm>
            <a:off x="179512" y="2348880"/>
            <a:ext cx="4854272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665632" y="2276872"/>
            <a:ext cx="1711052" cy="1944216"/>
            <a:chOff x="3665632" y="2276872"/>
            <a:chExt cx="1711052" cy="1944216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4637184" y="3933056"/>
              <a:ext cx="205854" cy="0"/>
            </a:xfrm>
            <a:prstGeom prst="line">
              <a:avLst/>
            </a:prstGeom>
            <a:ln w="1270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3665632" y="2276872"/>
              <a:ext cx="1711052" cy="1944216"/>
              <a:chOff x="3665632" y="2276872"/>
              <a:chExt cx="1711052" cy="1944216"/>
            </a:xfrm>
          </p:grpSpPr>
          <p:sp>
            <p:nvSpPr>
              <p:cNvPr id="30" name="Rectangle 7"/>
              <p:cNvSpPr>
                <a:spLocks noChangeArrowheads="1"/>
              </p:cNvSpPr>
              <p:nvPr/>
            </p:nvSpPr>
            <p:spPr bwMode="auto">
              <a:xfrm>
                <a:off x="3665632" y="3687688"/>
                <a:ext cx="971552" cy="533400"/>
              </a:xfrm>
              <a:prstGeom prst="rect">
                <a:avLst/>
              </a:prstGeom>
              <a:solidFill>
                <a:srgbClr val="FFFF66"/>
              </a:solidFill>
              <a:ln w="25400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r>
                  <a:rPr lang="en-US" altLang="zh-CN" sz="1600" b="1" dirty="0" smtClean="0">
                    <a:effectLst/>
                  </a:rPr>
                  <a:t>SDRAM</a:t>
                </a:r>
                <a:endParaRPr lang="en-US" altLang="zh-CN" sz="1600" b="1" dirty="0" smtClean="0">
                  <a:effectLst/>
                </a:endParaRPr>
              </a:p>
              <a:p>
                <a:r>
                  <a:rPr lang="zh-CN" altLang="en-US" b="1" dirty="0"/>
                  <a:t>控制器</a:t>
                </a:r>
                <a:endParaRPr lang="en-US" altLang="zh-CN" dirty="0">
                  <a:effectLst/>
                </a:endParaRPr>
              </a:p>
            </p:txBody>
          </p:sp>
          <p:sp>
            <p:nvSpPr>
              <p:cNvPr id="37" name="AutoShape 14"/>
              <p:cNvSpPr>
                <a:spLocks noChangeArrowheads="1"/>
              </p:cNvSpPr>
              <p:nvPr/>
            </p:nvSpPr>
            <p:spPr bwMode="auto">
              <a:xfrm>
                <a:off x="3894232" y="2620888"/>
                <a:ext cx="228600" cy="1066800"/>
              </a:xfrm>
              <a:prstGeom prst="upDownArrow">
                <a:avLst>
                  <a:gd name="adj1" fmla="val 50000"/>
                  <a:gd name="adj2" fmla="val 93333"/>
                </a:avLst>
              </a:prstGeom>
              <a:solidFill>
                <a:schemeClr val="tx1"/>
              </a:solidFill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 flipV="1">
                <a:off x="4889768" y="2810272"/>
                <a:ext cx="0" cy="1171778"/>
              </a:xfrm>
              <a:prstGeom prst="line">
                <a:avLst/>
              </a:prstGeom>
              <a:ln w="1270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9"/>
              <p:cNvSpPr>
                <a:spLocks noChangeArrowheads="1"/>
              </p:cNvSpPr>
              <p:nvPr/>
            </p:nvSpPr>
            <p:spPr bwMode="auto">
              <a:xfrm>
                <a:off x="4690884" y="2276872"/>
                <a:ext cx="685800" cy="533400"/>
              </a:xfrm>
              <a:prstGeom prst="rect">
                <a:avLst/>
              </a:prstGeom>
              <a:solidFill>
                <a:srgbClr val="FFFF66"/>
              </a:solidFill>
              <a:ln w="25400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r>
                  <a:rPr lang="zh-CN" altLang="en-US" dirty="0" smtClean="0">
                    <a:effectLst/>
                  </a:rPr>
                  <a:t>多路</a:t>
                </a:r>
                <a:endParaRPr lang="en-US" altLang="zh-CN" dirty="0" smtClean="0">
                  <a:effectLst/>
                </a:endParaRPr>
              </a:p>
              <a:p>
                <a:r>
                  <a:rPr lang="zh-CN" altLang="en-US" dirty="0" smtClean="0">
                    <a:effectLst/>
                  </a:rPr>
                  <a:t>开关</a:t>
                </a:r>
                <a:endParaRPr lang="en-US" altLang="zh-CN" dirty="0">
                  <a:effectLst/>
                </a:endParaRPr>
              </a:p>
            </p:txBody>
          </p:sp>
        </p:grpSp>
      </p:grpSp>
      <p:sp>
        <p:nvSpPr>
          <p:cNvPr id="50" name="左箭头 49"/>
          <p:cNvSpPr/>
          <p:nvPr/>
        </p:nvSpPr>
        <p:spPr>
          <a:xfrm rot="10800000">
            <a:off x="5033784" y="2345883"/>
            <a:ext cx="3786688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7969106" y="2615952"/>
            <a:ext cx="900932" cy="1555992"/>
            <a:chOff x="7969106" y="2615952"/>
            <a:chExt cx="900932" cy="1555992"/>
          </a:xfrm>
        </p:grpSpPr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7969106" y="3001888"/>
              <a:ext cx="900932" cy="1170056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rgbClr val="FF0000"/>
                  </a:solidFill>
                </a:rPr>
                <a:t>SDRAM</a:t>
              </a:r>
              <a:endParaRPr lang="en-US" altLang="zh-CN" sz="2000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dirty="0">
                  <a:solidFill>
                    <a:srgbClr val="FF0000"/>
                  </a:solidFill>
                </a:rPr>
                <a:t>主存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51" name="AutoShape 13"/>
            <p:cNvSpPr>
              <a:spLocks noChangeArrowheads="1"/>
            </p:cNvSpPr>
            <p:nvPr/>
          </p:nvSpPr>
          <p:spPr bwMode="auto">
            <a:xfrm>
              <a:off x="8231832" y="2615952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395536" y="5301208"/>
            <a:ext cx="8136904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对于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SDRAM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D31-0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GCS7-0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WE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+mj-ea"/>
                <a:ea typeface="+mj-ea"/>
              </a:rPr>
              <a:t>OE</a:t>
            </a:r>
            <a:r>
              <a:rPr lang="zh-CN" altLang="en-US" sz="24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WBE3-0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endParaRPr lang="en-US" altLang="zh-CN" sz="24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spcBef>
                <a:spcPts val="15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                       RAS#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CAS#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CKE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CKE0</a:t>
            </a:r>
            <a:endParaRPr lang="en-US" altLang="zh-CN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algn="l">
              <a:spcBef>
                <a:spcPts val="15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                      A26-A24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A14-A2</a:t>
            </a:r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</a:rPr>
              <a:t>A1-A0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39552" y="476672"/>
            <a:ext cx="75166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K4S561632C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/EM63A165TS-6G</a:t>
            </a:r>
            <a:r>
              <a:rPr lang="zh-CN" altLang="en-US" sz="2800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都是</a:t>
            </a:r>
            <a:r>
              <a:rPr lang="en-US" altLang="zh-CN" sz="2800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4bankX4MX16</a:t>
            </a:r>
            <a:endParaRPr lang="zh-CN" altLang="en-US" sz="2800" b="1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3530600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987824" y="1484784"/>
            <a:ext cx="648072" cy="216024"/>
          </a:xfrm>
          <a:prstGeom prst="rect">
            <a:avLst/>
          </a:prstGeom>
          <a:noFill/>
          <a:ln w="1714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7544" y="4725144"/>
            <a:ext cx="648072" cy="432048"/>
          </a:xfrm>
          <a:prstGeom prst="rect">
            <a:avLst/>
          </a:prstGeom>
          <a:noFill/>
          <a:ln w="1714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976621" y="4581128"/>
            <a:ext cx="648072" cy="432048"/>
          </a:xfrm>
          <a:prstGeom prst="rect">
            <a:avLst/>
          </a:prstGeom>
          <a:noFill/>
          <a:ln w="1714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5546" y="3861048"/>
            <a:ext cx="648072" cy="216024"/>
          </a:xfrm>
          <a:prstGeom prst="rect">
            <a:avLst/>
          </a:prstGeom>
          <a:noFill/>
          <a:ln w="1714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87824" y="4005064"/>
            <a:ext cx="648072" cy="216024"/>
          </a:xfrm>
          <a:prstGeom prst="rect">
            <a:avLst/>
          </a:prstGeom>
          <a:noFill/>
          <a:ln w="1714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https://img-blog.csdnimg.cn/2020051820570739.png?x-oss-process=image/watermark,type_ZmFuZ3poZW5naGVpdGk,shadow_10,text_aHR0cHM6Ly9ibG9nLmNzZG4ubmV0L2NvbTg1Mg==,size_16,color_FFFFFF,t_7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1" y="1570186"/>
            <a:ext cx="8988425" cy="532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539552" y="476672"/>
            <a:ext cx="75166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K4S561632C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/EM63A165TS-6G</a:t>
            </a:r>
            <a:r>
              <a:rPr lang="zh-CN" altLang="en-US" sz="2800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都是</a:t>
            </a:r>
            <a:r>
              <a:rPr lang="en-US" altLang="zh-CN" sz="2800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4bankX4MX16</a:t>
            </a:r>
            <a:endParaRPr lang="zh-CN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6706761" cy="5928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444208" y="476672"/>
            <a:ext cx="25202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地址线</a:t>
            </a:r>
            <a:r>
              <a:rPr lang="en-US" altLang="zh-CN" sz="2800" b="1" dirty="0" smtClean="0"/>
              <a:t>A26-0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但</a:t>
            </a:r>
            <a:r>
              <a:rPr lang="en-US" altLang="zh-CN" sz="2800" b="1" dirty="0" smtClean="0"/>
              <a:t>A23-2</a:t>
            </a:r>
            <a:r>
              <a:rPr lang="zh-CN" altLang="en-US" sz="2800" b="1" dirty="0" smtClean="0"/>
              <a:t>分</a:t>
            </a:r>
            <a:r>
              <a:rPr lang="en-US" altLang="zh-CN" sz="2800" b="1" dirty="0" smtClean="0"/>
              <a:t>13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9</a:t>
            </a:r>
            <a:r>
              <a:rPr lang="zh-CN" altLang="en-US" sz="2800" b="1" dirty="0" smtClean="0"/>
              <a:t>位两次通过</a:t>
            </a:r>
            <a:r>
              <a:rPr lang="en-US" altLang="zh-CN" sz="2800" b="1" dirty="0" smtClean="0"/>
              <a:t>A14-2</a:t>
            </a:r>
            <a:r>
              <a:rPr lang="zh-CN" altLang="en-US" sz="2800" b="1" dirty="0" smtClean="0"/>
              <a:t>传给</a:t>
            </a:r>
            <a:r>
              <a:rPr lang="en-US" altLang="zh-CN" sz="2800" b="1" dirty="0" smtClean="0"/>
              <a:t>SDRAM</a:t>
            </a:r>
            <a:r>
              <a:rPr lang="zh-CN" altLang="en-US" sz="2800" b="1" dirty="0" smtClean="0"/>
              <a:t> </a:t>
            </a:r>
            <a:endParaRPr lang="zh-CN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476672"/>
            <a:ext cx="8359816" cy="3919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与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SRAM/NOR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解法类似，只是：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 27-2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位地址（最低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位不用），分成高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3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位、低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22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位：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前者选内部的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Bank</a:t>
            </a:r>
            <a:endParaRPr kumimoji="1" lang="en-US" altLang="zh-CN" sz="3200" b="1" dirty="0" smtClean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265430" indent="-265430">
              <a:lnSpc>
                <a:spcPct val="110000"/>
              </a:lnSpc>
              <a:spcBef>
                <a:spcPts val="1500"/>
              </a:spcBef>
              <a:buClr>
                <a:srgbClr val="C00000"/>
              </a:buClr>
              <a:buSzPct val="80000"/>
            </a:pPr>
            <a:r>
              <a:rPr kumimoji="1"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   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后者又分为行（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13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）、列（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9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）地址，通过</a:t>
            </a:r>
            <a:r>
              <a:rPr kumimoji="1" lang="en-US" altLang="zh-CN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A14-A2</a:t>
            </a:r>
            <a:r>
              <a:rPr kumimoji="1" lang="zh-CN" alt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分时送来</a:t>
            </a:r>
            <a:endParaRPr kumimoji="1"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066" y="434975"/>
            <a:ext cx="7785588" cy="64928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(5.4) NAND flash</a:t>
            </a:r>
            <a:r>
              <a:rPr lang="zh-CN" altLang="en-US" dirty="0" smtClean="0">
                <a:solidFill>
                  <a:srgbClr val="FF0000"/>
                </a:solidFill>
              </a:rPr>
              <a:t>设计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0354" name="Picture 2" descr="http://img.blog.csdn.net/20141013204421178?%3C/p%3E%3Cp%3Ewatermark/2/text/aHR0cDovL2Jsb2cuY3Nkbi5uZXQvd2x3bDAwNzE5ODY=/font/5a6L5L2T/fontsize/400/fill/I0JBQkFCMA==/dissolve/70/gravity/SouthEast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8597" y="2708920"/>
            <a:ext cx="8286808" cy="3209918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611560" y="1412776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+mj-cs"/>
              </a:rPr>
              <a:t>NAND Flash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+mj-cs"/>
              </a:rPr>
              <a:t>的组织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NAND flash</a:t>
            </a:r>
            <a:r>
              <a:rPr lang="zh-CN" altLang="en-US" dirty="0">
                <a:solidFill>
                  <a:srgbClr val="FF0000"/>
                </a:solidFill>
              </a:rPr>
              <a:t>控制器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268414"/>
            <a:ext cx="7979020" cy="5184775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S3C2440X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具有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NAND Flash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</a:t>
            </a: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控制器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，实现读写</a:t>
            </a:r>
            <a:endParaRPr kumimoji="1" lang="en-US" altLang="zh-CN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自引导模式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：复位后，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NAND Flash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的前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4KB(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引导代码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被送入其内部的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，在 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中执行。 </a:t>
            </a:r>
            <a:endParaRPr kumimoji="1" lang="zh-CN" altLang="en-US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具有硬件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ECC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（纠错码）功能。</a:t>
            </a:r>
            <a:endParaRPr kumimoji="1" lang="zh-CN" altLang="en-US" dirty="0" smtClean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内部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4KB</a:t>
            </a: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SRAM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缓冲器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，在</a:t>
            </a:r>
            <a:r>
              <a:rPr kumimoji="1" lang="en-US" altLang="zh-CN" dirty="0" err="1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Nand</a:t>
            </a:r>
            <a:r>
              <a:rPr kumimoji="1" lang="en-US" altLang="zh-CN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 flash</a:t>
            </a:r>
            <a:r>
              <a:rPr kumimoji="1" lang="zh-CN" altLang="en-US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引导后可以作为其他用途使用。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引脚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OM[1:0]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决定</a:t>
            </a:r>
            <a:r>
              <a:rPr lang="zh-CN" altLang="en-US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自启动类型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0" y="4973161"/>
            <a:ext cx="8001056" cy="1478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矩形 1"/>
          <p:cNvSpPr/>
          <p:nvPr/>
        </p:nvSpPr>
        <p:spPr>
          <a:xfrm>
            <a:off x="395536" y="5229200"/>
            <a:ext cx="8496944" cy="288032"/>
          </a:xfrm>
          <a:prstGeom prst="rect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DD2A5A81-E658-4490-B498-A52C1C9DF485}" type="slidenum">
              <a:rPr lang="ko-KR" altLang="en-US"/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162800" cy="4495800"/>
          </a:xfrm>
        </p:spPr>
        <p:txBody>
          <a:bodyPr/>
          <a:lstStyle/>
          <a:p>
            <a:pPr>
              <a:buFontTx/>
              <a:buNone/>
            </a:pPr>
            <a:endParaRPr lang="zh-CN" altLang="zh-CN"/>
          </a:p>
        </p:txBody>
      </p:sp>
      <p:pic>
        <p:nvPicPr>
          <p:cNvPr id="12291" name="Picture 3" descr="{E4713A25-8C40-4CB1-8C4C-D96139C097BC}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4488" y="928670"/>
            <a:ext cx="8096602" cy="4743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椭圆 7"/>
          <p:cNvSpPr/>
          <p:nvPr/>
        </p:nvSpPr>
        <p:spPr>
          <a:xfrm>
            <a:off x="1500166" y="2000240"/>
            <a:ext cx="1785950" cy="78581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76352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NAND Flash </a:t>
            </a:r>
            <a:r>
              <a:rPr lang="en-US" altLang="zh-CN" dirty="0" smtClean="0">
                <a:solidFill>
                  <a:schemeClr val="accent4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Controller</a:t>
            </a:r>
            <a:r>
              <a:rPr lang="en-US" altLang="zh-CN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Block Diagram</a:t>
            </a:r>
            <a:endParaRPr lang="en-US" altLang="zh-CN" dirty="0" smtClean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85786" y="1366838"/>
            <a:ext cx="7512833" cy="4562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04248" y="1643050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Steppingstone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20072" y="1366838"/>
            <a:ext cx="1656184" cy="1198066"/>
          </a:xfrm>
          <a:prstGeom prst="rect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NAND Flash</a:t>
            </a:r>
            <a:r>
              <a:rPr lang="zh-CN" altLang="en-US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控制器接口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411290"/>
            <a:ext cx="7979020" cy="4732354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en-US" altLang="zh-CN" sz="3000" b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D[15:0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] : </a:t>
            </a:r>
            <a:r>
              <a:rPr lang="en-US" altLang="zh-CN" sz="3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Data/Command/Address 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In/Out Port (shared with the data bus)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CLE : </a:t>
            </a:r>
            <a:r>
              <a:rPr lang="en-US" altLang="zh-CN" sz="3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Command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Latch Enable (Output)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ALE : </a:t>
            </a:r>
            <a:r>
              <a:rPr lang="en-US" altLang="zh-CN" sz="3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Address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Latch Enable (Output)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3000" b="1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nFCE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: NAND Flash </a:t>
            </a:r>
            <a:r>
              <a:rPr lang="en-US" altLang="zh-CN" sz="3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Chip Enable 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(Output)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3000" b="1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nFRE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: NAND Flash </a:t>
            </a:r>
            <a:r>
              <a:rPr lang="en-US" altLang="zh-CN" sz="3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Read Enable 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(Output)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3000" b="1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nFWE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: NAND Flash </a:t>
            </a:r>
            <a:r>
              <a:rPr lang="en-US" altLang="zh-CN" sz="3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Write Enable 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(Output)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R/</a:t>
            </a:r>
            <a:r>
              <a:rPr lang="en-US" altLang="zh-CN" sz="3000" b="1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nB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: NAND Flash Ready/</a:t>
            </a:r>
            <a:r>
              <a:rPr lang="en-US" altLang="zh-CN" sz="3000" b="1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nBusy</a:t>
            </a:r>
            <a:r>
              <a:rPr lang="en-US" altLang="zh-CN" sz="30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(Input)</a:t>
            </a:r>
            <a:endParaRPr lang="en-US" altLang="zh-CN" sz="30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  <a:buNone/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066" y="434975"/>
            <a:ext cx="7785588" cy="649288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NAND </a:t>
            </a:r>
            <a:r>
              <a:rPr lang="en-US" altLang="zh-CN" dirty="0">
                <a:solidFill>
                  <a:srgbClr val="FF0000"/>
                </a:solidFill>
              </a:rPr>
              <a:t>Flash</a:t>
            </a:r>
            <a:r>
              <a:rPr lang="zh-CN" altLang="en-US" dirty="0" smtClean="0">
                <a:solidFill>
                  <a:srgbClr val="FF0000"/>
                </a:solidFill>
              </a:rPr>
              <a:t>的命令锁存时序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95586" name="Picture 2" descr="http://blog.chinaunix.net/attachment/201311/15/28852942_13844786813d8s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5752" y="1543570"/>
            <a:ext cx="8643966" cy="401233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066" y="434975"/>
            <a:ext cx="7785588" cy="649288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NAND </a:t>
            </a:r>
            <a:r>
              <a:rPr lang="en-US" altLang="zh-CN" dirty="0">
                <a:solidFill>
                  <a:srgbClr val="FF0000"/>
                </a:solidFill>
              </a:rPr>
              <a:t>Flash</a:t>
            </a:r>
            <a:r>
              <a:rPr lang="zh-CN" altLang="en-US" dirty="0" smtClean="0">
                <a:solidFill>
                  <a:srgbClr val="FF0000"/>
                </a:solidFill>
              </a:rPr>
              <a:t>的地址锁存时序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04802" name="Picture 2" descr="http://blog.chinaunix.net/attachment/201311/15/28852942_1384479004vi2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8596" y="1500174"/>
            <a:ext cx="8292543" cy="4217289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410" name="Rectangle 2"/>
          <p:cNvSpPr>
            <a:spLocks noChangeArrowheads="1"/>
          </p:cNvSpPr>
          <p:nvPr/>
        </p:nvSpPr>
        <p:spPr bwMode="auto">
          <a:xfrm>
            <a:off x="467544" y="641114"/>
            <a:ext cx="813690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eaLnBrk="0" hangingPunct="0">
              <a:lnSpc>
                <a:spcPct val="90000"/>
              </a:lnSpc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chemeClr val="tx1"/>
                </a:solidFill>
                <a:latin typeface="+mj-ea"/>
                <a:ea typeface="+mj-ea"/>
              </a:rPr>
              <a:t>一般计算机系统的架构（单总线）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94976" y="2885534"/>
            <a:ext cx="7620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ARM</a:t>
            </a:r>
            <a:endParaRPr lang="en-US" altLang="zh-CN" b="1" dirty="0" smtClean="0">
              <a:effectLst/>
            </a:endParaRPr>
          </a:p>
          <a:p>
            <a:r>
              <a:rPr lang="en-US" altLang="zh-CN" b="1" dirty="0" smtClean="0"/>
              <a:t>920T</a:t>
            </a:r>
            <a:endParaRPr lang="en-US" altLang="zh-CN" b="1" dirty="0">
              <a:effectLst/>
            </a:endParaRP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4114674" y="3571334"/>
            <a:ext cx="971552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 smtClean="0">
                <a:effectLst/>
              </a:rPr>
              <a:t>SDRAM</a:t>
            </a:r>
            <a:endParaRPr lang="en-US" altLang="zh-CN" sz="1600" b="1" dirty="0" smtClean="0">
              <a:effectLst/>
            </a:endParaRPr>
          </a:p>
          <a:p>
            <a:r>
              <a:rPr lang="zh-CN" altLang="en-US" b="1" dirty="0" smtClean="0">
                <a:effectLst/>
              </a:rPr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5514838" y="3571334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b="1" dirty="0" smtClean="0">
                <a:effectLst/>
              </a:rPr>
              <a:t>I/O</a:t>
            </a:r>
            <a:endParaRPr lang="en-US" altLang="zh-CN" b="1" dirty="0" smtClean="0">
              <a:effectLst/>
            </a:endParaRPr>
          </a:p>
          <a:p>
            <a:r>
              <a:rPr lang="zh-CN" altLang="en-US" b="1" dirty="0" smtClean="0"/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799776" y="2504534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432932" y="2492896"/>
            <a:ext cx="900932" cy="1757708"/>
            <a:chOff x="7847532" y="2654399"/>
            <a:chExt cx="900932" cy="1757708"/>
          </a:xfrm>
        </p:grpSpPr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7847532" y="3192907"/>
              <a:ext cx="900932" cy="12192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600" b="1" dirty="0" smtClean="0">
                  <a:solidFill>
                    <a:srgbClr val="FF0000"/>
                  </a:solidFill>
                  <a:effectLst/>
                </a:rPr>
                <a:t>SRAM</a:t>
              </a:r>
              <a:endParaRPr lang="en-US" altLang="zh-CN" sz="1600" b="1" dirty="0" smtClean="0">
                <a:solidFill>
                  <a:srgbClr val="FF0000"/>
                </a:solidFill>
                <a:effectLst/>
              </a:endParaRPr>
            </a:p>
            <a:p>
              <a:r>
                <a:rPr lang="en-US" altLang="zh-CN" sz="1600" b="1" dirty="0" smtClean="0">
                  <a:solidFill>
                    <a:srgbClr val="FF0000"/>
                  </a:solidFill>
                  <a:effectLst/>
                </a:rPr>
                <a:t>/NOR</a:t>
              </a:r>
              <a:endParaRPr lang="en-US" altLang="zh-CN" sz="1600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9" name="AutoShape 13"/>
            <p:cNvSpPr>
              <a:spLocks noChangeArrowheads="1"/>
            </p:cNvSpPr>
            <p:nvPr/>
          </p:nvSpPr>
          <p:spPr bwMode="auto">
            <a:xfrm>
              <a:off x="7957174" y="2654399"/>
              <a:ext cx="228600" cy="538507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0" name="AutoShape 14"/>
          <p:cNvSpPr>
            <a:spLocks noChangeArrowheads="1"/>
          </p:cNvSpPr>
          <p:nvPr/>
        </p:nvSpPr>
        <p:spPr bwMode="auto">
          <a:xfrm>
            <a:off x="4343274" y="250453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5667238" y="2504534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1514326" y="2866486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effectLst/>
              </a:rPr>
              <a:t>中断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1742926" y="2485486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2400162" y="2866486"/>
            <a:ext cx="685800" cy="12192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dirty="0" smtClean="0">
                <a:effectLst/>
              </a:rPr>
              <a:t>DMA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控制</a:t>
            </a:r>
            <a:endParaRPr lang="en-US" altLang="zh-CN" dirty="0" smtClean="0">
              <a:effectLst/>
            </a:endParaRPr>
          </a:p>
          <a:p>
            <a:pPr algn="ctr"/>
            <a:r>
              <a:rPr lang="zh-CN" altLang="en-US" dirty="0" smtClean="0">
                <a:effectLst/>
              </a:rPr>
              <a:t>器</a:t>
            </a:r>
            <a:endParaRPr lang="en-US" altLang="zh-CN" dirty="0">
              <a:effectLst/>
            </a:endParaRPr>
          </a:p>
        </p:txBody>
      </p:sp>
      <p:sp>
        <p:nvSpPr>
          <p:cNvPr id="47" name="AutoShape 13"/>
          <p:cNvSpPr>
            <a:spLocks noChangeArrowheads="1"/>
          </p:cNvSpPr>
          <p:nvPr/>
        </p:nvSpPr>
        <p:spPr bwMode="auto">
          <a:xfrm>
            <a:off x="2628762" y="2485486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437808" y="4628626"/>
            <a:ext cx="976314" cy="1285884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电源、时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钟及复位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电路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771180" y="4128560"/>
            <a:ext cx="285752" cy="5000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3228838" y="3552286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 smtClean="0">
                <a:effectLst/>
              </a:rPr>
              <a:t>Flash</a:t>
            </a:r>
            <a:endParaRPr lang="en-US" altLang="zh-CN" sz="1600" b="1" dirty="0" smtClean="0">
              <a:effectLst/>
            </a:endParaRPr>
          </a:p>
          <a:p>
            <a:r>
              <a:rPr lang="zh-CN" altLang="en-US" b="1" dirty="0" smtClean="0">
                <a:effectLst/>
              </a:rPr>
              <a:t>接口</a:t>
            </a:r>
            <a:endParaRPr lang="en-US" altLang="zh-CN" dirty="0">
              <a:effectLst/>
            </a:endParaRP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3457438" y="2485486"/>
            <a:ext cx="228600" cy="10668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tx1"/>
          </a:solidFill>
          <a:ln w="9525">
            <a:solidFill>
              <a:srgbClr val="CC3300"/>
            </a:solidFill>
            <a:miter lim="800000"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050616" y="4081877"/>
            <a:ext cx="983122" cy="1185866"/>
            <a:chOff x="4643438" y="4171960"/>
            <a:chExt cx="685800" cy="914400"/>
          </a:xfrm>
        </p:grpSpPr>
        <p:sp>
          <p:nvSpPr>
            <p:cNvPr id="27" name="AutoShape 12"/>
            <p:cNvSpPr>
              <a:spLocks noChangeArrowheads="1"/>
            </p:cNvSpPr>
            <p:nvPr/>
          </p:nvSpPr>
          <p:spPr bwMode="auto">
            <a:xfrm>
              <a:off x="4886324" y="4171960"/>
              <a:ext cx="228600" cy="38100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4643438" y="4552960"/>
              <a:ext cx="685800" cy="5334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/>
              <a:r>
                <a:rPr lang="en-US" altLang="zh-CN" sz="1600" b="1" dirty="0" smtClean="0">
                  <a:solidFill>
                    <a:srgbClr val="FF0000"/>
                  </a:solidFill>
                </a:rPr>
                <a:t>Flash</a:t>
              </a:r>
              <a:endParaRPr lang="en-US" altLang="zh-CN" sz="1600" b="1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1699874" y="4628626"/>
            <a:ext cx="762000" cy="1000132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JTAG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rot="10800000">
            <a:off x="1271246" y="4128560"/>
            <a:ext cx="500066" cy="428628"/>
          </a:xfrm>
          <a:prstGeom prst="straightConnector1">
            <a:avLst/>
          </a:prstGeom>
          <a:ln w="34925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6386716" y="1142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系统总线扩展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604316" y="2492896"/>
            <a:ext cx="1000132" cy="1054530"/>
            <a:chOff x="7604316" y="2492896"/>
            <a:chExt cx="1000132" cy="1054530"/>
          </a:xfrm>
        </p:grpSpPr>
        <p:sp>
          <p:nvSpPr>
            <p:cNvPr id="37" name="AutoShape 12"/>
            <p:cNvSpPr>
              <a:spLocks noChangeArrowheads="1"/>
            </p:cNvSpPr>
            <p:nvPr/>
          </p:nvSpPr>
          <p:spPr bwMode="auto">
            <a:xfrm>
              <a:off x="7875782" y="2492896"/>
              <a:ext cx="228600" cy="521129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tx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7604316" y="3014026"/>
              <a:ext cx="1000132" cy="533400"/>
            </a:xfrm>
            <a:prstGeom prst="rect">
              <a:avLst/>
            </a:prstGeom>
            <a:solidFill>
              <a:srgbClr val="FFFF66"/>
            </a:solidFill>
            <a:ln w="25400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/>
              <a:r>
                <a:rPr lang="en-US" altLang="zh-CN" sz="1600" b="1" dirty="0" smtClean="0">
                  <a:solidFill>
                    <a:srgbClr val="FF0000"/>
                  </a:solidFill>
                </a:rPr>
                <a:t>SDRAM</a:t>
              </a:r>
              <a:endParaRPr lang="en-US" altLang="zh-CN" sz="1600" b="1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2301132" y="1901840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S3C2440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>
            <a:stCxn id="33" idx="3"/>
          </p:cNvCxnSpPr>
          <p:nvPr/>
        </p:nvCxnSpPr>
        <p:spPr>
          <a:xfrm>
            <a:off x="5086226" y="3838034"/>
            <a:ext cx="205854" cy="0"/>
          </a:xfrm>
          <a:prstGeom prst="line">
            <a:avLst/>
          </a:prstGeom>
          <a:ln w="1270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endCxn id="54" idx="2"/>
          </p:cNvCxnSpPr>
          <p:nvPr/>
        </p:nvCxnSpPr>
        <p:spPr>
          <a:xfrm flipV="1">
            <a:off x="5292080" y="2666256"/>
            <a:ext cx="0" cy="1171778"/>
          </a:xfrm>
          <a:prstGeom prst="line">
            <a:avLst/>
          </a:prstGeom>
          <a:ln w="1270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箭头 13"/>
          <p:cNvSpPr/>
          <p:nvPr/>
        </p:nvSpPr>
        <p:spPr>
          <a:xfrm>
            <a:off x="437808" y="2204864"/>
            <a:ext cx="4854272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9"/>
          <p:cNvSpPr>
            <a:spLocks noChangeArrowheads="1"/>
          </p:cNvSpPr>
          <p:nvPr/>
        </p:nvSpPr>
        <p:spPr bwMode="auto">
          <a:xfrm>
            <a:off x="4949180" y="2132856"/>
            <a:ext cx="685800" cy="533400"/>
          </a:xfrm>
          <a:prstGeom prst="rect">
            <a:avLst/>
          </a:prstGeom>
          <a:solidFill>
            <a:srgbClr val="FFFF66"/>
          </a:solidFill>
          <a:ln w="25400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dirty="0" smtClean="0">
                <a:effectLst/>
              </a:rPr>
              <a:t>多路</a:t>
            </a:r>
            <a:endParaRPr lang="en-US" altLang="zh-CN" dirty="0" smtClean="0">
              <a:effectLst/>
            </a:endParaRPr>
          </a:p>
          <a:p>
            <a:r>
              <a:rPr lang="zh-CN" altLang="en-US" dirty="0" smtClean="0">
                <a:effectLst/>
              </a:rPr>
              <a:t>开关</a:t>
            </a:r>
            <a:endParaRPr lang="en-US" altLang="zh-CN" dirty="0">
              <a:effectLst/>
            </a:endParaRPr>
          </a:p>
        </p:txBody>
      </p:sp>
      <p:sp>
        <p:nvSpPr>
          <p:cNvPr id="59" name="左箭头 58"/>
          <p:cNvSpPr/>
          <p:nvPr/>
        </p:nvSpPr>
        <p:spPr>
          <a:xfrm rot="10800000">
            <a:off x="5667238" y="2201867"/>
            <a:ext cx="3153234" cy="366274"/>
          </a:xfrm>
          <a:prstGeom prst="leftArrow">
            <a:avLst/>
          </a:prstGeom>
          <a:solidFill>
            <a:srgbClr val="EF93E6"/>
          </a:solidFill>
          <a:ln>
            <a:solidFill>
              <a:srgbClr val="EF93E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37808" y="1901840"/>
            <a:ext cx="5862384" cy="24410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066" y="434975"/>
            <a:ext cx="7785588" cy="649288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S3C2410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NAND Flash</a:t>
            </a:r>
            <a:r>
              <a:rPr lang="zh-CN" altLang="en-US" dirty="0">
                <a:solidFill>
                  <a:srgbClr val="FF0000"/>
                </a:solidFill>
              </a:rPr>
              <a:t>的连接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530884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00233" y="1258887"/>
            <a:ext cx="5286412" cy="49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NAND Flash</a:t>
            </a:r>
            <a:r>
              <a:rPr lang="zh-CN" altLang="en-US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读写</a:t>
            </a:r>
            <a:endParaRPr lang="zh-CN" altLang="en-US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268414"/>
            <a:ext cx="7979020" cy="5184775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完成自引导后，整个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NAND Flash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可进行读、写和擦除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NFCON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（配置）、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NFCMD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（命令）、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NFADDR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（地址）、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NFDATA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（数据）、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NFSTAT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（状态）、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NFECC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（纠错码）等寄存器完成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</a:pP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30000"/>
              </a:spcBef>
              <a:buNone/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76352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(5.5) </a:t>
            </a:r>
            <a:r>
              <a:rPr lang="zh-CN" altLang="en-US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存储器初始化</a:t>
            </a:r>
            <a:endParaRPr lang="zh-CN" altLang="en-US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5261204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需要对每个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连接存储器类型、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宽度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等信息进行说明；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Bank6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SDRAM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，还需要说明数据传输方式、刷新方式和刷新周期、信号保持时间等进行配置；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上式的说明和配置是通过对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S3C2440X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个特殊功能寄存器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配置完成的，这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个寄存器地址是连续的。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8712968" cy="418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总线宽度及等待控制寄存器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BWSCON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个）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1689304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Bank0-7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位宽度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等待状态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控制，每个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位，下表显示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Bank7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的情况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3000372"/>
          <a:ext cx="7215238" cy="2767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9"/>
                <a:gridCol w="3857652"/>
                <a:gridCol w="1928827"/>
              </a:tblGrid>
              <a:tr h="53390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533901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STn</a:t>
                      </a:r>
                      <a:r>
                        <a:rPr lang="en-US" altLang="zh-CN" dirty="0" smtClean="0"/>
                        <a:t>[31]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baseline="0" dirty="0" smtClean="0"/>
                        <a:t>允许</a:t>
                      </a: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UB/LB</a:t>
                      </a:r>
                      <a:r>
                        <a:rPr lang="en-US" altLang="zh-CN" baseline="0" dirty="0" smtClean="0"/>
                        <a:t>(</a:t>
                      </a:r>
                      <a:r>
                        <a:rPr lang="zh-CN" altLang="en-US" baseline="0" dirty="0" smtClean="0"/>
                        <a:t>高低字节选通信号</a:t>
                      </a:r>
                      <a:r>
                        <a:rPr lang="zh-CN" altLang="en-US" baseline="0" dirty="0" smtClean="0"/>
                        <a:t>，禁止则对应引脚为</a:t>
                      </a:r>
                      <a:r>
                        <a:rPr lang="en-US" altLang="zh-CN" baseline="0" dirty="0" smtClean="0"/>
                        <a:t>WBE[3:0]</a:t>
                      </a:r>
                      <a:r>
                        <a:rPr lang="zh-CN" altLang="en-US" baseline="0" dirty="0" smtClean="0"/>
                        <a:t>，允许则为</a:t>
                      </a:r>
                      <a:r>
                        <a:rPr lang="en-US" altLang="zh-CN" baseline="0" dirty="0" smtClean="0"/>
                        <a:t>BE[3:0]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659823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WSn</a:t>
                      </a:r>
                      <a:r>
                        <a:rPr lang="en-US" altLang="zh-CN" dirty="0" smtClean="0"/>
                        <a:t>[30]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：不使用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使用</a:t>
                      </a:r>
                      <a:r>
                        <a:rPr lang="en-US" altLang="zh-CN" dirty="0" smtClean="0"/>
                        <a:t>WAIT</a:t>
                      </a:r>
                      <a:r>
                        <a:rPr lang="zh-CN" altLang="en-US" dirty="0" smtClean="0"/>
                        <a:t>信号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659823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DWn</a:t>
                      </a:r>
                      <a:r>
                        <a:rPr lang="en-US" altLang="zh-CN" dirty="0" smtClean="0"/>
                        <a:t>[29:28]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设置数据宽度</a:t>
                      </a:r>
                      <a:r>
                        <a:rPr lang="en-US" altLang="zh-CN" dirty="0" smtClean="0"/>
                        <a:t>,00/01/10/11: 8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/16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/32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BANKCON0-7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个）</a:t>
            </a:r>
            <a:endParaRPr lang="zh-CN" altLang="en-US" sz="2800" dirty="0" smtClean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1689304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Bank0-7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的存储器类型、行列选通信号延时及列地址位数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3000372"/>
          <a:ext cx="7215238" cy="302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12"/>
                <a:gridCol w="3571899"/>
                <a:gridCol w="1928827"/>
              </a:tblGrid>
              <a:tr h="53390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533901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MTn</a:t>
                      </a:r>
                      <a:r>
                        <a:rPr lang="en-US" altLang="zh-CN" dirty="0" smtClean="0"/>
                        <a:t>[16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15]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/>
                        <a:t>存储器类型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dirty="0" smtClean="0"/>
                        <a:t>00/01/10/11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ROM</a:t>
                      </a:r>
                      <a:r>
                        <a:rPr lang="zh-CN" altLang="en-US" dirty="0" smtClean="0"/>
                        <a:t>或</a:t>
                      </a:r>
                      <a:r>
                        <a:rPr lang="en-US" altLang="zh-CN" dirty="0" smtClean="0"/>
                        <a:t>SRAM/</a:t>
                      </a:r>
                      <a:r>
                        <a:rPr lang="zh-CN" altLang="en-US" dirty="0" smtClean="0"/>
                        <a:t>保留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保留</a:t>
                      </a:r>
                      <a:r>
                        <a:rPr lang="en-US" altLang="zh-CN" dirty="0" smtClean="0"/>
                        <a:t>/SDRAM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</a:tr>
              <a:tr h="659823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Trcd</a:t>
                      </a:r>
                      <a:r>
                        <a:rPr lang="en-US" altLang="zh-CN" dirty="0" smtClean="0"/>
                        <a:t>[3:2]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RAS</a:t>
                      </a:r>
                      <a:r>
                        <a:rPr lang="zh-CN" altLang="en-US" dirty="0" smtClean="0"/>
                        <a:t>到</a:t>
                      </a:r>
                      <a:r>
                        <a:rPr lang="en-US" altLang="zh-CN" dirty="0" smtClean="0"/>
                        <a:t>CAS</a:t>
                      </a:r>
                      <a:r>
                        <a:rPr lang="zh-CN" altLang="en-US" dirty="0" smtClean="0"/>
                        <a:t>的延时，</a:t>
                      </a:r>
                      <a:r>
                        <a:rPr lang="en-US" altLang="zh-CN" dirty="0" smtClean="0"/>
                        <a:t>00/01/10/11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2clocks/3clocks/4clocks/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  <a:tr h="65982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SCAN[1:0]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列地址数</a:t>
                      </a:r>
                      <a:r>
                        <a:rPr lang="en-US" altLang="zh-CN" dirty="0" smtClean="0"/>
                        <a:t>,00/01/10/11: 8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/9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/10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刷新控制寄存器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BREFRESH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个）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903486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设置对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SDRAM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刷新参数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2401807"/>
          <a:ext cx="7215238" cy="3647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3500462"/>
                <a:gridCol w="1857388"/>
              </a:tblGrid>
              <a:tr h="38444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REFEN[23]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允许刷新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TREFMD[22]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：自动刷新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自刷新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1031826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Trp</a:t>
                      </a:r>
                      <a:r>
                        <a:rPr lang="en-US" altLang="zh-CN" dirty="0" smtClean="0"/>
                        <a:t>[21::20]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RAS</a:t>
                      </a:r>
                      <a:r>
                        <a:rPr lang="zh-CN" altLang="en-US" dirty="0" smtClean="0"/>
                        <a:t>预充电过程的时钟数，</a:t>
                      </a:r>
                      <a:r>
                        <a:rPr lang="en-US" altLang="zh-CN" dirty="0" smtClean="0"/>
                        <a:t>00/01/10/11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2clocks/3clocks/4clocks/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  <a:tr h="55559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Refresh Counter[10:0]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刷新计数器设置，计数值为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en-US" altLang="zh-CN" baseline="30000" dirty="0" smtClean="0"/>
                        <a:t>11</a:t>
                      </a:r>
                      <a:r>
                        <a:rPr lang="en-US" altLang="zh-CN" dirty="0" smtClean="0"/>
                        <a:t>+1-SDRAM</a:t>
                      </a:r>
                      <a:r>
                        <a:rPr lang="zh-CN" altLang="en-US" dirty="0" smtClean="0"/>
                        <a:t>时钟频率</a:t>
                      </a:r>
                      <a:r>
                        <a:rPr lang="zh-CN" altLang="en-US" dirty="0" smtClean="0">
                          <a:sym typeface="Symbol" panose="05050102010706020507"/>
                        </a:rPr>
                        <a:t>刷新周期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Bank6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容量寄存器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BANKSIZE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个）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689172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设置各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容量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2214554"/>
          <a:ext cx="7215238" cy="3921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3500462"/>
                <a:gridCol w="1857388"/>
              </a:tblGrid>
              <a:tr h="38444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BURST_EN[7]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允许突发传输方式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SCKE_EN[5]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允许</a:t>
                      </a:r>
                      <a:r>
                        <a:rPr lang="en-US" altLang="zh-CN" dirty="0" smtClean="0"/>
                        <a:t>SCKE</a:t>
                      </a:r>
                      <a:r>
                        <a:rPr lang="zh-CN" altLang="en-US" dirty="0" smtClean="0"/>
                        <a:t>信号使</a:t>
                      </a:r>
                      <a:r>
                        <a:rPr lang="en-US" altLang="zh-CN" dirty="0" smtClean="0"/>
                        <a:t>SDRAM</a:t>
                      </a:r>
                      <a:r>
                        <a:rPr lang="zh-CN" altLang="en-US" dirty="0" smtClean="0"/>
                        <a:t>进入省电模式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10318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SCLK_EN[4]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SCLK</a:t>
                      </a:r>
                      <a:r>
                        <a:rPr lang="zh-CN" altLang="en-US" dirty="0" smtClean="0"/>
                        <a:t>总处于工作状态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只在访问时进入工作状态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55559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BK76MAP[2:0]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/>
                        <a:t>配置</a:t>
                      </a:r>
                      <a:r>
                        <a:rPr lang="en-US" altLang="zh-CN" b="1" dirty="0" smtClean="0"/>
                        <a:t>Bank7-6</a:t>
                      </a:r>
                      <a:r>
                        <a:rPr lang="zh-CN" altLang="en-US" b="1" dirty="0" smtClean="0"/>
                        <a:t>大小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dirty="0" smtClean="0"/>
                        <a:t>010/001/000: 128M/64M/32M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(2</a:t>
                      </a:r>
                      <a:r>
                        <a:rPr lang="zh-CN" altLang="en-US" dirty="0" smtClean="0"/>
                        <a:t>个</a:t>
                      </a:r>
                      <a:r>
                        <a:rPr lang="en-US" altLang="zh-CN" dirty="0" smtClean="0"/>
                        <a:t>Bank</a:t>
                      </a:r>
                      <a:r>
                        <a:rPr lang="zh-CN" altLang="en-US" dirty="0" smtClean="0"/>
                        <a:t>大小须相等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SDRAM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模式设置寄存器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MRSRB6</a:t>
            </a:r>
            <a:r>
              <a:rPr lang="zh-CN" altLang="en-US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个）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42910" y="1071546"/>
          <a:ext cx="7500990" cy="5639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948"/>
                <a:gridCol w="3639094"/>
                <a:gridCol w="1930948"/>
              </a:tblGrid>
              <a:tr h="41735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839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WBL</a:t>
                      </a:r>
                      <a:r>
                        <a:rPr lang="en-US" altLang="zh-CN" dirty="0" smtClean="0"/>
                        <a:t>[9]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 burst length</a:t>
                      </a:r>
                      <a:endParaRPr kumimoji="0" lang="en-US" altLang="zh-CN" sz="1800" b="1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0: Burst (Fixed)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1: Reserved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X</a:t>
                      </a:r>
                      <a:endParaRPr lang="zh-CN" altLang="en-US" dirty="0"/>
                    </a:p>
                  </a:txBody>
                  <a:tcPr/>
                </a:tc>
              </a:tr>
              <a:tr h="839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TM</a:t>
                      </a:r>
                      <a:r>
                        <a:rPr lang="en-US" altLang="zh-CN" dirty="0" smtClean="0"/>
                        <a:t>[8:7]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mode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00: Mode register set (Fixed)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01, 10 and 11: Reserved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XX</a:t>
                      </a:r>
                      <a:endParaRPr lang="zh-CN" altLang="en-US" dirty="0"/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CL[6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CAS latency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 = 1 clock, 010 = 2 clocks, 011=3 clocks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Others: reserved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XXX</a:t>
                      </a:r>
                      <a:endParaRPr lang="zh-CN" altLang="en-US" dirty="0"/>
                    </a:p>
                  </a:txBody>
                  <a:tcPr/>
                </a:tc>
              </a:tr>
              <a:tr h="8504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BT[3]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Burst type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0: Sequential (Fixed)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1: Reserved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X</a:t>
                      </a:r>
                      <a:endParaRPr lang="zh-CN" altLang="en-US" dirty="0"/>
                    </a:p>
                  </a:txBody>
                  <a:tcPr/>
                </a:tc>
              </a:tr>
              <a:tr h="12904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BL[2:0]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Burst length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000: 1 (Fixed)</a:t>
                      </a:r>
                      <a:endParaRPr kumimoji="0" lang="en-US" altLang="zh-CN" sz="18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zh-CN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Others: Reserved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XX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编程</a:t>
            </a:r>
            <a:endParaRPr lang="zh-CN" altLang="en-US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268414"/>
            <a:ext cx="7979020" cy="5184775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假设用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片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SDRAM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，型号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k4s561632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，每片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16M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16</a:t>
            </a:r>
            <a:endParaRPr lang="en-US" altLang="zh-CN" sz="3600" b="1" dirty="0" smtClean="0"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/>
            </a:endParaRPr>
          </a:p>
          <a:p>
            <a:pPr>
              <a:spcBef>
                <a:spcPct val="30000"/>
              </a:spcBef>
            </a:pP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设计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16M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32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（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64MB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）的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SDRAM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字节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地址范围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0x30000000—0x33FFFFFF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6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Bank6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92576" y="44624"/>
            <a:ext cx="8183880" cy="763528"/>
          </a:xfrm>
        </p:spPr>
        <p:txBody>
          <a:bodyPr>
            <a:normAutofit/>
          </a:bodyPr>
          <a:lstStyle/>
          <a:p>
            <a:r>
              <a:rPr lang="en-US" altLang="zh-CN" sz="3200" dirty="0" smtClean="0"/>
              <a:t>13</a:t>
            </a:r>
            <a:r>
              <a:rPr lang="zh-CN" altLang="en-US" sz="3200" dirty="0" smtClean="0"/>
              <a:t>个寄存器地址</a:t>
            </a:r>
            <a:endParaRPr lang="zh-CN" altLang="en-US" sz="3200" dirty="0"/>
          </a:p>
        </p:txBody>
      </p:sp>
      <p:pic>
        <p:nvPicPr>
          <p:cNvPr id="19353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355976" y="1124744"/>
            <a:ext cx="3852873" cy="5298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矩形 1"/>
          <p:cNvSpPr/>
          <p:nvPr/>
        </p:nvSpPr>
        <p:spPr>
          <a:xfrm>
            <a:off x="3635896" y="1124744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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635896" y="3964994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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3635896" y="5189130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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3635896" y="4797152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/>
              </a:rPr>
              <a:t>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13812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总线宽度及等待控制寄存器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BWSCON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/>
              <a:t>0x22000000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Bank7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的总线</a:t>
            </a:r>
            <a:r>
              <a:rPr lang="en-US" altLang="zh-CN" sz="2800" dirty="0" smtClean="0"/>
              <a:t>32</a:t>
            </a:r>
            <a:r>
              <a:rPr lang="zh-CN" altLang="en-US" sz="2800" dirty="0" smtClean="0"/>
              <a:t>位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85786" y="2500306"/>
          <a:ext cx="7715304" cy="334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782"/>
                <a:gridCol w="4125014"/>
                <a:gridCol w="2062508"/>
              </a:tblGrid>
              <a:tr h="620076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106199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STn</a:t>
                      </a:r>
                      <a:r>
                        <a:rPr lang="en-US" altLang="zh-CN" dirty="0" smtClean="0"/>
                        <a:t>[31]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 smtClean="0"/>
                        <a:t>0</a:t>
                      </a:r>
                      <a:r>
                        <a:rPr lang="en-US" altLang="zh-CN" dirty="0" smtClean="0"/>
                        <a:t>/1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baseline="0" dirty="0" smtClean="0"/>
                        <a:t>允许</a:t>
                      </a:r>
                      <a:r>
                        <a:rPr lang="en-US" altLang="zh-CN" baseline="0" dirty="0" smtClean="0"/>
                        <a:t>UB/LB(</a:t>
                      </a:r>
                      <a:r>
                        <a:rPr lang="zh-CN" altLang="en-US" baseline="0" dirty="0" smtClean="0"/>
                        <a:t>高低字节选通信号</a:t>
                      </a:r>
                      <a:r>
                        <a:rPr lang="zh-CN" altLang="en-US" baseline="0" dirty="0" smtClean="0"/>
                        <a:t>，禁止则对应引脚为</a:t>
                      </a:r>
                      <a:r>
                        <a:rPr lang="en-US" altLang="zh-CN" baseline="0" dirty="0" smtClean="0"/>
                        <a:t>WBE[3:0]</a:t>
                      </a:r>
                      <a:r>
                        <a:rPr lang="zh-CN" altLang="en-US" baseline="0" dirty="0" smtClean="0"/>
                        <a:t>，允许则为</a:t>
                      </a:r>
                      <a:r>
                        <a:rPr lang="en-US" altLang="zh-CN" baseline="0" dirty="0" smtClean="0"/>
                        <a:t>BE[3:0].</a:t>
                      </a:r>
                      <a:endParaRPr lang="en-US" altLang="zh-CN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Bank6</a:t>
                      </a:r>
                      <a:r>
                        <a:rPr lang="zh-CN" altLang="en-US" dirty="0" smtClean="0"/>
                        <a:t>需设置为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zh-CN" altLang="en-US" smtClean="0"/>
                        <a:t>，其它任意</a:t>
                      </a:r>
                      <a:endParaRPr lang="en-US" altLang="zh-CN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766322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WSn</a:t>
                      </a:r>
                      <a:r>
                        <a:rPr lang="en-US" altLang="zh-CN" dirty="0" smtClean="0"/>
                        <a:t>[30]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0</a:t>
                      </a:r>
                      <a:r>
                        <a:rPr lang="en-US" altLang="zh-CN" dirty="0" smtClean="0"/>
                        <a:t>/1</a:t>
                      </a:r>
                      <a:r>
                        <a:rPr lang="zh-CN" altLang="en-US" dirty="0" smtClean="0"/>
                        <a:t>：不使用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使用</a:t>
                      </a:r>
                      <a:r>
                        <a:rPr lang="en-US" altLang="zh-CN" dirty="0" smtClean="0"/>
                        <a:t>WAIT</a:t>
                      </a:r>
                      <a:r>
                        <a:rPr lang="zh-CN" altLang="en-US" dirty="0" smtClean="0"/>
                        <a:t>信号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766322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DWn</a:t>
                      </a:r>
                      <a:r>
                        <a:rPr lang="en-US" altLang="zh-CN" dirty="0" smtClean="0"/>
                        <a:t>[29:28]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设置数据宽度</a:t>
                      </a:r>
                      <a:r>
                        <a:rPr lang="en-US" altLang="zh-CN" dirty="0" smtClean="0"/>
                        <a:t>,00/01/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n-US" altLang="zh-CN" dirty="0" smtClean="0"/>
                        <a:t>/11: 8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/16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BANKCON6=</a:t>
            </a:r>
            <a:r>
              <a:rPr lang="en-US" altLang="zh-CN" sz="2800" dirty="0" smtClean="0"/>
              <a:t>0X00018005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 smtClean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2765" y="1168192"/>
            <a:ext cx="8230737" cy="1689304"/>
          </a:xfrm>
          <a:extLst>
            <a:ext uri="{909E8E84-426E-40DD-AFC4-6F175D3DCCD1}">
              <a14:hiddenFill xmlns:a14="http://schemas.microsoft.com/office/drawing/2010/main">
                <a:solidFill>
                  <a:srgbClr val="DDDDDD">
                    <a:alpha val="52156"/>
                  </a:srgb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Bank0-7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的存储器类型、行列选通信号延时及列地址位数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3000372"/>
          <a:ext cx="7215238" cy="302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12"/>
                <a:gridCol w="3571899"/>
                <a:gridCol w="1928827"/>
              </a:tblGrid>
              <a:tr h="53390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533901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MTn</a:t>
                      </a:r>
                      <a:r>
                        <a:rPr lang="en-US" altLang="zh-CN" dirty="0" smtClean="0"/>
                        <a:t>[16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15]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/>
                        <a:t>存储器类型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dirty="0" smtClean="0"/>
                        <a:t>00/01/10/</a:t>
                      </a:r>
                      <a:r>
                        <a:rPr lang="en-US" altLang="zh-CN" b="1" dirty="0" smtClean="0"/>
                        <a:t>11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ROM</a:t>
                      </a:r>
                      <a:r>
                        <a:rPr lang="zh-CN" altLang="en-US" dirty="0" smtClean="0"/>
                        <a:t>或</a:t>
                      </a:r>
                      <a:r>
                        <a:rPr lang="en-US" altLang="zh-CN" dirty="0" smtClean="0"/>
                        <a:t>SRAM/</a:t>
                      </a:r>
                      <a:r>
                        <a:rPr lang="zh-CN" altLang="en-US" dirty="0" smtClean="0"/>
                        <a:t>保留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保留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b="1" dirty="0" smtClean="0"/>
                        <a:t>SDRAM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</a:tr>
              <a:tr h="659823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Trcd</a:t>
                      </a:r>
                      <a:r>
                        <a:rPr lang="en-US" altLang="zh-CN" dirty="0" smtClean="0"/>
                        <a:t>[3:2]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RAS</a:t>
                      </a:r>
                      <a:r>
                        <a:rPr lang="zh-CN" altLang="en-US" dirty="0" smtClean="0"/>
                        <a:t>到</a:t>
                      </a:r>
                      <a:r>
                        <a:rPr lang="en-US" altLang="zh-CN" dirty="0" smtClean="0"/>
                        <a:t>CAS</a:t>
                      </a:r>
                      <a:r>
                        <a:rPr lang="zh-CN" altLang="en-US" dirty="0" smtClean="0"/>
                        <a:t>的延时，</a:t>
                      </a:r>
                      <a:r>
                        <a:rPr lang="en-US" altLang="zh-CN" dirty="0" smtClean="0"/>
                        <a:t>00/</a:t>
                      </a:r>
                      <a:r>
                        <a:rPr lang="en-US" altLang="zh-CN" b="1" dirty="0" smtClean="0"/>
                        <a:t>01</a:t>
                      </a:r>
                      <a:r>
                        <a:rPr lang="en-US" altLang="zh-CN" dirty="0" smtClean="0"/>
                        <a:t>/10/11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2clocks/3clocks/4clocks/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  <a:tr h="65982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SCAN[1:0]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列地址数</a:t>
                      </a:r>
                      <a:r>
                        <a:rPr lang="en-US" altLang="zh-CN" dirty="0" smtClean="0"/>
                        <a:t>,00/</a:t>
                      </a:r>
                      <a:r>
                        <a:rPr lang="en-US" altLang="zh-CN" b="1" dirty="0" smtClean="0"/>
                        <a:t>01</a:t>
                      </a:r>
                      <a:r>
                        <a:rPr lang="en-US" altLang="zh-CN" dirty="0" smtClean="0"/>
                        <a:t>/10/11: 8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b="1" dirty="0" smtClean="0"/>
                        <a:t>9</a:t>
                      </a:r>
                      <a:r>
                        <a:rPr lang="zh-CN" altLang="en-US" b="1" dirty="0" smtClean="0"/>
                        <a:t>位</a:t>
                      </a:r>
                      <a:r>
                        <a:rPr lang="en-US" altLang="zh-CN" dirty="0" smtClean="0"/>
                        <a:t>/10</a:t>
                      </a:r>
                      <a:r>
                        <a:rPr lang="zh-CN" altLang="en-US" dirty="0" smtClean="0"/>
                        <a:t>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6668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刷新控制寄存器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BREFRESH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/>
              <a:t> 0x008c04f3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2401807"/>
          <a:ext cx="7215238" cy="3647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3500462"/>
                <a:gridCol w="1857388"/>
              </a:tblGrid>
              <a:tr h="38444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REFEN[23]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</a:t>
                      </a:r>
                      <a:r>
                        <a:rPr lang="en-US" altLang="zh-CN" b="1" dirty="0" smtClean="0"/>
                        <a:t>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允许刷新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TREFMD[22]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0</a:t>
                      </a:r>
                      <a:r>
                        <a:rPr lang="en-US" altLang="zh-CN" dirty="0" smtClean="0"/>
                        <a:t>/1</a:t>
                      </a:r>
                      <a:r>
                        <a:rPr lang="zh-CN" altLang="en-US" dirty="0" smtClean="0"/>
                        <a:t>：自动刷新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自刷新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1031826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Trp</a:t>
                      </a:r>
                      <a:r>
                        <a:rPr lang="en-US" altLang="zh-CN" dirty="0" smtClean="0"/>
                        <a:t>[21::20]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RAS</a:t>
                      </a:r>
                      <a:r>
                        <a:rPr lang="zh-CN" altLang="en-US" dirty="0" smtClean="0"/>
                        <a:t>预充电过程的时钟数，</a:t>
                      </a:r>
                      <a:r>
                        <a:rPr lang="en-US" altLang="zh-CN" b="1" dirty="0" smtClean="0"/>
                        <a:t>00</a:t>
                      </a:r>
                      <a:r>
                        <a:rPr lang="en-US" altLang="zh-CN" dirty="0" smtClean="0"/>
                        <a:t>/01/10/11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2clocks/3clocks/4clocks/</a:t>
                      </a:r>
                      <a:r>
                        <a:rPr lang="zh-CN" altLang="en-US" dirty="0" smtClean="0"/>
                        <a:t>保留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  <a:tr h="55559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Refresh Counter[10:0]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刷新计数器设置，计数值为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en-US" altLang="zh-CN" baseline="30000" dirty="0" smtClean="0"/>
                        <a:t>11</a:t>
                      </a:r>
                      <a:r>
                        <a:rPr lang="en-US" altLang="zh-CN" dirty="0" smtClean="0"/>
                        <a:t>+1-SDRAM</a:t>
                      </a:r>
                      <a:r>
                        <a:rPr lang="zh-CN" altLang="en-US" dirty="0" smtClean="0"/>
                        <a:t>时钟频率</a:t>
                      </a:r>
                      <a:r>
                        <a:rPr lang="zh-CN" altLang="en-US" dirty="0" smtClean="0">
                          <a:sym typeface="Symbol" panose="05050102010706020507"/>
                        </a:rPr>
                        <a:t>刷新周期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404664"/>
            <a:ext cx="8183880" cy="10955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Bank6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容量寄存器</a:t>
            </a:r>
            <a:r>
              <a:rPr lang="en-US" altLang="zh-CN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BANKSIZE</a:t>
            </a:r>
            <a:r>
              <a:rPr lang="zh-CN" altLang="en-US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FF0000"/>
                </a:solidFill>
              </a:rPr>
              <a:t> 0x000000b1</a:t>
            </a:r>
            <a:r>
              <a:rPr lang="zh-CN" altLang="en-US" sz="2800" dirty="0" smtClean="0">
                <a:solidFill>
                  <a:srgbClr val="FF0000"/>
                </a:solidFill>
              </a:rPr>
              <a:t>；</a:t>
            </a:r>
            <a:r>
              <a:rPr lang="en-US" altLang="zh-CN" sz="2800" dirty="0" smtClean="0">
                <a:solidFill>
                  <a:srgbClr val="FF0000"/>
                </a:solidFill>
              </a:rPr>
              <a:t>10 1 1 0 001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2214554"/>
          <a:ext cx="7215238" cy="3921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3500462"/>
                <a:gridCol w="1857388"/>
              </a:tblGrid>
              <a:tr h="38444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对应位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复位后初始状态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BURST_EN[7]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</a:t>
                      </a:r>
                      <a:r>
                        <a:rPr lang="en-US" altLang="zh-CN" b="1" dirty="0" smtClean="0"/>
                        <a:t>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b="1" dirty="0" smtClean="0"/>
                        <a:t>允许</a:t>
                      </a:r>
                      <a:r>
                        <a:rPr lang="zh-CN" altLang="en-US" dirty="0" smtClean="0"/>
                        <a:t>突发传输方式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6584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SCKE_EN[5]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</a:t>
                      </a:r>
                      <a:r>
                        <a:rPr lang="en-US" altLang="zh-CN" b="1" dirty="0" smtClean="0"/>
                        <a:t>1</a:t>
                      </a:r>
                      <a:r>
                        <a:rPr lang="zh-CN" altLang="en-US" dirty="0" smtClean="0"/>
                        <a:t>：禁止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b="1" dirty="0" smtClean="0"/>
                        <a:t>允许</a:t>
                      </a:r>
                      <a:r>
                        <a:rPr lang="en-US" altLang="zh-CN" dirty="0" smtClean="0"/>
                        <a:t>SCKE</a:t>
                      </a:r>
                      <a:r>
                        <a:rPr lang="zh-CN" altLang="en-US" dirty="0" smtClean="0"/>
                        <a:t>信号使</a:t>
                      </a:r>
                      <a:r>
                        <a:rPr lang="en-US" altLang="zh-CN" dirty="0" smtClean="0"/>
                        <a:t>SDRAM</a:t>
                      </a:r>
                      <a:r>
                        <a:rPr lang="zh-CN" altLang="en-US" dirty="0" smtClean="0"/>
                        <a:t>进入省电模式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10318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SCLK_EN[4]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0/</a:t>
                      </a:r>
                      <a:r>
                        <a:rPr lang="en-US" altLang="zh-CN" b="1" dirty="0" smtClean="0"/>
                        <a:t>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SCLK</a:t>
                      </a:r>
                      <a:r>
                        <a:rPr lang="zh-CN" altLang="en-US" dirty="0" smtClean="0"/>
                        <a:t>总处于工作状态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b="1" dirty="0" smtClean="0"/>
                        <a:t>只在访问时进入工作状态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55559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BK76MAP[2:0]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/>
                        <a:t>配置</a:t>
                      </a:r>
                      <a:r>
                        <a:rPr lang="en-US" altLang="zh-CN" b="1" dirty="0" smtClean="0"/>
                        <a:t>Bank7-6</a:t>
                      </a:r>
                      <a:r>
                        <a:rPr lang="zh-CN" altLang="en-US" b="1" dirty="0" smtClean="0"/>
                        <a:t>大小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dirty="0" smtClean="0"/>
                        <a:t>010/</a:t>
                      </a:r>
                      <a:r>
                        <a:rPr lang="en-US" altLang="zh-CN" b="1" dirty="0" smtClean="0"/>
                        <a:t>001</a:t>
                      </a:r>
                      <a:r>
                        <a:rPr lang="en-US" altLang="zh-CN" dirty="0" smtClean="0"/>
                        <a:t>/000: 128M/</a:t>
                      </a:r>
                      <a:r>
                        <a:rPr lang="en-US" altLang="zh-CN" b="1" dirty="0" smtClean="0"/>
                        <a:t>64M</a:t>
                      </a:r>
                      <a:r>
                        <a:rPr lang="en-US" altLang="zh-CN" dirty="0" smtClean="0"/>
                        <a:t>/32M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(2</a:t>
                      </a:r>
                      <a:r>
                        <a:rPr lang="zh-CN" altLang="en-US" dirty="0" smtClean="0"/>
                        <a:t>个</a:t>
                      </a:r>
                      <a:r>
                        <a:rPr lang="en-US" altLang="zh-CN" dirty="0" smtClean="0"/>
                        <a:t>Bank</a:t>
                      </a:r>
                      <a:r>
                        <a:rPr lang="zh-CN" altLang="en-US" dirty="0" smtClean="0"/>
                        <a:t>大小须相等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500042"/>
            <a:ext cx="8429684" cy="5786478"/>
          </a:xfrm>
        </p:spPr>
        <p:txBody>
          <a:bodyPr>
            <a:noAutofit/>
          </a:bodyPr>
          <a:lstStyle/>
          <a:p>
            <a:pPr marL="266700">
              <a:spcBef>
                <a:spcPts val="1000"/>
              </a:spcBef>
              <a:buNone/>
            </a:pPr>
            <a:r>
              <a:rPr lang="en-US" altLang="zh-CN" sz="1600" b="1" dirty="0" smtClean="0"/>
              <a:t>// </a:t>
            </a:r>
            <a:r>
              <a:rPr lang="en-US" altLang="zh-CN" sz="1600" b="1" dirty="0" err="1" smtClean="0"/>
              <a:t>MemSetup.s</a:t>
            </a:r>
            <a:r>
              <a:rPr lang="en-US" altLang="zh-CN" sz="1600" b="1" dirty="0" smtClean="0"/>
              <a:t>	</a:t>
            </a:r>
            <a:r>
              <a:rPr lang="zh-CN" altLang="en-US" sz="1600" b="1" dirty="0" smtClean="0"/>
              <a:t>初始化</a:t>
            </a:r>
            <a:r>
              <a:rPr lang="en-US" altLang="zh-CN" sz="1600" b="1" dirty="0" smtClean="0"/>
              <a:t>SDRAM</a:t>
            </a:r>
            <a:r>
              <a:rPr lang="zh-CN" altLang="en-US" sz="1600" b="1" dirty="0" smtClean="0"/>
              <a:t>子程序</a:t>
            </a:r>
            <a:endParaRPr lang="en-US" altLang="zh-CN" sz="1600" b="1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/>
              <a:t>	 	LDR	R0,=</a:t>
            </a:r>
            <a:r>
              <a:rPr lang="en-US" altLang="zh-CN" sz="1600" dirty="0" smtClean="0">
                <a:solidFill>
                  <a:srgbClr val="FF0000"/>
                </a:solidFill>
              </a:rPr>
              <a:t>SMRDATA</a:t>
            </a:r>
            <a:r>
              <a:rPr lang="en-US" altLang="zh-CN" sz="1600" dirty="0" smtClean="0"/>
              <a:t>	;SMRDATA</a:t>
            </a:r>
            <a:r>
              <a:rPr lang="zh-CN" altLang="en-US" sz="1600" dirty="0" smtClean="0"/>
              <a:t>变量开始地址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zh-CN" altLang="en-US" sz="1600" dirty="0" smtClean="0"/>
              <a:t>    </a:t>
            </a:r>
            <a:r>
              <a:rPr lang="en-US" altLang="zh-CN" sz="1600" dirty="0" smtClean="0"/>
              <a:t>	LDR	R1,=</a:t>
            </a:r>
            <a:r>
              <a:rPr lang="en-US" altLang="zh-CN" sz="1600" dirty="0" smtClean="0">
                <a:solidFill>
                  <a:srgbClr val="FF0000"/>
                </a:solidFill>
              </a:rPr>
              <a:t>BWSCON</a:t>
            </a:r>
            <a:r>
              <a:rPr lang="en-US" altLang="zh-CN" sz="1600" dirty="0" smtClean="0"/>
              <a:t>    	;BWSCON</a:t>
            </a:r>
            <a:r>
              <a:rPr lang="zh-CN" altLang="en-US" sz="1600" dirty="0" smtClean="0"/>
              <a:t>地址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zh-CN" altLang="en-US" sz="1600" dirty="0" smtClean="0"/>
              <a:t>    	</a:t>
            </a:r>
            <a:r>
              <a:rPr lang="en-US" altLang="zh-CN" sz="1600" dirty="0" smtClean="0"/>
              <a:t>ADD    	R2, R0, #52	;SMRDATA</a:t>
            </a:r>
            <a:r>
              <a:rPr lang="zh-CN" altLang="en-US" sz="1600" dirty="0" smtClean="0"/>
              <a:t>数据结束地址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/>
              <a:t> LOOP       </a:t>
            </a:r>
            <a:endParaRPr lang="en-US" altLang="zh-CN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/>
              <a:t>    	LDR	R3, [R0], #4	;</a:t>
            </a:r>
            <a:r>
              <a:rPr lang="zh-CN" altLang="en-US" sz="1600" dirty="0" smtClean="0"/>
              <a:t>读出数据，后索引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zh-CN" altLang="en-US" sz="1600" dirty="0" smtClean="0"/>
              <a:t>    	</a:t>
            </a:r>
            <a:r>
              <a:rPr lang="en-US" altLang="zh-CN" sz="1600" dirty="0" smtClean="0"/>
              <a:t>STR    	R3, [R1], #4	;</a:t>
            </a:r>
            <a:r>
              <a:rPr lang="zh-CN" altLang="en-US" sz="1600" dirty="0" smtClean="0"/>
              <a:t>写入寄存器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zh-CN" altLang="en-US" sz="1600" dirty="0" smtClean="0"/>
              <a:t>    	</a:t>
            </a:r>
            <a:r>
              <a:rPr lang="en-US" altLang="zh-CN" sz="1600" dirty="0" smtClean="0"/>
              <a:t>CMP    	R2, R0		;</a:t>
            </a:r>
            <a:r>
              <a:rPr lang="zh-CN" altLang="en-US" sz="1600" dirty="0" smtClean="0"/>
              <a:t>判断是否结束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zh-CN" altLang="en-US" sz="1600" dirty="0" smtClean="0"/>
              <a:t>    	</a:t>
            </a:r>
            <a:r>
              <a:rPr lang="en-US" altLang="zh-CN" sz="1600" dirty="0" smtClean="0"/>
              <a:t>BNE    	LOOP		;</a:t>
            </a:r>
            <a:r>
              <a:rPr lang="zh-CN" altLang="en-US" sz="1600" dirty="0" smtClean="0"/>
              <a:t>循环</a:t>
            </a:r>
            <a:endParaRPr lang="en-US" altLang="zh-CN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/>
              <a:t>		MOV	PC,LR		; </a:t>
            </a:r>
            <a:r>
              <a:rPr lang="zh-CN" altLang="en-US" sz="1600" dirty="0" smtClean="0"/>
              <a:t>初始化</a:t>
            </a:r>
            <a:r>
              <a:rPr lang="en-US" altLang="zh-CN" sz="1600" dirty="0" smtClean="0"/>
              <a:t>SDRAM</a:t>
            </a:r>
            <a:r>
              <a:rPr lang="zh-CN" altLang="en-US" sz="1600" dirty="0" smtClean="0"/>
              <a:t>子程序返回</a:t>
            </a:r>
            <a:endParaRPr lang="zh-CN" altLang="en-US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>
                <a:solidFill>
                  <a:srgbClr val="FF0000"/>
                </a:solidFill>
              </a:rPr>
              <a:t>SMRDATA</a:t>
            </a:r>
            <a:r>
              <a:rPr lang="en-US" altLang="zh-CN" sz="1600" dirty="0" smtClean="0"/>
              <a:t>    	</a:t>
            </a:r>
            <a:endParaRPr lang="en-US" altLang="zh-CN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/>
              <a:t>    	DCD	</a:t>
            </a:r>
            <a:r>
              <a:rPr lang="en-US" altLang="zh-CN" sz="1600" dirty="0" smtClean="0">
                <a:solidFill>
                  <a:srgbClr val="FF0000"/>
                </a:solidFill>
              </a:rPr>
              <a:t>0x22000000</a:t>
            </a:r>
            <a:r>
              <a:rPr lang="en-US" altLang="zh-CN" sz="1600" dirty="0" smtClean="0"/>
              <a:t>	;BWSCON</a:t>
            </a:r>
            <a:r>
              <a:rPr lang="zh-CN" altLang="en-US" sz="1600" dirty="0" smtClean="0"/>
              <a:t>，禁止</a:t>
            </a:r>
            <a:r>
              <a:rPr lang="en-US" altLang="zh-CN" sz="1600" dirty="0" smtClean="0"/>
              <a:t>UB/LB</a:t>
            </a:r>
            <a:r>
              <a:rPr lang="zh-CN" altLang="en-US" sz="1600" dirty="0" smtClean="0"/>
              <a:t>，不使用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使用</a:t>
            </a:r>
            <a:r>
              <a:rPr lang="en-US" altLang="zh-CN" sz="1600" dirty="0" smtClean="0"/>
              <a:t>WAIT</a:t>
            </a:r>
            <a:r>
              <a:rPr lang="zh-CN" altLang="en-US" sz="1600" dirty="0" smtClean="0"/>
              <a:t>，数据宽度</a:t>
            </a:r>
            <a:r>
              <a:rPr lang="en-US" altLang="zh-CN" sz="1600" dirty="0" smtClean="0"/>
              <a:t>32</a:t>
            </a:r>
            <a:r>
              <a:rPr lang="zh-CN" altLang="en-US" sz="1600" dirty="0" smtClean="0"/>
              <a:t>位</a:t>
            </a:r>
            <a:endParaRPr lang="en-US" altLang="zh-CN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600" dirty="0" smtClean="0"/>
              <a:t>    	DCD    	0x00000700     	;BANKCON0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ROM</a:t>
            </a:r>
            <a:r>
              <a:rPr lang="zh-CN" altLang="en-US" sz="1600" dirty="0" smtClean="0"/>
              <a:t>或</a:t>
            </a:r>
            <a:r>
              <a:rPr lang="en-US" altLang="zh-CN" sz="1600" dirty="0" smtClean="0"/>
              <a:t>SRAM</a:t>
            </a:r>
            <a:r>
              <a:rPr lang="zh-CN" altLang="en-US" sz="1600" dirty="0" smtClean="0"/>
              <a:t>，无效，无效</a:t>
            </a:r>
            <a:endParaRPr lang="en-US" altLang="zh-CN" sz="16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400" dirty="0" smtClean="0"/>
              <a:t>    		</a:t>
            </a:r>
            <a:endParaRPr lang="zh-CN" altLang="en-US" sz="1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500042"/>
            <a:ext cx="8568952" cy="5786478"/>
          </a:xfrm>
        </p:spPr>
        <p:txBody>
          <a:bodyPr>
            <a:noAutofit/>
          </a:bodyPr>
          <a:lstStyle/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	DCD    	0x00000700     	;BANKCON1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0x00000700     	;BANKCON2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0x00000700     	;BANKCON3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	DCD    	0x00000700     	;BANKCON4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0x00000700     	;BANKCON5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</a:t>
            </a:r>
            <a:r>
              <a:rPr lang="en-US" altLang="zh-CN" sz="1800" dirty="0" smtClean="0">
                <a:solidFill>
                  <a:srgbClr val="FF0000"/>
                </a:solidFill>
              </a:rPr>
              <a:t>0x00018005      	;BANKCON6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0x00018005     	;BANKCON7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</a:t>
            </a:r>
            <a:r>
              <a:rPr lang="en-US" altLang="zh-CN" sz="1800" dirty="0" smtClean="0">
                <a:solidFill>
                  <a:srgbClr val="FF0000"/>
                </a:solidFill>
              </a:rPr>
              <a:t>0x008c04f3        	;REFRESH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</a:t>
            </a:r>
            <a:r>
              <a:rPr lang="en-US" altLang="zh-CN" sz="1800" dirty="0" smtClean="0">
                <a:solidFill>
                  <a:srgbClr val="FF0000"/>
                </a:solidFill>
              </a:rPr>
              <a:t>0x000000b1      	;BANKSIZE</a:t>
            </a:r>
            <a:r>
              <a:rPr lang="zh-CN" altLang="en-US" sz="1800" dirty="0" smtClean="0">
                <a:solidFill>
                  <a:srgbClr val="FF0000"/>
                </a:solidFill>
              </a:rPr>
              <a:t>，允许突发传输，</a:t>
            </a:r>
            <a:r>
              <a:rPr lang="en-US" altLang="zh-CN" sz="1800" dirty="0" smtClean="0">
                <a:solidFill>
                  <a:srgbClr val="FF0000"/>
                </a:solidFill>
              </a:rPr>
              <a:t>64M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 	0x00000030     	;MRSRB6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    DCD   	0x00000030     	;MRSRB7	</a:t>
            </a:r>
            <a:endParaRPr lang="en-US" altLang="zh-CN" sz="1800" dirty="0" smtClean="0"/>
          </a:p>
          <a:p>
            <a:pPr marL="266700">
              <a:spcBef>
                <a:spcPts val="1000"/>
              </a:spcBef>
              <a:buNone/>
            </a:pPr>
            <a:r>
              <a:rPr lang="en-US" altLang="zh-CN" sz="1800" dirty="0" smtClean="0"/>
              <a:t>	END			;</a:t>
            </a:r>
            <a:r>
              <a:rPr lang="zh-CN" altLang="en-US" sz="1800" dirty="0" smtClean="0"/>
              <a:t>包含文件内的汇编结束伪指令</a:t>
            </a:r>
            <a:endParaRPr lang="zh-CN" altLang="en-US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引申</a:t>
            </a:r>
            <a:endParaRPr lang="zh-CN" altLang="en-US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267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268414"/>
            <a:ext cx="7979020" cy="5184775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如果在外部扩充</a:t>
            </a:r>
            <a:r>
              <a:rPr lang="en-US" altLang="zh-CN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IO</a:t>
            </a:r>
            <a:r>
              <a:rPr lang="zh-CN" altLang="en-US" sz="3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接口电路，怎么做？</a:t>
            </a:r>
            <a:endParaRPr lang="zh-CN" altLang="en-US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3427413" y="2388270"/>
            <a:ext cx="2767012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046413" y="2854995"/>
            <a:ext cx="871537" cy="1006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046413" y="2854995"/>
            <a:ext cx="871537" cy="1042987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698625" y="4134520"/>
            <a:ext cx="869950" cy="2017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698625" y="4134520"/>
            <a:ext cx="869950" cy="2017712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11" name="Freeform 9"/>
          <p:cNvSpPr/>
          <p:nvPr/>
        </p:nvSpPr>
        <p:spPr bwMode="auto">
          <a:xfrm>
            <a:off x="1601788" y="4439320"/>
            <a:ext cx="96837" cy="100012"/>
          </a:xfrm>
          <a:custGeom>
            <a:avLst/>
            <a:gdLst>
              <a:gd name="T0" fmla="*/ 0 w 105"/>
              <a:gd name="T1" fmla="*/ 47181133 h 106"/>
              <a:gd name="T2" fmla="*/ 44228686 w 105"/>
              <a:gd name="T3" fmla="*/ 0 h 106"/>
              <a:gd name="T4" fmla="*/ 89308615 w 105"/>
              <a:gd name="T5" fmla="*/ 47181133 h 106"/>
              <a:gd name="T6" fmla="*/ 89308615 w 105"/>
              <a:gd name="T7" fmla="*/ 47181133 h 106"/>
              <a:gd name="T8" fmla="*/ 44228686 w 105"/>
              <a:gd name="T9" fmla="*/ 94362266 h 106"/>
              <a:gd name="T10" fmla="*/ 0 w 105"/>
              <a:gd name="T11" fmla="*/ 47181133 h 1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"/>
              <a:gd name="T19" fmla="*/ 0 h 106"/>
              <a:gd name="T20" fmla="*/ 105 w 105"/>
              <a:gd name="T21" fmla="*/ 106 h 10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" h="106">
                <a:moveTo>
                  <a:pt x="0" y="53"/>
                </a:moveTo>
                <a:cubicBezTo>
                  <a:pt x="0" y="24"/>
                  <a:pt x="23" y="0"/>
                  <a:pt x="52" y="0"/>
                </a:cubicBezTo>
                <a:cubicBezTo>
                  <a:pt x="82" y="0"/>
                  <a:pt x="105" y="24"/>
                  <a:pt x="105" y="53"/>
                </a:cubicBezTo>
                <a:cubicBezTo>
                  <a:pt x="105" y="53"/>
                  <a:pt x="105" y="53"/>
                  <a:pt x="105" y="53"/>
                </a:cubicBezTo>
                <a:cubicBezTo>
                  <a:pt x="105" y="83"/>
                  <a:pt x="82" y="106"/>
                  <a:pt x="52" y="106"/>
                </a:cubicBezTo>
                <a:cubicBezTo>
                  <a:pt x="23" y="106"/>
                  <a:pt x="0" y="83"/>
                  <a:pt x="0" y="53"/>
                </a:cubicBezTo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"/>
          <p:cNvSpPr/>
          <p:nvPr/>
        </p:nvSpPr>
        <p:spPr bwMode="auto">
          <a:xfrm>
            <a:off x="1601788" y="4437732"/>
            <a:ext cx="96837" cy="96838"/>
          </a:xfrm>
          <a:custGeom>
            <a:avLst/>
            <a:gdLst>
              <a:gd name="T0" fmla="*/ 0 w 95"/>
              <a:gd name="T1" fmla="*/ 48841658 h 96"/>
              <a:gd name="T2" fmla="*/ 48835409 w 95"/>
              <a:gd name="T3" fmla="*/ 0 h 96"/>
              <a:gd name="T4" fmla="*/ 98709522 w 95"/>
              <a:gd name="T5" fmla="*/ 48841658 h 96"/>
              <a:gd name="T6" fmla="*/ 98709522 w 95"/>
              <a:gd name="T7" fmla="*/ 48841658 h 96"/>
              <a:gd name="T8" fmla="*/ 48835409 w 95"/>
              <a:gd name="T9" fmla="*/ 97683315 h 96"/>
              <a:gd name="T10" fmla="*/ 0 w 95"/>
              <a:gd name="T11" fmla="*/ 48841658 h 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5"/>
              <a:gd name="T19" fmla="*/ 0 h 96"/>
              <a:gd name="T20" fmla="*/ 95 w 95"/>
              <a:gd name="T21" fmla="*/ 96 h 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5" h="96">
                <a:moveTo>
                  <a:pt x="0" y="48"/>
                </a:moveTo>
                <a:cubicBezTo>
                  <a:pt x="0" y="22"/>
                  <a:pt x="21" y="0"/>
                  <a:pt x="47" y="0"/>
                </a:cubicBezTo>
                <a:cubicBezTo>
                  <a:pt x="74" y="0"/>
                  <a:pt x="95" y="22"/>
                  <a:pt x="95" y="48"/>
                </a:cubicBezTo>
                <a:cubicBezTo>
                  <a:pt x="95" y="48"/>
                  <a:pt x="95" y="48"/>
                  <a:pt x="95" y="48"/>
                </a:cubicBezTo>
                <a:cubicBezTo>
                  <a:pt x="95" y="75"/>
                  <a:pt x="74" y="96"/>
                  <a:pt x="47" y="96"/>
                </a:cubicBezTo>
                <a:cubicBezTo>
                  <a:pt x="21" y="96"/>
                  <a:pt x="0" y="75"/>
                  <a:pt x="0" y="48"/>
                </a:cubicBezTo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1"/>
          <p:cNvSpPr/>
          <p:nvPr/>
        </p:nvSpPr>
        <p:spPr bwMode="auto">
          <a:xfrm>
            <a:off x="1601788" y="4725070"/>
            <a:ext cx="96837" cy="100012"/>
          </a:xfrm>
          <a:custGeom>
            <a:avLst/>
            <a:gdLst>
              <a:gd name="T0" fmla="*/ 0 w 105"/>
              <a:gd name="T1" fmla="*/ 46303687 h 107"/>
              <a:gd name="T2" fmla="*/ 44228686 w 105"/>
              <a:gd name="T3" fmla="*/ 0 h 107"/>
              <a:gd name="T4" fmla="*/ 89308615 w 105"/>
              <a:gd name="T5" fmla="*/ 46303687 h 107"/>
              <a:gd name="T6" fmla="*/ 89308615 w 105"/>
              <a:gd name="T7" fmla="*/ 46303687 h 107"/>
              <a:gd name="T8" fmla="*/ 44228686 w 105"/>
              <a:gd name="T9" fmla="*/ 93480375 h 107"/>
              <a:gd name="T10" fmla="*/ 0 w 105"/>
              <a:gd name="T11" fmla="*/ 46303687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"/>
              <a:gd name="T19" fmla="*/ 0 h 107"/>
              <a:gd name="T20" fmla="*/ 105 w 105"/>
              <a:gd name="T21" fmla="*/ 107 h 10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" h="107">
                <a:moveTo>
                  <a:pt x="0" y="53"/>
                </a:moveTo>
                <a:cubicBezTo>
                  <a:pt x="0" y="24"/>
                  <a:pt x="23" y="0"/>
                  <a:pt x="52" y="0"/>
                </a:cubicBezTo>
                <a:cubicBezTo>
                  <a:pt x="82" y="0"/>
                  <a:pt x="105" y="24"/>
                  <a:pt x="105" y="53"/>
                </a:cubicBezTo>
                <a:cubicBezTo>
                  <a:pt x="105" y="53"/>
                  <a:pt x="105" y="53"/>
                  <a:pt x="105" y="53"/>
                </a:cubicBezTo>
                <a:cubicBezTo>
                  <a:pt x="105" y="83"/>
                  <a:pt x="82" y="107"/>
                  <a:pt x="52" y="107"/>
                </a:cubicBezTo>
                <a:cubicBezTo>
                  <a:pt x="23" y="107"/>
                  <a:pt x="0" y="83"/>
                  <a:pt x="0" y="53"/>
                </a:cubicBezTo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2"/>
          <p:cNvSpPr/>
          <p:nvPr/>
        </p:nvSpPr>
        <p:spPr bwMode="auto">
          <a:xfrm>
            <a:off x="1601788" y="4725070"/>
            <a:ext cx="96837" cy="100012"/>
          </a:xfrm>
          <a:custGeom>
            <a:avLst/>
            <a:gdLst>
              <a:gd name="T0" fmla="*/ 0 w 95"/>
              <a:gd name="T1" fmla="*/ 51026741 h 97"/>
              <a:gd name="T2" fmla="*/ 48835409 w 95"/>
              <a:gd name="T3" fmla="*/ 0 h 97"/>
              <a:gd name="T4" fmla="*/ 98709522 w 95"/>
              <a:gd name="T5" fmla="*/ 51026741 h 97"/>
              <a:gd name="T6" fmla="*/ 98709522 w 95"/>
              <a:gd name="T7" fmla="*/ 51026741 h 97"/>
              <a:gd name="T8" fmla="*/ 48835409 w 95"/>
              <a:gd name="T9" fmla="*/ 103117527 h 97"/>
              <a:gd name="T10" fmla="*/ 0 w 95"/>
              <a:gd name="T11" fmla="*/ 51026741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5"/>
              <a:gd name="T19" fmla="*/ 0 h 97"/>
              <a:gd name="T20" fmla="*/ 95 w 95"/>
              <a:gd name="T21" fmla="*/ 97 h 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5" h="97">
                <a:moveTo>
                  <a:pt x="0" y="48"/>
                </a:moveTo>
                <a:cubicBezTo>
                  <a:pt x="0" y="22"/>
                  <a:pt x="21" y="0"/>
                  <a:pt x="47" y="0"/>
                </a:cubicBezTo>
                <a:cubicBezTo>
                  <a:pt x="74" y="0"/>
                  <a:pt x="95" y="22"/>
                  <a:pt x="95" y="48"/>
                </a:cubicBezTo>
                <a:cubicBezTo>
                  <a:pt x="95" y="48"/>
                  <a:pt x="95" y="48"/>
                  <a:pt x="95" y="48"/>
                </a:cubicBezTo>
                <a:cubicBezTo>
                  <a:pt x="95" y="76"/>
                  <a:pt x="74" y="97"/>
                  <a:pt x="47" y="97"/>
                </a:cubicBezTo>
                <a:cubicBezTo>
                  <a:pt x="21" y="97"/>
                  <a:pt x="0" y="76"/>
                  <a:pt x="0" y="48"/>
                </a:cubicBezTo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568325" y="4344070"/>
            <a:ext cx="295275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RD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557213" y="4369470"/>
            <a:ext cx="280987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539750" y="4658395"/>
            <a:ext cx="417513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WR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552450" y="4647282"/>
            <a:ext cx="303213" cy="3175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3052763" y="4617120"/>
            <a:ext cx="866775" cy="1006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3052763" y="4617120"/>
            <a:ext cx="866775" cy="1006475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3052763" y="1242095"/>
            <a:ext cx="866775" cy="1006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052763" y="1242095"/>
            <a:ext cx="866775" cy="1006475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23" name="Freeform 21"/>
          <p:cNvSpPr/>
          <p:nvPr/>
        </p:nvSpPr>
        <p:spPr bwMode="auto">
          <a:xfrm>
            <a:off x="3919538" y="1665957"/>
            <a:ext cx="825500" cy="198438"/>
          </a:xfrm>
          <a:custGeom>
            <a:avLst/>
            <a:gdLst>
              <a:gd name="T0" fmla="*/ 838192189 w 813"/>
              <a:gd name="T1" fmla="*/ 162800386 h 193"/>
              <a:gd name="T2" fmla="*/ 98974708 w 813"/>
              <a:gd name="T3" fmla="*/ 162800386 h 193"/>
              <a:gd name="T4" fmla="*/ 98974708 w 813"/>
              <a:gd name="T5" fmla="*/ 204029222 h 193"/>
              <a:gd name="T6" fmla="*/ 0 w 813"/>
              <a:gd name="T7" fmla="*/ 102543094 h 193"/>
              <a:gd name="T8" fmla="*/ 98974708 w 813"/>
              <a:gd name="T9" fmla="*/ 0 h 193"/>
              <a:gd name="T10" fmla="*/ 98974708 w 813"/>
              <a:gd name="T11" fmla="*/ 41228836 h 193"/>
              <a:gd name="T12" fmla="*/ 838192189 w 813"/>
              <a:gd name="T13" fmla="*/ 41228836 h 193"/>
              <a:gd name="T14" fmla="*/ 838192189 w 813"/>
              <a:gd name="T15" fmla="*/ 162800386 h 19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13"/>
              <a:gd name="T25" fmla="*/ 0 h 193"/>
              <a:gd name="T26" fmla="*/ 813 w 813"/>
              <a:gd name="T27" fmla="*/ 193 h 19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13" h="193">
                <a:moveTo>
                  <a:pt x="813" y="154"/>
                </a:moveTo>
                <a:lnTo>
                  <a:pt x="96" y="154"/>
                </a:lnTo>
                <a:lnTo>
                  <a:pt x="96" y="193"/>
                </a:lnTo>
                <a:lnTo>
                  <a:pt x="0" y="97"/>
                </a:lnTo>
                <a:lnTo>
                  <a:pt x="96" y="0"/>
                </a:lnTo>
                <a:lnTo>
                  <a:pt x="96" y="39"/>
                </a:lnTo>
                <a:lnTo>
                  <a:pt x="813" y="39"/>
                </a:lnTo>
                <a:lnTo>
                  <a:pt x="813" y="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22"/>
          <p:cNvSpPr/>
          <p:nvPr/>
        </p:nvSpPr>
        <p:spPr bwMode="auto">
          <a:xfrm>
            <a:off x="3919538" y="1665957"/>
            <a:ext cx="825500" cy="198438"/>
          </a:xfrm>
          <a:custGeom>
            <a:avLst/>
            <a:gdLst>
              <a:gd name="T0" fmla="*/ 838192189 w 813"/>
              <a:gd name="T1" fmla="*/ 162800386 h 193"/>
              <a:gd name="T2" fmla="*/ 98974708 w 813"/>
              <a:gd name="T3" fmla="*/ 162800386 h 193"/>
              <a:gd name="T4" fmla="*/ 98974708 w 813"/>
              <a:gd name="T5" fmla="*/ 204029222 h 193"/>
              <a:gd name="T6" fmla="*/ 0 w 813"/>
              <a:gd name="T7" fmla="*/ 102543094 h 193"/>
              <a:gd name="T8" fmla="*/ 98974708 w 813"/>
              <a:gd name="T9" fmla="*/ 0 h 193"/>
              <a:gd name="T10" fmla="*/ 98974708 w 813"/>
              <a:gd name="T11" fmla="*/ 41228836 h 193"/>
              <a:gd name="T12" fmla="*/ 838192189 w 813"/>
              <a:gd name="T13" fmla="*/ 41228836 h 1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3"/>
              <a:gd name="T22" fmla="*/ 0 h 193"/>
              <a:gd name="T23" fmla="*/ 813 w 813"/>
              <a:gd name="T24" fmla="*/ 193 h 1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3" h="193">
                <a:moveTo>
                  <a:pt x="813" y="154"/>
                </a:moveTo>
                <a:lnTo>
                  <a:pt x="96" y="154"/>
                </a:lnTo>
                <a:lnTo>
                  <a:pt x="96" y="193"/>
                </a:lnTo>
                <a:lnTo>
                  <a:pt x="0" y="97"/>
                </a:lnTo>
                <a:lnTo>
                  <a:pt x="96" y="0"/>
                </a:lnTo>
                <a:lnTo>
                  <a:pt x="96" y="39"/>
                </a:lnTo>
                <a:lnTo>
                  <a:pt x="813" y="39"/>
                </a:lnTo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2809875" y="1718345"/>
            <a:ext cx="1588" cy="340995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24"/>
          <p:cNvSpPr/>
          <p:nvPr/>
        </p:nvSpPr>
        <p:spPr bwMode="auto">
          <a:xfrm>
            <a:off x="3919538" y="5028282"/>
            <a:ext cx="825500" cy="200025"/>
          </a:xfrm>
          <a:custGeom>
            <a:avLst/>
            <a:gdLst>
              <a:gd name="T0" fmla="*/ 838192189 w 813"/>
              <a:gd name="T1" fmla="*/ 166489202 h 193"/>
              <a:gd name="T2" fmla="*/ 98974708 w 813"/>
              <a:gd name="T3" fmla="*/ 166489202 h 193"/>
              <a:gd name="T4" fmla="*/ 98974708 w 813"/>
              <a:gd name="T5" fmla="*/ 207305703 h 193"/>
              <a:gd name="T6" fmla="*/ 0 w 813"/>
              <a:gd name="T7" fmla="*/ 104190224 h 193"/>
              <a:gd name="T8" fmla="*/ 98974708 w 813"/>
              <a:gd name="T9" fmla="*/ 0 h 193"/>
              <a:gd name="T10" fmla="*/ 98974708 w 813"/>
              <a:gd name="T11" fmla="*/ 41891246 h 193"/>
              <a:gd name="T12" fmla="*/ 838192189 w 813"/>
              <a:gd name="T13" fmla="*/ 41891246 h 193"/>
              <a:gd name="T14" fmla="*/ 838192189 w 813"/>
              <a:gd name="T15" fmla="*/ 166489202 h 19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13"/>
              <a:gd name="T25" fmla="*/ 0 h 193"/>
              <a:gd name="T26" fmla="*/ 813 w 813"/>
              <a:gd name="T27" fmla="*/ 193 h 19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13" h="193">
                <a:moveTo>
                  <a:pt x="813" y="155"/>
                </a:moveTo>
                <a:lnTo>
                  <a:pt x="96" y="155"/>
                </a:lnTo>
                <a:lnTo>
                  <a:pt x="96" y="193"/>
                </a:lnTo>
                <a:lnTo>
                  <a:pt x="0" y="97"/>
                </a:lnTo>
                <a:lnTo>
                  <a:pt x="96" y="0"/>
                </a:lnTo>
                <a:lnTo>
                  <a:pt x="96" y="39"/>
                </a:lnTo>
                <a:lnTo>
                  <a:pt x="813" y="39"/>
                </a:lnTo>
                <a:lnTo>
                  <a:pt x="813" y="1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25"/>
          <p:cNvSpPr/>
          <p:nvPr/>
        </p:nvSpPr>
        <p:spPr bwMode="auto">
          <a:xfrm>
            <a:off x="3919538" y="5028282"/>
            <a:ext cx="825500" cy="200025"/>
          </a:xfrm>
          <a:custGeom>
            <a:avLst/>
            <a:gdLst>
              <a:gd name="T0" fmla="*/ 838192189 w 813"/>
              <a:gd name="T1" fmla="*/ 166489202 h 193"/>
              <a:gd name="T2" fmla="*/ 98974708 w 813"/>
              <a:gd name="T3" fmla="*/ 166489202 h 193"/>
              <a:gd name="T4" fmla="*/ 98974708 w 813"/>
              <a:gd name="T5" fmla="*/ 207305703 h 193"/>
              <a:gd name="T6" fmla="*/ 0 w 813"/>
              <a:gd name="T7" fmla="*/ 104190224 h 193"/>
              <a:gd name="T8" fmla="*/ 98974708 w 813"/>
              <a:gd name="T9" fmla="*/ 0 h 193"/>
              <a:gd name="T10" fmla="*/ 98974708 w 813"/>
              <a:gd name="T11" fmla="*/ 41891246 h 193"/>
              <a:gd name="T12" fmla="*/ 838192189 w 813"/>
              <a:gd name="T13" fmla="*/ 41891246 h 1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3"/>
              <a:gd name="T22" fmla="*/ 0 h 193"/>
              <a:gd name="T23" fmla="*/ 813 w 813"/>
              <a:gd name="T24" fmla="*/ 193 h 1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3" h="193">
                <a:moveTo>
                  <a:pt x="813" y="155"/>
                </a:moveTo>
                <a:lnTo>
                  <a:pt x="96" y="155"/>
                </a:lnTo>
                <a:lnTo>
                  <a:pt x="96" y="193"/>
                </a:lnTo>
                <a:lnTo>
                  <a:pt x="0" y="97"/>
                </a:lnTo>
                <a:lnTo>
                  <a:pt x="96" y="0"/>
                </a:lnTo>
                <a:lnTo>
                  <a:pt x="96" y="39"/>
                </a:lnTo>
                <a:lnTo>
                  <a:pt x="813" y="39"/>
                </a:lnTo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>
            <a:off x="4745038" y="5623595"/>
            <a:ext cx="144462" cy="3810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30"/>
          <p:cNvSpPr/>
          <p:nvPr/>
        </p:nvSpPr>
        <p:spPr bwMode="auto">
          <a:xfrm>
            <a:off x="4889500" y="1354807"/>
            <a:ext cx="822325" cy="201613"/>
          </a:xfrm>
          <a:custGeom>
            <a:avLst/>
            <a:gdLst>
              <a:gd name="T0" fmla="*/ 98457215 w 812"/>
              <a:gd name="T1" fmla="*/ 42558102 h 193"/>
              <a:gd name="T2" fmla="*/ 98457215 w 812"/>
              <a:gd name="T3" fmla="*/ 0 h 193"/>
              <a:gd name="T4" fmla="*/ 0 w 812"/>
              <a:gd name="T5" fmla="*/ 105851004 h 193"/>
              <a:gd name="T6" fmla="*/ 98457215 w 812"/>
              <a:gd name="T7" fmla="*/ 210610372 h 193"/>
              <a:gd name="T8" fmla="*/ 98457215 w 812"/>
              <a:gd name="T9" fmla="*/ 168052270 h 193"/>
              <a:gd name="T10" fmla="*/ 734324072 w 812"/>
              <a:gd name="T11" fmla="*/ 168052270 h 193"/>
              <a:gd name="T12" fmla="*/ 734324072 w 812"/>
              <a:gd name="T13" fmla="*/ 210610372 h 193"/>
              <a:gd name="T14" fmla="*/ 832781288 w 812"/>
              <a:gd name="T15" fmla="*/ 105851004 h 193"/>
              <a:gd name="T16" fmla="*/ 734324072 w 812"/>
              <a:gd name="T17" fmla="*/ 0 h 193"/>
              <a:gd name="T18" fmla="*/ 734324072 w 812"/>
              <a:gd name="T19" fmla="*/ 42558102 h 193"/>
              <a:gd name="T20" fmla="*/ 98457215 w 812"/>
              <a:gd name="T21" fmla="*/ 42558102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4"/>
                </a:lnTo>
                <a:lnTo>
                  <a:pt x="716" y="154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31"/>
          <p:cNvSpPr/>
          <p:nvPr/>
        </p:nvSpPr>
        <p:spPr bwMode="auto">
          <a:xfrm>
            <a:off x="4889500" y="1354807"/>
            <a:ext cx="822325" cy="201613"/>
          </a:xfrm>
          <a:custGeom>
            <a:avLst/>
            <a:gdLst>
              <a:gd name="T0" fmla="*/ 98457215 w 812"/>
              <a:gd name="T1" fmla="*/ 42558102 h 193"/>
              <a:gd name="T2" fmla="*/ 98457215 w 812"/>
              <a:gd name="T3" fmla="*/ 0 h 193"/>
              <a:gd name="T4" fmla="*/ 0 w 812"/>
              <a:gd name="T5" fmla="*/ 105851004 h 193"/>
              <a:gd name="T6" fmla="*/ 98457215 w 812"/>
              <a:gd name="T7" fmla="*/ 210610372 h 193"/>
              <a:gd name="T8" fmla="*/ 98457215 w 812"/>
              <a:gd name="T9" fmla="*/ 168052270 h 193"/>
              <a:gd name="T10" fmla="*/ 734324072 w 812"/>
              <a:gd name="T11" fmla="*/ 168052270 h 193"/>
              <a:gd name="T12" fmla="*/ 734324072 w 812"/>
              <a:gd name="T13" fmla="*/ 210610372 h 193"/>
              <a:gd name="T14" fmla="*/ 832781288 w 812"/>
              <a:gd name="T15" fmla="*/ 105851004 h 193"/>
              <a:gd name="T16" fmla="*/ 734324072 w 812"/>
              <a:gd name="T17" fmla="*/ 0 h 193"/>
              <a:gd name="T18" fmla="*/ 734324072 w 812"/>
              <a:gd name="T19" fmla="*/ 42558102 h 193"/>
              <a:gd name="T20" fmla="*/ 98457215 w 812"/>
              <a:gd name="T21" fmla="*/ 42558102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4"/>
                </a:lnTo>
                <a:lnTo>
                  <a:pt x="716" y="154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32"/>
          <p:cNvSpPr/>
          <p:nvPr/>
        </p:nvSpPr>
        <p:spPr bwMode="auto">
          <a:xfrm>
            <a:off x="4889500" y="3839245"/>
            <a:ext cx="822325" cy="196850"/>
          </a:xfrm>
          <a:custGeom>
            <a:avLst/>
            <a:gdLst>
              <a:gd name="T0" fmla="*/ 98457215 w 812"/>
              <a:gd name="T1" fmla="*/ 39944146 h 192"/>
              <a:gd name="T2" fmla="*/ 98457215 w 812"/>
              <a:gd name="T3" fmla="*/ 0 h 192"/>
              <a:gd name="T4" fmla="*/ 0 w 812"/>
              <a:gd name="T5" fmla="*/ 100911257 h 192"/>
              <a:gd name="T6" fmla="*/ 98457215 w 812"/>
              <a:gd name="T7" fmla="*/ 201822513 h 192"/>
              <a:gd name="T8" fmla="*/ 98457215 w 812"/>
              <a:gd name="T9" fmla="*/ 161878367 h 192"/>
              <a:gd name="T10" fmla="*/ 734324072 w 812"/>
              <a:gd name="T11" fmla="*/ 161878367 h 192"/>
              <a:gd name="T12" fmla="*/ 734324072 w 812"/>
              <a:gd name="T13" fmla="*/ 201822513 h 192"/>
              <a:gd name="T14" fmla="*/ 832781288 w 812"/>
              <a:gd name="T15" fmla="*/ 100911257 h 192"/>
              <a:gd name="T16" fmla="*/ 734324072 w 812"/>
              <a:gd name="T17" fmla="*/ 0 h 192"/>
              <a:gd name="T18" fmla="*/ 734324072 w 812"/>
              <a:gd name="T19" fmla="*/ 39944146 h 192"/>
              <a:gd name="T20" fmla="*/ 98457215 w 812"/>
              <a:gd name="T21" fmla="*/ 39944146 h 19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2"/>
              <a:gd name="T35" fmla="*/ 812 w 812"/>
              <a:gd name="T36" fmla="*/ 192 h 19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2">
                <a:moveTo>
                  <a:pt x="96" y="38"/>
                </a:moveTo>
                <a:lnTo>
                  <a:pt x="96" y="0"/>
                </a:lnTo>
                <a:lnTo>
                  <a:pt x="0" y="96"/>
                </a:lnTo>
                <a:lnTo>
                  <a:pt x="96" y="192"/>
                </a:lnTo>
                <a:lnTo>
                  <a:pt x="96" y="154"/>
                </a:lnTo>
                <a:lnTo>
                  <a:pt x="716" y="154"/>
                </a:lnTo>
                <a:lnTo>
                  <a:pt x="716" y="192"/>
                </a:lnTo>
                <a:lnTo>
                  <a:pt x="812" y="96"/>
                </a:lnTo>
                <a:lnTo>
                  <a:pt x="716" y="0"/>
                </a:lnTo>
                <a:lnTo>
                  <a:pt x="716" y="38"/>
                </a:lnTo>
                <a:lnTo>
                  <a:pt x="96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3"/>
          <p:cNvSpPr/>
          <p:nvPr/>
        </p:nvSpPr>
        <p:spPr bwMode="auto">
          <a:xfrm>
            <a:off x="4889500" y="3839245"/>
            <a:ext cx="822325" cy="196850"/>
          </a:xfrm>
          <a:custGeom>
            <a:avLst/>
            <a:gdLst>
              <a:gd name="T0" fmla="*/ 98457215 w 812"/>
              <a:gd name="T1" fmla="*/ 39944146 h 192"/>
              <a:gd name="T2" fmla="*/ 98457215 w 812"/>
              <a:gd name="T3" fmla="*/ 0 h 192"/>
              <a:gd name="T4" fmla="*/ 0 w 812"/>
              <a:gd name="T5" fmla="*/ 100911257 h 192"/>
              <a:gd name="T6" fmla="*/ 98457215 w 812"/>
              <a:gd name="T7" fmla="*/ 201822513 h 192"/>
              <a:gd name="T8" fmla="*/ 98457215 w 812"/>
              <a:gd name="T9" fmla="*/ 161878367 h 192"/>
              <a:gd name="T10" fmla="*/ 734324072 w 812"/>
              <a:gd name="T11" fmla="*/ 161878367 h 192"/>
              <a:gd name="T12" fmla="*/ 734324072 w 812"/>
              <a:gd name="T13" fmla="*/ 201822513 h 192"/>
              <a:gd name="T14" fmla="*/ 832781288 w 812"/>
              <a:gd name="T15" fmla="*/ 100911257 h 192"/>
              <a:gd name="T16" fmla="*/ 734324072 w 812"/>
              <a:gd name="T17" fmla="*/ 0 h 192"/>
              <a:gd name="T18" fmla="*/ 734324072 w 812"/>
              <a:gd name="T19" fmla="*/ 39944146 h 192"/>
              <a:gd name="T20" fmla="*/ 98457215 w 812"/>
              <a:gd name="T21" fmla="*/ 39944146 h 19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2"/>
              <a:gd name="T35" fmla="*/ 812 w 812"/>
              <a:gd name="T36" fmla="*/ 192 h 19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2">
                <a:moveTo>
                  <a:pt x="96" y="38"/>
                </a:moveTo>
                <a:lnTo>
                  <a:pt x="96" y="0"/>
                </a:lnTo>
                <a:lnTo>
                  <a:pt x="0" y="96"/>
                </a:lnTo>
                <a:lnTo>
                  <a:pt x="96" y="192"/>
                </a:lnTo>
                <a:lnTo>
                  <a:pt x="96" y="154"/>
                </a:lnTo>
                <a:lnTo>
                  <a:pt x="716" y="154"/>
                </a:lnTo>
                <a:lnTo>
                  <a:pt x="716" y="192"/>
                </a:lnTo>
                <a:lnTo>
                  <a:pt x="812" y="96"/>
                </a:lnTo>
                <a:lnTo>
                  <a:pt x="716" y="0"/>
                </a:lnTo>
                <a:lnTo>
                  <a:pt x="716" y="38"/>
                </a:lnTo>
                <a:lnTo>
                  <a:pt x="96" y="38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34"/>
          <p:cNvSpPr/>
          <p:nvPr/>
        </p:nvSpPr>
        <p:spPr bwMode="auto">
          <a:xfrm>
            <a:off x="4889500" y="5275932"/>
            <a:ext cx="822325" cy="198438"/>
          </a:xfrm>
          <a:custGeom>
            <a:avLst/>
            <a:gdLst>
              <a:gd name="T0" fmla="*/ 98457215 w 812"/>
              <a:gd name="T1" fmla="*/ 40804581 h 194"/>
              <a:gd name="T2" fmla="*/ 98457215 w 812"/>
              <a:gd name="T3" fmla="*/ 0 h 194"/>
              <a:gd name="T4" fmla="*/ 0 w 812"/>
              <a:gd name="T5" fmla="*/ 101488762 h 194"/>
              <a:gd name="T6" fmla="*/ 98457215 w 812"/>
              <a:gd name="T7" fmla="*/ 202977525 h 194"/>
              <a:gd name="T8" fmla="*/ 98457215 w 812"/>
              <a:gd name="T9" fmla="*/ 162172944 h 194"/>
              <a:gd name="T10" fmla="*/ 734324072 w 812"/>
              <a:gd name="T11" fmla="*/ 162172944 h 194"/>
              <a:gd name="T12" fmla="*/ 734324072 w 812"/>
              <a:gd name="T13" fmla="*/ 202977525 h 194"/>
              <a:gd name="T14" fmla="*/ 832781288 w 812"/>
              <a:gd name="T15" fmla="*/ 101488762 h 194"/>
              <a:gd name="T16" fmla="*/ 734324072 w 812"/>
              <a:gd name="T17" fmla="*/ 0 h 194"/>
              <a:gd name="T18" fmla="*/ 734324072 w 812"/>
              <a:gd name="T19" fmla="*/ 40804581 h 194"/>
              <a:gd name="T20" fmla="*/ 98457215 w 812"/>
              <a:gd name="T21" fmla="*/ 40804581 h 1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4"/>
              <a:gd name="T35" fmla="*/ 812 w 812"/>
              <a:gd name="T36" fmla="*/ 194 h 1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4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4"/>
                </a:lnTo>
                <a:lnTo>
                  <a:pt x="96" y="155"/>
                </a:lnTo>
                <a:lnTo>
                  <a:pt x="716" y="155"/>
                </a:lnTo>
                <a:lnTo>
                  <a:pt x="716" y="194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35"/>
          <p:cNvSpPr/>
          <p:nvPr/>
        </p:nvSpPr>
        <p:spPr bwMode="auto">
          <a:xfrm>
            <a:off x="4889500" y="5275932"/>
            <a:ext cx="822325" cy="198438"/>
          </a:xfrm>
          <a:custGeom>
            <a:avLst/>
            <a:gdLst>
              <a:gd name="T0" fmla="*/ 98457215 w 812"/>
              <a:gd name="T1" fmla="*/ 40804581 h 194"/>
              <a:gd name="T2" fmla="*/ 98457215 w 812"/>
              <a:gd name="T3" fmla="*/ 0 h 194"/>
              <a:gd name="T4" fmla="*/ 0 w 812"/>
              <a:gd name="T5" fmla="*/ 101488762 h 194"/>
              <a:gd name="T6" fmla="*/ 98457215 w 812"/>
              <a:gd name="T7" fmla="*/ 202977525 h 194"/>
              <a:gd name="T8" fmla="*/ 98457215 w 812"/>
              <a:gd name="T9" fmla="*/ 162172944 h 194"/>
              <a:gd name="T10" fmla="*/ 734324072 w 812"/>
              <a:gd name="T11" fmla="*/ 162172944 h 194"/>
              <a:gd name="T12" fmla="*/ 734324072 w 812"/>
              <a:gd name="T13" fmla="*/ 202977525 h 194"/>
              <a:gd name="T14" fmla="*/ 832781288 w 812"/>
              <a:gd name="T15" fmla="*/ 101488762 h 194"/>
              <a:gd name="T16" fmla="*/ 734324072 w 812"/>
              <a:gd name="T17" fmla="*/ 0 h 194"/>
              <a:gd name="T18" fmla="*/ 734324072 w 812"/>
              <a:gd name="T19" fmla="*/ 40804581 h 194"/>
              <a:gd name="T20" fmla="*/ 98457215 w 812"/>
              <a:gd name="T21" fmla="*/ 40804581 h 1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4"/>
              <a:gd name="T35" fmla="*/ 812 w 812"/>
              <a:gd name="T36" fmla="*/ 194 h 1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4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4"/>
                </a:lnTo>
                <a:lnTo>
                  <a:pt x="96" y="155"/>
                </a:lnTo>
                <a:lnTo>
                  <a:pt x="716" y="155"/>
                </a:lnTo>
                <a:lnTo>
                  <a:pt x="716" y="194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6"/>
          <p:cNvSpPr>
            <a:spLocks noChangeArrowheads="1"/>
          </p:cNvSpPr>
          <p:nvPr/>
        </p:nvSpPr>
        <p:spPr bwMode="auto">
          <a:xfrm>
            <a:off x="5711825" y="908720"/>
            <a:ext cx="869950" cy="1009650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36" name="Rectangle 37"/>
          <p:cNvSpPr>
            <a:spLocks noChangeArrowheads="1"/>
          </p:cNvSpPr>
          <p:nvPr/>
        </p:nvSpPr>
        <p:spPr bwMode="auto">
          <a:xfrm>
            <a:off x="5711825" y="2624807"/>
            <a:ext cx="869950" cy="792163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5711825" y="3510632"/>
            <a:ext cx="869950" cy="792163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5711825" y="4925095"/>
            <a:ext cx="869950" cy="1009650"/>
          </a:xfrm>
          <a:prstGeom prst="rect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39" name="Freeform 40"/>
          <p:cNvSpPr/>
          <p:nvPr/>
        </p:nvSpPr>
        <p:spPr bwMode="auto">
          <a:xfrm>
            <a:off x="4889500" y="2901032"/>
            <a:ext cx="822325" cy="198438"/>
          </a:xfrm>
          <a:custGeom>
            <a:avLst/>
            <a:gdLst>
              <a:gd name="T0" fmla="*/ 98457215 w 812"/>
              <a:gd name="T1" fmla="*/ 40171871 h 193"/>
              <a:gd name="T2" fmla="*/ 98457215 w 812"/>
              <a:gd name="T3" fmla="*/ 0 h 193"/>
              <a:gd name="T4" fmla="*/ 0 w 812"/>
              <a:gd name="T5" fmla="*/ 102543094 h 193"/>
              <a:gd name="T6" fmla="*/ 98457215 w 812"/>
              <a:gd name="T7" fmla="*/ 204029222 h 193"/>
              <a:gd name="T8" fmla="*/ 98457215 w 812"/>
              <a:gd name="T9" fmla="*/ 163857351 h 193"/>
              <a:gd name="T10" fmla="*/ 734324072 w 812"/>
              <a:gd name="T11" fmla="*/ 163857351 h 193"/>
              <a:gd name="T12" fmla="*/ 734324072 w 812"/>
              <a:gd name="T13" fmla="*/ 204029222 h 193"/>
              <a:gd name="T14" fmla="*/ 832781288 w 812"/>
              <a:gd name="T15" fmla="*/ 102543094 h 193"/>
              <a:gd name="T16" fmla="*/ 734324072 w 812"/>
              <a:gd name="T17" fmla="*/ 0 h 193"/>
              <a:gd name="T18" fmla="*/ 734324072 w 812"/>
              <a:gd name="T19" fmla="*/ 40171871 h 193"/>
              <a:gd name="T20" fmla="*/ 98457215 w 812"/>
              <a:gd name="T21" fmla="*/ 40171871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8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5"/>
                </a:lnTo>
                <a:lnTo>
                  <a:pt x="716" y="155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8"/>
                </a:lnTo>
                <a:lnTo>
                  <a:pt x="96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41"/>
          <p:cNvSpPr/>
          <p:nvPr/>
        </p:nvSpPr>
        <p:spPr bwMode="auto">
          <a:xfrm>
            <a:off x="4889500" y="2901032"/>
            <a:ext cx="822325" cy="198438"/>
          </a:xfrm>
          <a:custGeom>
            <a:avLst/>
            <a:gdLst>
              <a:gd name="T0" fmla="*/ 98457215 w 812"/>
              <a:gd name="T1" fmla="*/ 40171871 h 193"/>
              <a:gd name="T2" fmla="*/ 98457215 w 812"/>
              <a:gd name="T3" fmla="*/ 0 h 193"/>
              <a:gd name="T4" fmla="*/ 0 w 812"/>
              <a:gd name="T5" fmla="*/ 102543094 h 193"/>
              <a:gd name="T6" fmla="*/ 98457215 w 812"/>
              <a:gd name="T7" fmla="*/ 204029222 h 193"/>
              <a:gd name="T8" fmla="*/ 98457215 w 812"/>
              <a:gd name="T9" fmla="*/ 163857351 h 193"/>
              <a:gd name="T10" fmla="*/ 734324072 w 812"/>
              <a:gd name="T11" fmla="*/ 163857351 h 193"/>
              <a:gd name="T12" fmla="*/ 734324072 w 812"/>
              <a:gd name="T13" fmla="*/ 204029222 h 193"/>
              <a:gd name="T14" fmla="*/ 832781288 w 812"/>
              <a:gd name="T15" fmla="*/ 102543094 h 193"/>
              <a:gd name="T16" fmla="*/ 734324072 w 812"/>
              <a:gd name="T17" fmla="*/ 0 h 193"/>
              <a:gd name="T18" fmla="*/ 734324072 w 812"/>
              <a:gd name="T19" fmla="*/ 40171871 h 193"/>
              <a:gd name="T20" fmla="*/ 98457215 w 812"/>
              <a:gd name="T21" fmla="*/ 40171871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8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5"/>
                </a:lnTo>
                <a:lnTo>
                  <a:pt x="716" y="155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8"/>
                </a:lnTo>
                <a:lnTo>
                  <a:pt x="96" y="38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2"/>
          <p:cNvSpPr>
            <a:spLocks noChangeShapeType="1"/>
          </p:cNvSpPr>
          <p:nvPr/>
        </p:nvSpPr>
        <p:spPr bwMode="auto">
          <a:xfrm flipV="1">
            <a:off x="3535363" y="4490120"/>
            <a:ext cx="0" cy="12700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3535363" y="4490120"/>
            <a:ext cx="265747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>
            <a:off x="3427413" y="2231107"/>
            <a:ext cx="0" cy="138113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45"/>
          <p:cNvSpPr/>
          <p:nvPr/>
        </p:nvSpPr>
        <p:spPr bwMode="auto">
          <a:xfrm>
            <a:off x="6581775" y="5337845"/>
            <a:ext cx="819150" cy="198437"/>
          </a:xfrm>
          <a:custGeom>
            <a:avLst/>
            <a:gdLst>
              <a:gd name="T0" fmla="*/ 97697761 w 812"/>
              <a:gd name="T1" fmla="*/ 40804375 h 194"/>
              <a:gd name="T2" fmla="*/ 97697761 w 812"/>
              <a:gd name="T3" fmla="*/ 0 h 194"/>
              <a:gd name="T4" fmla="*/ 0 w 812"/>
              <a:gd name="T5" fmla="*/ 101488251 h 194"/>
              <a:gd name="T6" fmla="*/ 97697761 w 812"/>
              <a:gd name="T7" fmla="*/ 202975479 h 194"/>
              <a:gd name="T8" fmla="*/ 97697761 w 812"/>
              <a:gd name="T9" fmla="*/ 162171104 h 194"/>
              <a:gd name="T10" fmla="*/ 728665198 w 812"/>
              <a:gd name="T11" fmla="*/ 162171104 h 194"/>
              <a:gd name="T12" fmla="*/ 728665198 w 812"/>
              <a:gd name="T13" fmla="*/ 202975479 h 194"/>
              <a:gd name="T14" fmla="*/ 826362959 w 812"/>
              <a:gd name="T15" fmla="*/ 101488251 h 194"/>
              <a:gd name="T16" fmla="*/ 728665198 w 812"/>
              <a:gd name="T17" fmla="*/ 0 h 194"/>
              <a:gd name="T18" fmla="*/ 728665198 w 812"/>
              <a:gd name="T19" fmla="*/ 40804375 h 194"/>
              <a:gd name="T20" fmla="*/ 97697761 w 812"/>
              <a:gd name="T21" fmla="*/ 40804375 h 1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4"/>
              <a:gd name="T35" fmla="*/ 812 w 812"/>
              <a:gd name="T36" fmla="*/ 194 h 1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4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4"/>
                </a:lnTo>
                <a:lnTo>
                  <a:pt x="96" y="155"/>
                </a:lnTo>
                <a:lnTo>
                  <a:pt x="716" y="155"/>
                </a:lnTo>
                <a:lnTo>
                  <a:pt x="716" y="194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46"/>
          <p:cNvSpPr/>
          <p:nvPr/>
        </p:nvSpPr>
        <p:spPr bwMode="auto">
          <a:xfrm>
            <a:off x="6581775" y="5275932"/>
            <a:ext cx="819150" cy="198438"/>
          </a:xfrm>
          <a:custGeom>
            <a:avLst/>
            <a:gdLst>
              <a:gd name="T0" fmla="*/ 97697761 w 812"/>
              <a:gd name="T1" fmla="*/ 40804581 h 194"/>
              <a:gd name="T2" fmla="*/ 97697761 w 812"/>
              <a:gd name="T3" fmla="*/ 0 h 194"/>
              <a:gd name="T4" fmla="*/ 0 w 812"/>
              <a:gd name="T5" fmla="*/ 101488762 h 194"/>
              <a:gd name="T6" fmla="*/ 97697761 w 812"/>
              <a:gd name="T7" fmla="*/ 202977525 h 194"/>
              <a:gd name="T8" fmla="*/ 97697761 w 812"/>
              <a:gd name="T9" fmla="*/ 162172944 h 194"/>
              <a:gd name="T10" fmla="*/ 728665198 w 812"/>
              <a:gd name="T11" fmla="*/ 162172944 h 194"/>
              <a:gd name="T12" fmla="*/ 728665198 w 812"/>
              <a:gd name="T13" fmla="*/ 202977525 h 194"/>
              <a:gd name="T14" fmla="*/ 826362959 w 812"/>
              <a:gd name="T15" fmla="*/ 101488762 h 194"/>
              <a:gd name="T16" fmla="*/ 728665198 w 812"/>
              <a:gd name="T17" fmla="*/ 0 h 194"/>
              <a:gd name="T18" fmla="*/ 728665198 w 812"/>
              <a:gd name="T19" fmla="*/ 40804581 h 194"/>
              <a:gd name="T20" fmla="*/ 97697761 w 812"/>
              <a:gd name="T21" fmla="*/ 40804581 h 1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4"/>
              <a:gd name="T35" fmla="*/ 812 w 812"/>
              <a:gd name="T36" fmla="*/ 194 h 1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4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4"/>
                </a:lnTo>
                <a:lnTo>
                  <a:pt x="96" y="155"/>
                </a:lnTo>
                <a:lnTo>
                  <a:pt x="716" y="155"/>
                </a:lnTo>
                <a:lnTo>
                  <a:pt x="716" y="194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47"/>
          <p:cNvSpPr/>
          <p:nvPr/>
        </p:nvSpPr>
        <p:spPr bwMode="auto">
          <a:xfrm>
            <a:off x="6581775" y="3839245"/>
            <a:ext cx="819150" cy="196850"/>
          </a:xfrm>
          <a:custGeom>
            <a:avLst/>
            <a:gdLst>
              <a:gd name="T0" fmla="*/ 97697761 w 812"/>
              <a:gd name="T1" fmla="*/ 39944146 h 192"/>
              <a:gd name="T2" fmla="*/ 97697761 w 812"/>
              <a:gd name="T3" fmla="*/ 0 h 192"/>
              <a:gd name="T4" fmla="*/ 0 w 812"/>
              <a:gd name="T5" fmla="*/ 100911257 h 192"/>
              <a:gd name="T6" fmla="*/ 97697761 w 812"/>
              <a:gd name="T7" fmla="*/ 201822513 h 192"/>
              <a:gd name="T8" fmla="*/ 97697761 w 812"/>
              <a:gd name="T9" fmla="*/ 161878367 h 192"/>
              <a:gd name="T10" fmla="*/ 728665198 w 812"/>
              <a:gd name="T11" fmla="*/ 161878367 h 192"/>
              <a:gd name="T12" fmla="*/ 728665198 w 812"/>
              <a:gd name="T13" fmla="*/ 201822513 h 192"/>
              <a:gd name="T14" fmla="*/ 826362959 w 812"/>
              <a:gd name="T15" fmla="*/ 100911257 h 192"/>
              <a:gd name="T16" fmla="*/ 728665198 w 812"/>
              <a:gd name="T17" fmla="*/ 0 h 192"/>
              <a:gd name="T18" fmla="*/ 728665198 w 812"/>
              <a:gd name="T19" fmla="*/ 39944146 h 192"/>
              <a:gd name="T20" fmla="*/ 97697761 w 812"/>
              <a:gd name="T21" fmla="*/ 39944146 h 19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2"/>
              <a:gd name="T35" fmla="*/ 812 w 812"/>
              <a:gd name="T36" fmla="*/ 192 h 19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2">
                <a:moveTo>
                  <a:pt x="96" y="38"/>
                </a:moveTo>
                <a:lnTo>
                  <a:pt x="96" y="0"/>
                </a:lnTo>
                <a:lnTo>
                  <a:pt x="0" y="96"/>
                </a:lnTo>
                <a:lnTo>
                  <a:pt x="96" y="192"/>
                </a:lnTo>
                <a:lnTo>
                  <a:pt x="96" y="154"/>
                </a:lnTo>
                <a:lnTo>
                  <a:pt x="716" y="154"/>
                </a:lnTo>
                <a:lnTo>
                  <a:pt x="716" y="192"/>
                </a:lnTo>
                <a:lnTo>
                  <a:pt x="812" y="96"/>
                </a:lnTo>
                <a:lnTo>
                  <a:pt x="716" y="0"/>
                </a:lnTo>
                <a:lnTo>
                  <a:pt x="716" y="38"/>
                </a:lnTo>
                <a:lnTo>
                  <a:pt x="96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48"/>
          <p:cNvSpPr/>
          <p:nvPr/>
        </p:nvSpPr>
        <p:spPr bwMode="auto">
          <a:xfrm>
            <a:off x="6581775" y="3839245"/>
            <a:ext cx="819150" cy="196850"/>
          </a:xfrm>
          <a:custGeom>
            <a:avLst/>
            <a:gdLst>
              <a:gd name="T0" fmla="*/ 97697761 w 812"/>
              <a:gd name="T1" fmla="*/ 39944146 h 192"/>
              <a:gd name="T2" fmla="*/ 97697761 w 812"/>
              <a:gd name="T3" fmla="*/ 0 h 192"/>
              <a:gd name="T4" fmla="*/ 0 w 812"/>
              <a:gd name="T5" fmla="*/ 100911257 h 192"/>
              <a:gd name="T6" fmla="*/ 97697761 w 812"/>
              <a:gd name="T7" fmla="*/ 201822513 h 192"/>
              <a:gd name="T8" fmla="*/ 97697761 w 812"/>
              <a:gd name="T9" fmla="*/ 161878367 h 192"/>
              <a:gd name="T10" fmla="*/ 728665198 w 812"/>
              <a:gd name="T11" fmla="*/ 161878367 h 192"/>
              <a:gd name="T12" fmla="*/ 728665198 w 812"/>
              <a:gd name="T13" fmla="*/ 201822513 h 192"/>
              <a:gd name="T14" fmla="*/ 826362959 w 812"/>
              <a:gd name="T15" fmla="*/ 100911257 h 192"/>
              <a:gd name="T16" fmla="*/ 728665198 w 812"/>
              <a:gd name="T17" fmla="*/ 0 h 192"/>
              <a:gd name="T18" fmla="*/ 728665198 w 812"/>
              <a:gd name="T19" fmla="*/ 39944146 h 192"/>
              <a:gd name="T20" fmla="*/ 97697761 w 812"/>
              <a:gd name="T21" fmla="*/ 39944146 h 19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2"/>
              <a:gd name="T35" fmla="*/ 812 w 812"/>
              <a:gd name="T36" fmla="*/ 192 h 19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2">
                <a:moveTo>
                  <a:pt x="96" y="38"/>
                </a:moveTo>
                <a:lnTo>
                  <a:pt x="96" y="0"/>
                </a:lnTo>
                <a:lnTo>
                  <a:pt x="0" y="96"/>
                </a:lnTo>
                <a:lnTo>
                  <a:pt x="96" y="192"/>
                </a:lnTo>
                <a:lnTo>
                  <a:pt x="96" y="154"/>
                </a:lnTo>
                <a:lnTo>
                  <a:pt x="716" y="154"/>
                </a:lnTo>
                <a:lnTo>
                  <a:pt x="716" y="192"/>
                </a:lnTo>
                <a:lnTo>
                  <a:pt x="812" y="96"/>
                </a:lnTo>
                <a:lnTo>
                  <a:pt x="716" y="0"/>
                </a:lnTo>
                <a:lnTo>
                  <a:pt x="716" y="38"/>
                </a:lnTo>
                <a:lnTo>
                  <a:pt x="96" y="38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49"/>
          <p:cNvSpPr/>
          <p:nvPr/>
        </p:nvSpPr>
        <p:spPr bwMode="auto">
          <a:xfrm>
            <a:off x="6581775" y="1354807"/>
            <a:ext cx="819150" cy="201613"/>
          </a:xfrm>
          <a:custGeom>
            <a:avLst/>
            <a:gdLst>
              <a:gd name="T0" fmla="*/ 97697761 w 812"/>
              <a:gd name="T1" fmla="*/ 42558102 h 193"/>
              <a:gd name="T2" fmla="*/ 97697761 w 812"/>
              <a:gd name="T3" fmla="*/ 0 h 193"/>
              <a:gd name="T4" fmla="*/ 0 w 812"/>
              <a:gd name="T5" fmla="*/ 105851004 h 193"/>
              <a:gd name="T6" fmla="*/ 97697761 w 812"/>
              <a:gd name="T7" fmla="*/ 210610372 h 193"/>
              <a:gd name="T8" fmla="*/ 97697761 w 812"/>
              <a:gd name="T9" fmla="*/ 168052270 h 193"/>
              <a:gd name="T10" fmla="*/ 728665198 w 812"/>
              <a:gd name="T11" fmla="*/ 168052270 h 193"/>
              <a:gd name="T12" fmla="*/ 728665198 w 812"/>
              <a:gd name="T13" fmla="*/ 210610372 h 193"/>
              <a:gd name="T14" fmla="*/ 826362959 w 812"/>
              <a:gd name="T15" fmla="*/ 105851004 h 193"/>
              <a:gd name="T16" fmla="*/ 728665198 w 812"/>
              <a:gd name="T17" fmla="*/ 0 h 193"/>
              <a:gd name="T18" fmla="*/ 728665198 w 812"/>
              <a:gd name="T19" fmla="*/ 42558102 h 193"/>
              <a:gd name="T20" fmla="*/ 97697761 w 812"/>
              <a:gd name="T21" fmla="*/ 42558102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4"/>
                </a:lnTo>
                <a:lnTo>
                  <a:pt x="716" y="154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50"/>
          <p:cNvSpPr/>
          <p:nvPr/>
        </p:nvSpPr>
        <p:spPr bwMode="auto">
          <a:xfrm>
            <a:off x="6581775" y="1354807"/>
            <a:ext cx="819150" cy="201613"/>
          </a:xfrm>
          <a:custGeom>
            <a:avLst/>
            <a:gdLst>
              <a:gd name="T0" fmla="*/ 97697761 w 812"/>
              <a:gd name="T1" fmla="*/ 42558102 h 193"/>
              <a:gd name="T2" fmla="*/ 97697761 w 812"/>
              <a:gd name="T3" fmla="*/ 0 h 193"/>
              <a:gd name="T4" fmla="*/ 0 w 812"/>
              <a:gd name="T5" fmla="*/ 105851004 h 193"/>
              <a:gd name="T6" fmla="*/ 97697761 w 812"/>
              <a:gd name="T7" fmla="*/ 210610372 h 193"/>
              <a:gd name="T8" fmla="*/ 97697761 w 812"/>
              <a:gd name="T9" fmla="*/ 168052270 h 193"/>
              <a:gd name="T10" fmla="*/ 728665198 w 812"/>
              <a:gd name="T11" fmla="*/ 168052270 h 193"/>
              <a:gd name="T12" fmla="*/ 728665198 w 812"/>
              <a:gd name="T13" fmla="*/ 210610372 h 193"/>
              <a:gd name="T14" fmla="*/ 826362959 w 812"/>
              <a:gd name="T15" fmla="*/ 105851004 h 193"/>
              <a:gd name="T16" fmla="*/ 728665198 w 812"/>
              <a:gd name="T17" fmla="*/ 0 h 193"/>
              <a:gd name="T18" fmla="*/ 728665198 w 812"/>
              <a:gd name="T19" fmla="*/ 42558102 h 193"/>
              <a:gd name="T20" fmla="*/ 97697761 w 812"/>
              <a:gd name="T21" fmla="*/ 42558102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4"/>
                </a:lnTo>
                <a:lnTo>
                  <a:pt x="716" y="154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51"/>
          <p:cNvSpPr/>
          <p:nvPr/>
        </p:nvSpPr>
        <p:spPr bwMode="auto">
          <a:xfrm>
            <a:off x="6581775" y="2878807"/>
            <a:ext cx="819150" cy="196850"/>
          </a:xfrm>
          <a:custGeom>
            <a:avLst/>
            <a:gdLst>
              <a:gd name="T0" fmla="*/ 97697761 w 812"/>
              <a:gd name="T1" fmla="*/ 40571499 h 193"/>
              <a:gd name="T2" fmla="*/ 97697761 w 812"/>
              <a:gd name="T3" fmla="*/ 0 h 193"/>
              <a:gd name="T4" fmla="*/ 0 w 812"/>
              <a:gd name="T5" fmla="*/ 100908574 h 193"/>
              <a:gd name="T6" fmla="*/ 97697761 w 812"/>
              <a:gd name="T7" fmla="*/ 200776801 h 193"/>
              <a:gd name="T8" fmla="*/ 97697761 w 812"/>
              <a:gd name="T9" fmla="*/ 161245649 h 193"/>
              <a:gd name="T10" fmla="*/ 728665198 w 812"/>
              <a:gd name="T11" fmla="*/ 161245649 h 193"/>
              <a:gd name="T12" fmla="*/ 728665198 w 812"/>
              <a:gd name="T13" fmla="*/ 200776801 h 193"/>
              <a:gd name="T14" fmla="*/ 826362959 w 812"/>
              <a:gd name="T15" fmla="*/ 100908574 h 193"/>
              <a:gd name="T16" fmla="*/ 728665198 w 812"/>
              <a:gd name="T17" fmla="*/ 0 h 193"/>
              <a:gd name="T18" fmla="*/ 728665198 w 812"/>
              <a:gd name="T19" fmla="*/ 40571499 h 193"/>
              <a:gd name="T20" fmla="*/ 97697761 w 812"/>
              <a:gd name="T21" fmla="*/ 40571499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5"/>
                </a:lnTo>
                <a:lnTo>
                  <a:pt x="716" y="155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52"/>
          <p:cNvSpPr/>
          <p:nvPr/>
        </p:nvSpPr>
        <p:spPr bwMode="auto">
          <a:xfrm>
            <a:off x="6581775" y="2878807"/>
            <a:ext cx="819150" cy="196850"/>
          </a:xfrm>
          <a:custGeom>
            <a:avLst/>
            <a:gdLst>
              <a:gd name="T0" fmla="*/ 97697761 w 812"/>
              <a:gd name="T1" fmla="*/ 40571499 h 193"/>
              <a:gd name="T2" fmla="*/ 97697761 w 812"/>
              <a:gd name="T3" fmla="*/ 0 h 193"/>
              <a:gd name="T4" fmla="*/ 0 w 812"/>
              <a:gd name="T5" fmla="*/ 100908574 h 193"/>
              <a:gd name="T6" fmla="*/ 97697761 w 812"/>
              <a:gd name="T7" fmla="*/ 200776801 h 193"/>
              <a:gd name="T8" fmla="*/ 97697761 w 812"/>
              <a:gd name="T9" fmla="*/ 161245649 h 193"/>
              <a:gd name="T10" fmla="*/ 728665198 w 812"/>
              <a:gd name="T11" fmla="*/ 161245649 h 193"/>
              <a:gd name="T12" fmla="*/ 728665198 w 812"/>
              <a:gd name="T13" fmla="*/ 200776801 h 193"/>
              <a:gd name="T14" fmla="*/ 826362959 w 812"/>
              <a:gd name="T15" fmla="*/ 100908574 h 193"/>
              <a:gd name="T16" fmla="*/ 728665198 w 812"/>
              <a:gd name="T17" fmla="*/ 0 h 193"/>
              <a:gd name="T18" fmla="*/ 728665198 w 812"/>
              <a:gd name="T19" fmla="*/ 40571499 h 193"/>
              <a:gd name="T20" fmla="*/ 97697761 w 812"/>
              <a:gd name="T21" fmla="*/ 40571499 h 1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12"/>
              <a:gd name="T34" fmla="*/ 0 h 193"/>
              <a:gd name="T35" fmla="*/ 812 w 812"/>
              <a:gd name="T36" fmla="*/ 193 h 1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12" h="193">
                <a:moveTo>
                  <a:pt x="96" y="39"/>
                </a:moveTo>
                <a:lnTo>
                  <a:pt x="96" y="0"/>
                </a:lnTo>
                <a:lnTo>
                  <a:pt x="0" y="97"/>
                </a:lnTo>
                <a:lnTo>
                  <a:pt x="96" y="193"/>
                </a:lnTo>
                <a:lnTo>
                  <a:pt x="96" y="155"/>
                </a:lnTo>
                <a:lnTo>
                  <a:pt x="716" y="155"/>
                </a:lnTo>
                <a:lnTo>
                  <a:pt x="716" y="193"/>
                </a:lnTo>
                <a:lnTo>
                  <a:pt x="812" y="97"/>
                </a:lnTo>
                <a:lnTo>
                  <a:pt x="716" y="0"/>
                </a:lnTo>
                <a:lnTo>
                  <a:pt x="716" y="39"/>
                </a:lnTo>
                <a:lnTo>
                  <a:pt x="96" y="39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53"/>
          <p:cNvSpPr>
            <a:spLocks noChangeShapeType="1"/>
          </p:cNvSpPr>
          <p:nvPr/>
        </p:nvSpPr>
        <p:spPr bwMode="auto">
          <a:xfrm>
            <a:off x="7016750" y="1756445"/>
            <a:ext cx="3175" cy="4611687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54"/>
          <p:cNvSpPr/>
          <p:nvPr/>
        </p:nvSpPr>
        <p:spPr bwMode="auto">
          <a:xfrm>
            <a:off x="2325688" y="6152232"/>
            <a:ext cx="4691062" cy="228600"/>
          </a:xfrm>
          <a:custGeom>
            <a:avLst/>
            <a:gdLst>
              <a:gd name="T0" fmla="*/ 0 w 4634"/>
              <a:gd name="T1" fmla="*/ 0 h 223"/>
              <a:gd name="T2" fmla="*/ 0 w 4634"/>
              <a:gd name="T3" fmla="*/ 234340628 h 223"/>
              <a:gd name="T4" fmla="*/ 2147483647 w 4634"/>
              <a:gd name="T5" fmla="*/ 221730724 h 223"/>
              <a:gd name="T6" fmla="*/ 0 60000 65536"/>
              <a:gd name="T7" fmla="*/ 0 60000 65536"/>
              <a:gd name="T8" fmla="*/ 0 60000 65536"/>
              <a:gd name="T9" fmla="*/ 0 w 4634"/>
              <a:gd name="T10" fmla="*/ 0 h 223"/>
              <a:gd name="T11" fmla="*/ 4634 w 4634"/>
              <a:gd name="T12" fmla="*/ 223 h 2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34" h="223">
                <a:moveTo>
                  <a:pt x="0" y="0"/>
                </a:moveTo>
                <a:lnTo>
                  <a:pt x="0" y="223"/>
                </a:lnTo>
                <a:lnTo>
                  <a:pt x="4634" y="211"/>
                </a:lnTo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 55"/>
          <p:cNvSpPr>
            <a:spLocks noChangeArrowheads="1"/>
          </p:cNvSpPr>
          <p:nvPr/>
        </p:nvSpPr>
        <p:spPr bwMode="auto">
          <a:xfrm>
            <a:off x="539750" y="4975895"/>
            <a:ext cx="41751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55" name="Rectangle 56"/>
          <p:cNvSpPr>
            <a:spLocks noChangeArrowheads="1"/>
          </p:cNvSpPr>
          <p:nvPr/>
        </p:nvSpPr>
        <p:spPr bwMode="auto">
          <a:xfrm>
            <a:off x="539750" y="5236245"/>
            <a:ext cx="417513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56" name="Line 57"/>
          <p:cNvSpPr>
            <a:spLocks noChangeShapeType="1"/>
          </p:cNvSpPr>
          <p:nvPr/>
        </p:nvSpPr>
        <p:spPr bwMode="auto">
          <a:xfrm>
            <a:off x="990600" y="4490120"/>
            <a:ext cx="611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8"/>
          <p:cNvSpPr>
            <a:spLocks noChangeShapeType="1"/>
          </p:cNvSpPr>
          <p:nvPr/>
        </p:nvSpPr>
        <p:spPr bwMode="auto">
          <a:xfrm>
            <a:off x="990600" y="4771107"/>
            <a:ext cx="611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59"/>
          <p:cNvSpPr>
            <a:spLocks noChangeShapeType="1"/>
          </p:cNvSpPr>
          <p:nvPr/>
        </p:nvSpPr>
        <p:spPr bwMode="auto">
          <a:xfrm>
            <a:off x="990600" y="5145757"/>
            <a:ext cx="708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60"/>
          <p:cNvSpPr>
            <a:spLocks noChangeShapeType="1"/>
          </p:cNvSpPr>
          <p:nvPr/>
        </p:nvSpPr>
        <p:spPr bwMode="auto">
          <a:xfrm>
            <a:off x="990600" y="5415632"/>
            <a:ext cx="7080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61"/>
          <p:cNvSpPr/>
          <p:nvPr/>
        </p:nvSpPr>
        <p:spPr bwMode="auto">
          <a:xfrm>
            <a:off x="1601788" y="5741070"/>
            <a:ext cx="96837" cy="100012"/>
          </a:xfrm>
          <a:custGeom>
            <a:avLst/>
            <a:gdLst>
              <a:gd name="T0" fmla="*/ 0 w 95"/>
              <a:gd name="T1" fmla="*/ 51026741 h 97"/>
              <a:gd name="T2" fmla="*/ 48835409 w 95"/>
              <a:gd name="T3" fmla="*/ 0 h 97"/>
              <a:gd name="T4" fmla="*/ 98709522 w 95"/>
              <a:gd name="T5" fmla="*/ 51026741 h 97"/>
              <a:gd name="T6" fmla="*/ 98709522 w 95"/>
              <a:gd name="T7" fmla="*/ 51026741 h 97"/>
              <a:gd name="T8" fmla="*/ 48835409 w 95"/>
              <a:gd name="T9" fmla="*/ 103117527 h 97"/>
              <a:gd name="T10" fmla="*/ 0 w 95"/>
              <a:gd name="T11" fmla="*/ 51026741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5"/>
              <a:gd name="T19" fmla="*/ 0 h 97"/>
              <a:gd name="T20" fmla="*/ 95 w 95"/>
              <a:gd name="T21" fmla="*/ 97 h 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5" h="97">
                <a:moveTo>
                  <a:pt x="0" y="48"/>
                </a:moveTo>
                <a:cubicBezTo>
                  <a:pt x="0" y="22"/>
                  <a:pt x="21" y="0"/>
                  <a:pt x="47" y="0"/>
                </a:cubicBezTo>
                <a:cubicBezTo>
                  <a:pt x="74" y="0"/>
                  <a:pt x="95" y="22"/>
                  <a:pt x="95" y="48"/>
                </a:cubicBezTo>
                <a:cubicBezTo>
                  <a:pt x="95" y="48"/>
                  <a:pt x="95" y="48"/>
                  <a:pt x="95" y="48"/>
                </a:cubicBezTo>
                <a:cubicBezTo>
                  <a:pt x="95" y="76"/>
                  <a:pt x="74" y="97"/>
                  <a:pt x="47" y="97"/>
                </a:cubicBezTo>
                <a:cubicBezTo>
                  <a:pt x="21" y="97"/>
                  <a:pt x="0" y="76"/>
                  <a:pt x="0" y="48"/>
                </a:cubicBezTo>
              </a:path>
            </a:pathLst>
          </a:cu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62"/>
          <p:cNvSpPr>
            <a:spLocks noChangeArrowheads="1"/>
          </p:cNvSpPr>
          <p:nvPr/>
        </p:nvSpPr>
        <p:spPr bwMode="auto">
          <a:xfrm>
            <a:off x="539750" y="5679157"/>
            <a:ext cx="41751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CS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62" name="Line 63"/>
          <p:cNvSpPr>
            <a:spLocks noChangeShapeType="1"/>
          </p:cNvSpPr>
          <p:nvPr/>
        </p:nvSpPr>
        <p:spPr bwMode="auto">
          <a:xfrm>
            <a:off x="544513" y="5702970"/>
            <a:ext cx="271462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64"/>
          <p:cNvSpPr>
            <a:spLocks noChangeShapeType="1"/>
          </p:cNvSpPr>
          <p:nvPr/>
        </p:nvSpPr>
        <p:spPr bwMode="auto">
          <a:xfrm>
            <a:off x="990600" y="5785520"/>
            <a:ext cx="6111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65"/>
          <p:cNvSpPr>
            <a:spLocks noChangeArrowheads="1"/>
          </p:cNvSpPr>
          <p:nvPr/>
        </p:nvSpPr>
        <p:spPr bwMode="auto">
          <a:xfrm>
            <a:off x="1857375" y="4658395"/>
            <a:ext cx="557213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读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写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控制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逻辑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1800" b="1">
              <a:latin typeface="Arial" panose="020B0604020202020204" pitchFamily="34" charset="0"/>
            </a:endParaRPr>
          </a:p>
        </p:txBody>
      </p:sp>
      <p:sp>
        <p:nvSpPr>
          <p:cNvPr id="65" name="Rectangle 66"/>
          <p:cNvSpPr>
            <a:spLocks noChangeArrowheads="1"/>
          </p:cNvSpPr>
          <p:nvPr/>
        </p:nvSpPr>
        <p:spPr bwMode="auto">
          <a:xfrm>
            <a:off x="3151188" y="2913732"/>
            <a:ext cx="7096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数据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总线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缓冲器</a:t>
            </a:r>
            <a:endParaRPr lang="zh-CN" altLang="en-US" sz="1600" b="1">
              <a:latin typeface="Arial" panose="020B0604020202020204" pitchFamily="34" charset="0"/>
            </a:endParaRPr>
          </a:p>
        </p:txBody>
      </p:sp>
      <p:sp>
        <p:nvSpPr>
          <p:cNvPr id="66" name="Rectangle 67"/>
          <p:cNvSpPr>
            <a:spLocks noChangeArrowheads="1"/>
          </p:cNvSpPr>
          <p:nvPr/>
        </p:nvSpPr>
        <p:spPr bwMode="auto">
          <a:xfrm>
            <a:off x="467544" y="3178845"/>
            <a:ext cx="700088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D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7 </a:t>
            </a:r>
            <a:r>
              <a:rPr lang="en-US" altLang="zh-CN" sz="1800" b="1" dirty="0">
                <a:latin typeface="Times New Roman" panose="02020603050405020304" pitchFamily="18" charset="0"/>
              </a:rPr>
              <a:t>~ D</a:t>
            </a:r>
            <a:r>
              <a:rPr lang="en-US" altLang="zh-CN" sz="1800" b="1" baseline="-25000" dirty="0">
                <a:latin typeface="Times New Roman" panose="02020603050405020304" pitchFamily="18" charset="0"/>
              </a:rPr>
              <a:t>0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7" name="Rectangle 68"/>
          <p:cNvSpPr>
            <a:spLocks noChangeArrowheads="1"/>
          </p:cNvSpPr>
          <p:nvPr/>
        </p:nvSpPr>
        <p:spPr bwMode="auto">
          <a:xfrm>
            <a:off x="3133725" y="1462757"/>
            <a:ext cx="669925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组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控制</a:t>
            </a:r>
            <a:endParaRPr lang="zh-CN" altLang="en-US" sz="1800" b="1">
              <a:latin typeface="Arial" panose="020B0604020202020204" pitchFamily="34" charset="0"/>
            </a:endParaRPr>
          </a:p>
        </p:txBody>
      </p:sp>
      <p:sp>
        <p:nvSpPr>
          <p:cNvPr id="68" name="Rectangle 69"/>
          <p:cNvSpPr>
            <a:spLocks noChangeArrowheads="1"/>
          </p:cNvSpPr>
          <p:nvPr/>
        </p:nvSpPr>
        <p:spPr bwMode="auto">
          <a:xfrm>
            <a:off x="3146425" y="4809207"/>
            <a:ext cx="6731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组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2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控制</a:t>
            </a:r>
            <a:endParaRPr lang="zh-CN" altLang="en-US" sz="1800" b="1">
              <a:latin typeface="Arial" panose="020B0604020202020204" pitchFamily="34" charset="0"/>
            </a:endParaRPr>
          </a:p>
        </p:txBody>
      </p:sp>
      <p:sp>
        <p:nvSpPr>
          <p:cNvPr id="69" name="AutoShape 70"/>
          <p:cNvSpPr>
            <a:spLocks noChangeArrowheads="1"/>
          </p:cNvSpPr>
          <p:nvPr/>
        </p:nvSpPr>
        <p:spPr bwMode="auto">
          <a:xfrm>
            <a:off x="3910013" y="3275682"/>
            <a:ext cx="819150" cy="198438"/>
          </a:xfrm>
          <a:prstGeom prst="leftRightArrow">
            <a:avLst>
              <a:gd name="adj1" fmla="val 60620"/>
              <a:gd name="adj2" fmla="val 46822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tailEnd type="none" w="sm" len="med"/>
          </a:ln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70" name="Line 71"/>
          <p:cNvSpPr>
            <a:spLocks noChangeShapeType="1"/>
          </p:cNvSpPr>
          <p:nvPr/>
        </p:nvSpPr>
        <p:spPr bwMode="auto">
          <a:xfrm>
            <a:off x="2811463" y="1719932"/>
            <a:ext cx="234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72"/>
          <p:cNvSpPr>
            <a:spLocks noChangeShapeType="1"/>
          </p:cNvSpPr>
          <p:nvPr/>
        </p:nvSpPr>
        <p:spPr bwMode="auto">
          <a:xfrm>
            <a:off x="2568575" y="5137820"/>
            <a:ext cx="477838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AutoShape 73"/>
          <p:cNvSpPr>
            <a:spLocks noChangeArrowheads="1"/>
          </p:cNvSpPr>
          <p:nvPr/>
        </p:nvSpPr>
        <p:spPr bwMode="auto">
          <a:xfrm>
            <a:off x="1296194" y="3270920"/>
            <a:ext cx="1753394" cy="198437"/>
          </a:xfrm>
          <a:prstGeom prst="leftRightArrow">
            <a:avLst>
              <a:gd name="adj1" fmla="val 60620"/>
              <a:gd name="adj2" fmla="val 46822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tailEnd type="none" w="sm" len="med"/>
          </a:ln>
        </p:spPr>
        <p:txBody>
          <a:bodyPr/>
          <a:lstStyle>
            <a:lvl1pPr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73" name="Line 74"/>
          <p:cNvSpPr>
            <a:spLocks noChangeShapeType="1"/>
          </p:cNvSpPr>
          <p:nvPr/>
        </p:nvSpPr>
        <p:spPr bwMode="auto">
          <a:xfrm flipH="1">
            <a:off x="6192838" y="2389857"/>
            <a:ext cx="1587" cy="2397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4" name="Group 95"/>
          <p:cNvGrpSpPr/>
          <p:nvPr/>
        </p:nvGrpSpPr>
        <p:grpSpPr bwMode="auto">
          <a:xfrm>
            <a:off x="4745038" y="1257970"/>
            <a:ext cx="146050" cy="4403725"/>
            <a:chOff x="2989" y="929"/>
            <a:chExt cx="92" cy="2774"/>
          </a:xfrm>
        </p:grpSpPr>
        <p:sp>
          <p:nvSpPr>
            <p:cNvPr id="75" name="Line 26"/>
            <p:cNvSpPr>
              <a:spLocks noChangeShapeType="1"/>
            </p:cNvSpPr>
            <p:nvPr/>
          </p:nvSpPr>
          <p:spPr bwMode="auto">
            <a:xfrm>
              <a:off x="2989" y="929"/>
              <a:ext cx="0" cy="2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7"/>
            <p:cNvSpPr>
              <a:spLocks noChangeShapeType="1"/>
            </p:cNvSpPr>
            <p:nvPr/>
          </p:nvSpPr>
          <p:spPr bwMode="auto">
            <a:xfrm flipV="1">
              <a:off x="2989" y="3404"/>
              <a:ext cx="0" cy="2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8"/>
            <p:cNvSpPr>
              <a:spLocks noChangeShapeType="1"/>
            </p:cNvSpPr>
            <p:nvPr/>
          </p:nvSpPr>
          <p:spPr bwMode="auto">
            <a:xfrm>
              <a:off x="2989" y="929"/>
              <a:ext cx="91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5"/>
            <p:cNvSpPr>
              <a:spLocks noChangeShapeType="1"/>
            </p:cNvSpPr>
            <p:nvPr/>
          </p:nvSpPr>
          <p:spPr bwMode="auto">
            <a:xfrm>
              <a:off x="2989" y="1274"/>
              <a:ext cx="0" cy="205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6"/>
            <p:cNvSpPr>
              <a:spLocks noChangeShapeType="1"/>
            </p:cNvSpPr>
            <p:nvPr/>
          </p:nvSpPr>
          <p:spPr bwMode="auto">
            <a:xfrm>
              <a:off x="3080" y="929"/>
              <a:ext cx="1" cy="277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0" name="Line 77"/>
          <p:cNvSpPr>
            <a:spLocks noChangeShapeType="1"/>
          </p:cNvSpPr>
          <p:nvPr/>
        </p:nvSpPr>
        <p:spPr bwMode="auto">
          <a:xfrm flipV="1">
            <a:off x="3535363" y="1034132"/>
            <a:ext cx="0" cy="200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78"/>
          <p:cNvSpPr>
            <a:spLocks noChangeShapeType="1"/>
          </p:cNvSpPr>
          <p:nvPr/>
        </p:nvSpPr>
        <p:spPr bwMode="auto">
          <a:xfrm>
            <a:off x="3535363" y="1032545"/>
            <a:ext cx="21764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79"/>
          <p:cNvSpPr>
            <a:spLocks noChangeShapeType="1"/>
          </p:cNvSpPr>
          <p:nvPr/>
        </p:nvSpPr>
        <p:spPr bwMode="auto">
          <a:xfrm>
            <a:off x="3535363" y="5623595"/>
            <a:ext cx="0" cy="161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80"/>
          <p:cNvSpPr>
            <a:spLocks noChangeShapeType="1"/>
          </p:cNvSpPr>
          <p:nvPr/>
        </p:nvSpPr>
        <p:spPr bwMode="auto">
          <a:xfrm>
            <a:off x="3535363" y="5779170"/>
            <a:ext cx="2176462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81"/>
          <p:cNvSpPr>
            <a:spLocks noChangeShapeType="1"/>
          </p:cNvSpPr>
          <p:nvPr/>
        </p:nvSpPr>
        <p:spPr bwMode="auto">
          <a:xfrm flipH="1">
            <a:off x="6581775" y="5785520"/>
            <a:ext cx="434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82"/>
          <p:cNvSpPr>
            <a:spLocks noChangeShapeType="1"/>
          </p:cNvSpPr>
          <p:nvPr/>
        </p:nvSpPr>
        <p:spPr bwMode="auto">
          <a:xfrm flipH="1">
            <a:off x="6581775" y="4134520"/>
            <a:ext cx="434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83"/>
          <p:cNvSpPr>
            <a:spLocks noChangeShapeType="1"/>
          </p:cNvSpPr>
          <p:nvPr/>
        </p:nvSpPr>
        <p:spPr bwMode="auto">
          <a:xfrm flipH="1">
            <a:off x="6581775" y="3194720"/>
            <a:ext cx="434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84"/>
          <p:cNvSpPr>
            <a:spLocks noChangeShapeType="1"/>
          </p:cNvSpPr>
          <p:nvPr/>
        </p:nvSpPr>
        <p:spPr bwMode="auto">
          <a:xfrm flipH="1">
            <a:off x="6581775" y="1756445"/>
            <a:ext cx="434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Rectangle 85"/>
          <p:cNvSpPr>
            <a:spLocks noChangeArrowheads="1"/>
          </p:cNvSpPr>
          <p:nvPr/>
        </p:nvSpPr>
        <p:spPr bwMode="auto">
          <a:xfrm>
            <a:off x="5818188" y="5088607"/>
            <a:ext cx="6731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组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2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端口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89" name="Rectangle 86"/>
          <p:cNvSpPr>
            <a:spLocks noChangeArrowheads="1"/>
          </p:cNvSpPr>
          <p:nvPr/>
        </p:nvSpPr>
        <p:spPr bwMode="auto">
          <a:xfrm>
            <a:off x="5818188" y="1070645"/>
            <a:ext cx="6731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组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2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端口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90" name="Rectangle 87"/>
          <p:cNvSpPr>
            <a:spLocks noChangeArrowheads="1"/>
          </p:cNvSpPr>
          <p:nvPr/>
        </p:nvSpPr>
        <p:spPr bwMode="auto">
          <a:xfrm>
            <a:off x="5807075" y="3543970"/>
            <a:ext cx="709613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组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8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端口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8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的低位</a:t>
            </a:r>
            <a:endParaRPr lang="zh-CN" altLang="en-US" sz="1600" b="1">
              <a:latin typeface="Arial" panose="020B0604020202020204" pitchFamily="34" charset="0"/>
            </a:endParaRPr>
          </a:p>
        </p:txBody>
      </p:sp>
      <p:sp>
        <p:nvSpPr>
          <p:cNvPr id="91" name="Rectangle 88"/>
          <p:cNvSpPr>
            <a:spLocks noChangeArrowheads="1"/>
          </p:cNvSpPr>
          <p:nvPr/>
        </p:nvSpPr>
        <p:spPr bwMode="auto">
          <a:xfrm>
            <a:off x="5807075" y="2564482"/>
            <a:ext cx="709613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组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8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端口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88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的高位</a:t>
            </a:r>
            <a:endParaRPr lang="zh-CN" altLang="en-US" sz="1600" b="1">
              <a:latin typeface="Arial" panose="020B0604020202020204" pitchFamily="34" charset="0"/>
            </a:endParaRPr>
          </a:p>
        </p:txBody>
      </p:sp>
      <p:sp>
        <p:nvSpPr>
          <p:cNvPr id="92" name="Line 89"/>
          <p:cNvSpPr>
            <a:spLocks noChangeShapeType="1"/>
          </p:cNvSpPr>
          <p:nvPr/>
        </p:nvSpPr>
        <p:spPr bwMode="auto">
          <a:xfrm flipV="1">
            <a:off x="6192838" y="4264695"/>
            <a:ext cx="1587" cy="225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Rectangle 90"/>
          <p:cNvSpPr>
            <a:spLocks noChangeArrowheads="1"/>
          </p:cNvSpPr>
          <p:nvPr/>
        </p:nvSpPr>
        <p:spPr bwMode="auto">
          <a:xfrm>
            <a:off x="7456488" y="1257970"/>
            <a:ext cx="98266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PA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7 </a:t>
            </a:r>
            <a:r>
              <a:rPr lang="en-US" altLang="zh-CN" sz="1800" b="1">
                <a:latin typeface="Times New Roman" panose="02020603050405020304" pitchFamily="18" charset="0"/>
              </a:rPr>
              <a:t>~ PA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0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94" name="Rectangle 91"/>
          <p:cNvSpPr>
            <a:spLocks noChangeArrowheads="1"/>
          </p:cNvSpPr>
          <p:nvPr/>
        </p:nvSpPr>
        <p:spPr bwMode="auto">
          <a:xfrm>
            <a:off x="7456488" y="2785145"/>
            <a:ext cx="9826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PC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7 </a:t>
            </a:r>
            <a:r>
              <a:rPr lang="en-US" altLang="zh-CN" sz="1800" b="1">
                <a:latin typeface="Times New Roman" panose="02020603050405020304" pitchFamily="18" charset="0"/>
              </a:rPr>
              <a:t>~ PC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4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95" name="Rectangle 92"/>
          <p:cNvSpPr>
            <a:spLocks noChangeArrowheads="1"/>
          </p:cNvSpPr>
          <p:nvPr/>
        </p:nvSpPr>
        <p:spPr bwMode="auto">
          <a:xfrm>
            <a:off x="7456488" y="3732882"/>
            <a:ext cx="103981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PC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3 </a:t>
            </a:r>
            <a:r>
              <a:rPr lang="en-US" altLang="zh-CN" sz="1800" b="1">
                <a:latin typeface="Times New Roman" panose="02020603050405020304" pitchFamily="18" charset="0"/>
              </a:rPr>
              <a:t>~ PC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0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96" name="Rectangle 93"/>
          <p:cNvSpPr>
            <a:spLocks noChangeArrowheads="1"/>
          </p:cNvSpPr>
          <p:nvPr/>
        </p:nvSpPr>
        <p:spPr bwMode="auto">
          <a:xfrm>
            <a:off x="7456488" y="5175920"/>
            <a:ext cx="103981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algn="l" eaLnBrk="0" hangingPunct="0">
              <a:buClr>
                <a:schemeClr val="folHlink"/>
              </a:buClr>
              <a:buSzPct val="60000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buClr>
                <a:schemeClr val="folHlink"/>
              </a:buClr>
              <a:buSzPct val="50000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buSzPct val="50000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PB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7 </a:t>
            </a:r>
            <a:r>
              <a:rPr lang="en-US" altLang="zh-CN" sz="1800" b="1">
                <a:latin typeface="Times New Roman" panose="02020603050405020304" pitchFamily="18" charset="0"/>
              </a:rPr>
              <a:t>~ PB</a:t>
            </a:r>
            <a:r>
              <a:rPr lang="en-US" altLang="zh-CN" sz="1800" b="1" baseline="-25000">
                <a:latin typeface="Times New Roman" panose="02020603050405020304" pitchFamily="18" charset="0"/>
              </a:rPr>
              <a:t>0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98" name="Rectangle 2"/>
          <p:cNvSpPr txBox="1">
            <a:spLocks noChangeArrowheads="1"/>
          </p:cNvSpPr>
          <p:nvPr/>
        </p:nvSpPr>
        <p:spPr bwMode="auto">
          <a:xfrm>
            <a:off x="251521" y="115889"/>
            <a:ext cx="7344668" cy="576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 smtClean="0">
                <a:solidFill>
                  <a:srgbClr val="333399"/>
                </a:solidFill>
                <a:latin typeface="Tahoma" panose="020B0604030504040204"/>
                <a:ea typeface="宋体" panose="02010600030101010101" pitchFamily="2" charset="-122"/>
              </a:rPr>
              <a:t>并行接口电路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j-cs"/>
              </a:rPr>
              <a:t>8255A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2576" y="142852"/>
            <a:ext cx="8183880" cy="763528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ARM </a:t>
            </a:r>
            <a:r>
              <a:rPr lang="zh-CN" altLang="en-US" sz="3200" dirty="0">
                <a:solidFill>
                  <a:srgbClr val="FF0000"/>
                </a:solidFill>
              </a:rPr>
              <a:t>核心板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524740" name="Picture 4" descr="ARM核心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14500" y="1092201"/>
            <a:ext cx="6079881" cy="5305425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395536" y="277163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复位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1115616" y="2956302"/>
            <a:ext cx="1296144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47936" y="4139788"/>
            <a:ext cx="754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JTAG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268016" y="4324454"/>
            <a:ext cx="1296144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-27384"/>
            <a:ext cx="8183880" cy="5954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第一代</a:t>
            </a:r>
            <a:r>
              <a:rPr lang="en-US" altLang="zh-CN" sz="28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iPhone</a:t>
            </a:r>
            <a:r>
              <a:rPr lang="zh-CN" altLang="en-US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原型机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402" name="Picture 2" descr="https://pics6.baidu.com/feed/bd3eb13533fa828b3db26918349eca30960a5a3a.jpeg?token=23c4f1a284f7d316d3305e61cc197552&amp;s=972046A64B25B2DA5E40DEA30300B008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14480" y="692696"/>
            <a:ext cx="5357808" cy="5357808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7031859" y="3861048"/>
            <a:ext cx="21836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三星</a:t>
            </a:r>
            <a:r>
              <a:rPr lang="en-US" dirty="0" smtClean="0"/>
              <a:t>K4X1G153PC</a:t>
            </a:r>
            <a:endParaRPr lang="en-US" dirty="0" smtClean="0"/>
          </a:p>
          <a:p>
            <a:r>
              <a:rPr lang="en-US" altLang="zh-CN" dirty="0" smtClean="0"/>
              <a:t>(</a:t>
            </a:r>
            <a:r>
              <a:rPr lang="en-US" dirty="0" smtClean="0"/>
              <a:t>ARM1176JZF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zh-CN" altLang="en-US" dirty="0" smtClean="0"/>
              <a:t>及组件</a:t>
            </a:r>
            <a:endParaRPr lang="en-US" altLang="zh-CN" dirty="0" smtClean="0"/>
          </a:p>
        </p:txBody>
      </p:sp>
      <p:sp>
        <p:nvSpPr>
          <p:cNvPr id="6" name="圆角矩形 5"/>
          <p:cNvSpPr/>
          <p:nvPr/>
        </p:nvSpPr>
        <p:spPr>
          <a:xfrm>
            <a:off x="4143372" y="3907406"/>
            <a:ext cx="571504" cy="642942"/>
          </a:xfrm>
          <a:prstGeom prst="roundRect">
            <a:avLst/>
          </a:prstGeom>
          <a:noFill/>
          <a:ln w="4254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3112866"/>
            <a:ext cx="1695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NAND FLASH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3000364" y="2407208"/>
            <a:ext cx="857256" cy="1143008"/>
          </a:xfrm>
          <a:prstGeom prst="roundRect">
            <a:avLst/>
          </a:prstGeom>
          <a:noFill/>
          <a:ln w="4254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70257" y="4759758"/>
            <a:ext cx="754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JTAG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4295772" y="4407472"/>
            <a:ext cx="571504" cy="642942"/>
          </a:xfrm>
          <a:prstGeom prst="roundRect">
            <a:avLst/>
          </a:prstGeom>
          <a:noFill/>
          <a:ln w="4254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561574" y="2974232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smtClean="0"/>
              <a:t>USB</a:t>
            </a:r>
            <a:endParaRPr lang="zh-CN" altLang="en-US" dirty="0"/>
          </a:p>
        </p:txBody>
      </p:sp>
      <p:cxnSp>
        <p:nvCxnSpPr>
          <p:cNvPr id="3" name="直接箭头连接符 2"/>
          <p:cNvCxnSpPr>
            <a:stCxn id="12" idx="1"/>
          </p:cNvCxnSpPr>
          <p:nvPr/>
        </p:nvCxnSpPr>
        <p:spPr>
          <a:xfrm flipH="1">
            <a:off x="6516216" y="3158898"/>
            <a:ext cx="104535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547664" y="3343564"/>
            <a:ext cx="188132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508104" y="6228020"/>
            <a:ext cx="650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LCD</a:t>
            </a:r>
            <a:endParaRPr lang="zh-CN" altLang="en-US" dirty="0"/>
          </a:p>
        </p:txBody>
      </p:sp>
      <p:cxnSp>
        <p:nvCxnSpPr>
          <p:cNvPr id="15" name="直接箭头连接符 14"/>
          <p:cNvCxnSpPr>
            <a:stCxn id="16" idx="0"/>
          </p:cNvCxnSpPr>
          <p:nvPr/>
        </p:nvCxnSpPr>
        <p:spPr>
          <a:xfrm flipH="1" flipV="1">
            <a:off x="5833353" y="5733256"/>
            <a:ext cx="1" cy="494764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52400" y="1340768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串口，连</a:t>
            </a:r>
            <a:r>
              <a:rPr lang="en-US" altLang="zh-CN" dirty="0" smtClean="0"/>
              <a:t>IPOD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856713" y="1525434"/>
            <a:ext cx="631615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561574" y="3429000"/>
            <a:ext cx="643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LAN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2" idx="1"/>
          </p:cNvCxnSpPr>
          <p:nvPr/>
        </p:nvCxnSpPr>
        <p:spPr>
          <a:xfrm flipH="1">
            <a:off x="6516216" y="3613666"/>
            <a:ext cx="104535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5403197" y="116632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SIM</a:t>
            </a:r>
            <a:r>
              <a:rPr lang="zh-CN" altLang="en-US" dirty="0" smtClean="0"/>
              <a:t>槽</a:t>
            </a:r>
            <a:endParaRPr lang="zh-CN" altLang="en-US" dirty="0"/>
          </a:p>
        </p:txBody>
      </p:sp>
      <p:cxnSp>
        <p:nvCxnSpPr>
          <p:cNvPr id="21" name="直接箭头连接符 20"/>
          <p:cNvCxnSpPr>
            <a:stCxn id="24" idx="2"/>
          </p:cNvCxnSpPr>
          <p:nvPr/>
        </p:nvCxnSpPr>
        <p:spPr>
          <a:xfrm flipH="1">
            <a:off x="5833353" y="485964"/>
            <a:ext cx="2014" cy="63878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75856" y="615601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相机</a:t>
            </a:r>
            <a:endParaRPr lang="zh-CN" altLang="en-US" dirty="0"/>
          </a:p>
        </p:txBody>
      </p:sp>
      <p:cxnSp>
        <p:nvCxnSpPr>
          <p:cNvPr id="28" name="直接箭头连接符 27"/>
          <p:cNvCxnSpPr>
            <a:stCxn id="27" idx="0"/>
          </p:cNvCxnSpPr>
          <p:nvPr/>
        </p:nvCxnSpPr>
        <p:spPr>
          <a:xfrm flipH="1" flipV="1">
            <a:off x="3599021" y="5373216"/>
            <a:ext cx="1" cy="782796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4429125" y="4203785"/>
            <a:ext cx="2755134" cy="25092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1331640" y="4944424"/>
            <a:ext cx="2097352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7497239" y="4953942"/>
            <a:ext cx="110799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 smtClean="0"/>
              <a:t>主存</a:t>
            </a:r>
            <a:endParaRPr lang="en-US" altLang="zh-CN" dirty="0" smtClean="0"/>
          </a:p>
          <a:p>
            <a:pPr algn="ctr"/>
            <a:r>
              <a:rPr lang="zh-CN" altLang="en-US" dirty="0"/>
              <a:t>放</a:t>
            </a:r>
            <a:r>
              <a:rPr lang="zh-CN" altLang="en-US" dirty="0" smtClean="0"/>
              <a:t>在其上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10" grpId="0"/>
      <p:bldP spid="11" grpId="0" animBg="1"/>
      <p:bldP spid="12" grpId="0"/>
      <p:bldP spid="16" grpId="0"/>
      <p:bldP spid="19" grpId="0"/>
      <p:bldP spid="22" grpId="0"/>
      <p:bldP spid="24" grpId="0"/>
      <p:bldP spid="27" grpId="0"/>
      <p:bldP spid="3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2765" y="-27384"/>
            <a:ext cx="8183880" cy="5954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局部放大</a:t>
            </a:r>
            <a:endParaRPr lang="zh-CN" altLang="en-US" sz="28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3010" name="Picture 2" descr="https://n.sinaimg.cn/translate/250/w630h420/20190321/PLDk-huqrnan386042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4"/>
            <a:ext cx="8316922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视点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视点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>
    <a:spDef>
      <a:spPr>
        <a:noFill/>
        <a:ln>
          <a:solidFill>
            <a:schemeClr val="tx1"/>
          </a:solidFill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微型计算机原理">
  <a:themeElements>
    <a:clrScheme name="微型计算机原理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微型计算机原理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sq">
          <a:solidFill>
            <a:schemeClr val="tx1"/>
          </a:solidFill>
          <a:miter lim="800000"/>
          <a:headEnd type="none" w="sm" len="sm"/>
          <a:tailEnd type="none" w="sm" len="sm"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微型计算机原理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微型计算机原理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微型计算机原理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微型计算机原理">
  <a:themeElements>
    <a:clrScheme name="微型计算机原理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微型计算机原理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sq">
          <a:solidFill>
            <a:schemeClr val="tx1"/>
          </a:solidFill>
          <a:miter lim="800000"/>
          <a:headEnd type="none" w="sm" len="sm"/>
          <a:tailEnd type="none" w="sm" len="sm"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微型计算机原理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微型计算机原理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微型计算机原理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微型计算机原理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视点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视点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  <a:prstDash val="lgDash"/>
        </a:ln>
      </a:spPr>
      <a:bodyPr rtlCol="0" anchor="ctr"/>
      <a:lstStyle>
        <a:defPPr algn="ctr">
          <a:defRPr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7625">
          <a:solidFill>
            <a:srgbClr val="FF0000"/>
          </a:solidFill>
          <a:head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14845</Words>
  <Application>WPS 演示</Application>
  <PresentationFormat>全屏显示(4:3)</PresentationFormat>
  <Paragraphs>2227</Paragraphs>
  <Slides>129</Slides>
  <Notes>101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129</vt:i4>
      </vt:variant>
    </vt:vector>
  </HeadingPairs>
  <TitlesOfParts>
    <vt:vector size="157" baseType="lpstr">
      <vt:lpstr>Arial</vt:lpstr>
      <vt:lpstr>宋体</vt:lpstr>
      <vt:lpstr>Wingdings</vt:lpstr>
      <vt:lpstr>Wingdings 2</vt:lpstr>
      <vt:lpstr>Verdana</vt:lpstr>
      <vt:lpstr>Times New Roman</vt:lpstr>
      <vt:lpstr>华文新魏</vt:lpstr>
      <vt:lpstr>Symbol</vt:lpstr>
      <vt:lpstr>黑体</vt:lpstr>
      <vt:lpstr>华文楷体</vt:lpstr>
      <vt:lpstr>楷体_GB2312</vt:lpstr>
      <vt:lpstr>新宋体</vt:lpstr>
      <vt:lpstr>微软雅黑</vt:lpstr>
      <vt:lpstr>Arial Unicode MS</vt:lpstr>
      <vt:lpstr>Calibri</vt:lpstr>
      <vt:lpstr>楷体_GB2312</vt:lpstr>
      <vt:lpstr>Garamond</vt:lpstr>
      <vt:lpstr>Franklin Gothic Book</vt:lpstr>
      <vt:lpstr>Symbol</vt:lpstr>
      <vt:lpstr>Calibri</vt:lpstr>
      <vt:lpstr>华文行楷</vt:lpstr>
      <vt:lpstr>Tahoma</vt:lpstr>
      <vt:lpstr>Tahoma</vt:lpstr>
      <vt:lpstr>1_视点</vt:lpstr>
      <vt:lpstr>微型计算机原理</vt:lpstr>
      <vt:lpstr>1_微型计算机原理</vt:lpstr>
      <vt:lpstr>默认设计模板</vt:lpstr>
      <vt:lpstr>2_视点</vt:lpstr>
      <vt:lpstr>PowerPoint 演示文稿</vt:lpstr>
      <vt:lpstr>PowerPoint 演示文稿</vt:lpstr>
      <vt:lpstr> 1、SoC的概念 </vt:lpstr>
      <vt:lpstr>PowerPoint 演示文稿</vt:lpstr>
      <vt:lpstr>PowerPoint 演示文稿</vt:lpstr>
      <vt:lpstr>PowerPoint 演示文稿</vt:lpstr>
      <vt:lpstr>2、S3C2440-以ARM920T为内核的SoC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中断控制器</vt:lpstr>
      <vt:lpstr> </vt:lpstr>
      <vt:lpstr>S3C2440X内部结构（1）——ARM920T</vt:lpstr>
      <vt:lpstr>S3C2440X内部结构（2）</vt:lpstr>
      <vt:lpstr>S3C2440的封装（289FBGA)——6层板</vt:lpstr>
      <vt:lpstr>ARM 核心板</vt:lpstr>
      <vt:lpstr>PowerPoint 演示文稿</vt:lpstr>
      <vt:lpstr>PowerPoint 演示文稿</vt:lpstr>
      <vt:lpstr>PowerPoint 演示文稿</vt:lpstr>
      <vt:lpstr>PowerPoint 演示文稿</vt:lpstr>
      <vt:lpstr>1、电源电路设计</vt:lpstr>
      <vt:lpstr>PowerPoint 演示文稿</vt:lpstr>
      <vt:lpstr>2、晶振电路设计</vt:lpstr>
      <vt:lpstr>S3C2440X内部结构（2）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3、复位电路设计</vt:lpstr>
      <vt:lpstr>PowerPoint 演示文稿</vt:lpstr>
      <vt:lpstr>PowerPoint 演示文稿</vt:lpstr>
      <vt:lpstr>PowerPoint 演示文稿</vt:lpstr>
      <vt:lpstr>PowerPoint 演示文稿</vt:lpstr>
      <vt:lpstr>4、JTAG调试接口设计</vt:lpstr>
      <vt:lpstr>早期调试——仿真</vt:lpstr>
      <vt:lpstr>PowerPoint 演示文稿</vt:lpstr>
      <vt:lpstr>S3C2440X内部结构（1）</vt:lpstr>
      <vt:lpstr>JTAG接口的IC内部结构</vt:lpstr>
      <vt:lpstr>PowerPoint 演示文稿</vt:lpstr>
      <vt:lpstr>PowerPoint 演示文稿</vt:lpstr>
      <vt:lpstr>5、主存储器设计</vt:lpstr>
      <vt:lpstr>PowerPoint 演示文稿</vt:lpstr>
      <vt:lpstr>PowerPoint 演示文稿</vt:lpstr>
      <vt:lpstr>PowerPoint 演示文稿</vt:lpstr>
      <vt:lpstr>(a) NOR flash和NAND flash的理解</vt:lpstr>
      <vt:lpstr>ARM嵌入式系统启动——使用NOR</vt:lpstr>
      <vt:lpstr>PowerPoint 演示文稿</vt:lpstr>
      <vt:lpstr> ARM嵌入式系统启动——使用NAND</vt:lpstr>
      <vt:lpstr>PowerPoint 演示文稿</vt:lpstr>
      <vt:lpstr>(c) 分区（Bank）的理解</vt:lpstr>
      <vt:lpstr>(c) 分区（Bank）的理解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(e.2) S3C2440总线中与主存芯片有关引脚</vt:lpstr>
      <vt:lpstr>S3C2440A External Timing Diagram</vt:lpstr>
      <vt:lpstr>PowerPoint 演示文稿</vt:lpstr>
      <vt:lpstr>利用1块8位NOR Flash芯片28F128（64K8） 扩展8位ROM存储器</vt:lpstr>
      <vt:lpstr>写入：假定接GCS1:08000000-0FFFFFFF</vt:lpstr>
      <vt:lpstr>读出：假定接GCS1:08000000-0FFFFFFF</vt:lpstr>
      <vt:lpstr>利用2块8位NOR Flash芯片扩展16位ROM存储器</vt:lpstr>
      <vt:lpstr>写入：假定接GCS2:10000000-17FFFFFF</vt:lpstr>
      <vt:lpstr>读出：</vt:lpstr>
      <vt:lpstr>时序</vt:lpstr>
      <vt:lpstr>利用4块8位NOR Flash芯片扩展32位ROM存储器</vt:lpstr>
      <vt:lpstr>利用1块16位NOR Flash芯片扩展16位ROM存储器</vt:lpstr>
      <vt:lpstr>PowerPoint 演示文稿</vt:lpstr>
      <vt:lpstr>nBE[3:0] =  nWBE[3:0] &amp; nOE      按位与</vt:lpstr>
      <vt:lpstr>PowerPoint 演示文稿</vt:lpstr>
      <vt:lpstr>利用2块16位NOR Flash芯片扩展32位ROM存储器</vt:lpstr>
      <vt:lpstr>PowerPoint 演示文稿</vt:lpstr>
      <vt:lpstr>(g)如何在S3C2440外部扩展I/O接口？</vt:lpstr>
      <vt:lpstr>(5.3) SDRAM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(5.4) NAND flash设计</vt:lpstr>
      <vt:lpstr>NAND flash控制器</vt:lpstr>
      <vt:lpstr>PowerPoint 演示文稿</vt:lpstr>
      <vt:lpstr>NAND Flash Controller Block Diagram</vt:lpstr>
      <vt:lpstr>NAND Flash控制器接口</vt:lpstr>
      <vt:lpstr>NAND Flash的命令锁存时序</vt:lpstr>
      <vt:lpstr>NAND Flash的地址锁存时序</vt:lpstr>
      <vt:lpstr>PowerPoint 演示文稿</vt:lpstr>
      <vt:lpstr>S3C2410与NAND Flash的连接</vt:lpstr>
      <vt:lpstr>NAND Flash读写</vt:lpstr>
      <vt:lpstr>(5.5) 存储器初始化</vt:lpstr>
      <vt:lpstr>PowerPoint 演示文稿</vt:lpstr>
      <vt:lpstr>总线宽度及等待控制寄存器BWSCON （1个）</vt:lpstr>
      <vt:lpstr>Bank控制寄存器BANKCON0-7（8个）</vt:lpstr>
      <vt:lpstr>刷新控制寄存器BREFRESH （1个）</vt:lpstr>
      <vt:lpstr>Bank6、7容量寄存器BANKSIZE （1个）</vt:lpstr>
      <vt:lpstr>SDRAM模式设置寄存器MRSRB6、7 （2个）</vt:lpstr>
      <vt:lpstr>编程</vt:lpstr>
      <vt:lpstr>13个寄存器地址</vt:lpstr>
      <vt:lpstr>总线宽度及等待控制寄存器BWSCON =0x22000000，Bank7、6的总线32位</vt:lpstr>
      <vt:lpstr>Bank控制寄存器BANKCON6=0X00018005 </vt:lpstr>
      <vt:lpstr>刷新控制寄存器BREFRESH = 0x008c04f3</vt:lpstr>
      <vt:lpstr>Bank6、7容量寄存器BANKSIZE = 0x000000b1；10 1 1 0 001</vt:lpstr>
      <vt:lpstr> </vt:lpstr>
      <vt:lpstr> </vt:lpstr>
      <vt:lpstr>引申</vt:lpstr>
      <vt:lpstr>PowerPoint 演示文稿</vt:lpstr>
      <vt:lpstr>ARM 核心板</vt:lpstr>
      <vt:lpstr>第一代iPhone原型机</vt:lpstr>
      <vt:lpstr>局部放大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scott</dc:creator>
  <cp:lastModifiedBy>尤尤</cp:lastModifiedBy>
  <cp:revision>1632</cp:revision>
  <dcterms:created xsi:type="dcterms:W3CDTF">2011-09-17T02:46:00Z</dcterms:created>
  <dcterms:modified xsi:type="dcterms:W3CDTF">2026-05-13T10:03:35Z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402EDEA9D39445D8BD844420B1C2B14B_12</vt:lpwstr>
  </property>
</Properties>
</file>