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8" r:id="rId6"/>
    <p:sldId id="258" r:id="rId7"/>
    <p:sldId id="259" r:id="rId8"/>
    <p:sldId id="301" r:id="rId9"/>
    <p:sldId id="271" r:id="rId10"/>
    <p:sldId id="302" r:id="rId11"/>
    <p:sldId id="303" r:id="rId12"/>
    <p:sldId id="269" r:id="rId13"/>
    <p:sldId id="260" r:id="rId14"/>
    <p:sldId id="273" r:id="rId15"/>
    <p:sldId id="274" r:id="rId16"/>
    <p:sldId id="275" r:id="rId17"/>
    <p:sldId id="276" r:id="rId18"/>
    <p:sldId id="277" r:id="rId19"/>
    <p:sldId id="279" r:id="rId20"/>
    <p:sldId id="278" r:id="rId21"/>
    <p:sldId id="262" r:id="rId22"/>
    <p:sldId id="263" r:id="rId23"/>
    <p:sldId id="264" r:id="rId24"/>
    <p:sldId id="267" r:id="rId25"/>
    <p:sldId id="281" r:id="rId26"/>
    <p:sldId id="280" r:id="rId27"/>
    <p:sldId id="295" r:id="rId28"/>
    <p:sldId id="296" r:id="rId29"/>
    <p:sldId id="282" r:id="rId30"/>
    <p:sldId id="283" r:id="rId31"/>
    <p:sldId id="286" r:id="rId32"/>
    <p:sldId id="284" r:id="rId33"/>
    <p:sldId id="285" r:id="rId34"/>
    <p:sldId id="287" r:id="rId35"/>
    <p:sldId id="288" r:id="rId36"/>
    <p:sldId id="289" r:id="rId37"/>
    <p:sldId id="290" r:id="rId38"/>
    <p:sldId id="265" r:id="rId39"/>
    <p:sldId id="293" r:id="rId40"/>
    <p:sldId id="294" r:id="rId41"/>
    <p:sldId id="291" r:id="rId42"/>
    <p:sldId id="292" r:id="rId43"/>
    <p:sldId id="304" r:id="rId44"/>
    <p:sldId id="305" r:id="rId45"/>
    <p:sldId id="266" r:id="rId46"/>
    <p:sldId id="297" r:id="rId47"/>
    <p:sldId id="298" r:id="rId48"/>
    <p:sldId id="299" r:id="rId49"/>
    <p:sldId id="300" r:id="rId5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08" autoAdjust="0"/>
  </p:normalViewPr>
  <p:slideViewPr>
    <p:cSldViewPr showGuides="1">
      <p:cViewPr varScale="1">
        <p:scale>
          <a:sx n="65" d="100"/>
          <a:sy n="65" d="100"/>
        </p:scale>
        <p:origin x="13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6A018-1F69-41BB-AE1A-7E3D34CC46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155EB-9787-4615-8FB2-7EF77972D5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2.2 </a:t>
            </a:r>
            <a:r>
              <a:rPr lang="zh-CN" altLang="en-US" sz="12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含义</a:t>
            </a:r>
            <a:r>
              <a:rPr lang="en-US" altLang="zh-CN" sz="12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12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为什么设置两种状态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2.4 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X86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的区别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2.4 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X86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的区别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LDR R1,[R0,#-4] 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或 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R2,#-4  LDR R1,[R0,R2];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死循环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先保存断点，再修改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值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相对寻址，相对位移量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位有符号数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链接器符号常量，表示各段地址应该是多少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zh-CN" altLang="en-US" dirty="0" smtClean="0"/>
              <a:t>最后一个段不写 </a:t>
            </a:r>
            <a:r>
              <a:rPr lang="en-US" altLang="zh-CN" dirty="0" smtClean="0"/>
              <a:t>NOINIT</a:t>
            </a:r>
            <a:r>
              <a:rPr lang="zh-CN" altLang="en-US" smtClean="0"/>
              <a:t>，则当成</a:t>
            </a:r>
            <a:r>
              <a:rPr lang="en-US" altLang="zh-CN" dirty="0" smtClean="0"/>
              <a:t>RW</a:t>
            </a:r>
            <a:r>
              <a:rPr lang="zh-CN" altLang="en-US" dirty="0" smtClean="0"/>
              <a:t>段，写了 </a:t>
            </a:r>
            <a:r>
              <a:rPr lang="en-US" altLang="zh-CN" dirty="0" smtClean="0"/>
              <a:t>NOINIT</a:t>
            </a:r>
            <a:r>
              <a:rPr lang="zh-CN" altLang="en-US" dirty="0" smtClean="0"/>
              <a:t>，则是</a:t>
            </a:r>
            <a:r>
              <a:rPr lang="en-US" altLang="zh-CN" dirty="0" err="1" smtClean="0"/>
              <a:t>zi</a:t>
            </a:r>
            <a:r>
              <a:rPr lang="zh-CN" altLang="en-US" dirty="0" smtClean="0"/>
              <a:t>段。两种情况这个段都可以当做堆栈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文字池最后实际是因对齐而空的一个字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S3C2440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编程时没有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函数，而是复位中断程序</a:t>
            </a:r>
            <a:b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dirty="0" smtClean="0">
                <a:solidFill>
                  <a:schemeClr val="dk1"/>
                </a:solidFill>
              </a:rPr>
              <a:t>extern </a:t>
            </a:r>
            <a:r>
              <a:rPr lang="en-US" altLang="zh-CN" sz="1200" dirty="0" err="1" smtClean="0">
                <a:solidFill>
                  <a:schemeClr val="dk1"/>
                </a:solidFill>
              </a:rPr>
              <a:t>int</a:t>
            </a:r>
            <a:r>
              <a:rPr lang="en-US" altLang="zh-CN" sz="1200" dirty="0" smtClean="0">
                <a:solidFill>
                  <a:schemeClr val="dk1"/>
                </a:solidFill>
              </a:rPr>
              <a:t> A(</a:t>
            </a:r>
            <a:r>
              <a:rPr lang="en-US" altLang="zh-CN" sz="1200" dirty="0" err="1" smtClean="0">
                <a:solidFill>
                  <a:schemeClr val="dk1"/>
                </a:solidFill>
              </a:rPr>
              <a:t>int</a:t>
            </a:r>
            <a:r>
              <a:rPr lang="en-US" altLang="zh-CN" sz="1200" dirty="0" smtClean="0">
                <a:solidFill>
                  <a:schemeClr val="dk1"/>
                </a:solidFill>
              </a:rPr>
              <a:t> </a:t>
            </a:r>
            <a:r>
              <a:rPr lang="en-US" altLang="zh-CN" sz="1200" dirty="0" err="1" smtClean="0">
                <a:solidFill>
                  <a:schemeClr val="dk1"/>
                </a:solidFill>
              </a:rPr>
              <a:t>arg</a:t>
            </a:r>
            <a:r>
              <a:rPr lang="en-US" altLang="zh-CN" sz="1200" dirty="0" smtClean="0">
                <a:solidFill>
                  <a:schemeClr val="dk1"/>
                </a:solidFill>
              </a:rPr>
              <a:t>); </a:t>
            </a:r>
            <a:r>
              <a:rPr lang="zh-CN" altLang="en-US" sz="1200" dirty="0" smtClean="0">
                <a:solidFill>
                  <a:schemeClr val="dk1"/>
                </a:solidFill>
              </a:rPr>
              <a:t>一般规范的做法是放在头文件，此处</a:t>
            </a:r>
            <a:r>
              <a:rPr lang="en-US" altLang="zh-CN" sz="1200" dirty="0" smtClean="0">
                <a:solidFill>
                  <a:schemeClr val="dk1"/>
                </a:solidFill>
              </a:rPr>
              <a:t>include</a:t>
            </a:r>
            <a:r>
              <a:rPr lang="zh-CN" altLang="en-US" sz="1200" dirty="0" smtClean="0">
                <a:solidFill>
                  <a:schemeClr val="dk1"/>
                </a:solidFill>
              </a:rPr>
              <a:t>头文件</a:t>
            </a:r>
            <a:endParaRPr lang="en-US" altLang="zh-CN" sz="1200" dirty="0" smtClean="0">
              <a:solidFill>
                <a:schemeClr val="dk1"/>
              </a:solidFill>
            </a:endParaRPr>
          </a:p>
          <a:p>
            <a:pPr marL="266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/>
              <a:t>汇编最后两条语句可以缩写为</a:t>
            </a:r>
            <a:r>
              <a:rPr lang="en-US" altLang="zh-CN" sz="1200" dirty="0" err="1" smtClean="0"/>
              <a:t>ldmfd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sp</a:t>
            </a:r>
            <a:r>
              <a:rPr lang="en-US" altLang="zh-CN" sz="1200" dirty="0" smtClean="0"/>
              <a:t>!, {PC}</a:t>
            </a:r>
            <a:r>
              <a:rPr lang="zh-CN" altLang="en-US" sz="1200" dirty="0" smtClean="0"/>
              <a:t>，但如果中间无子程序调用，也只用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mov</a:t>
            </a:r>
            <a:r>
              <a:rPr lang="en-US" altLang="zh-CN" sz="1200" dirty="0" smtClean="0"/>
              <a:t>  pc, </a:t>
            </a:r>
            <a:r>
              <a:rPr lang="en-US" altLang="zh-CN" sz="1200" dirty="0" err="1" smtClean="0"/>
              <a:t>lr</a:t>
            </a:r>
            <a:r>
              <a:rPr lang="en-US" altLang="zh-CN" sz="1200" dirty="0" smtClean="0"/>
              <a:t> </a:t>
            </a:r>
            <a:endParaRPr lang="zh-CN" altLang="en-US" sz="1200" dirty="0" smtClean="0"/>
          </a:p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堆栈从高地址到地址先放断点，然后数组，然后结构体变量，结构体起始地址正好是栈顶（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的值），所以有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r13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、内部有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NAND Flash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控制器；自启动机制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en-US" altLang="zh-CN" sz="1200" kern="1200" baseline="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5.7</a:t>
            </a:r>
            <a:r>
              <a:rPr lang="zh-CN" altLang="en-US" sz="1200" kern="1200" baseline="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、即便是使用</a:t>
            </a:r>
            <a:r>
              <a:rPr lang="en-US" altLang="zh-CN" sz="1200" kern="1200" baseline="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NOR 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Flash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，也可能使用</a:t>
            </a:r>
            <a:r>
              <a:rPr lang="en-US" altLang="zh-CN" sz="12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BOOTLOADER</a:t>
            </a:r>
            <a:r>
              <a:rPr lang="zh-CN" altLang="en-US" sz="12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，比如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Flash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中一个数据段（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RW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），其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RWBASE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设置在其它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BANK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en-US" altLang="zh-CN" sz="12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BANK1</a:t>
            </a:r>
            <a:r>
              <a:rPr lang="zh-CN" altLang="en-US" sz="12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开始地址为</a:t>
            </a:r>
            <a:r>
              <a:rPr lang="en-US" altLang="zh-CN" sz="12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0x08000000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en-US" altLang="zh-CN" sz="12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BANK1</a:t>
            </a:r>
            <a:r>
              <a:rPr lang="zh-CN" altLang="en-US" sz="12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开始地址为</a:t>
            </a:r>
            <a:r>
              <a:rPr lang="en-US" altLang="zh-CN" sz="12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0x08000000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>
              <a:spcBef>
                <a:spcPts val="1000"/>
              </a:spcBef>
              <a:spcAft>
                <a:spcPts val="500"/>
              </a:spcAft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、如果一个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在初始化时被配置为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位：对于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产生四个选体信号，并将地址（无论是否字地址）送上地址线。对于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STRH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，则根据地址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决定产生哪两个选体信号。同样，对于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STRB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，根据地址最低两位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A1A0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决定产生哪个选体信号。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algn="l">
              <a:spcBef>
                <a:spcPts val="1000"/>
              </a:spcBef>
              <a:spcAft>
                <a:spcPts val="500"/>
              </a:spcAft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所以，对于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片构成的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位存储器（地址线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接芯片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），访问字用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，地址应为字地址，才能正确访问一个字。访问半字用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STRH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，必须给出半字地址（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A0=0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），访问一个字节用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STRB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，给出任意地址都可以。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algn="l">
              <a:spcBef>
                <a:spcPts val="1000"/>
              </a:spcBef>
              <a:spcAft>
                <a:spcPts val="500"/>
              </a:spcAft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写操作时，无论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LDR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LDRH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LDRB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个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都无效，但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有效，所以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个芯片同时读，最终由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舍弃多余的。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、对于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片构成的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位存储器（地址线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A1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接芯片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），需要初始化时配置该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为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位。如果不做配置，当用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STRH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访问时，若地址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A1A0=00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时没问题，但当地址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A1A0=10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时，产生的是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WBE3:2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，导致无法访问。一旦配置为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位，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知道存储器接在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D15-D0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上，故总是产生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WBE1:0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。此时用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或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STRH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效果一样，只要地址最低位为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，则产生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WBE1:0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，因此可正确写入半字。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使用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STRB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访问一个字节时，同样因为有上述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位配置，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根据地址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A0=0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时产生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WBE0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，当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A0=1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时产生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WBE1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对于</a:t>
            </a:r>
            <a:r>
              <a:rPr lang="en-US" altLang="zh-CN" dirty="0" err="1" smtClean="0"/>
              <a:t>sram</a:t>
            </a:r>
            <a:r>
              <a:rPr lang="zh-CN" altLang="en-US" dirty="0" smtClean="0"/>
              <a:t>，没有</a:t>
            </a:r>
            <a:r>
              <a:rPr lang="en-US" altLang="zh-CN" dirty="0" smtClean="0"/>
              <a:t>UB/LB</a:t>
            </a:r>
            <a:r>
              <a:rPr lang="zh-CN" altLang="en-US" dirty="0" smtClean="0"/>
              <a:t>引脚，因此按之前的图中解法。这种情况只能用</a:t>
            </a:r>
            <a:r>
              <a:rPr lang="en-US" altLang="zh-CN" dirty="0" smtClean="0"/>
              <a:t>WBE</a:t>
            </a:r>
            <a:r>
              <a:rPr lang="zh-CN" altLang="en-US" dirty="0" smtClean="0"/>
              <a:t>，不能用</a:t>
            </a:r>
            <a:r>
              <a:rPr lang="en-US" altLang="zh-CN" dirty="0" smtClean="0"/>
              <a:t>BE</a:t>
            </a:r>
            <a:r>
              <a:rPr lang="zh-CN" altLang="en-US" dirty="0" smtClean="0"/>
              <a:t>。写时用</a:t>
            </a:r>
            <a:r>
              <a:rPr lang="en-US" altLang="zh-CN" dirty="0" smtClean="0"/>
              <a:t>WBE</a:t>
            </a:r>
            <a:r>
              <a:rPr lang="zh-CN" altLang="en-US" dirty="0" smtClean="0"/>
              <a:t>做写信号，可以选择字节、半字、字。读时</a:t>
            </a:r>
            <a:r>
              <a:rPr lang="en-US" altLang="zh-CN" dirty="0" smtClean="0"/>
              <a:t>WBE</a:t>
            </a:r>
            <a:r>
              <a:rPr lang="zh-CN" altLang="en-US" dirty="0" smtClean="0"/>
              <a:t>无效，</a:t>
            </a:r>
            <a:r>
              <a:rPr lang="en-US" altLang="zh-CN" dirty="0" smtClean="0"/>
              <a:t>OE</a:t>
            </a:r>
            <a:r>
              <a:rPr lang="zh-CN" altLang="en-US" dirty="0" smtClean="0"/>
              <a:t>有效，只能读一个字。</a:t>
            </a:r>
            <a:br>
              <a:rPr lang="zh-CN" altLang="en-US" dirty="0" smtClean="0"/>
            </a:br>
            <a:r>
              <a:rPr lang="zh-CN" altLang="en-US" dirty="0" smtClean="0"/>
              <a:t>对于</a:t>
            </a:r>
            <a:r>
              <a:rPr lang="en-US" altLang="zh-CN" dirty="0" smtClean="0"/>
              <a:t>NOR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UB/LB</a:t>
            </a:r>
            <a:r>
              <a:rPr lang="zh-CN" altLang="en-US" dirty="0" smtClean="0"/>
              <a:t>引脚，因此用</a:t>
            </a:r>
            <a:r>
              <a:rPr lang="en-US" altLang="zh-CN" dirty="0" smtClean="0"/>
              <a:t>BE</a:t>
            </a:r>
            <a:r>
              <a:rPr lang="zh-CN" altLang="en-US" dirty="0" smtClean="0"/>
              <a:t>接</a:t>
            </a:r>
            <a:r>
              <a:rPr lang="en-US" altLang="zh-CN" dirty="0" smtClean="0"/>
              <a:t>UB/LB</a:t>
            </a:r>
            <a:r>
              <a:rPr lang="zh-CN" altLang="en-US" dirty="0" smtClean="0"/>
              <a:t>引脚，</a:t>
            </a:r>
            <a:r>
              <a:rPr lang="en-US" altLang="zh-CN" dirty="0" smtClean="0"/>
              <a:t>WE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OE</a:t>
            </a:r>
            <a:r>
              <a:rPr lang="zh-CN" altLang="en-US" dirty="0" smtClean="0"/>
              <a:t>分别接写、读引脚。</a:t>
            </a:r>
            <a:r>
              <a:rPr lang="en-US" altLang="zh-CN" dirty="0" smtClean="0"/>
              <a:t>WE</a:t>
            </a:r>
            <a:r>
              <a:rPr lang="zh-CN" altLang="en-US" dirty="0" smtClean="0"/>
              <a:t>有效表示写，此时</a:t>
            </a:r>
            <a:r>
              <a:rPr lang="en-US" altLang="zh-CN" dirty="0" smtClean="0"/>
              <a:t>BE</a:t>
            </a:r>
            <a:r>
              <a:rPr lang="zh-CN" altLang="en-US" dirty="0" smtClean="0"/>
              <a:t>相当于</a:t>
            </a:r>
            <a:r>
              <a:rPr lang="en-US" altLang="zh-CN" dirty="0" smtClean="0"/>
              <a:t>WBE</a:t>
            </a:r>
            <a:r>
              <a:rPr lang="zh-CN" altLang="en-US" dirty="0" smtClean="0"/>
              <a:t>，用于选择字节、半字、字。</a:t>
            </a:r>
            <a:r>
              <a:rPr lang="en-US" altLang="zh-CN" dirty="0" smtClean="0"/>
              <a:t>OE</a:t>
            </a:r>
            <a:r>
              <a:rPr lang="zh-CN" altLang="en-US" dirty="0" smtClean="0"/>
              <a:t>有效时读，</a:t>
            </a:r>
            <a:r>
              <a:rPr lang="en-US" altLang="zh-CN" dirty="0" smtClean="0"/>
              <a:t>BE</a:t>
            </a:r>
            <a:r>
              <a:rPr lang="zh-CN" altLang="en-US" dirty="0" smtClean="0"/>
              <a:t>全有效，只能读一个字。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、因为这种芯片多了个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UB/LB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引脚，故用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UB/LB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，不像之前用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接写信号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、对于前面</a:t>
            </a:r>
            <a:r>
              <a:rPr lang="en-US" altLang="zh-CN" sz="1200" dirty="0" smtClean="0">
                <a:solidFill>
                  <a:srgbClr val="FF0000"/>
                </a:solidFill>
              </a:rPr>
              <a:t>4</a:t>
            </a:r>
            <a:r>
              <a:rPr lang="zh-CN" altLang="en-US" sz="1200" dirty="0" smtClean="0">
                <a:solidFill>
                  <a:srgbClr val="FF0000"/>
                </a:solidFill>
              </a:rPr>
              <a:t>块</a:t>
            </a:r>
            <a:r>
              <a:rPr lang="en-US" altLang="zh-CN" sz="1200" dirty="0" smtClean="0">
                <a:solidFill>
                  <a:srgbClr val="FF0000"/>
                </a:solidFill>
              </a:rPr>
              <a:t>8</a:t>
            </a:r>
            <a:r>
              <a:rPr lang="zh-CN" altLang="en-US" sz="1200" dirty="0" smtClean="0">
                <a:solidFill>
                  <a:srgbClr val="FF0000"/>
                </a:solidFill>
              </a:rPr>
              <a:t>位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的例子，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能不能将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：可以，写时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等价，读时都有效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、本页能不能将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：写操作时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有效，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等价，可选择高低字节，可以；读操作时，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有效，但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无效，则无法读出数据。注意：此图的接法，读操作时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都有效，由微处理器丢弃一个。但写操作时，如果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无效，则可以只写一个字节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注意：该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应配置为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位总线宽度，否则给出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....10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地址时会从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D31-16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传输数据。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*见第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章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指令及第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章第三节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66700">
              <a:spcBef>
                <a:spcPts val="1000"/>
              </a:spcBef>
              <a:spcAft>
                <a:spcPts val="500"/>
              </a:spcAft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E07F1-3AE9-4084-9C30-DB4D3E113D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82CB7-ADBD-43A9-B7D4-17DE52E8D37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04800"/>
            <a:ext cx="88392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ARM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RISC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机，请说明体系结构方面的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RISC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特点：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指令：常用、定长、寻址方式规整、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LOAD/STORE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流水线：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通用寄存器：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200"/>
              </a:spcBef>
              <a:buNone/>
            </a:pP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2.2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ARM9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ARM/THUMB</a:t>
            </a:r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两种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指令集的目的是什么？为此要解决什么问题，解决</a:t>
            </a:r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思路是什么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解决</a:t>
            </a:r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思路：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编程：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CODE32/CODE16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BX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</a:t>
            </a: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指：两种操作状态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执行：解码</a:t>
            </a: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THUMB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指令、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复用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译码、执行部件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000"/>
              </a:spcBef>
              <a:buNone/>
            </a:pP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000"/>
              </a:spcBef>
              <a:buNone/>
            </a:pPr>
            <a:endParaRPr lang="en-US" altLang="zh-CN" sz="2800" dirty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04800"/>
            <a:ext cx="88392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2.3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哈佛体系结构含义、目的</a:t>
            </a:r>
            <a:endParaRPr lang="en-US" altLang="zh-CN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200"/>
              </a:spcBef>
              <a:buNone/>
            </a:pP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2.4</a:t>
            </a:r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个基本工作模式的</a:t>
            </a:r>
            <a:r>
              <a:rPr lang="zh-CN" altLang="en-US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含义、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切换</a:t>
            </a:r>
            <a:r>
              <a:rPr lang="zh-CN" altLang="en-US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方法、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各寄存器作用</a:t>
            </a:r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en-US" altLang="zh-CN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含义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切换方法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2800" strike="dblStrike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寄存器共用情况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2800" dirty="0" err="1" smtClean="0"/>
              <a:t>Mode_USR</a:t>
            </a:r>
            <a:r>
              <a:rPr lang="en-US" altLang="zh-CN" sz="2800" dirty="0" smtClean="0"/>
              <a:t>	EQU     0x10	; 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           MSR	</a:t>
            </a:r>
            <a:r>
              <a:rPr lang="en-US" altLang="zh-CN" sz="2800" dirty="0" err="1" smtClean="0"/>
              <a:t>CPSR_c</a:t>
            </a:r>
            <a:r>
              <a:rPr lang="en-US" altLang="zh-CN" sz="2800" dirty="0" smtClean="0"/>
              <a:t>, #</a:t>
            </a:r>
            <a:r>
              <a:rPr lang="en-US" altLang="zh-CN" sz="2800" dirty="0" err="1" smtClean="0"/>
              <a:t>Mode_USR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各种异常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各</a:t>
            </a: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寄存器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作用</a:t>
            </a:r>
            <a:r>
              <a:rPr lang="zh-CN" altLang="en-US" sz="28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R15(PC)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R14(LR)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R13(SP)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CPSR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</a:t>
            </a:r>
            <a:endParaRPr lang="en-US" altLang="zh-CN" sz="2400" dirty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spcBef>
                <a:spcPts val="1000"/>
              </a:spcBef>
              <a:buNone/>
            </a:pPr>
            <a:endParaRPr lang="zh-CN" altLang="en-US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zh-CN" altLang="en-US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04800"/>
            <a:ext cx="8839200" cy="6553200"/>
          </a:xfrm>
        </p:spPr>
        <p:txBody>
          <a:bodyPr>
            <a:normAutofit/>
          </a:bodyPr>
          <a:lstStyle/>
          <a:p>
            <a:pPr lvl="0">
              <a:spcBef>
                <a:spcPts val="10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2.5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、异常：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200"/>
              </a:spcBef>
              <a:buNone/>
            </a:pPr>
            <a:r>
              <a:rPr lang="zh-CN" altLang="en-US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响应</a:t>
            </a:r>
            <a:r>
              <a:rPr lang="zh-CN" altLang="en-US" b="1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流程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：断点值是多少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保存在哪里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中断服务程序入口地址如何获取？</a:t>
            </a: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spcBef>
                <a:spcPts val="2000"/>
              </a:spcBef>
              <a:buNone/>
            </a:pPr>
            <a:r>
              <a:rPr lang="zh-CN" altLang="en-US" b="1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在异常处理 结束时如何实现</a:t>
            </a:r>
            <a:r>
              <a:rPr lang="zh-CN" altLang="en-US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返回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spcBef>
                <a:spcPts val="10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endParaRPr lang="zh-CN" altLang="en-US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spcBef>
                <a:spcPts val="10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	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3.1</a:t>
            </a:r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ARM</a:t>
            </a:r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指令语法，即下面的</a:t>
            </a: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3.2</a:t>
            </a:r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3.3          </a:t>
            </a:r>
            <a:endParaRPr lang="en-US" altLang="zh-CN" sz="2800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200"/>
              </a:spcBef>
              <a:buNone/>
            </a:pP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3.2</a:t>
            </a:r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、第</a:t>
            </a: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源操作数的语法</a:t>
            </a:r>
            <a:endParaRPr lang="en-US" altLang="zh-CN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4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立即数型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——#immed_8r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要求</a:t>
            </a:r>
            <a:endParaRPr lang="en-US" altLang="zh-CN" sz="2800" b="1" dirty="0" smtClean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寄存器移位型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——{</a:t>
            </a:r>
            <a:r>
              <a:rPr lang="en-US" altLang="zh-CN" sz="2800" b="1" dirty="0" err="1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Rm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{, &lt;shift&gt;}}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3.3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、如果立即数型无法满足要求，两种解决办法，第二种办法的实现原理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3.4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寻址方式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：在具体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代码中考察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基址变址寻址的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种形式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多寄存器寻址的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种形式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堆栈寻址的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种形式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相对寻址：注意偏移量位数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188640"/>
            <a:ext cx="8839200" cy="666936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3.5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、常用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（除红字外不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直接考，而是为了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3.7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en-US" altLang="zh-CN" sz="24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400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转移指令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400" dirty="0" smtClean="0">
                <a:solidFill>
                  <a:srgbClr val="FF0000"/>
                </a:solidFill>
              </a:rPr>
              <a:t>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0000"/>
                </a:solidFill>
              </a:rPr>
              <a:t>BL</a:t>
            </a:r>
            <a:r>
              <a:rPr lang="zh-CN" altLang="en-US" sz="2400" dirty="0" smtClean="0"/>
              <a:t>、</a:t>
            </a:r>
            <a:r>
              <a:rPr lang="en-US" altLang="zh-CN" sz="2400" dirty="0" smtClean="0">
                <a:solidFill>
                  <a:srgbClr val="FF0000"/>
                </a:solidFill>
              </a:rPr>
              <a:t>BX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BLX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长</a:t>
            </a:r>
            <a:r>
              <a:rPr lang="zh-CN" altLang="en-US" sz="2400" b="1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跳</a:t>
            </a:r>
            <a:r>
              <a:rPr lang="zh-CN" altLang="en-US" sz="2400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转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en-US" altLang="zh-CN" sz="2400" b="1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Load/Store</a:t>
            </a:r>
            <a:r>
              <a:rPr lang="zh-CN" altLang="en-US" sz="2400" b="1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：含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LDR/STR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LDM/ STM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SWP</a:t>
            </a:r>
            <a:endParaRPr lang="en-US" altLang="zh-CN" sz="24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400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杂项</a:t>
            </a:r>
            <a:r>
              <a:rPr lang="zh-CN" altLang="en-US" sz="2400" b="1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MOV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CMP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TEST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BIC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MRS/MSR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（工作模式切换、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FIQ/IRQ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中断允许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禁止）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3.6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、常用伪指令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（除红字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外不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直接考，而是为了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3.7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EQU</a:t>
            </a:r>
            <a:endParaRPr lang="en-US" altLang="zh-CN" sz="24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GBLS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SETS (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字符串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4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DCB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DCW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DCD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SPACE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LTORG</a:t>
            </a:r>
            <a:endParaRPr lang="en-US" altLang="zh-CN" sz="24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AREA</a:t>
            </a:r>
            <a:endParaRPr lang="en-US" altLang="zh-CN" sz="24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LDR</a:t>
            </a:r>
            <a:endParaRPr lang="en-US" altLang="zh-CN" sz="2400" dirty="0" smtClean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674" y="188640"/>
            <a:ext cx="8839200" cy="6669360"/>
          </a:xfrm>
        </p:spPr>
        <p:txBody>
          <a:bodyPr>
            <a:noAutofit/>
          </a:bodyPr>
          <a:lstStyle/>
          <a:p>
            <a:pPr>
              <a:spcBef>
                <a:spcPts val="1500"/>
              </a:spcBef>
              <a:buNone/>
            </a:pPr>
            <a:r>
              <a:rPr lang="en-US" altLang="zh-CN" sz="28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3.7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LDR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伪指令如何汇编？能看懂机器指令</a:t>
            </a:r>
            <a:endParaRPr lang="en-US" altLang="zh-CN" sz="2800" b="1" dirty="0" smtClean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常用指令、伪指令（特别是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LDR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）汇编后的机器指令情况（包括偏移地址解释等）</a:t>
            </a: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sz="2800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3.8</a:t>
            </a:r>
            <a:r>
              <a:rPr lang="zh-CN" altLang="en-US" sz="2800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阅读汇编程序段：如第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章最后的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ARM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汇编程序实例、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节的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SWI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中断例程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6.3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节的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S3C2440X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外部中断服务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框架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4600" y="188640"/>
            <a:ext cx="8765871" cy="6768752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18000" tIns="45720" rIns="18000" bIns="45720" numCol="1" anchor="t" anchorCtr="0" compatLnSpc="1"/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执行指令“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SWP  R0, R1, [R2]”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的效果是什么？该指令的主要特点是什么？主要的应用是什么</a:t>
            </a:r>
            <a:r>
              <a:rPr lang="zh-CN" altLang="en-US" sz="24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en-US" altLang="zh-CN" sz="24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ARM9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的指令中，当第二源操作数是立即数时，有什么要求？如果不能满足要求，有哪些解决办法</a:t>
            </a:r>
            <a:r>
              <a:rPr lang="zh-CN" altLang="en-US" sz="24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en-US" altLang="zh-CN" sz="24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lang="zh-CN" altLang="en-US" sz="24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表示无条件，</a:t>
            </a:r>
            <a:r>
              <a:rPr lang="en-US" altLang="zh-CN" sz="24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4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指令的操作码，该指令的执行效果是什么？</a:t>
            </a:r>
            <a:endParaRPr lang="zh-CN" altLang="en-US" sz="24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9" y="3284984"/>
            <a:ext cx="5004556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-36205" y="260519"/>
            <a:ext cx="8765871" cy="6453336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18000" tIns="45720" rIns="18000" bIns="45720" numCol="1" anchor="t" anchorCtr="0" compatLnSpc="1"/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ARM9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采用小端方式，执行指令序列“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MOV SP, #0X400”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、“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STM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EA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SP!, {R0-R3}”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后，请说明堆栈的情况，应说明每个寄存器的每个字节的存放地址，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SP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的值，以及堆栈的类型，必要时可画图说明</a:t>
            </a: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8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8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R0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中存放一个内存单元的地址，</a:t>
            </a: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现将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地址为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R0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的内存单元中内容读出到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R1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中，且不修改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R0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的值，请写出该汇编指令，并说明所采用的寻址方式。如果寻址方式包括几种类型，应进一步说明属于哪种类型</a:t>
            </a: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8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/>
              <a:t>      LDR </a:t>
            </a:r>
            <a:r>
              <a:rPr lang="en-US" altLang="zh-CN" sz="2800" dirty="0"/>
              <a:t>R1,[R0,#-4] </a:t>
            </a:r>
            <a:r>
              <a:rPr lang="en-US" altLang="zh-CN" sz="2800" dirty="0" smtClean="0"/>
              <a:t>  ;</a:t>
            </a:r>
            <a:r>
              <a:rPr lang="zh-CN" altLang="en-US" sz="2800" dirty="0" smtClean="0"/>
              <a:t>前变址</a:t>
            </a:r>
            <a:endParaRPr lang="en-US" altLang="zh-CN" sz="28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ts val="1000"/>
              </a:spcBef>
              <a:spcAft>
                <a:spcPct val="0"/>
              </a:spcAft>
            </a:pP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2800" dirty="0"/>
              <a:t>MOV R2,#-</a:t>
            </a:r>
            <a:r>
              <a:rPr lang="en-US" altLang="zh-CN" sz="2800" dirty="0" smtClean="0"/>
              <a:t>4</a:t>
            </a:r>
            <a:endParaRPr lang="en-US" altLang="zh-CN" sz="2800" dirty="0" smtClean="0"/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 </a:t>
            </a:r>
            <a:r>
              <a:rPr lang="en-US" altLang="zh-CN" sz="2800" dirty="0"/>
              <a:t>LDR R1,[R0,R2</a:t>
            </a:r>
            <a:r>
              <a:rPr lang="en-US" altLang="zh-CN" sz="2800" dirty="0" smtClean="0"/>
              <a:t>]    ;</a:t>
            </a:r>
            <a:r>
              <a:rPr lang="zh-CN" altLang="en-US" sz="2800" dirty="0" smtClean="0"/>
              <a:t>零偏移</a:t>
            </a: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07305" y="404664"/>
            <a:ext cx="8765871" cy="6453336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18000" tIns="45720" rIns="18000" bIns="45720" numCol="1" anchor="t" anchorCtr="0" compatLnSpc="1"/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哪些指令使用相对寻址，试举出两个例子，并说明相对偏移量的位数及范围。</a:t>
            </a:r>
            <a:endParaRPr lang="en-US" altLang="zh-CN" sz="28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8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altLang="zh-CN" sz="2800" dirty="0" smtClean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BL</a:t>
            </a: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等指令转移范围为多大？如果想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BL</a:t>
            </a: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指令调用一个子程序，但超出了转移范围，如何解决？试举出</a:t>
            </a:r>
            <a:r>
              <a:rPr lang="zh-CN" altLang="en-US" sz="2800" b="1" dirty="0" smtClean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两种</a:t>
            </a: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办法。</a:t>
            </a: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1052736"/>
            <a:ext cx="3960440" cy="3096344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18000" tIns="45720" rIns="1800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AREA test, CODE, READONLY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ENTRY 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LDR R0, _start;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LDR R0, = _start;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②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NOP 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_start NOP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END</a:t>
            </a:r>
            <a:endParaRPr kumimoji="0" lang="zh-CN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960440" y="1068760"/>
            <a:ext cx="5076056" cy="3096344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18000" tIns="45720" rIns="18000" bIns="45720" numCol="1" anchor="t" anchorCtr="0" compatLnSpc="1"/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/>
              <a:t>00000800 </a:t>
            </a:r>
            <a:r>
              <a:rPr lang="en-US" altLang="zh-CN" sz="2400" dirty="0" smtClean="0">
                <a:solidFill>
                  <a:srgbClr val="FF0000"/>
                </a:solidFill>
              </a:rPr>
              <a:t>0xe59f0004</a:t>
            </a:r>
            <a:r>
              <a:rPr lang="en-US" altLang="zh-CN" sz="2400" dirty="0" smtClean="0"/>
              <a:t>   </a:t>
            </a:r>
            <a:r>
              <a:rPr lang="en-US" altLang="zh-CN" sz="2400" dirty="0" err="1"/>
              <a:t>ldr</a:t>
            </a:r>
            <a:r>
              <a:rPr lang="en-US" altLang="zh-CN" sz="2400" dirty="0"/>
              <a:t> r0, _start </a:t>
            </a:r>
            <a:endParaRPr lang="zh-CN" altLang="zh-CN" sz="2400" dirty="0"/>
          </a:p>
          <a:p>
            <a:r>
              <a:rPr lang="en-US" altLang="zh-CN" sz="2400" dirty="0" smtClean="0"/>
              <a:t>00000804 </a:t>
            </a:r>
            <a:r>
              <a:rPr lang="en-US" altLang="zh-CN" sz="2400" dirty="0">
                <a:solidFill>
                  <a:srgbClr val="FF0000"/>
                </a:solidFill>
              </a:rPr>
              <a:t>0xe59f0004</a:t>
            </a:r>
            <a:r>
              <a:rPr lang="en-US" altLang="zh-CN" sz="2400" dirty="0"/>
              <a:t>   </a:t>
            </a:r>
            <a:r>
              <a:rPr lang="en-US" altLang="zh-CN" sz="2000" dirty="0" err="1"/>
              <a:t>ldr</a:t>
            </a:r>
            <a:r>
              <a:rPr lang="en-US" altLang="zh-CN" sz="2000" dirty="0"/>
              <a:t> r0, 0x00000810</a:t>
            </a:r>
            <a:endParaRPr lang="zh-CN" altLang="zh-CN" sz="2000" dirty="0"/>
          </a:p>
          <a:p>
            <a:r>
              <a:rPr lang="en-US" altLang="zh-CN" sz="2400" dirty="0" smtClean="0"/>
              <a:t>00000808 </a:t>
            </a:r>
            <a:r>
              <a:rPr lang="en-US" altLang="zh-CN" sz="2400" dirty="0"/>
              <a:t>0xe1a00000  </a:t>
            </a:r>
            <a:r>
              <a:rPr lang="en-US" altLang="zh-CN" sz="2400" dirty="0" err="1"/>
              <a:t>nop</a:t>
            </a:r>
            <a:endParaRPr lang="zh-CN" altLang="zh-CN" sz="2400" dirty="0"/>
          </a:p>
          <a:p>
            <a:r>
              <a:rPr lang="en-US" altLang="zh-CN" sz="2400" dirty="0"/>
              <a:t>_start       </a:t>
            </a:r>
            <a:r>
              <a:rPr lang="en-US" altLang="zh-CN" sz="2400" dirty="0" smtClean="0"/>
              <a:t>  0xe1a00000  </a:t>
            </a:r>
            <a:r>
              <a:rPr lang="en-US" altLang="zh-CN" sz="2400" dirty="0" err="1"/>
              <a:t>nop</a:t>
            </a:r>
            <a:endParaRPr lang="zh-CN" altLang="zh-CN" sz="2400" dirty="0"/>
          </a:p>
          <a:p>
            <a:r>
              <a:rPr lang="en-US" altLang="zh-CN" sz="2400" dirty="0" smtClean="0"/>
              <a:t>00000810  </a:t>
            </a:r>
            <a:r>
              <a:rPr lang="en-US" altLang="zh-CN" sz="2400" dirty="0"/>
              <a:t>0x0000080c  </a:t>
            </a:r>
            <a:r>
              <a:rPr lang="en-US" altLang="zh-CN" sz="2000" dirty="0" err="1"/>
              <a:t>dcd</a:t>
            </a:r>
            <a:r>
              <a:rPr lang="en-US" altLang="zh-CN" sz="2000" dirty="0"/>
              <a:t>  0x0000080c</a:t>
            </a:r>
            <a:endParaRPr lang="zh-CN" altLang="zh-CN" sz="2000" dirty="0"/>
          </a:p>
          <a:p>
            <a:r>
              <a:rPr lang="en-US" altLang="zh-CN" sz="2400" dirty="0"/>
              <a:t>……</a:t>
            </a:r>
            <a:endParaRPr lang="zh-CN" altLang="zh-CN" sz="2400" dirty="0"/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4600" y="4653136"/>
            <a:ext cx="8765871" cy="2304256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18000" tIns="45720" rIns="18000" bIns="45720" numCol="1" anchor="t" anchorCtr="0" compatLnSpc="1"/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）指令①是汇编还是伪指令？寻址方式是什么？具体如何寻址？执行后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R0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是多少？</a:t>
            </a:r>
            <a:endParaRPr lang="zh-CN" altLang="en-US" sz="24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）指令②是汇编还是伪指令？汇编器是如何实现该指令的？内存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00000810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处是什么 ？执行后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R0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是多少？</a:t>
            </a:r>
            <a:endParaRPr lang="zh-CN" altLang="en-US" sz="24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650875"/>
            <a:ext cx="9055100" cy="5556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4.1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、映像文件组织、</a:t>
            </a:r>
            <a:r>
              <a:rPr lang="en-US" altLang="zh-CN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ROBase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RWBase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含义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以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4.2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r>
              <a:rPr lang="zh-CN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程序框架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为例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以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6.3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</a:t>
            </a:r>
            <a:r>
              <a:rPr lang="zh-CN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程序框架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为例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44624"/>
            <a:ext cx="8839200" cy="66967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AREA </a:t>
            </a:r>
            <a:r>
              <a:rPr lang="en-US" altLang="zh-CN" sz="2400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MyCode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CODE, 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READONLY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ENTRY				;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指定汇编程序的入口点</a:t>
            </a:r>
            <a:endParaRPr lang="zh-CN" altLang="en-US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	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LDR		R0,=0x53002345	;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关闭看门狗</a:t>
            </a:r>
            <a:endParaRPr lang="zh-CN" altLang="en-US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LDR		R1,=0x0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STR		R1,[R0]		;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红字汇编指令，其它伪指令</a:t>
            </a:r>
            <a:endParaRPr lang="zh-CN" altLang="en-US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LDR		R2,=Str1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LDR		R3,=Str2</a:t>
            </a:r>
            <a:endParaRPr lang="en-US" altLang="zh-CN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LDR		R5,=</a:t>
            </a:r>
            <a:r>
              <a:rPr lang="en-US" altLang="zh-CN" sz="2400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DateSpace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B       	.			</a:t>
            </a:r>
            <a:endParaRPr lang="zh-CN" altLang="en-US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AREA </a:t>
            </a:r>
            <a:r>
              <a:rPr lang="en-US" altLang="zh-CN" sz="2400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MyROData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DATA, 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READONLY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ALIGN=6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Str1	 DCB "This is my </a:t>
            </a:r>
            <a:r>
              <a:rPr lang="en-US" altLang="zh-CN" sz="2400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ROData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." </a:t>
            </a:r>
            <a:endParaRPr lang="zh-CN" altLang="en-US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AREA MyRWData0, DATA, 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READWRITE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,ALIGN=7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Str2	 DCB "This is my RWData0</a:t>
            </a:r>
            <a:r>
              <a:rPr lang="en-US" altLang="zh-CN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."</a:t>
            </a:r>
            <a:endParaRPr lang="zh-CN" altLang="en-US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AREA MyRWData1, DATA, 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READWRITE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ALIGN=4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DateSpace</a:t>
            </a: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 SPACE	40         </a:t>
            </a:r>
            <a:endParaRPr lang="en-US" altLang="zh-CN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END		              ;</a:t>
            </a:r>
            <a:r>
              <a:rPr lang="zh-CN" altLang="en-US" sz="24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汇编程序结束</a:t>
            </a:r>
            <a:r>
              <a:rPr lang="zh-CN" altLang="en-US" sz="24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标识</a:t>
            </a:r>
            <a:endParaRPr lang="zh-CN" altLang="en-US" sz="24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44624"/>
            <a:ext cx="8839200" cy="316835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ROBase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800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RWBase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缺省。 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条指令，其中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条伪指令，但汇编后仍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条，占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28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字节，因此地址为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0-1BH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。代码段结束后有文字池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文字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池以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字节为单位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还有一个数据段，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ALIGN=6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，只能从地址后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位为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处开始，即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40H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开始，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19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个字符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含空字符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，到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52H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又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ALIGN=6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该段长度为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整数倍，即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字节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11" y="3356993"/>
            <a:ext cx="5793597" cy="342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50611" y="5877272"/>
            <a:ext cx="3921389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44624"/>
            <a:ext cx="8839200" cy="31683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RW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ALIGN=5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，后面至少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，所以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80H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开始。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19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个字符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含空字符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，到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93H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。又由于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ALIGN=5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该段长度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整数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倍，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即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字节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。到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9FH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为止。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 </a:t>
            </a:r>
            <a:r>
              <a:rPr lang="en-US" altLang="zh-CN" sz="2800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Zi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段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ALIGN=4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开始，到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C7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，因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字节对齐，到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CFH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结束</a:t>
            </a: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11" y="3356993"/>
            <a:ext cx="5793597" cy="342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83568" y="3356992"/>
            <a:ext cx="4680520" cy="432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1299"/>
            <a:ext cx="9149468" cy="628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0" y="2060848"/>
            <a:ext cx="7452320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508104" y="5949280"/>
            <a:ext cx="36004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4437112"/>
            <a:ext cx="745232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44624"/>
            <a:ext cx="8839200" cy="23042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ROBase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RWBase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=0X800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，符号常量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Str2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发生变化，但反编译结果中，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Str2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地址仍为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，如何解释？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67" y="3429000"/>
            <a:ext cx="5767758" cy="3332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820467" y="5949280"/>
            <a:ext cx="3921389" cy="811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7584" y="3429001"/>
            <a:ext cx="4680520" cy="432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1" y="15453"/>
            <a:ext cx="9115499" cy="4853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-36512" y="2708920"/>
            <a:ext cx="8208912" cy="6480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01" y="5445224"/>
            <a:ext cx="8839200" cy="15121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编译、链接确实根据</a:t>
            </a:r>
            <a:r>
              <a:rPr lang="en-US" altLang="zh-CN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RWBase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设置进行，但观察内存情况，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RW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段仍从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开始。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ADS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反映的是将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FLASH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前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4KB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直接装入主存的情况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640"/>
            <a:ext cx="8208912" cy="6575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323528" y="5517232"/>
            <a:ext cx="8208912" cy="134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4.2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ATPCS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调用汇编：见</a:t>
            </a:r>
            <a:r>
              <a:rPr lang="zh-CN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extern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关键词声明要调用的汇编程序，并且把该汇编程序声明为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的函数原型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调用时，实参传给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R3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被调汇编程序使用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EXPORT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声明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被调汇编执行时从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R3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取参数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，执行结束时将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结果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放在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，由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程序取走。该程序最后要有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返回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语句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）汇编调用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函数：见</a:t>
            </a:r>
            <a:r>
              <a:rPr lang="zh-CN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定义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汇编程序使用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IMPORT+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函数名进行声明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汇编程序将实参放到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R3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汇编程序用调用：</a:t>
            </a:r>
            <a:r>
              <a:rPr lang="pt-BR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BL	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函数名  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参数表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被调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执行前，先从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R3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取实参，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付给形参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，然后执行，将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结果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放在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返回汇编程序后，从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取结果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42844" y="304800"/>
            <a:ext cx="8839200" cy="4809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C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的函数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X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调用汇编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A,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传整型参数，汇编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又调用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的函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00166" y="1142984"/>
            <a:ext cx="1623994" cy="4809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 algn="ctr">
              <a:spcBef>
                <a:spcPct val="20000"/>
              </a:spcBef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</a:t>
            </a:r>
            <a:endParaRPr lang="zh-CN" altLang="en-US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091146" y="1142984"/>
            <a:ext cx="1623994" cy="4809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 algn="ctr">
              <a:spcBef>
                <a:spcPct val="20000"/>
              </a:spcBef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汇编程序</a:t>
            </a:r>
            <a:endParaRPr lang="zh-CN" altLang="en-US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142976" y="3448072"/>
            <a:ext cx="2708944" cy="12668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defRPr/>
            </a:pPr>
            <a:r>
              <a:rPr lang="en-US" sz="2400" dirty="0" smtClean="0">
                <a:solidFill>
                  <a:schemeClr val="dk1"/>
                </a:solidFill>
              </a:rPr>
              <a:t>void X(){</a:t>
            </a:r>
            <a:endParaRPr lang="en-US" sz="2400" dirty="0" smtClean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sz="2400" dirty="0" smtClean="0">
                <a:solidFill>
                  <a:schemeClr val="dk1"/>
                </a:solidFill>
              </a:rPr>
              <a:t>  </a:t>
            </a:r>
            <a:r>
              <a:rPr lang="en-US" sz="2400" dirty="0" smtClean="0">
                <a:solidFill>
                  <a:schemeClr val="dk1"/>
                </a:solidFill>
              </a:rPr>
              <a:t>printf(“%d”, </a:t>
            </a:r>
            <a:r>
              <a:rPr lang="en-US" sz="2400" dirty="0" smtClean="0">
                <a:solidFill>
                  <a:srgbClr val="FF0000"/>
                </a:solidFill>
              </a:rPr>
              <a:t>A(3)</a:t>
            </a:r>
            <a:r>
              <a:rPr lang="en-US" sz="2400" dirty="0" smtClean="0">
                <a:solidFill>
                  <a:schemeClr val="dk1"/>
                </a:solidFill>
              </a:rPr>
              <a:t>);</a:t>
            </a:r>
            <a:endParaRPr lang="en-US" sz="2400" dirty="0" smtClean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sz="2400" dirty="0" smtClean="0">
                <a:solidFill>
                  <a:schemeClr val="dk1"/>
                </a:solidFill>
              </a:rPr>
              <a:t>}</a:t>
            </a:r>
            <a:endParaRPr lang="zh-CN" altLang="en-US" sz="2400" dirty="0" smtClean="0">
              <a:solidFill>
                <a:schemeClr val="dk1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142976" y="1714488"/>
            <a:ext cx="3052754" cy="428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defRPr/>
            </a:pPr>
            <a:r>
              <a:rPr lang="en-US" sz="2400" dirty="0" smtClean="0">
                <a:solidFill>
                  <a:schemeClr val="dk1"/>
                </a:solidFill>
              </a:rPr>
              <a:t>extern int </a:t>
            </a:r>
            <a:r>
              <a:rPr lang="en-US" sz="2400" dirty="0" smtClean="0">
                <a:solidFill>
                  <a:srgbClr val="FF0000"/>
                </a:solidFill>
              </a:rPr>
              <a:t>A</a:t>
            </a:r>
            <a:r>
              <a:rPr lang="en-US" sz="2400" dirty="0" smtClean="0">
                <a:solidFill>
                  <a:schemeClr val="dk1"/>
                </a:solidFill>
              </a:rPr>
              <a:t>(int </a:t>
            </a:r>
            <a:r>
              <a:rPr lang="en-US" sz="2400" dirty="0" err="1" smtClean="0">
                <a:solidFill>
                  <a:schemeClr val="dk1"/>
                </a:solidFill>
              </a:rPr>
              <a:t>arg</a:t>
            </a:r>
            <a:r>
              <a:rPr lang="en-US" sz="2400" dirty="0" smtClean="0">
                <a:solidFill>
                  <a:schemeClr val="dk1"/>
                </a:solidFill>
              </a:rPr>
              <a:t>); </a:t>
            </a:r>
            <a:endParaRPr lang="zh-CN" altLang="en-US" sz="2400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076056" y="2428868"/>
            <a:ext cx="3052754" cy="428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EXPORT 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499992" y="1714488"/>
            <a:ext cx="4429156" cy="2506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dirty="0" smtClean="0"/>
              <a:t>         AREA A CODE, READONLY</a:t>
            </a:r>
            <a:endParaRPr lang="en-US" sz="2400" dirty="0" smtClean="0"/>
          </a:p>
          <a:p>
            <a:endParaRPr lang="en-US" altLang="zh-CN" sz="2400" dirty="0"/>
          </a:p>
          <a:p>
            <a:endParaRPr lang="zh-CN" altLang="en-US" sz="2400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A </a:t>
            </a:r>
            <a:r>
              <a:rPr lang="en-US" sz="2400" dirty="0" smtClean="0"/>
              <a:t>     STMFD SP!, {LR}       </a:t>
            </a:r>
            <a:endParaRPr lang="zh-CN" altLang="en-US" sz="2400" dirty="0" smtClean="0"/>
          </a:p>
          <a:p>
            <a:r>
              <a:rPr lang="en-US" sz="2400" dirty="0" smtClean="0"/>
              <a:t>         //</a:t>
            </a:r>
            <a:r>
              <a:rPr lang="zh-CN" altLang="en-US" sz="2400" dirty="0" smtClean="0"/>
              <a:t>从</a:t>
            </a:r>
            <a:r>
              <a:rPr lang="en-US" sz="2400" dirty="0" smtClean="0"/>
              <a:t>R0</a:t>
            </a:r>
            <a:r>
              <a:rPr lang="zh-CN" altLang="en-US" sz="2400" dirty="0" smtClean="0"/>
              <a:t>取参数，并处理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     ……</a:t>
            </a:r>
            <a:endParaRPr lang="zh-CN" altLang="en-US" sz="2400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535332" y="5482298"/>
            <a:ext cx="4608668" cy="15471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dirty="0" smtClean="0"/>
              <a:t>         //</a:t>
            </a:r>
            <a:r>
              <a:rPr lang="zh-CN" altLang="en-US" sz="2400" dirty="0" smtClean="0"/>
              <a:t>结果放在</a:t>
            </a:r>
            <a:r>
              <a:rPr lang="en-US" altLang="zh-CN" sz="2400" dirty="0" smtClean="0"/>
              <a:t>r0</a:t>
            </a:r>
            <a:r>
              <a:rPr lang="zh-CN" altLang="en-US" sz="2400" dirty="0" smtClean="0"/>
              <a:t>，返回给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函数</a:t>
            </a:r>
            <a:endParaRPr lang="zh-CN" altLang="en-US" sz="2400" dirty="0" smtClean="0"/>
          </a:p>
          <a:p>
            <a:r>
              <a:rPr lang="en-US" sz="2400" dirty="0" smtClean="0"/>
              <a:t>          LDMFD SP!, </a:t>
            </a:r>
            <a:r>
              <a:rPr lang="en-US" sz="2400" dirty="0" smtClean="0"/>
              <a:t>{PC}</a:t>
            </a:r>
            <a:r>
              <a:rPr lang="zh-CN" altLang="en-US" sz="2400" dirty="0"/>
              <a:t> </a:t>
            </a:r>
            <a:r>
              <a:rPr lang="en-US" altLang="zh-CN" sz="2000" dirty="0" smtClean="0"/>
              <a:t>//</a:t>
            </a:r>
            <a:r>
              <a:rPr lang="zh-CN" altLang="en-US" sz="2000" dirty="0" smtClean="0"/>
              <a:t>子</a:t>
            </a:r>
            <a:r>
              <a:rPr lang="zh-CN" altLang="en-US" sz="2000" dirty="0"/>
              <a:t>程序返回</a:t>
            </a:r>
            <a:endParaRPr lang="zh-CN" altLang="en-US" sz="2000" dirty="0" smtClean="0"/>
          </a:p>
          <a:p>
            <a:r>
              <a:rPr lang="en-US" altLang="zh-CN" sz="2400" dirty="0" smtClean="0"/>
              <a:t>          END</a:t>
            </a:r>
            <a:endParaRPr lang="zh-CN" altLang="en-US" sz="2400" dirty="0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142976" y="2428868"/>
            <a:ext cx="3052754" cy="428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int </a:t>
            </a:r>
            <a:r>
              <a:rPr lang="en-US" sz="2400" dirty="0" smtClean="0">
                <a:solidFill>
                  <a:srgbClr val="FF0000"/>
                </a:solidFill>
              </a:rPr>
              <a:t>Y(int </a:t>
            </a:r>
            <a:r>
              <a:rPr lang="en-US" sz="2400" dirty="0" smtClean="0">
                <a:solidFill>
                  <a:srgbClr val="FF0000"/>
                </a:solidFill>
              </a:rPr>
              <a:t>arg)</a:t>
            </a:r>
            <a:endParaRPr lang="en-US" sz="2400" dirty="0" smtClean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{…}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5091146" y="2000240"/>
            <a:ext cx="3052754" cy="428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IMPORT </a:t>
            </a:r>
            <a:r>
              <a:rPr lang="en-US" sz="2400" dirty="0" smtClean="0">
                <a:solidFill>
                  <a:srgbClr val="FF0000"/>
                </a:solidFill>
              </a:rPr>
              <a:t>Y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572000" y="4149080"/>
            <a:ext cx="4429156" cy="12144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dirty="0" smtClean="0"/>
              <a:t>         //</a:t>
            </a:r>
            <a:r>
              <a:rPr lang="zh-CN" altLang="en-US" sz="2400" dirty="0" smtClean="0"/>
              <a:t>结果放在</a:t>
            </a:r>
            <a:r>
              <a:rPr lang="en-US" altLang="zh-CN" sz="2400" dirty="0" smtClean="0"/>
              <a:t>R0</a:t>
            </a:r>
            <a:endParaRPr lang="zh-CN" altLang="en-US" sz="2400" dirty="0" smtClean="0"/>
          </a:p>
          <a:p>
            <a:r>
              <a:rPr lang="en-US" sz="2400" dirty="0" smtClean="0"/>
              <a:t>         </a:t>
            </a:r>
            <a:r>
              <a:rPr lang="pt-BR" sz="2400" dirty="0" smtClean="0">
                <a:solidFill>
                  <a:srgbClr val="FF0000"/>
                </a:solidFill>
              </a:rPr>
              <a:t>BL	 </a:t>
            </a:r>
            <a:r>
              <a:rPr lang="pt-BR" sz="2400" dirty="0" smtClean="0">
                <a:solidFill>
                  <a:srgbClr val="FF0000"/>
                </a:solidFill>
              </a:rPr>
              <a:t> Y</a:t>
            </a:r>
            <a:endParaRPr lang="pt-BR" sz="2400" dirty="0" smtClean="0">
              <a:solidFill>
                <a:srgbClr val="FF0000"/>
              </a:solidFill>
            </a:endParaRPr>
          </a:p>
          <a:p>
            <a:pPr lvl="0"/>
            <a:r>
              <a:rPr lang="pt-BR" altLang="zh-CN" sz="2400" dirty="0">
                <a:solidFill>
                  <a:srgbClr val="FF0000"/>
                </a:solidFill>
              </a:rPr>
              <a:t> </a:t>
            </a:r>
            <a:r>
              <a:rPr lang="pt-BR" altLang="zh-CN" sz="2400" dirty="0" smtClean="0">
                <a:solidFill>
                  <a:srgbClr val="FF0000"/>
                </a:solidFill>
              </a:rPr>
              <a:t>        </a:t>
            </a:r>
            <a:r>
              <a:rPr lang="en-US" altLang="zh-CN" sz="2400" dirty="0">
                <a:solidFill>
                  <a:prstClr val="black"/>
                </a:solidFill>
              </a:rPr>
              <a:t>……</a:t>
            </a:r>
            <a:endParaRPr lang="zh-CN" altLang="en-US" sz="2400" dirty="0">
              <a:solidFill>
                <a:prstClr val="black"/>
              </a:solidFill>
            </a:endParaRPr>
          </a:p>
          <a:p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4.2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ATPCS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）掌握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结构体参数、指针参数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的传递方法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举例：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程序传结构体变量地址给汇编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结构体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变量给出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了一个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char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数组的长度及起始地址，汇编将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char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数组累加后结果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传回</a:t>
            </a: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00166" y="116632"/>
            <a:ext cx="1623994" cy="4809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 algn="ctr">
              <a:spcBef>
                <a:spcPct val="20000"/>
              </a:spcBef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</a:t>
            </a:r>
            <a:endParaRPr lang="zh-CN" altLang="en-US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091146" y="139694"/>
            <a:ext cx="1623994" cy="4809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 algn="ctr">
              <a:spcBef>
                <a:spcPct val="20000"/>
              </a:spcBef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汇编程序</a:t>
            </a:r>
            <a:endParaRPr lang="zh-CN" altLang="en-US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4630" y="3429000"/>
            <a:ext cx="4651386" cy="3096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defRPr/>
            </a:pPr>
            <a:r>
              <a:rPr lang="en-US" sz="2600" dirty="0" err="1" smtClean="0">
                <a:solidFill>
                  <a:schemeClr val="dk1"/>
                </a:solidFill>
              </a:rPr>
              <a:t>int</a:t>
            </a:r>
            <a:r>
              <a:rPr lang="en-US" sz="2600" dirty="0" smtClean="0">
                <a:solidFill>
                  <a:schemeClr val="dk1"/>
                </a:solidFill>
              </a:rPr>
              <a:t> </a:t>
            </a:r>
            <a:r>
              <a:rPr lang="en-US" altLang="zh-CN" sz="2600" dirty="0" smtClean="0">
                <a:solidFill>
                  <a:schemeClr val="dk1"/>
                </a:solidFill>
              </a:rPr>
              <a:t>main</a:t>
            </a:r>
            <a:r>
              <a:rPr lang="en-US" sz="2600" dirty="0" smtClean="0">
                <a:solidFill>
                  <a:schemeClr val="dk1"/>
                </a:solidFill>
              </a:rPr>
              <a:t>(){</a:t>
            </a:r>
            <a:endParaRPr lang="en-US" sz="2600" dirty="0" smtClean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sz="2600" dirty="0" smtClean="0">
                <a:solidFill>
                  <a:schemeClr val="dk1"/>
                </a:solidFill>
              </a:rPr>
              <a:t>   char array[10]</a:t>
            </a:r>
            <a:r>
              <a:rPr lang="en-US" altLang="zh-CN" sz="2600" dirty="0" smtClean="0">
                <a:solidFill>
                  <a:schemeClr val="dk1"/>
                </a:solidFill>
              </a:rPr>
              <a:t>={...}</a:t>
            </a:r>
            <a:r>
              <a:rPr lang="en-US" sz="2600" dirty="0" smtClean="0">
                <a:solidFill>
                  <a:schemeClr val="dk1"/>
                </a:solidFill>
              </a:rPr>
              <a:t>;</a:t>
            </a:r>
            <a:endParaRPr lang="en-US" sz="2600" dirty="0" smtClean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zh-CN" sz="2600" dirty="0" smtClean="0">
                <a:solidFill>
                  <a:schemeClr val="dk1"/>
                </a:solidFill>
              </a:rPr>
              <a:t>   </a:t>
            </a:r>
            <a:r>
              <a:rPr lang="en-US" altLang="zh-CN" sz="2600" dirty="0" err="1" smtClean="0"/>
              <a:t>struct</a:t>
            </a:r>
            <a:r>
              <a:rPr lang="en-US" altLang="zh-CN" sz="2600" dirty="0" smtClean="0"/>
              <a:t> data a;</a:t>
            </a:r>
            <a:endParaRPr lang="en-US" altLang="zh-CN" sz="2600" dirty="0" smtClean="0"/>
          </a:p>
          <a:p>
            <a:pPr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</a:t>
            </a:r>
            <a:r>
              <a:rPr lang="en-US" altLang="zh-CN" sz="2600" dirty="0" err="1" smtClean="0"/>
              <a:t>a.n</a:t>
            </a:r>
            <a:r>
              <a:rPr lang="en-US" altLang="zh-CN" sz="2600" dirty="0" smtClean="0"/>
              <a:t>=10;</a:t>
            </a:r>
            <a:endParaRPr lang="en-US" altLang="zh-CN" sz="2600" dirty="0" smtClean="0"/>
          </a:p>
          <a:p>
            <a:pPr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</a:t>
            </a:r>
            <a:r>
              <a:rPr lang="en-US" altLang="zh-CN" sz="2600" dirty="0" err="1" smtClean="0"/>
              <a:t>a.s</a:t>
            </a:r>
            <a:r>
              <a:rPr lang="en-US" altLang="zh-CN" sz="2600" dirty="0" smtClean="0"/>
              <a:t>=array;</a:t>
            </a:r>
            <a:endParaRPr lang="en-US" altLang="zh-CN" sz="2600" dirty="0" smtClean="0"/>
          </a:p>
          <a:p>
            <a:pPr>
              <a:defRPr/>
            </a:pPr>
            <a:r>
              <a:rPr lang="en-US" altLang="zh-CN" sz="2600" dirty="0" smtClean="0">
                <a:solidFill>
                  <a:schemeClr val="dk1"/>
                </a:solidFill>
              </a:rPr>
              <a:t>   </a:t>
            </a:r>
            <a:r>
              <a:rPr lang="en-US" altLang="zh-CN" sz="2600" dirty="0" err="1" smtClean="0">
                <a:solidFill>
                  <a:schemeClr val="dk1"/>
                </a:solidFill>
              </a:rPr>
              <a:t>printf</a:t>
            </a:r>
            <a:r>
              <a:rPr lang="en-US" altLang="zh-CN" sz="2600" dirty="0" smtClean="0">
                <a:solidFill>
                  <a:schemeClr val="dk1"/>
                </a:solidFill>
              </a:rPr>
              <a:t>(“result is %d</a:t>
            </a:r>
            <a:r>
              <a:rPr lang="en-US" altLang="zh-CN" sz="2600" dirty="0">
                <a:solidFill>
                  <a:schemeClr val="dk1"/>
                </a:solidFill>
              </a:rPr>
              <a:t>”, </a:t>
            </a:r>
            <a:r>
              <a:rPr lang="en-US" altLang="zh-CN" sz="2600" dirty="0" smtClean="0">
                <a:solidFill>
                  <a:srgbClr val="FF0000"/>
                </a:solidFill>
              </a:rPr>
              <a:t>SUM</a:t>
            </a:r>
            <a:r>
              <a:rPr lang="en-US" altLang="zh-CN" sz="2600" dirty="0">
                <a:solidFill>
                  <a:schemeClr val="dk1"/>
                </a:solidFill>
              </a:rPr>
              <a:t>(&amp;a</a:t>
            </a:r>
            <a:r>
              <a:rPr lang="en-US" altLang="zh-CN" sz="2600" dirty="0" smtClean="0">
                <a:solidFill>
                  <a:schemeClr val="dk1"/>
                </a:solidFill>
              </a:rPr>
              <a:t>));</a:t>
            </a:r>
            <a:endParaRPr lang="en-US" altLang="zh-CN" sz="2600" dirty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sz="2600" dirty="0" smtClean="0">
                <a:solidFill>
                  <a:schemeClr val="dk1"/>
                </a:solidFill>
              </a:rPr>
              <a:t>   return 0;</a:t>
            </a:r>
            <a:endParaRPr lang="en-US" sz="2600" dirty="0" smtClean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sz="2600" dirty="0" smtClean="0">
                <a:solidFill>
                  <a:schemeClr val="dk1"/>
                </a:solidFill>
              </a:rPr>
              <a:t>}</a:t>
            </a:r>
            <a:endParaRPr lang="zh-CN" altLang="en-US" sz="2600" dirty="0" smtClean="0">
              <a:solidFill>
                <a:schemeClr val="dk1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4630" y="2539160"/>
            <a:ext cx="4291345" cy="428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defRPr/>
            </a:pPr>
            <a:r>
              <a:rPr lang="en-US" sz="2600" dirty="0" smtClean="0">
                <a:solidFill>
                  <a:schemeClr val="dk1"/>
                </a:solidFill>
              </a:rPr>
              <a:t>extern </a:t>
            </a:r>
            <a:r>
              <a:rPr lang="en-US" sz="2600" dirty="0" err="1" smtClean="0">
                <a:solidFill>
                  <a:schemeClr val="dk1"/>
                </a:solidFill>
              </a:rPr>
              <a:t>int</a:t>
            </a:r>
            <a:r>
              <a:rPr lang="en-US" sz="2600" dirty="0" smtClean="0">
                <a:solidFill>
                  <a:schemeClr val="dk1"/>
                </a:solidFill>
              </a:rPr>
              <a:t> SUM(</a:t>
            </a:r>
            <a:r>
              <a:rPr lang="en-US" altLang="zh-CN" sz="2600" dirty="0" err="1" smtClean="0"/>
              <a:t>struct</a:t>
            </a:r>
            <a:r>
              <a:rPr lang="en-US" altLang="zh-CN" sz="2600" dirty="0" smtClean="0"/>
              <a:t> data* </a:t>
            </a:r>
            <a:r>
              <a:rPr lang="en-US" sz="2600" dirty="0" smtClean="0">
                <a:solidFill>
                  <a:schemeClr val="dk1"/>
                </a:solidFill>
              </a:rPr>
              <a:t>r); </a:t>
            </a:r>
            <a:endParaRPr lang="zh-CN" altLang="en-US" sz="26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332787" y="850392"/>
            <a:ext cx="4811213" cy="5746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500" dirty="0" smtClean="0"/>
              <a:t>         AREA ASMF CODE, READONLY</a:t>
            </a:r>
            <a:endParaRPr lang="en-US" altLang="zh-CN" sz="2500" dirty="0"/>
          </a:p>
          <a:p>
            <a:r>
              <a:rPr lang="en-US" altLang="zh-CN" sz="2500" dirty="0" smtClean="0">
                <a:solidFill>
                  <a:schemeClr val="dk1"/>
                </a:solidFill>
              </a:rPr>
              <a:t>         EXPORT SUM</a:t>
            </a:r>
            <a:endParaRPr lang="en-US" altLang="zh-CN" sz="2500" dirty="0" smtClean="0">
              <a:solidFill>
                <a:schemeClr val="dk1"/>
              </a:solidFill>
            </a:endParaRPr>
          </a:p>
          <a:p>
            <a:r>
              <a:rPr lang="en-US" altLang="zh-CN" sz="2500" dirty="0">
                <a:solidFill>
                  <a:schemeClr val="dk1"/>
                </a:solidFill>
              </a:rPr>
              <a:t> </a:t>
            </a:r>
            <a:r>
              <a:rPr lang="en-US" altLang="zh-CN" sz="2500" dirty="0" smtClean="0">
                <a:solidFill>
                  <a:schemeClr val="dk1"/>
                </a:solidFill>
              </a:rPr>
              <a:t>        ENTRY</a:t>
            </a:r>
            <a:endParaRPr lang="zh-CN" altLang="en-US" sz="2500" dirty="0" smtClean="0"/>
          </a:p>
          <a:p>
            <a:r>
              <a:rPr lang="en-US" sz="2500" dirty="0" smtClean="0">
                <a:solidFill>
                  <a:srgbClr val="FF0000"/>
                </a:solidFill>
              </a:rPr>
              <a:t>SUM</a:t>
            </a:r>
            <a:r>
              <a:rPr lang="en-US" sz="2500" dirty="0" smtClean="0"/>
              <a:t> STMFD SP!, {R4,R5}</a:t>
            </a:r>
            <a:endParaRPr lang="en-US" sz="2500" dirty="0" smtClean="0"/>
          </a:p>
          <a:p>
            <a:r>
              <a:rPr lang="en-US" sz="2500" dirty="0"/>
              <a:t> </a:t>
            </a:r>
            <a:r>
              <a:rPr lang="en-US" sz="2500" dirty="0" smtClean="0"/>
              <a:t>        LDR R1, </a:t>
            </a:r>
            <a:r>
              <a:rPr lang="en-US" sz="2500" dirty="0"/>
              <a:t>[</a:t>
            </a:r>
            <a:r>
              <a:rPr lang="en-US" sz="2500" dirty="0" smtClean="0"/>
              <a:t>R0] </a:t>
            </a:r>
            <a:endParaRPr lang="en-US" sz="2500" dirty="0" smtClean="0"/>
          </a:p>
          <a:p>
            <a:r>
              <a:rPr lang="en-US" sz="2500" dirty="0" smtClean="0"/>
              <a:t>         LDR R5,[</a:t>
            </a:r>
            <a:r>
              <a:rPr lang="en-US" sz="2500" dirty="0" smtClean="0"/>
              <a:t>R0, </a:t>
            </a:r>
            <a:r>
              <a:rPr lang="en-US" altLang="zh-CN" sz="2400" dirty="0"/>
              <a:t>#</a:t>
            </a:r>
            <a:r>
              <a:rPr lang="en-US" altLang="zh-CN" sz="2400" dirty="0" smtClean="0"/>
              <a:t>4</a:t>
            </a:r>
            <a:r>
              <a:rPr lang="en-US" altLang="zh-CN" sz="2500" dirty="0"/>
              <a:t>]</a:t>
            </a:r>
            <a:endParaRPr lang="en-US" altLang="zh-CN" sz="2500" dirty="0" smtClean="0"/>
          </a:p>
          <a:p>
            <a:r>
              <a:rPr lang="en-US" altLang="zh-CN" sz="2500" dirty="0"/>
              <a:t> </a:t>
            </a:r>
            <a:r>
              <a:rPr lang="en-US" altLang="zh-CN" sz="2500" dirty="0" smtClean="0"/>
              <a:t>        MOV R0,#0</a:t>
            </a:r>
            <a:endParaRPr lang="en-US" altLang="zh-CN" sz="2500" dirty="0" smtClean="0"/>
          </a:p>
          <a:p>
            <a:r>
              <a:rPr lang="en-US" altLang="zh-CN" sz="2500" dirty="0" smtClean="0"/>
              <a:t>LOOP LDRB R4,[R5],#1</a:t>
            </a:r>
            <a:endParaRPr lang="en-US" altLang="zh-CN" sz="2500" dirty="0" smtClean="0"/>
          </a:p>
          <a:p>
            <a:r>
              <a:rPr lang="en-US" altLang="zh-CN" sz="2500" dirty="0"/>
              <a:t> </a:t>
            </a:r>
            <a:r>
              <a:rPr lang="en-US" altLang="zh-CN" sz="2500" dirty="0" smtClean="0"/>
              <a:t>         ADD R0, R0,R4</a:t>
            </a:r>
            <a:endParaRPr lang="en-US" altLang="zh-CN" sz="2500" dirty="0" smtClean="0"/>
          </a:p>
          <a:p>
            <a:r>
              <a:rPr lang="en-US" altLang="zh-CN" sz="2500" dirty="0"/>
              <a:t>         </a:t>
            </a:r>
            <a:r>
              <a:rPr lang="en-US" altLang="zh-CN" sz="2500" dirty="0" smtClean="0"/>
              <a:t> SUBS R1,R1, </a:t>
            </a:r>
            <a:r>
              <a:rPr lang="en-US" altLang="zh-CN" sz="2500" dirty="0"/>
              <a:t>#1	</a:t>
            </a:r>
            <a:endParaRPr lang="en-US" altLang="zh-CN" sz="2500" dirty="0"/>
          </a:p>
          <a:p>
            <a:r>
              <a:rPr lang="en-US" altLang="zh-CN" sz="2500" dirty="0"/>
              <a:t>          </a:t>
            </a:r>
            <a:r>
              <a:rPr lang="en-US" altLang="zh-CN" sz="2500" dirty="0" smtClean="0"/>
              <a:t>BNE LOOP</a:t>
            </a:r>
            <a:endParaRPr lang="zh-CN" altLang="en-US" sz="2500" dirty="0"/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    LDMFD SP!, {R4,R5}</a:t>
            </a:r>
            <a:endParaRPr lang="zh-CN" altLang="en-US" sz="2800" dirty="0"/>
          </a:p>
          <a:p>
            <a:r>
              <a:rPr lang="en-US" altLang="zh-CN" sz="2800" dirty="0"/>
              <a:t>         </a:t>
            </a:r>
            <a:r>
              <a:rPr lang="en-US" altLang="zh-CN" sz="2800" dirty="0" smtClean="0"/>
              <a:t>MOV PC,LR</a:t>
            </a:r>
            <a:endParaRPr lang="en-US" altLang="zh-CN" sz="2800" dirty="0" smtClean="0"/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    END   </a:t>
            </a:r>
            <a:endParaRPr lang="zh-CN" altLang="en-US" sz="2500" dirty="0" smtClean="0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35496" y="836712"/>
            <a:ext cx="4153275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 err="1"/>
              <a:t>struct</a:t>
            </a:r>
            <a:r>
              <a:rPr lang="en-US" altLang="zh-CN" sz="2600" dirty="0"/>
              <a:t> </a:t>
            </a:r>
            <a:r>
              <a:rPr lang="en-US" altLang="zh-CN" sz="2600" dirty="0" smtClean="0"/>
              <a:t>data{</a:t>
            </a:r>
            <a:endParaRPr lang="en-US" altLang="zh-CN" sz="26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n;      //char</a:t>
            </a:r>
            <a:r>
              <a:rPr lang="zh-CN" altLang="en-US" sz="2600" dirty="0" smtClean="0"/>
              <a:t>数组长度</a:t>
            </a:r>
            <a:r>
              <a:rPr lang="en-US" altLang="zh-CN" sz="2600" dirty="0" smtClean="0"/>
              <a:t> </a:t>
            </a:r>
            <a:endParaRPr lang="en-US" altLang="zh-CN" sz="26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 char</a:t>
            </a:r>
            <a:r>
              <a:rPr lang="zh-CN" altLang="en-US" sz="2600" dirty="0" smtClean="0"/>
              <a:t>* </a:t>
            </a:r>
            <a:r>
              <a:rPr lang="en-US" altLang="zh-CN" sz="2600" dirty="0" smtClean="0"/>
              <a:t>s; //</a:t>
            </a:r>
            <a:r>
              <a:rPr lang="zh-CN" altLang="en-US" sz="2600" dirty="0" smtClean="0"/>
              <a:t>数组起始地址</a:t>
            </a:r>
            <a:endParaRPr lang="en-US" altLang="zh-CN" sz="26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};</a:t>
            </a:r>
            <a:endParaRPr lang="en-US" altLang="zh-CN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装入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image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文件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8329"/>
            <a:ext cx="9080326" cy="348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-108520" y="1484784"/>
            <a:ext cx="403244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5496" y="5705400"/>
            <a:ext cx="8839200" cy="1972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为什么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main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的地址不是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先执行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_main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，完成各种初始化。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6609531" cy="513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0" y="1484784"/>
            <a:ext cx="392392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然后执行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main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4" y="836712"/>
            <a:ext cx="6810126" cy="5849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79512" y="1653297"/>
            <a:ext cx="352839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635896" y="3356992"/>
            <a:ext cx="2520280" cy="584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5896" y="4221088"/>
            <a:ext cx="3744416" cy="584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SUM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处设断点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933575"/>
            <a:ext cx="89344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6200" y="2780928"/>
            <a:ext cx="403244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116632"/>
            <a:ext cx="8839200" cy="662473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连续执行到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SUM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断点处：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SP=7FFFFE8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要保存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R4=2734,R5=EC0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R0=R13=7FFFFE8</a:t>
            </a: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847725"/>
            <a:ext cx="8705850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0" y="5445224"/>
            <a:ext cx="403244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52400" y="2276872"/>
            <a:ext cx="403244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4365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R0=7FFFFE8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，存放结构体变量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地址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char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数组地址为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07FFFFF0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问题：为什么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相等？</a:t>
            </a: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2805113"/>
            <a:ext cx="905827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5036014" y="3248980"/>
            <a:ext cx="403244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3550138"/>
            <a:ext cx="6012160" cy="238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保存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R5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到堆栈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9013399" cy="5618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5298" y="6201336"/>
            <a:ext cx="4762725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-36512" y="3789040"/>
            <a:ext cx="403244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读入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" y="1772816"/>
            <a:ext cx="89249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09537" y="2348880"/>
            <a:ext cx="3310335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R5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读入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char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数组起始地址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" y="1484784"/>
            <a:ext cx="86201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0" y="3501008"/>
            <a:ext cx="3310335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R0=0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，并读入第一个字符到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R5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自动加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1——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后增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219200"/>
            <a:ext cx="885825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51520" y="2132856"/>
            <a:ext cx="3310335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2875" y="5350768"/>
            <a:ext cx="5941293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减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ZF=0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，所以跳转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72816"/>
            <a:ext cx="8967788" cy="2001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-108520" y="2145147"/>
            <a:ext cx="331033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4149080"/>
            <a:ext cx="3641547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1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最后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R1=0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ZF=1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，不跳转，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为累加结果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3" y="1124744"/>
            <a:ext cx="885825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7529" y="1445456"/>
            <a:ext cx="331033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" y="3356992"/>
            <a:ext cx="334327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60302" y="5373216"/>
            <a:ext cx="331033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5496" y="2420888"/>
            <a:ext cx="331033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20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5.1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是什么芯片？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0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的最小系统什么含义？通常包括哪些部分的设计？各部分作用是什么？重点是主存设计的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5.3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5.4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0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5.3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b="1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存储空间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为什么按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Bank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组织？</a:t>
            </a:r>
            <a:r>
              <a:rPr lang="en-US" altLang="zh-CN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nGCS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[0:7]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nWBE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[3:0]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信号的作用、如何产生的？为什么连接存储器时只有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27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根地址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ADDR[0:26]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0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5.4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、不同类型、字长存储芯片的连接、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IO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接口芯片的连接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0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5.5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的两种启动方式。如果采用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NOR Flash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启动，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NOR 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Flash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的应该位于哪个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Bank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0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5.6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NAND Flash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的特点是什么？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0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 S3C2440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是如何支持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NAND Flash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？（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）连接；（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）自引导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Steppingstone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0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NAND Flash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自引导的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原理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2000"/>
              </a:spcBef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5.7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BOOTLOADER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是什么？什么情况用？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44624"/>
            <a:ext cx="8839200" cy="68133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片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SRAM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ROM-NOR FLASH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设计主存其中</a:t>
            </a:r>
            <a:r>
              <a:rPr lang="en-US" altLang="zh-CN" sz="2800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nGCSn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改为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nGCS1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。已知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的地址总线为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A26-0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，数据总线为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D31-0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，控制总线有</a:t>
            </a:r>
            <a:r>
              <a:rPr lang="en-US" altLang="zh-CN" sz="2800" dirty="0" err="1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nWE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err="1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nOE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nWBE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[3:0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]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 err="1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nGCS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[7:0]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，且每个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BANK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128MB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132856"/>
            <a:ext cx="9151386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" y="2420888"/>
            <a:ext cx="97159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44624"/>
            <a:ext cx="8839200" cy="68133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）芯片容量？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）为什么用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片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位芯片，而不是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位芯片？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）说明连接特点。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）如何编程读写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个字、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个半字或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个字节？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）读操作的情况又如何？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44624"/>
            <a:ext cx="8839200" cy="30521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如果用</a:t>
            </a: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片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SRAM</a:t>
            </a:r>
            <a:r>
              <a:rPr lang="zh-CN" altLang="en-US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ROM-NOR FLASH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，如何编程访问一个半字？能否访问任意一个字节？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26655"/>
            <a:ext cx="9135213" cy="4531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44624"/>
            <a:ext cx="8839200" cy="68133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写出连续写入两个半字的代码，并说明执行过程。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r>
              <a:rPr lang="en-US" altLang="zh-CN" sz="2800" dirty="0" smtClean="0"/>
              <a:t>	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/>
              <a:t>	</a:t>
            </a:r>
            <a:r>
              <a:rPr lang="en-US" altLang="zh-CN" sz="2800" dirty="0" smtClean="0"/>
              <a:t>MOV  </a:t>
            </a:r>
            <a:r>
              <a:rPr lang="en-US" altLang="zh-CN" sz="2800" dirty="0"/>
              <a:t>R0, #</a:t>
            </a:r>
            <a:r>
              <a:rPr lang="en-US" altLang="zh-CN" sz="2800" dirty="0" smtClean="0"/>
              <a:t>0x08000000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/>
              <a:t>	</a:t>
            </a:r>
            <a:r>
              <a:rPr lang="en-US" altLang="zh-CN" sz="2800" dirty="0" smtClean="0"/>
              <a:t>MOV  R1,#0x00001234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    MOV  R2,#0x00005678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</a:t>
            </a:r>
            <a:r>
              <a:rPr lang="en-US" altLang="zh-CN" sz="2800" dirty="0" smtClean="0">
                <a:solidFill>
                  <a:srgbClr val="FF0000"/>
                </a:solidFill>
              </a:rPr>
              <a:t>STRH  </a:t>
            </a:r>
            <a:r>
              <a:rPr lang="en-US" altLang="zh-CN" sz="2800" dirty="0">
                <a:solidFill>
                  <a:srgbClr val="FF0000"/>
                </a:solidFill>
              </a:rPr>
              <a:t>R1, </a:t>
            </a:r>
            <a:r>
              <a:rPr lang="en-US" altLang="zh-CN" sz="2800" dirty="0" smtClean="0">
                <a:solidFill>
                  <a:srgbClr val="FF0000"/>
                </a:solidFill>
              </a:rPr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R0</a:t>
            </a:r>
            <a:r>
              <a:rPr lang="en-US" altLang="zh-CN" sz="2800" dirty="0" smtClean="0">
                <a:solidFill>
                  <a:srgbClr val="FF0000"/>
                </a:solidFill>
              </a:rPr>
              <a:t>], #2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sz="2800" dirty="0" smtClean="0">
                <a:solidFill>
                  <a:srgbClr val="FF0000"/>
                </a:solidFill>
              </a:rPr>
              <a:t>STRH  R2, 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smtClean="0">
                <a:solidFill>
                  <a:srgbClr val="FF0000"/>
                </a:solidFill>
              </a:rPr>
              <a:t>R0]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29750" y="285728"/>
            <a:ext cx="7785588" cy="649288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利用</a:t>
            </a:r>
            <a:r>
              <a:rPr lang="en-US" altLang="zh-CN" sz="2800" dirty="0" smtClean="0">
                <a:solidFill>
                  <a:srgbClr val="FF0000"/>
                </a:solidFill>
              </a:rPr>
              <a:t>2</a:t>
            </a:r>
            <a:r>
              <a:rPr lang="zh-CN" altLang="en-US" sz="2800" dirty="0" smtClean="0">
                <a:solidFill>
                  <a:srgbClr val="FF0000"/>
                </a:solidFill>
              </a:rPr>
              <a:t>块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zh-CN" altLang="en-US" sz="2800" dirty="0" smtClean="0">
                <a:solidFill>
                  <a:schemeClr val="tx1"/>
                </a:solidFill>
              </a:rPr>
              <a:t>位</a:t>
            </a:r>
            <a:r>
              <a:rPr lang="en-US" altLang="zh-CN" sz="28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2800" dirty="0" smtClean="0">
                <a:solidFill>
                  <a:srgbClr val="FF0000"/>
                </a:solidFill>
              </a:rPr>
              <a:t>芯片扩展</a:t>
            </a:r>
            <a:r>
              <a:rPr lang="en-US" altLang="zh-CN" sz="2800" dirty="0" smtClean="0">
                <a:solidFill>
                  <a:srgbClr val="FF0000"/>
                </a:solidFill>
              </a:rPr>
              <a:t>32</a:t>
            </a:r>
            <a:r>
              <a:rPr lang="zh-CN" altLang="en-US" sz="2800" dirty="0" smtClean="0">
                <a:solidFill>
                  <a:srgbClr val="FF0000"/>
                </a:solidFill>
              </a:rPr>
              <a:t>位</a:t>
            </a:r>
            <a:r>
              <a:rPr lang="en-US" altLang="zh-CN" sz="2800" dirty="0">
                <a:solidFill>
                  <a:srgbClr val="FF0000"/>
                </a:solidFill>
              </a:rPr>
              <a:t>ROM</a:t>
            </a:r>
            <a:r>
              <a:rPr lang="zh-CN" altLang="en-US" sz="2800" dirty="0">
                <a:solidFill>
                  <a:srgbClr val="FF0000"/>
                </a:solidFill>
              </a:rPr>
              <a:t>存储器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057275"/>
            <a:ext cx="7877175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2699792" y="5229200"/>
            <a:ext cx="1928826" cy="500066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732240" y="5229200"/>
            <a:ext cx="1928826" cy="500066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512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29750" y="285728"/>
            <a:ext cx="7785588" cy="649288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利用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>
                <a:solidFill>
                  <a:srgbClr val="FF0000"/>
                </a:solidFill>
              </a:rPr>
              <a:t>块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zh-CN" altLang="en-US" sz="2800" dirty="0" smtClean="0">
                <a:solidFill>
                  <a:schemeClr val="tx1"/>
                </a:solidFill>
              </a:rPr>
              <a:t>位</a:t>
            </a:r>
            <a:r>
              <a:rPr lang="en-US" altLang="zh-CN" sz="28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2800" dirty="0" smtClean="0">
                <a:solidFill>
                  <a:srgbClr val="FF0000"/>
                </a:solidFill>
              </a:rPr>
              <a:t>芯片</a:t>
            </a:r>
            <a:r>
              <a:rPr lang="zh-CN" altLang="en-US" sz="2800" dirty="0">
                <a:solidFill>
                  <a:srgbClr val="FF0000"/>
                </a:solidFill>
              </a:rPr>
              <a:t>扩展</a:t>
            </a:r>
            <a:r>
              <a:rPr lang="en-US" altLang="zh-CN" sz="2800" dirty="0">
                <a:solidFill>
                  <a:srgbClr val="FF0000"/>
                </a:solidFill>
              </a:rPr>
              <a:t>16</a:t>
            </a:r>
            <a:r>
              <a:rPr lang="zh-CN" altLang="en-US" sz="2800" dirty="0">
                <a:solidFill>
                  <a:srgbClr val="FF0000"/>
                </a:solidFill>
              </a:rPr>
              <a:t>位</a:t>
            </a:r>
            <a:r>
              <a:rPr lang="en-US" altLang="zh-CN" sz="2800" dirty="0">
                <a:solidFill>
                  <a:srgbClr val="FF0000"/>
                </a:solidFill>
              </a:rPr>
              <a:t>ROM</a:t>
            </a:r>
            <a:r>
              <a:rPr lang="zh-CN" altLang="en-US" sz="2800" dirty="0">
                <a:solidFill>
                  <a:srgbClr val="FF0000"/>
                </a:solidFill>
              </a:rPr>
              <a:t>存储器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1285125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325567" y="1000108"/>
            <a:ext cx="4262803" cy="5334000"/>
          </a:xfrm>
          <a:prstGeom prst="rect">
            <a:avLst/>
          </a:prstGeom>
          <a:noFill/>
        </p:spPr>
      </p:pic>
      <p:sp>
        <p:nvSpPr>
          <p:cNvPr id="4" name="椭圆 3"/>
          <p:cNvSpPr/>
          <p:nvPr/>
        </p:nvSpPr>
        <p:spPr>
          <a:xfrm>
            <a:off x="4714876" y="5357826"/>
            <a:ext cx="1928826" cy="500066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5122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6.1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GPIO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是什么？如何使用？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6.2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UART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是什么？如何使用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6.3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Watchdog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什么？如何使用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6.4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SWI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中断程序的处理流程及代码*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6.5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、包括外部中断服务程序的程序框架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中断向量表：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复位异常处理程序：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，关于外部中断的部分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外部中断服务程序：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查询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路中断，设置</a:t>
            </a: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路中断散转表</a:t>
            </a:r>
            <a:endParaRPr lang="en-US" altLang="zh-CN" sz="2800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</a:t>
            </a:r>
            <a:r>
              <a:rPr lang="zh-CN" altLang="en-US" sz="2800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每个散转程序进一步查询，并处理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500"/>
              </a:spcBef>
              <a:buNone/>
            </a:pP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关于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GPIO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位的输入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输出端口）的使用，有以下代码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#define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rGPFCON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(*(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volatile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unsigned *)0x56000050)   //GPIO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的控制寄存器 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#define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rGPFDAT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(*(volatile unsigned *)0x56000054)   //GPIO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的数据寄存器</a:t>
            </a: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#define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rGPFUP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(*(volatile unsigned *)0x56000058)  //GPIO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的上拉寄存器</a:t>
            </a: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void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port_init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(void) {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rGPFCON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0x5555;  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//②</a:t>
            </a:r>
            <a:endParaRPr lang="en-US" altLang="zh-CN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rGPFUP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= 0xff;     // 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不上拉</a:t>
            </a: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void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func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(void) {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j, 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nOut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=0xFF;    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for 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=0;i&lt;1000;i++) {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rGPFDAT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n-US" altLang="zh-CN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nOut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 0xF0;   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for(j=0;j&lt;100000;j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++);  //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延时</a:t>
            </a: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rGPFDAT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n-US" altLang="zh-CN" dirty="0" err="1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nOut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for(j=0;j&lt;100000;j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++); }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en-US" altLang="zh-CN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42463"/>
            <a:ext cx="9126707" cy="4442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151624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304800"/>
            <a:ext cx="8839200" cy="6553200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  <a:buNone/>
            </a:pP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请回答问题： </a:t>
            </a: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GPIO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是什么？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）语句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①将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rGPFCON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定义为“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(*(volatile unsigned *)0x56000050)”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，解释其含义，特别要先说明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volatile”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、“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unsigned”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两个“*”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的含义是什么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 </a:t>
            </a: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写出语句②的作用是什么？如果改为汇编代码，应该怎么写？ </a:t>
            </a: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</a:t>
            </a:r>
            <a:r>
              <a:rPr lang="en-US" altLang="zh-CN" dirty="0" err="1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func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的作用是什么？ </a:t>
            </a: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总结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S3C2440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GPIO</a:t>
            </a:r>
            <a:r>
              <a:rPr lang="zh-CN" altLang="en-US" dirty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的一般使用方法</a:t>
            </a:r>
            <a:r>
              <a:rPr lang="zh-CN" altLang="en-US" dirty="0" smtClean="0">
                <a:solidFill>
                  <a:srgbClr val="1F497D">
                    <a:lumMod val="50000"/>
                  </a:srgb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dirty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1500"/>
              </a:spcBef>
              <a:buNone/>
            </a:pPr>
            <a:endParaRPr lang="en-US" altLang="zh-CN" dirty="0" smtClean="0">
              <a:solidFill>
                <a:srgbClr val="1F497D">
                  <a:lumMod val="50000"/>
                </a:srgb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6192</Words>
  <Application>WPS 演示</Application>
  <PresentationFormat>On-screen Show (4:3)</PresentationFormat>
  <Paragraphs>362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7" baseType="lpstr">
      <vt:lpstr>Arial</vt:lpstr>
      <vt:lpstr>宋体</vt:lpstr>
      <vt:lpstr>Wingdings</vt:lpstr>
      <vt:lpstr>华文新魏</vt:lpstr>
      <vt:lpstr>Calibri</vt:lpstr>
      <vt:lpstr>Times New Roman</vt:lpstr>
      <vt:lpstr>微软雅黑</vt:lpstr>
      <vt:lpstr>Arial Unicode MS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利用2块16位NOR Flash芯片扩展32位ROM存储器</vt:lpstr>
      <vt:lpstr>利用1块16位NOR Flash芯片扩展16位ROM存储器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观察文字池</dc:title>
  <dc:creator>HP</dc:creator>
  <cp:lastModifiedBy>尤尤</cp:lastModifiedBy>
  <cp:revision>381</cp:revision>
  <dcterms:created xsi:type="dcterms:W3CDTF">2018-01-29T02:38:00Z</dcterms:created>
  <dcterms:modified xsi:type="dcterms:W3CDTF">2026-05-14T08:49:49Z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6E893F80872F4B5584CE9D0D56C3D6EF_12</vt:lpwstr>
  </property>
</Properties>
</file>