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  <p:sldMasterId id="2147484111" r:id="rId2"/>
  </p:sldMasterIdLst>
  <p:notesMasterIdLst>
    <p:notesMasterId r:id="rId15"/>
  </p:notesMasterIdLst>
  <p:handoutMasterIdLst>
    <p:handoutMasterId r:id="rId16"/>
  </p:handoutMasterIdLst>
  <p:sldIdLst>
    <p:sldId id="322" r:id="rId3"/>
    <p:sldId id="2057" r:id="rId4"/>
    <p:sldId id="2060" r:id="rId5"/>
    <p:sldId id="2063" r:id="rId6"/>
    <p:sldId id="2061" r:id="rId7"/>
    <p:sldId id="2062" r:id="rId8"/>
    <p:sldId id="2064" r:id="rId9"/>
    <p:sldId id="2065" r:id="rId10"/>
    <p:sldId id="2066" r:id="rId11"/>
    <p:sldId id="2067" r:id="rId12"/>
    <p:sldId id="2068" r:id="rId13"/>
    <p:sldId id="2069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B40E9C7-26B6-44E2-9E63-943E684250D4}">
          <p14:sldIdLst>
            <p14:sldId id="322"/>
            <p14:sldId id="2057"/>
            <p14:sldId id="2060"/>
            <p14:sldId id="2063"/>
            <p14:sldId id="2061"/>
            <p14:sldId id="2062"/>
            <p14:sldId id="2064"/>
            <p14:sldId id="2065"/>
            <p14:sldId id="2066"/>
            <p14:sldId id="2067"/>
            <p14:sldId id="2068"/>
            <p14:sldId id="20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" clrIdx="0">
    <p:extLst>
      <p:ext uri="{19B8F6BF-5375-455C-9EA6-DF929625EA0E}">
        <p15:presenceInfo xmlns:p15="http://schemas.microsoft.com/office/powerpoint/2012/main" userId="Windows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FFCD"/>
    <a:srgbClr val="9900FF"/>
    <a:srgbClr val="CC99FF"/>
    <a:srgbClr val="FFFF99"/>
    <a:srgbClr val="FF00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3891" autoAdjust="0"/>
  </p:normalViewPr>
  <p:slideViewPr>
    <p:cSldViewPr>
      <p:cViewPr varScale="1">
        <p:scale>
          <a:sx n="64" d="100"/>
          <a:sy n="64" d="100"/>
        </p:scale>
        <p:origin x="128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2742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E0476C6-A73D-4127-9355-983E64C22B03}" type="datetimeFigureOut">
              <a:rPr lang="zh-CN" altLang="en-US"/>
              <a:pPr/>
              <a:t>2025/5/20</a:t>
            </a:fld>
            <a:endParaRPr lang="en-US" altLang="zh-CN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499ECC-0CCF-4A71-814B-16DE56F04BF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84065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426FF10-905A-456B-8448-3C00A8879EA4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CD789C0-5935-446E-B1F4-42F088224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962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D789C0-5935-446E-B1F4-42F08822453C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218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D789C0-5935-446E-B1F4-42F08822453C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75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0822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5807FC17-1C9E-4F8C-88D9-D8DFD9B90ACA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3AAA4EE-6B8F-411D-B87F-93A159326F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541AF8D-B3D7-4FE9-8B08-D6E788EE449C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75DC97-F21A-4696-89E7-FF9AD19932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Box 5"/>
          <p:cNvSpPr txBox="1"/>
          <p:nvPr userDrawn="1"/>
        </p:nvSpPr>
        <p:spPr>
          <a:xfrm>
            <a:off x="6839744" y="0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西安交通大学赵银亮</a:t>
            </a:r>
            <a:endParaRPr lang="en-US" altLang="zh-CN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  <a:p>
            <a:pPr algn="ctr"/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《</a:t>
            </a:r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形式语言与编译</a:t>
            </a:r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》</a:t>
            </a:r>
            <a:endParaRPr lang="zh-CN" altLang="en-US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89009D1-2B36-4D2C-9D4F-EEB90A38386D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AC66141-66F2-4D3B-9360-5D7AD8B02C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981075"/>
            <a:ext cx="4208463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981075"/>
            <a:ext cx="42084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56D98F9-3672-4225-BC10-03EFCF7A32DE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BF9C476-AC91-4B5F-851C-25042C2047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E6CB3B0-AC19-4BCA-AE85-B2397647BE23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76BCCD4-78BB-4A98-A30D-917DE64AA5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223DC6B-EEF4-4C7D-A9D8-DEDB8153002C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8EBE35-3097-4DFB-84D4-CDEEA36BEF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0FC1E4C-9029-4E3A-8A14-797A659582D7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9A3ABF8-3BA0-4975-9C24-50B959923F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C3716A0-C629-44EC-8886-F1982DF0A0FB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D5A54F0-219B-4885-8816-1DCB2C2284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CED0AC1-BFD7-4B0A-869E-9AA162B4CDBF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40F4B0B-157D-4EFD-9B70-7D87B5033A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2AB5A83-C808-49D2-85F8-16A88CCA0D37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64A5DBD-A33A-4C1C-A1AB-EAA24CE91D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32588" y="44450"/>
            <a:ext cx="2160587" cy="6264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44450"/>
            <a:ext cx="6329363" cy="6264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3D344CE-E26C-45A2-8907-1CC7A50A90AC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F6A5130-3728-4351-9C9E-1B8D7B7D05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23850" y="981075"/>
            <a:ext cx="8569325" cy="53276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3B9EBCD-1500-4B34-B597-18BC8D59A588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5868082-8011-4B9E-A200-46897186A1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ltGray"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52736"/>
            <a:ext cx="9144000" cy="2232025"/>
          </a:xfrm>
        </p:spPr>
        <p:txBody>
          <a:bodyPr/>
          <a:lstStyle>
            <a:lvl1pPr>
              <a:defRPr sz="4000" b="0">
                <a:solidFill>
                  <a:srgbClr val="FF0000"/>
                </a:solidFill>
                <a:latin typeface="Garamond" pitchFamily="18" charset="0"/>
                <a:ea typeface="+mj-ea"/>
              </a:defRPr>
            </a:lvl1pPr>
          </a:lstStyle>
          <a:p>
            <a:r>
              <a:rPr lang="en-US" altLang="ko-KR" dirty="0"/>
              <a:t>Click to edit Master title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21088"/>
            <a:ext cx="8686800" cy="49244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COMPANY LOGO</a:t>
            </a:r>
          </a:p>
        </p:txBody>
      </p:sp>
      <p:pic>
        <p:nvPicPr>
          <p:cNvPr id="12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585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Cambria Math" panose="02040503050406030204" pitchFamily="18" charset="0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2234458"/>
          </a:xfrm>
        </p:spPr>
        <p:txBody>
          <a:bodyPr/>
          <a:lstStyle>
            <a:lvl1pPr marL="342900" indent="-342900">
              <a:buClr>
                <a:schemeClr val="bg2">
                  <a:lumMod val="50000"/>
                </a:schemeClr>
              </a:buClr>
              <a:buFont typeface="Cambria Math" panose="02040503050406030204" pitchFamily="18" charset="0"/>
              <a:buChar char="⌲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1pPr>
            <a:lvl2pPr marL="742950" indent="-285750">
              <a:buClr>
                <a:schemeClr val="tx2">
                  <a:lumMod val="60000"/>
                  <a:lumOff val="40000"/>
                </a:schemeClr>
              </a:buClr>
              <a:buFont typeface="Cambria Math" panose="02040503050406030204" pitchFamily="18" charset="0"/>
              <a:buChar char="•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2pPr>
            <a:lvl3pPr>
              <a:buClr>
                <a:schemeClr val="accent3">
                  <a:lumMod val="75000"/>
                </a:schemeClr>
              </a:buClr>
              <a:defRPr>
                <a:latin typeface="+mn-ea"/>
                <a:ea typeface="+mn-ea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249" y="6597352"/>
            <a:ext cx="516255" cy="209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4" cstate="print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0" t="23318" r="10626" b="24722"/>
          <a:stretch/>
        </p:blipFill>
        <p:spPr>
          <a:xfrm>
            <a:off x="8283332" y="44624"/>
            <a:ext cx="825172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35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2082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778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7496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0"/>
            <a:ext cx="8713787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250825" y="981075"/>
            <a:ext cx="8642350" cy="461665"/>
          </a:xfrm>
        </p:spPr>
        <p:txBody>
          <a:bodyPr/>
          <a:lstStyle>
            <a:lvl1pPr marL="342900" indent="-342900">
              <a:buFont typeface="Wingdings" pitchFamily="2" charset="2"/>
              <a:buChar char="Ø"/>
              <a:defRPr/>
            </a:lvl1pPr>
          </a:lstStyle>
          <a:p>
            <a:pPr lvl="0"/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57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16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AF5FE"/>
            </a:gs>
            <a:gs pos="50000">
              <a:srgbClr val="FFFFFF"/>
            </a:gs>
            <a:gs pos="100000">
              <a:srgbClr val="DAF5F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图片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44450"/>
            <a:ext cx="86423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1075"/>
            <a:ext cx="8569325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61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0" hangingPunct="1">
              <a:defRPr kumimoji="0" sz="1400">
                <a:solidFill>
                  <a:srgbClr val="99FFCC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547A495-6F0F-40D1-8022-D8CF4A5D3462}" type="datetime1">
              <a:rPr lang="zh-CN" altLang="en-US"/>
              <a:pPr>
                <a:defRPr/>
              </a:pPr>
              <a:t>2025/5/20</a:t>
            </a:fld>
            <a:endParaRPr lang="en-US" altLang="zh-CN"/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373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61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74C855A-3850-4EA8-9BE2-1AAA921891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6185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76200"/>
          </a:xfrm>
          <a:prstGeom prst="rect">
            <a:avLst/>
          </a:prstGeom>
          <a:gradFill rotWithShape="1">
            <a:gsLst>
              <a:gs pos="0">
                <a:srgbClr val="000068"/>
              </a:gs>
              <a:gs pos="100000">
                <a:srgbClr val="6600CC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defRPr/>
            </a:pPr>
            <a:endParaRPr kumimoji="1" lang="zh-CN" altLang="en-US" sz="1800">
              <a:solidFill>
                <a:srgbClr val="000000"/>
              </a:solidFill>
              <a:latin typeface="Gulim" pitchFamily="34" charset="-127"/>
              <a:ea typeface="Gulim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10000"/>
        </a:spcAft>
        <a:buBlip>
          <a:blip r:embed="rId15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10000"/>
        </a:spcBef>
        <a:spcAft>
          <a:spcPct val="10000"/>
        </a:spcAft>
        <a:buBlip>
          <a:blip r:embed="rId16"/>
        </a:buBlip>
        <a:defRPr sz="2600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5000"/>
        </a:spcBef>
        <a:spcAft>
          <a:spcPct val="5000"/>
        </a:spcAft>
        <a:buClr>
          <a:srgbClr val="FF9900"/>
        </a:buClr>
        <a:buFont typeface="Wingdings" pitchFamily="2" charset="2"/>
        <a:buBlip>
          <a:blip r:embed="rId17"/>
        </a:buBlip>
        <a:defRPr sz="2400">
          <a:solidFill>
            <a:schemeClr val="tx1"/>
          </a:solidFill>
          <a:latin typeface="Times New Roman" pitchFamily="18" charset="0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9" descr="图片1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6452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79388" y="0"/>
            <a:ext cx="8713787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81075"/>
            <a:ext cx="8642350" cy="179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dirty="0"/>
              <a:t> </a:t>
            </a:r>
            <a:r>
              <a:rPr lang="en-US" altLang="zh-CN" dirty="0"/>
              <a:t>Click to edit Master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7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53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5" r:id="rId4"/>
    <p:sldLayoutId id="2147484116" r:id="rId5"/>
    <p:sldLayoutId id="2147484117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accent1"/>
          </a:solidFill>
          <a:latin typeface="Cambria Math" panose="020405030504060302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Tx/>
        <a:buFont typeface="Cambria Math" panose="02040503050406030204" pitchFamily="18" charset="0"/>
        <a:buChar char="▻"/>
        <a:defRPr kumimoji="1" sz="2400" b="0">
          <a:solidFill>
            <a:schemeClr val="tx1"/>
          </a:solidFill>
          <a:latin typeface="Cambria Math" panose="02040503050406030204" pitchFamily="18" charset="0"/>
          <a:ea typeface="仿宋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Font typeface="Cambria Math" panose="02040503050406030204" pitchFamily="18" charset="0"/>
        <a:buChar char="⥼"/>
        <a:defRPr kumimoji="1" sz="2400" b="0">
          <a:solidFill>
            <a:srgbClr val="000000"/>
          </a:solidFill>
          <a:latin typeface="Cambria Math" panose="02040503050406030204" pitchFamily="18" charset="0"/>
          <a:ea typeface="仿宋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b="0">
          <a:solidFill>
            <a:srgbClr val="000000"/>
          </a:solidFill>
          <a:latin typeface="Garamond" pitchFamily="18" charset="0"/>
          <a:ea typeface="Garamond" pitchFamily="18" charset="0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005263"/>
            <a:ext cx="8686800" cy="2160587"/>
          </a:xfrm>
        </p:spPr>
        <p:txBody>
          <a:bodyPr/>
          <a:lstStyle/>
          <a:p>
            <a:pPr eaLnBrk="1" hangingPunct="1"/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/>
            <a:r>
              <a:rPr lang="en-US" altLang="zh-CN" sz="2400">
                <a:latin typeface="Cambria" panose="02040503050406030204" pitchFamily="18" charset="0"/>
                <a:ea typeface="Cambria" panose="02040503050406030204" pitchFamily="18" charset="0"/>
              </a:rPr>
              <a:t>2025.05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Cambria" panose="02040503050406030204" pitchFamily="18" charset="0"/>
                <a:ea typeface="Cambria" panose="02040503050406030204" pitchFamily="18" charset="0"/>
              </a:rPr>
              <a:t>编译器设计专题实验课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2025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5"/>
            <a:ext cx="8642350" cy="3268587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实验六：中间代码生成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输入抽象语法树信息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或其他，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token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，源程序等等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。</a:t>
            </a:r>
            <a:endParaRPr lang="en-US" altLang="zh-CN" b="1" i="0" dirty="0">
              <a:solidFill>
                <a:srgbClr val="404040"/>
              </a:solidFill>
              <a:effectLst/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输出中间代码表示，三元式、四元式、三地址方式均可，以下输出均可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78618B-7E07-4761-874F-515DFC95B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、实验六：中间代码生成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F67ED69-EFCB-4456-8158-22764D9CA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403600"/>
            <a:ext cx="2590933" cy="17780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760C88E-F77A-4C4E-9017-9A3DC8715B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2971800"/>
            <a:ext cx="5978978" cy="370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2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7405104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实验六：中间代码生成</a:t>
            </a: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示例代码</a:t>
            </a:r>
            <a:r>
              <a:rPr lang="en-US" altLang="zh-CN" b="1" dirty="0">
                <a:latin typeface="+mn-ea"/>
              </a:rPr>
              <a:t>1</a:t>
            </a: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示例代码库已经上传，根据同学的修正，目前正确代码大多数，错误代码非常少，集中在词法分析阶段，能够减轻同学在出错处理阶段精力，主要用于分析文法。</a:t>
            </a:r>
          </a:p>
          <a:p>
            <a:pPr eaLnBrk="1" hangingPunct="1">
              <a:spcBef>
                <a:spcPct val="50000"/>
              </a:spcBef>
            </a:pPr>
            <a:endParaRPr lang="en-US" altLang="zh-CN" dirty="0"/>
          </a:p>
          <a:p>
            <a:pPr lvl="1"/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957741-EC97-491F-95CA-35AD463ED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、实验六：中间代码生成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C46A72-204C-43DC-9E59-D120F02B9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981200"/>
            <a:ext cx="5054860" cy="252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67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1E7260E-4B36-4A40-970F-4AD86A073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774" y="258053"/>
            <a:ext cx="1644735" cy="1701887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2714589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示例代码库和文法的解释</a:t>
            </a:r>
            <a:endParaRPr lang="en-US" altLang="zh-CN" dirty="0"/>
          </a:p>
          <a:p>
            <a:r>
              <a:rPr lang="zh-CN" altLang="en-US" dirty="0"/>
              <a:t>程序段</a:t>
            </a:r>
            <a:endParaRPr lang="en-US" altLang="zh-CN" dirty="0"/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𝐷̌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是变量的声明语句集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𝑆̌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是非变量声明语句集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,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包括赋值语句</a:t>
            </a:r>
            <a:endParaRPr lang="en-US" altLang="zh-CN" sz="1800" b="0" i="0" dirty="0">
              <a:solidFill>
                <a:srgbClr val="000000"/>
              </a:solidFill>
              <a:effectLst/>
              <a:latin typeface="FZSSJW--GB1-0"/>
            </a:endParaRPr>
          </a:p>
          <a:p>
            <a:endParaRPr lang="en-US" altLang="zh-CN" sz="1800" b="0" i="0" dirty="0">
              <a:solidFill>
                <a:srgbClr val="000000"/>
              </a:solidFill>
              <a:effectLst/>
              <a:latin typeface="TimesNewRomanPSMT"/>
            </a:endParaRP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if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语句</a:t>
            </a:r>
            <a:r>
              <a:rPr lang="en-US" altLang="zh-CN" sz="18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while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语句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, return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语句和函数调用语句</a:t>
            </a:r>
            <a:br>
              <a:rPr lang="zh-CN" altLang="en-US" dirty="0"/>
            </a:b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6A815BC-3DDE-4A89-B23B-013405C33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493170"/>
            <a:ext cx="1866996" cy="3238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BEE54E-D549-4285-9244-021D8684B4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14" y="3048000"/>
            <a:ext cx="5562886" cy="3543482"/>
          </a:xfrm>
          <a:prstGeom prst="rect">
            <a:avLst/>
          </a:prstGeom>
        </p:spPr>
      </p:pic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A006DED9-2234-4228-AA5D-6CDA24BBC76D}"/>
              </a:ext>
            </a:extLst>
          </p:cNvPr>
          <p:cNvCxnSpPr/>
          <p:nvPr/>
        </p:nvCxnSpPr>
        <p:spPr bwMode="auto">
          <a:xfrm rot="16200000" flipH="1">
            <a:off x="459671" y="3255823"/>
            <a:ext cx="2509659" cy="1600200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B59F9F3-A367-40A2-B78A-135E7A0FD6AF}"/>
              </a:ext>
            </a:extLst>
          </p:cNvPr>
          <p:cNvCxnSpPr>
            <a:cxnSpLocks/>
          </p:cNvCxnSpPr>
          <p:nvPr/>
        </p:nvCxnSpPr>
        <p:spPr bwMode="auto">
          <a:xfrm>
            <a:off x="1627187" y="2729911"/>
            <a:ext cx="2563813" cy="2527890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0F8FA91F-41D5-4FF1-B41D-3953F5ADD865}"/>
              </a:ext>
            </a:extLst>
          </p:cNvPr>
          <p:cNvCxnSpPr/>
          <p:nvPr/>
        </p:nvCxnSpPr>
        <p:spPr bwMode="auto">
          <a:xfrm rot="16200000" flipH="1">
            <a:off x="2750830" y="2973923"/>
            <a:ext cx="2564426" cy="2076401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B9183C7-EA9A-48FA-A407-D6FAF5DECFD9}"/>
              </a:ext>
            </a:extLst>
          </p:cNvPr>
          <p:cNvCxnSpPr/>
          <p:nvPr/>
        </p:nvCxnSpPr>
        <p:spPr bwMode="auto">
          <a:xfrm flipH="1">
            <a:off x="6096000" y="762000"/>
            <a:ext cx="152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6537139F-1DD1-4E60-BDEB-B0CB6F3A5BD4}"/>
              </a:ext>
            </a:extLst>
          </p:cNvPr>
          <p:cNvSpPr txBox="1"/>
          <p:nvPr/>
        </p:nvSpPr>
        <p:spPr bwMode="auto">
          <a:xfrm>
            <a:off x="7619999" y="608955"/>
            <a:ext cx="1028699" cy="24622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000" b="1" dirty="0">
                <a:latin typeface="Times New Roman" pitchFamily="18" charset="0"/>
              </a:rPr>
              <a:t>函数声明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623672-FFC3-46D6-A3A3-D5585800B685}"/>
              </a:ext>
            </a:extLst>
          </p:cNvPr>
          <p:cNvSpPr txBox="1"/>
          <p:nvPr/>
        </p:nvSpPr>
        <p:spPr bwMode="auto">
          <a:xfrm>
            <a:off x="7619999" y="875621"/>
            <a:ext cx="1028699" cy="24622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000" dirty="0">
                <a:latin typeface="Times New Roman" pitchFamily="18" charset="0"/>
              </a:rPr>
              <a:t>变量声明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ECC8ADE-BFB1-4919-BFFC-614F3B44F7AA}"/>
              </a:ext>
            </a:extLst>
          </p:cNvPr>
          <p:cNvCxnSpPr/>
          <p:nvPr/>
        </p:nvCxnSpPr>
        <p:spPr bwMode="auto">
          <a:xfrm flipH="1">
            <a:off x="6096000" y="990600"/>
            <a:ext cx="152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395229F-C3F2-4C13-89E7-76C95600785E}"/>
              </a:ext>
            </a:extLst>
          </p:cNvPr>
          <p:cNvCxnSpPr/>
          <p:nvPr/>
        </p:nvCxnSpPr>
        <p:spPr bwMode="auto">
          <a:xfrm flipH="1">
            <a:off x="6096000" y="1219200"/>
            <a:ext cx="152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2062C83-7E80-4253-9F51-BB6B3BC655ED}"/>
              </a:ext>
            </a:extLst>
          </p:cNvPr>
          <p:cNvSpPr txBox="1"/>
          <p:nvPr/>
        </p:nvSpPr>
        <p:spPr bwMode="auto">
          <a:xfrm>
            <a:off x="7619998" y="1151777"/>
            <a:ext cx="1028699" cy="24622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000" dirty="0">
                <a:latin typeface="Times New Roman" pitchFamily="18" charset="0"/>
              </a:rPr>
              <a:t>赋值语句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C43ACC2-2977-468D-8413-17C71DEA500A}"/>
              </a:ext>
            </a:extLst>
          </p:cNvPr>
          <p:cNvCxnSpPr/>
          <p:nvPr/>
        </p:nvCxnSpPr>
        <p:spPr bwMode="auto">
          <a:xfrm flipH="1">
            <a:off x="6095998" y="1408794"/>
            <a:ext cx="152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1C4C3FAD-3845-4896-BC89-496A945C0D08}"/>
              </a:ext>
            </a:extLst>
          </p:cNvPr>
          <p:cNvSpPr txBox="1"/>
          <p:nvPr/>
        </p:nvSpPr>
        <p:spPr bwMode="auto">
          <a:xfrm>
            <a:off x="7635829" y="1408794"/>
            <a:ext cx="1028699" cy="24622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000" dirty="0" err="1">
                <a:latin typeface="Times New Roman" pitchFamily="18" charset="0"/>
              </a:rPr>
              <a:t>returrn</a:t>
            </a:r>
            <a:r>
              <a:rPr lang="zh-CN" altLang="en-US" sz="1000" dirty="0">
                <a:latin typeface="Times New Roman" pitchFamily="18" charset="0"/>
              </a:rPr>
              <a:t>语句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DDEBA945-3172-45A7-AB2E-67FC55BA2A31}"/>
              </a:ext>
            </a:extLst>
          </p:cNvPr>
          <p:cNvCxnSpPr>
            <a:cxnSpLocks/>
            <a:stCxn id="41" idx="1"/>
          </p:cNvCxnSpPr>
          <p:nvPr/>
        </p:nvCxnSpPr>
        <p:spPr bwMode="auto">
          <a:xfrm rot="10800000">
            <a:off x="5568590" y="1673736"/>
            <a:ext cx="1975211" cy="1049887"/>
          </a:xfrm>
          <a:prstGeom prst="bentConnector3">
            <a:avLst>
              <a:gd name="adj1" fmla="val 9983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36E8D1E-F261-4D2B-B1AC-BAF465F98AD5}"/>
              </a:ext>
            </a:extLst>
          </p:cNvPr>
          <p:cNvSpPr txBox="1"/>
          <p:nvPr/>
        </p:nvSpPr>
        <p:spPr bwMode="auto">
          <a:xfrm>
            <a:off x="7543800" y="2215790"/>
            <a:ext cx="1600200" cy="10156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000" dirty="0">
                <a:latin typeface="Times New Roman" pitchFamily="18" charset="0"/>
              </a:rPr>
              <a:t>关于分号的用法</a:t>
            </a:r>
            <a:endParaRPr lang="en-US" altLang="zh-CN" sz="1000" dirty="0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000" dirty="0">
                <a:latin typeface="Times New Roman" pitchFamily="18" charset="0"/>
              </a:rPr>
              <a:t>S-&gt;</a:t>
            </a:r>
            <a:r>
              <a:rPr lang="zh-CN" altLang="en-US" sz="1000" dirty="0">
                <a:latin typeface="Times New Roman" pitchFamily="18" charset="0"/>
              </a:rPr>
              <a:t>语句列表之间用分号，而语句结束无需分号</a:t>
            </a:r>
            <a:endParaRPr lang="en-US" altLang="zh-CN" sz="1000" dirty="0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1000" dirty="0">
                <a:latin typeface="Times New Roman" pitchFamily="18" charset="0"/>
              </a:rPr>
              <a:t>因此</a:t>
            </a:r>
            <a:r>
              <a:rPr lang="en-US" altLang="zh-CN" sz="1000" dirty="0">
                <a:latin typeface="Times New Roman" pitchFamily="18" charset="0"/>
              </a:rPr>
              <a:t>return 0 </a:t>
            </a:r>
            <a:r>
              <a:rPr lang="zh-CN" altLang="en-US" sz="1000" dirty="0">
                <a:latin typeface="Times New Roman" pitchFamily="18" charset="0"/>
              </a:rPr>
              <a:t>没有分号，函数声明结束部分有分号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07A1E58-9D40-4CEC-8161-EDADBEAAF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、实验六：中间代码生成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56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4893647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示例代码库和文法的解释</a:t>
            </a: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实验二给出的文法和大作业给出的文法有区别，但本次示例代码库无需体现细节差异，比如可以支持</a:t>
            </a:r>
            <a:r>
              <a:rPr lang="en-US" altLang="zh-CN" b="1" dirty="0">
                <a:latin typeface="+mn-ea"/>
              </a:rPr>
              <a:t>float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B</a:t>
            </a:r>
            <a:r>
              <a:rPr lang="zh-CN" altLang="en-US" b="1" dirty="0">
                <a:latin typeface="+mn-ea"/>
              </a:rPr>
              <a:t>没有如下操作</a:t>
            </a:r>
            <a:endParaRPr lang="en-US" altLang="zh-CN" dirty="0"/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如果词法支持减法 </a:t>
            </a:r>
            <a:r>
              <a:rPr lang="en-US" altLang="zh-CN" b="1" dirty="0">
                <a:latin typeface="+mn-ea"/>
              </a:rPr>
              <a:t>– </a:t>
            </a:r>
            <a:r>
              <a:rPr lang="zh-CN" altLang="en-US" b="1" dirty="0">
                <a:latin typeface="+mn-ea"/>
              </a:rPr>
              <a:t>除法</a:t>
            </a:r>
            <a:r>
              <a:rPr lang="en-US" altLang="zh-CN" b="1" dirty="0">
                <a:latin typeface="+mn-ea"/>
              </a:rPr>
              <a:t>/ </a:t>
            </a:r>
            <a:r>
              <a:rPr lang="zh-CN" altLang="en-US" b="1" dirty="0">
                <a:latin typeface="+mn-ea"/>
              </a:rPr>
              <a:t>等运算符号也是允许的。因此，对于之前没有仔细分析过这个文法的细节的同学也是友好的</a:t>
            </a: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验收部分，输入是测试代码，输出可以是三元式、四元式等中间代码或者</a:t>
            </a:r>
            <a:r>
              <a:rPr lang="en-US" altLang="zh-CN" b="1" dirty="0">
                <a:latin typeface="+mn-ea"/>
              </a:rPr>
              <a:t>MIPS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arm</a:t>
            </a:r>
            <a:r>
              <a:rPr lang="zh-CN" altLang="en-US" b="1" dirty="0">
                <a:latin typeface="+mn-ea"/>
              </a:rPr>
              <a:t>等。</a:t>
            </a:r>
            <a:endParaRPr lang="en-US" altLang="zh-CN" b="1" dirty="0">
              <a:latin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验收无需一步步显示词法、语法和语义分析结果，如果能显示属于加分项目。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1F3339-3078-4650-A3F0-E7575C32B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、实验步骤和结果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FCFBDB-B714-4893-BED8-9ACB789A7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362200"/>
            <a:ext cx="176106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6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63923DC-3190-4132-BD1E-03BD66C80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、实验步骤和结果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012867-2074-41BC-8271-62600F685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5189113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示例代码库和文法的解释 （此次感谢几位同学对示例代码库的修正，</a:t>
            </a:r>
            <a:r>
              <a:rPr lang="en-US" altLang="zh-CN" b="1" dirty="0">
                <a:latin typeface="+mn-ea"/>
              </a:rPr>
              <a:t>5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19</a:t>
            </a:r>
            <a:r>
              <a:rPr lang="zh-CN" altLang="en-US" b="1" dirty="0">
                <a:latin typeface="+mn-ea"/>
              </a:rPr>
              <a:t>日更新示例代码库）</a:t>
            </a:r>
            <a:endParaRPr lang="en-US" altLang="zh-CN" b="1" dirty="0">
              <a:latin typeface="+mn-ea"/>
            </a:endParaRPr>
          </a:p>
          <a:p>
            <a:r>
              <a:rPr lang="zh-CN" altLang="en-US" dirty="0"/>
              <a:t>此外值得注意的本文法的实参和形参部分</a:t>
            </a:r>
            <a:endParaRPr lang="en-US" altLang="zh-CN" dirty="0"/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→ 𝑇𝑑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NewCMMath-Book-Identity-H"/>
              </a:rPr>
              <a:t>()</a:t>
            </a: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代表函数参数列表的声明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可以是普通变量参数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→ 𝑇𝑑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,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可以是数组参数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→ 𝑇𝑑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NewCMMath-Book-Identity-H"/>
              </a:rPr>
              <a:t>[]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,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也可以是函数参数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→ 𝑇𝑑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NewCMMath-Book-Identity-H"/>
              </a:rPr>
              <a:t>() </a:t>
            </a:r>
            <a:br>
              <a:rPr lang="zh-CN" altLang="en-US" dirty="0"/>
            </a:br>
            <a:endParaRPr lang="en-US" altLang="zh-CN" dirty="0"/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是函数参数列表的声明集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𝐴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代表函数参数列表中某个参数的声明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参数之间用分号隔开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,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而不是逗号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,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即使是最后一个参数也需要使用</a:t>
            </a:r>
            <a:endParaRPr lang="en-US" altLang="zh-CN" sz="1800" b="0" i="0" dirty="0">
              <a:solidFill>
                <a:srgbClr val="000000"/>
              </a:solidFill>
              <a:effectLst/>
              <a:latin typeface="FZXBSJW--GB1-0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分号</a:t>
            </a:r>
            <a:r>
              <a:rPr lang="zh-CN" altLang="en-US" sz="1800" dirty="0">
                <a:solidFill>
                  <a:srgbClr val="000000"/>
                </a:solidFill>
                <a:latin typeface="FZXBSJW--GB1-0"/>
              </a:rPr>
              <a:t>结尾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尾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. </a:t>
            </a:r>
            <a:br>
              <a:rPr lang="zh-CN" altLang="en-US" sz="1400" dirty="0"/>
            </a:br>
            <a:endParaRPr lang="en-US" altLang="zh-CN" sz="1800" b="0" i="0" dirty="0">
              <a:solidFill>
                <a:srgbClr val="000000"/>
              </a:solidFill>
              <a:effectLst/>
              <a:latin typeface="NewCMMath-Book-Identity-H"/>
            </a:endParaRPr>
          </a:p>
          <a:p>
            <a:endParaRPr lang="en-US" altLang="zh-CN" sz="1800" dirty="0">
              <a:solidFill>
                <a:srgbClr val="000000"/>
              </a:solidFill>
              <a:latin typeface="NewCMMath-Book-Identity-H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𝑅̌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是函数调用参数集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NewCMMath-Book-Identity-H"/>
              </a:rPr>
              <a:t>𝑅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是函数参数列表中某个参数</a:t>
            </a:r>
            <a:endParaRPr lang="en-US" altLang="zh-CN" sz="1800" b="0" i="0" dirty="0">
              <a:solidFill>
                <a:srgbClr val="000000"/>
              </a:solidFill>
              <a:effectLst/>
              <a:latin typeface="FZSSJW--GB1-0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的调用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.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参数之间用逗号隔开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,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XBSJW--GB1-0"/>
              </a:rPr>
              <a:t>最后一个参数需要逗号</a:t>
            </a:r>
            <a:endParaRPr lang="en-US" altLang="zh-CN" sz="1800" b="0" i="0" dirty="0">
              <a:solidFill>
                <a:srgbClr val="000000"/>
              </a:solidFill>
              <a:effectLst/>
              <a:latin typeface="FZXBSJW--GB1-0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SSJW--GB1-0"/>
              </a:rPr>
              <a:t>例如</a:t>
            </a:r>
            <a:endParaRPr lang="en-US" altLang="zh-CN" sz="1800" b="0" i="0" dirty="0">
              <a:solidFill>
                <a:srgbClr val="000000"/>
              </a:solidFill>
              <a:effectLst/>
              <a:latin typeface="NewCMMath-Book-Identity-H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000FFFD-32C7-42B2-B967-415594911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800033"/>
            <a:ext cx="1454225" cy="3873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AD04410-8A64-447A-B9BB-FEBAFCEB2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319" y="2828609"/>
            <a:ext cx="1206562" cy="33021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8EE9C7C-4118-4C6E-8F2B-609529EDEC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063" y="4572000"/>
            <a:ext cx="5257800" cy="536331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06F23039-DA3E-49D7-8DBC-1E215A2E625C}"/>
              </a:ext>
            </a:extLst>
          </p:cNvPr>
          <p:cNvSpPr/>
          <p:nvPr/>
        </p:nvSpPr>
        <p:spPr bwMode="auto">
          <a:xfrm>
            <a:off x="7315200" y="5782388"/>
            <a:ext cx="533400" cy="46601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826E871-B488-4F58-8BDC-92A1B570CC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4205852"/>
            <a:ext cx="1778083" cy="177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7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903EC-1462-4E01-8870-A1EF2030E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3923DC-3190-4132-BD1E-03BD66C80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、实验步骤和结果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461665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示例代码库和词法的解释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0C4291-0D1E-440A-BB7D-CD843CC8E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3" y="1447249"/>
            <a:ext cx="4330885" cy="39635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ACFAF87-CA70-448B-BA85-CAE226276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410200"/>
            <a:ext cx="2571882" cy="12002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4A5DA1-D19C-4171-9FE7-609FFB6554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438" y="0"/>
            <a:ext cx="2798762" cy="676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9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63923DC-3190-4132-BD1E-03BD66C80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、实验步骤和结果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5115246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示例代码库和词法的解释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示例程序的</a:t>
            </a:r>
            <a:r>
              <a:rPr lang="en-US" altLang="zh-CN" b="1" dirty="0">
                <a:latin typeface="+mn-ea"/>
              </a:rPr>
              <a:t>main</a:t>
            </a:r>
            <a:r>
              <a:rPr lang="zh-CN" altLang="en-US" b="1" dirty="0">
                <a:latin typeface="+mn-ea"/>
              </a:rPr>
              <a:t>被识别为</a:t>
            </a:r>
            <a:r>
              <a:rPr lang="en-US" altLang="zh-CN" b="1" dirty="0">
                <a:latin typeface="+mn-ea"/>
              </a:rPr>
              <a:t>ID</a:t>
            </a:r>
            <a:r>
              <a:rPr lang="zh-CN" altLang="en-US" b="1" dirty="0">
                <a:latin typeface="+mn-ea"/>
              </a:rPr>
              <a:t>，不是关键字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关键字只有</a:t>
            </a:r>
            <a:r>
              <a:rPr lang="en-US" altLang="zh-CN" b="1" dirty="0">
                <a:latin typeface="+mn-ea"/>
              </a:rPr>
              <a:t>int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float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void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if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else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while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return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input</a:t>
            </a:r>
            <a:r>
              <a:rPr lang="zh-CN" altLang="en-US" b="1" dirty="0">
                <a:latin typeface="+mn-ea"/>
              </a:rPr>
              <a:t>和</a:t>
            </a:r>
            <a:r>
              <a:rPr lang="en-US" altLang="zh-CN" b="1" dirty="0">
                <a:latin typeface="+mn-ea"/>
              </a:rPr>
              <a:t>print</a:t>
            </a:r>
            <a:r>
              <a:rPr lang="zh-CN" altLang="en-US" b="1" dirty="0">
                <a:latin typeface="+mn-ea"/>
              </a:rPr>
              <a:t>，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没有 </a:t>
            </a:r>
            <a:r>
              <a:rPr lang="en-US" altLang="zh-CN" b="1" dirty="0">
                <a:latin typeface="+mn-ea"/>
              </a:rPr>
              <a:t>for,</a:t>
            </a:r>
            <a:r>
              <a:rPr lang="zh-CN" altLang="en-US" b="1" dirty="0">
                <a:latin typeface="+mn-ea"/>
              </a:rPr>
              <a:t>除了分号</a:t>
            </a:r>
            <a:r>
              <a:rPr lang="en-US" altLang="zh-CN" b="1" dirty="0">
                <a:latin typeface="+mn-ea"/>
              </a:rPr>
              <a:t>;</a:t>
            </a:r>
            <a:r>
              <a:rPr lang="zh-CN" altLang="en-US" b="1" dirty="0">
                <a:latin typeface="+mn-ea"/>
              </a:rPr>
              <a:t>和逗号，不支持双引号、单引号、</a:t>
            </a:r>
            <a:r>
              <a:rPr lang="en-US" altLang="zh-CN" b="1" dirty="0">
                <a:latin typeface="+mn-ea"/>
              </a:rPr>
              <a:t>\\</a:t>
            </a:r>
            <a:r>
              <a:rPr lang="zh-CN" altLang="en-US" b="1" dirty="0">
                <a:latin typeface="+mn-ea"/>
              </a:rPr>
              <a:t>等其他界符。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没有注释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操作符号只有</a:t>
            </a:r>
            <a:r>
              <a:rPr lang="en-US" altLang="zh-CN" b="1" dirty="0">
                <a:latin typeface="+mn-ea"/>
              </a:rPr>
              <a:t>&lt;, &lt;=, </a:t>
            </a:r>
            <a:r>
              <a:rPr lang="zh-CN" altLang="en-US" b="1" dirty="0">
                <a:latin typeface="+mn-ea"/>
              </a:rPr>
              <a:t>和</a:t>
            </a:r>
            <a:r>
              <a:rPr lang="en-US" altLang="zh-CN" b="1" dirty="0">
                <a:latin typeface="+mn-ea"/>
              </a:rPr>
              <a:t>== </a:t>
            </a:r>
            <a:r>
              <a:rPr lang="zh-CN" altLang="en-US" b="1" dirty="0">
                <a:latin typeface="+mn-ea"/>
              </a:rPr>
              <a:t>，不支持大于和大于等于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也没有与或非等操作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支持，</a:t>
            </a:r>
            <a:r>
              <a:rPr lang="en-US" altLang="zh-CN" b="1" dirty="0">
                <a:latin typeface="+mn-ea"/>
              </a:rPr>
              <a:t>{ [ (,) ] }</a:t>
            </a:r>
          </a:p>
          <a:p>
            <a:pPr lvl="1"/>
            <a:r>
              <a:rPr lang="zh-CN" altLang="en-US" b="1" dirty="0">
                <a:latin typeface="+mn-ea"/>
              </a:rPr>
              <a:t>验收程序可以支持部分示例文法和示例词法，不需要完全一致。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9200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63923DC-3190-4132-BD1E-03BD66C80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05" y="49066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、实验步骤和结果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2677656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词法部分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示例程序</a:t>
            </a:r>
            <a:r>
              <a:rPr lang="en-US" altLang="zh-CN" b="1" dirty="0">
                <a:latin typeface="+mn-ea"/>
              </a:rPr>
              <a:t>1.src</a:t>
            </a:r>
            <a:r>
              <a:rPr lang="zh-CN" altLang="en-US" b="1" dirty="0">
                <a:latin typeface="+mn-ea"/>
              </a:rPr>
              <a:t>经过词法以后得到</a:t>
            </a:r>
            <a:r>
              <a:rPr lang="en-US" altLang="zh-CN" b="1" dirty="0">
                <a:latin typeface="+mn-ea"/>
              </a:rPr>
              <a:t>token</a:t>
            </a:r>
            <a:r>
              <a:rPr lang="zh-CN" altLang="en-US" b="1" dirty="0">
                <a:latin typeface="+mn-ea"/>
              </a:rPr>
              <a:t>序列</a:t>
            </a:r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r>
              <a:rPr lang="en-US" altLang="zh-CN" b="1" dirty="0">
                <a:latin typeface="+mn-ea"/>
              </a:rPr>
              <a:t>                    </a:t>
            </a:r>
            <a:r>
              <a:rPr lang="zh-CN" altLang="en-US" b="1" dirty="0">
                <a:latin typeface="+mn-ea"/>
              </a:rPr>
              <a:t>示例程序</a:t>
            </a:r>
            <a:r>
              <a:rPr lang="en-US" altLang="zh-CN" b="1" dirty="0">
                <a:latin typeface="+mn-ea"/>
              </a:rPr>
              <a:t>10.src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2CFF85-B68C-452F-B2FE-EAD4C34AB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622" y="3553035"/>
            <a:ext cx="4781796" cy="6921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A6CDEAF-3628-43CA-AB23-8CEB639B8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599" y="4605185"/>
            <a:ext cx="2914800" cy="125736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2FAEA13-BC0E-48FC-838A-C8C7CFA2B6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92" y="1828800"/>
            <a:ext cx="3448227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15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63923DC-3190-4132-BD1E-03BD66C80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、实验步骤和结果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7035772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词法部分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示例程序</a:t>
            </a:r>
            <a:r>
              <a:rPr lang="en-US" altLang="zh-CN" b="1" dirty="0">
                <a:latin typeface="+mn-ea"/>
              </a:rPr>
              <a:t>10.src</a:t>
            </a:r>
            <a:r>
              <a:rPr lang="zh-CN" altLang="en-US" b="1" dirty="0">
                <a:latin typeface="+mn-ea"/>
              </a:rPr>
              <a:t>经过词法以后得到</a:t>
            </a:r>
            <a:r>
              <a:rPr lang="en-US" altLang="zh-CN" b="1" dirty="0">
                <a:latin typeface="+mn-ea"/>
              </a:rPr>
              <a:t>token</a:t>
            </a:r>
            <a:r>
              <a:rPr lang="zh-CN" altLang="en-US" b="1" dirty="0">
                <a:latin typeface="+mn-ea"/>
              </a:rPr>
              <a:t>序列</a:t>
            </a:r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表达式可以是</a:t>
            </a:r>
            <a:r>
              <a:rPr lang="en-US" altLang="zh-CN" b="1" dirty="0" err="1">
                <a:latin typeface="+mn-ea"/>
              </a:rPr>
              <a:t>i</a:t>
            </a:r>
            <a:r>
              <a:rPr lang="zh-CN" altLang="en-US" b="1" dirty="0">
                <a:latin typeface="+mn-ea"/>
              </a:rPr>
              <a:t>（整数），</a:t>
            </a:r>
            <a:r>
              <a:rPr lang="en-US" altLang="zh-CN" b="1" dirty="0">
                <a:latin typeface="+mn-ea"/>
              </a:rPr>
              <a:t>f</a:t>
            </a:r>
            <a:r>
              <a:rPr lang="zh-CN" altLang="en-US" b="1" dirty="0">
                <a:latin typeface="+mn-ea"/>
              </a:rPr>
              <a:t>（浮点数），</a:t>
            </a:r>
            <a:r>
              <a:rPr lang="en-US" altLang="zh-CN" b="1" dirty="0">
                <a:latin typeface="+mn-ea"/>
              </a:rPr>
              <a:t>d</a:t>
            </a:r>
            <a:r>
              <a:rPr lang="zh-CN" altLang="en-US" b="1" dirty="0">
                <a:latin typeface="+mn-ea"/>
              </a:rPr>
              <a:t>（某标识符）</a:t>
            </a:r>
            <a:endParaRPr lang="en-US" altLang="zh-CN" b="1" dirty="0">
              <a:latin typeface="+mn-ea"/>
            </a:endParaRPr>
          </a:p>
          <a:p>
            <a:pPr lvl="1"/>
            <a:r>
              <a:rPr lang="en-US" altLang="zh-CN" b="1" dirty="0">
                <a:latin typeface="+mn-ea"/>
              </a:rPr>
              <a:t>E+E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E*E</a:t>
            </a:r>
            <a:r>
              <a:rPr lang="zh-CN" altLang="en-US" b="1" dirty="0">
                <a:latin typeface="+mn-ea"/>
              </a:rPr>
              <a:t>，或者（），或者</a:t>
            </a:r>
            <a:r>
              <a:rPr lang="en-US" altLang="zh-CN" b="1" dirty="0">
                <a:latin typeface="+mn-ea"/>
              </a:rPr>
              <a:t>d</a:t>
            </a:r>
            <a:r>
              <a:rPr lang="zh-CN" altLang="en-US" b="1" dirty="0">
                <a:latin typeface="+mn-ea"/>
              </a:rPr>
              <a:t>（</a:t>
            </a:r>
            <a:r>
              <a:rPr lang="en-US" altLang="zh-CN" b="1" dirty="0">
                <a:latin typeface="+mn-ea"/>
              </a:rPr>
              <a:t>R</a:t>
            </a:r>
            <a:r>
              <a:rPr lang="zh-CN" altLang="en-US" b="1" dirty="0">
                <a:latin typeface="+mn-ea"/>
              </a:rPr>
              <a:t>）</a:t>
            </a:r>
            <a:r>
              <a:rPr lang="en-US" altLang="zh-CN" b="1" dirty="0">
                <a:latin typeface="+mn-ea"/>
              </a:rPr>
              <a:t>-</a:t>
            </a:r>
            <a:r>
              <a:rPr lang="zh-CN" altLang="en-US" b="1" dirty="0">
                <a:latin typeface="+mn-ea"/>
              </a:rPr>
              <a:t>函数调用表达式，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或者</a:t>
            </a:r>
            <a:r>
              <a:rPr lang="en-US" altLang="zh-CN" b="1" dirty="0">
                <a:latin typeface="+mn-ea"/>
              </a:rPr>
              <a:t>d</a:t>
            </a:r>
            <a:r>
              <a:rPr lang="zh-CN" altLang="en-US" b="1" dirty="0">
                <a:latin typeface="+mn-ea"/>
              </a:rPr>
              <a:t>（</a:t>
            </a:r>
            <a:r>
              <a:rPr lang="en-US" altLang="zh-CN" b="1" dirty="0">
                <a:latin typeface="+mn-ea"/>
              </a:rPr>
              <a:t>E</a:t>
            </a:r>
            <a:r>
              <a:rPr lang="zh-CN" altLang="en-US" b="1" dirty="0">
                <a:latin typeface="+mn-ea"/>
              </a:rPr>
              <a:t>）（这个文法，大作业不支持，也可以不写）</a:t>
            </a:r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CDD974F-A42D-4BF0-90AE-0DAE9D111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879018"/>
            <a:ext cx="1949550" cy="261633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D173976-155C-4AF8-9E47-E582536B5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605556"/>
            <a:ext cx="3073396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60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903EC-1462-4E01-8870-A1EF2030E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3923DC-3190-4132-BD1E-03BD66C80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、实验步骤和结果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3564053"/>
          </a:xfrm>
        </p:spPr>
        <p:txBody>
          <a:bodyPr/>
          <a:lstStyle/>
          <a:p>
            <a:r>
              <a:rPr lang="en-US" altLang="zh-CN" b="1" dirty="0">
                <a:latin typeface="+mn-ea"/>
              </a:rPr>
              <a:t>                          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                                             </a:t>
            </a:r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363F09D-26C1-45C2-9B6A-232A0F0B5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66799"/>
            <a:ext cx="7924800" cy="569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85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63923DC-3190-4132-BD1E-03BD66C80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、实验步骤和结果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6666440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实验六输入                  实验六输出</a:t>
            </a:r>
            <a:endParaRPr lang="en-US" altLang="zh-CN" b="1" dirty="0">
              <a:latin typeface="+mn-ea"/>
            </a:endParaRPr>
          </a:p>
          <a:p>
            <a:endParaRPr lang="en-US" altLang="zh-CN" b="1" dirty="0">
              <a:latin typeface="+mn-ea"/>
            </a:endParaRPr>
          </a:p>
          <a:p>
            <a:endParaRPr lang="en-US" altLang="zh-CN" b="1" dirty="0">
              <a:latin typeface="+mn-ea"/>
            </a:endParaRPr>
          </a:p>
          <a:p>
            <a:endParaRPr lang="en-US" altLang="zh-CN" b="1" dirty="0">
              <a:latin typeface="+mn-ea"/>
            </a:endParaRPr>
          </a:p>
          <a:p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输入是一段符合文法的代码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输出是四元式方式</a:t>
            </a:r>
            <a:endParaRPr lang="en-US" altLang="zh-CN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本次实验结果可作为验收结果</a:t>
            </a:r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08C5BB7-5640-47ED-9135-D089D5762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28800"/>
            <a:ext cx="2959252" cy="253378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E8E8908-BBA0-478C-AF2B-4F48FE111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654" y="1371600"/>
            <a:ext cx="3816546" cy="396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36047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4">
      <a:dk1>
        <a:srgbClr val="000000"/>
      </a:dk1>
      <a:lt1>
        <a:srgbClr val="FFFFD9"/>
      </a:lt1>
      <a:dk2>
        <a:srgbClr val="000000"/>
      </a:dk2>
      <a:lt2>
        <a:srgbClr val="777777"/>
      </a:lt2>
      <a:accent1>
        <a:srgbClr val="F8F8F8"/>
      </a:accent1>
      <a:accent2>
        <a:srgbClr val="6600CC"/>
      </a:accent2>
      <a:accent3>
        <a:srgbClr val="FFFFE9"/>
      </a:accent3>
      <a:accent4>
        <a:srgbClr val="000000"/>
      </a:accent4>
      <a:accent5>
        <a:srgbClr val="FBFBFB"/>
      </a:accent5>
      <a:accent6>
        <a:srgbClr val="5C00B9"/>
      </a:accent6>
      <a:hlink>
        <a:srgbClr val="FF5050"/>
      </a:hlink>
      <a:folHlink>
        <a:srgbClr val="FF9900"/>
      </a:folHlink>
    </a:clrScheme>
    <a:fontScheme name="默认设计模板">
      <a:majorFont>
        <a:latin typeface="New Century Schoolbook"/>
        <a:ea typeface="仿宋_GB2312"/>
        <a:cs typeface=""/>
      </a:majorFont>
      <a:minorFont>
        <a:latin typeface="New Century Schoolbook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EFFEDA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6FEEA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8F8F8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BFBFB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ttymono03">
  <a:themeElements>
    <a:clrScheme name="bettymono03 5">
      <a:dk1>
        <a:srgbClr val="000000"/>
      </a:dk1>
      <a:lt1>
        <a:srgbClr val="FFFFFF"/>
      </a:lt1>
      <a:dk2>
        <a:srgbClr val="000066"/>
      </a:dk2>
      <a:lt2>
        <a:srgbClr val="CCFFFF"/>
      </a:lt2>
      <a:accent1>
        <a:srgbClr val="000068"/>
      </a:accent1>
      <a:accent2>
        <a:srgbClr val="2BD1B9"/>
      </a:accent2>
      <a:accent3>
        <a:srgbClr val="FFFFFF"/>
      </a:accent3>
      <a:accent4>
        <a:srgbClr val="000000"/>
      </a:accent4>
      <a:accent5>
        <a:srgbClr val="AAAAB9"/>
      </a:accent5>
      <a:accent6>
        <a:srgbClr val="26BDA7"/>
      </a:accent6>
      <a:hlink>
        <a:srgbClr val="87D7FF"/>
      </a:hlink>
      <a:folHlink>
        <a:srgbClr val="969696"/>
      </a:folHlink>
    </a:clrScheme>
    <a:fontScheme name="bettymono03">
      <a:majorFont>
        <a:latin typeface="New Century Schoolbook"/>
        <a:ea typeface="黑体"/>
        <a:cs typeface=""/>
      </a:majorFont>
      <a:minorFont>
        <a:latin typeface="New Century Schoolbook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  <a:headEnd/>
          <a:tailEnd/>
        </a:ln>
      </a:spPr>
      <a:bodyPr>
        <a:spAutoFit/>
      </a:bodyPr>
      <a:lstStyle>
        <a:defPPr marL="342900" indent="-342900" latinLnBrk="0">
          <a:spcBef>
            <a:spcPct val="20000"/>
          </a:spcBef>
          <a:buClr>
            <a:schemeClr val="accent2"/>
          </a:buClr>
          <a:buFont typeface="Wingdings" pitchFamily="2" charset="2"/>
          <a:buChar char="Ø"/>
          <a:defRPr sz="2400" dirty="0" smtClean="0">
            <a:latin typeface="Cambria Math" panose="02040503050406030204" pitchFamily="18" charset="0"/>
            <a:ea typeface="Cambria Math" panose="020405030504060302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  <a:txDef>
      <a:spPr bwMode="auto">
        <a:noFill/>
        <a:ln w="9525" algn="ctr">
          <a:solidFill>
            <a:schemeClr val="tx1"/>
          </a:solidFill>
          <a:miter lim="800000"/>
          <a:headEnd/>
          <a:tailEnd/>
        </a:ln>
      </a:spPr>
      <a:bodyPr/>
      <a:lstStyle>
        <a:defPPr eaLnBrk="1" hangingPunct="1">
          <a:spcBef>
            <a:spcPct val="50000"/>
          </a:spcBef>
          <a:defRPr b="1">
            <a:latin typeface="Times New Roman" pitchFamily="18" charset="0"/>
          </a:defRPr>
        </a:defPPr>
      </a:lstStyle>
    </a:txDef>
  </a:objectDefaults>
  <a:extraClrSchemeLst>
    <a:extraClrScheme>
      <a:clrScheme name="bettymono03 1">
        <a:dk1>
          <a:srgbClr val="000000"/>
        </a:dk1>
        <a:lt1>
          <a:srgbClr val="FFFFFF"/>
        </a:lt1>
        <a:dk2>
          <a:srgbClr val="000000"/>
        </a:dk2>
        <a:lt2>
          <a:srgbClr val="CCFFFF"/>
        </a:lt2>
        <a:accent1>
          <a:srgbClr val="0033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8A2D"/>
        </a:accent6>
        <a:hlink>
          <a:srgbClr val="6699FF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2">
        <a:dk1>
          <a:srgbClr val="000000"/>
        </a:dk1>
        <a:lt1>
          <a:srgbClr val="FFFFFF"/>
        </a:lt1>
        <a:dk2>
          <a:srgbClr val="000000"/>
        </a:dk2>
        <a:lt2>
          <a:srgbClr val="CCCCFF"/>
        </a:lt2>
        <a:accent1>
          <a:srgbClr val="3E009A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FAACA"/>
        </a:accent5>
        <a:accent6>
          <a:srgbClr val="E78A2D"/>
        </a:accent6>
        <a:hlink>
          <a:srgbClr val="FFE161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3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4240"/>
        </a:accent1>
        <a:accent2>
          <a:srgbClr val="7FBE00"/>
        </a:accent2>
        <a:accent3>
          <a:srgbClr val="FFFFFF"/>
        </a:accent3>
        <a:accent4>
          <a:srgbClr val="000000"/>
        </a:accent4>
        <a:accent5>
          <a:srgbClr val="AAB0AF"/>
        </a:accent5>
        <a:accent6>
          <a:srgbClr val="72AC00"/>
        </a:accent6>
        <a:hlink>
          <a:srgbClr val="FFFF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4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0000"/>
        </a:accent1>
        <a:accent2>
          <a:srgbClr val="33CC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B9E7"/>
        </a:accent6>
        <a:hlink>
          <a:srgbClr val="99FFCC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5">
        <a:dk1>
          <a:srgbClr val="000000"/>
        </a:dk1>
        <a:lt1>
          <a:srgbClr val="FFFFFF"/>
        </a:lt1>
        <a:dk2>
          <a:srgbClr val="000066"/>
        </a:dk2>
        <a:lt2>
          <a:srgbClr val="CCFFFF"/>
        </a:lt2>
        <a:accent1>
          <a:srgbClr val="000068"/>
        </a:accent1>
        <a:accent2>
          <a:srgbClr val="2BD1B9"/>
        </a:accent2>
        <a:accent3>
          <a:srgbClr val="FFFFFF"/>
        </a:accent3>
        <a:accent4>
          <a:srgbClr val="000000"/>
        </a:accent4>
        <a:accent5>
          <a:srgbClr val="AAAAB9"/>
        </a:accent5>
        <a:accent6>
          <a:srgbClr val="26BDA7"/>
        </a:accent6>
        <a:hlink>
          <a:srgbClr val="87D7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12899</TotalTime>
  <Words>754</Words>
  <Application>Microsoft Office PowerPoint</Application>
  <PresentationFormat>全屏显示(4:3)</PresentationFormat>
  <Paragraphs>118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5" baseType="lpstr">
      <vt:lpstr>-apple-system</vt:lpstr>
      <vt:lpstr>DeepSeek-CJK-patch</vt:lpstr>
      <vt:lpstr>FZSSJW--GB1-0</vt:lpstr>
      <vt:lpstr>FZXBSJW--GB1-0</vt:lpstr>
      <vt:lpstr>Gulim</vt:lpstr>
      <vt:lpstr>New Century Schoolbook</vt:lpstr>
      <vt:lpstr>NewCMMath-Book-Identity-H</vt:lpstr>
      <vt:lpstr>TimesNewRomanPS-BoldMT</vt:lpstr>
      <vt:lpstr>TimesNewRomanPSMT</vt:lpstr>
      <vt:lpstr>汉仪悠然体简</vt:lpstr>
      <vt:lpstr>宋体</vt:lpstr>
      <vt:lpstr>Arial</vt:lpstr>
      <vt:lpstr>Calibri</vt:lpstr>
      <vt:lpstr>Cambria</vt:lpstr>
      <vt:lpstr>Cambria Math</vt:lpstr>
      <vt:lpstr>Garamond</vt:lpstr>
      <vt:lpstr>Gill Sans MT</vt:lpstr>
      <vt:lpstr>Tahoma</vt:lpstr>
      <vt:lpstr>Times New Roman</vt:lpstr>
      <vt:lpstr>Verdana</vt:lpstr>
      <vt:lpstr>Wingdings</vt:lpstr>
      <vt:lpstr>默认设计模板</vt:lpstr>
      <vt:lpstr>bettymono03</vt:lpstr>
      <vt:lpstr>编译器设计专题实验课2025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CUHK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andrejb</dc:creator>
  <cp:lastModifiedBy>Windows User</cp:lastModifiedBy>
  <cp:revision>726</cp:revision>
  <cp:lastPrinted>2011-10-10T03:21:30Z</cp:lastPrinted>
  <dcterms:created xsi:type="dcterms:W3CDTF">2010-10-06T02:55:19Z</dcterms:created>
  <dcterms:modified xsi:type="dcterms:W3CDTF">2025-05-20T02:48:07Z</dcterms:modified>
</cp:coreProperties>
</file>